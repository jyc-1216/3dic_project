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8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59" r:id="rId12"/>
    <p:sldId id="260" r:id="rId13"/>
    <p:sldId id="261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https://www.siemens.com/en-us/products/ic/tessent/test/multi-die/</a:t>
            </a:r>
          </a:p>
          <a:p>
            <a:r>
              <a:t>- https://resources.sw.siemens.com/en-US/fact-sheet-tessent-multi-die-software-for-3d-ic-designs/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scope and progress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https://www.siemens.com/en-us/products/ic/tessent/test/multi-die/</a:t>
            </a:r>
          </a:p>
          <a:p>
            <a:r>
              <a:t>- https://resources.sw.siemens.com/en-US/fact-sheet-tessent-multi-die-software-for-3d-ic-designs/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local-die DFT workflow and filenames; no external assets or claims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 cue: Separate the files by responsibility. ICL is the access-network model; PDL is the instrument procedure. Tessent retargeting combines both to create a top-level access pattern. TSDB is the Tessent working database used to preserve design views and stage handoffs, not a portable IEEE language.</a:t>
            </a:r>
          </a:p>
          <a:p>
            <a:endParaRPr/>
          </a:p>
          <a:p>
            <a:r>
              <a:t>[Sources]</a:t>
            </a:r>
          </a:p>
          <a:p>
            <a:r>
              <a:t>- IEEE 1687-2014 overview: https://standards.ieee.org/ieee/1687/3931/</a:t>
            </a:r>
          </a:p>
          <a:p>
            <a:r>
              <a:t>- Siemens Tessent IJTAG fact sheet: https://resources.sw.siemens.com/en-US/fact-sheet-tessent-ijtag/</a:t>
            </a:r>
          </a:p>
          <a:p>
            <a:r>
              <a:t>- Siemens Tessent TSDB automation overview: https://blogs.sw.siemens.com/tessent/2020/03/06/the-quest-for-optimal-dft-automation/</a:t>
            </a:r>
          </a:p>
          <a:p>
            <a:r>
              <a:t>- Internal project artifact names and current RTL-level flow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https://blogs.sw.siemens.com/eda-support/2024/06/01/introduction-to-tessent-multi-die/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https://grouper.ieee.org/groups/3Dtest/statusReports/P1838-StatusReport-161115-itc16slides.pdf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Internal project content supplied by the presenter.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>
            <a:extLst>
              <a:ext uri="{FF2B5EF4-FFF2-40B4-BE49-F238E27FC236}">
                <a16:creationId xmlns:a16="http://schemas.microsoft.com/office/drawing/2014/main" id="{D0ACF216-8ABF-498E-9928-D6F435E72E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B6B9E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F174F9-7EDC-41C1-8294-BFAE33D269AC}"/>
              </a:ext>
            </a:extLst>
          </p:cNvPr>
          <p:cNvSpPr>
            <a:spLocks noGrp="1"/>
          </p:cNvSpPr>
          <p:nvPr/>
        </p:nvSpPr>
        <p:spPr>
          <a:xfrm>
            <a:off x="590550" y="4762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DFT INTEGRATION PROJECT</a:t>
            </a:r>
          </a:p>
        </p:txBody>
      </p:sp>
      <p:sp>
        <p:nvSpPr>
          <p:cNvPr id="3" name="deck-title">
            <a:extLst>
              <a:ext uri="{FF2B5EF4-FFF2-40B4-BE49-F238E27FC236}">
                <a16:creationId xmlns:a16="http://schemas.microsoft.com/office/drawing/2014/main" id="{955BF332-8732-455E-8AE9-BF5BF69BBA90}"/>
              </a:ext>
            </a:extLst>
          </p:cNvPr>
          <p:cNvSpPr>
            <a:spLocks noGrp="1"/>
          </p:cNvSpPr>
          <p:nvPr/>
        </p:nvSpPr>
        <p:spPr>
          <a:xfrm>
            <a:off x="590550" y="1000125"/>
            <a:ext cx="6096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423" lnSpcReduction="10000"/>
          </a:bodyPr>
          <a:lstStyle/>
          <a:p>
            <a:pPr algn="l">
              <a:lnSpc>
                <a:spcPct val="92000"/>
              </a:lnSpc>
              <a:buNone/>
              <a:defRPr sz="51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 Reusable </a:t>
            </a:r>
            <a:r>
              <a:rPr sz="51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RTL-to-Stack</a:t>
            </a:r>
          </a:p>
          <a:p>
            <a:pPr algn="l">
              <a:lnSpc>
                <a:spcPct val="92000"/>
              </a:lnSpc>
              <a:buNone/>
              <a:defRPr sz="51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Integration Flow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757249-570C-4529-AC96-F442AF8058D3}"/>
              </a:ext>
            </a:extLst>
          </p:cNvPr>
          <p:cNvSpPr>
            <a:spLocks noGrp="1"/>
          </p:cNvSpPr>
          <p:nvPr/>
        </p:nvSpPr>
        <p:spPr>
          <a:xfrm>
            <a:off x="619125" y="2924175"/>
            <a:ext cx="6191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IEEE 1687 · IEEE 1838 · Stack Retargeting · DWR Next Step</a:t>
            </a:r>
          </a:p>
        </p:txBody>
      </p:sp>
      <p:sp>
        <p:nvSpPr>
          <p:cNvPr id="5" name="直線接點 4">
            <a:extLst>
              <a:ext uri="{FF2B5EF4-FFF2-40B4-BE49-F238E27FC236}">
                <a16:creationId xmlns:a16="http://schemas.microsoft.com/office/drawing/2014/main" id="{BC3BC50A-C52B-456D-96AF-C6F15F6E13BD}"/>
              </a:ext>
            </a:extLst>
          </p:cNvPr>
          <p:cNvSpPr>
            <a:spLocks noGrp="1"/>
          </p:cNvSpPr>
          <p:nvPr/>
        </p:nvSpPr>
        <p:spPr>
          <a:xfrm>
            <a:off x="619125" y="3581400"/>
            <a:ext cx="4953000" cy="0"/>
          </a:xfrm>
          <a:prstGeom prst="line">
            <a:avLst/>
          </a:prstGeom>
          <a:noFill/>
          <a:ln w="14288">
            <a:solidFill>
              <a:srgbClr val="B7C5CD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CE09A5-8065-4286-B84B-9FD0B1699B90}"/>
              </a:ext>
            </a:extLst>
          </p:cNvPr>
          <p:cNvSpPr>
            <a:spLocks noGrp="1"/>
          </p:cNvSpPr>
          <p:nvPr/>
        </p:nvSpPr>
        <p:spPr>
          <a:xfrm>
            <a:off x="619125" y="3762375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Tessent 2025.02  |  Internal Technical Review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D5A070-353C-4B12-9EF9-5CF5C747115E}"/>
              </a:ext>
            </a:extLst>
          </p:cNvPr>
          <p:cNvSpPr>
            <a:spLocks noGrp="1"/>
          </p:cNvSpPr>
          <p:nvPr/>
        </p:nvSpPr>
        <p:spPr>
          <a:xfrm>
            <a:off x="7219950" y="514350"/>
            <a:ext cx="4419600" cy="5391150"/>
          </a:xfrm>
          <a:prstGeom prst="rect">
            <a:avLst/>
          </a:prstGeom>
          <a:solidFill>
            <a:srgbClr val="F6F8F9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78A0B0-A23D-4637-9AFE-5373C3CE1215}"/>
              </a:ext>
            </a:extLst>
          </p:cNvPr>
          <p:cNvSpPr>
            <a:spLocks noGrp="1"/>
          </p:cNvSpPr>
          <p:nvPr/>
        </p:nvSpPr>
        <p:spPr>
          <a:xfrm>
            <a:off x="7639050" y="7620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TARGET ARCHITECTURE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417088-006E-41C4-9B36-239E87E85A8B}"/>
              </a:ext>
            </a:extLst>
          </p:cNvPr>
          <p:cNvSpPr>
            <a:spLocks noGrp="1"/>
          </p:cNvSpPr>
          <p:nvPr/>
        </p:nvSpPr>
        <p:spPr>
          <a:xfrm>
            <a:off x="8134350" y="1428750"/>
            <a:ext cx="27813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37BA5BC-63A9-401A-BF1B-13707D0140AF}"/>
              </a:ext>
            </a:extLst>
          </p:cNvPr>
          <p:cNvSpPr>
            <a:spLocks noGrp="1"/>
          </p:cNvSpPr>
          <p:nvPr/>
        </p:nvSpPr>
        <p:spPr>
          <a:xfrm>
            <a:off x="8058150" y="1352550"/>
            <a:ext cx="2781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3A91B3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2FFA5B1A-B1F1-40CF-A3DB-95DE18A40F83}"/>
              </a:ext>
            </a:extLst>
          </p:cNvPr>
          <p:cNvSpPr>
            <a:spLocks noGrp="1"/>
          </p:cNvSpPr>
          <p:nvPr/>
        </p:nvSpPr>
        <p:spPr>
          <a:xfrm>
            <a:off x="8210550" y="1800225"/>
            <a:ext cx="2476500" cy="0"/>
          </a:xfrm>
          <a:prstGeom prst="line">
            <a:avLst/>
          </a:prstGeom>
          <a:noFill/>
          <a:ln w="11430">
            <a:solidFill>
              <a:srgbClr val="3A91B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5A096C-9FA0-4EB4-A76D-285B5F62B29F}"/>
              </a:ext>
            </a:extLst>
          </p:cNvPr>
          <p:cNvSpPr>
            <a:spLocks noGrp="1"/>
          </p:cNvSpPr>
          <p:nvPr/>
        </p:nvSpPr>
        <p:spPr>
          <a:xfrm>
            <a:off x="8229600" y="14668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TOP DIE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ABAD6D-DFA4-4434-8B56-212C34E0F7C4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2438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LOCAL IJTAG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9442152-892D-43C2-BF06-81372CA69A8E}"/>
              </a:ext>
            </a:extLst>
          </p:cNvPr>
          <p:cNvSpPr>
            <a:spLocks noGrp="1"/>
          </p:cNvSpPr>
          <p:nvPr/>
        </p:nvSpPr>
        <p:spPr>
          <a:xfrm>
            <a:off x="8239125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C6E5045-2A98-4EEA-91E5-C98D4EAB0AEB}"/>
              </a:ext>
            </a:extLst>
          </p:cNvPr>
          <p:cNvSpPr>
            <a:spLocks noGrp="1"/>
          </p:cNvSpPr>
          <p:nvPr/>
        </p:nvSpPr>
        <p:spPr>
          <a:xfrm>
            <a:off x="8501592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99DC1C8-C016-466B-BC57-3140AFA15EB5}"/>
              </a:ext>
            </a:extLst>
          </p:cNvPr>
          <p:cNvSpPr>
            <a:spLocks noGrp="1"/>
          </p:cNvSpPr>
          <p:nvPr/>
        </p:nvSpPr>
        <p:spPr>
          <a:xfrm>
            <a:off x="8764058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81C0C7F3-41B7-4199-BA37-786B0CDCB63D}"/>
              </a:ext>
            </a:extLst>
          </p:cNvPr>
          <p:cNvSpPr>
            <a:spLocks noGrp="1"/>
          </p:cNvSpPr>
          <p:nvPr/>
        </p:nvSpPr>
        <p:spPr>
          <a:xfrm>
            <a:off x="9026525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1C77E37-E2DE-4D7A-8BD7-543AC2378230}"/>
              </a:ext>
            </a:extLst>
          </p:cNvPr>
          <p:cNvSpPr>
            <a:spLocks noGrp="1"/>
          </p:cNvSpPr>
          <p:nvPr/>
        </p:nvSpPr>
        <p:spPr>
          <a:xfrm>
            <a:off x="9288992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3F8E9A72-773A-4649-822F-9AE2EAD738DC}"/>
              </a:ext>
            </a:extLst>
          </p:cNvPr>
          <p:cNvSpPr>
            <a:spLocks noGrp="1"/>
          </p:cNvSpPr>
          <p:nvPr/>
        </p:nvSpPr>
        <p:spPr>
          <a:xfrm>
            <a:off x="9551458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5CE8BD7-445F-4DD1-96AC-00DAC6459BDB}"/>
              </a:ext>
            </a:extLst>
          </p:cNvPr>
          <p:cNvSpPr>
            <a:spLocks noGrp="1"/>
          </p:cNvSpPr>
          <p:nvPr/>
        </p:nvSpPr>
        <p:spPr>
          <a:xfrm>
            <a:off x="9813925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4910B1F-F083-4FFF-B020-F6F040DE1F16}"/>
              </a:ext>
            </a:extLst>
          </p:cNvPr>
          <p:cNvSpPr>
            <a:spLocks noGrp="1"/>
          </p:cNvSpPr>
          <p:nvPr/>
        </p:nvSpPr>
        <p:spPr>
          <a:xfrm>
            <a:off x="10076392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AA5E921B-E0A7-4D31-95F0-74567ADD797E}"/>
              </a:ext>
            </a:extLst>
          </p:cNvPr>
          <p:cNvSpPr>
            <a:spLocks noGrp="1"/>
          </p:cNvSpPr>
          <p:nvPr/>
        </p:nvSpPr>
        <p:spPr>
          <a:xfrm>
            <a:off x="10338858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3BA0D39B-82AE-46E3-A478-00326DE90811}"/>
              </a:ext>
            </a:extLst>
          </p:cNvPr>
          <p:cNvSpPr>
            <a:spLocks noGrp="1"/>
          </p:cNvSpPr>
          <p:nvPr/>
        </p:nvSpPr>
        <p:spPr>
          <a:xfrm>
            <a:off x="10601325" y="20764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1A0D9C-B530-4666-933E-D32463B42734}"/>
              </a:ext>
            </a:extLst>
          </p:cNvPr>
          <p:cNvSpPr>
            <a:spLocks noGrp="1"/>
          </p:cNvSpPr>
          <p:nvPr/>
        </p:nvSpPr>
        <p:spPr>
          <a:xfrm>
            <a:off x="7886700" y="2533650"/>
            <a:ext cx="27813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43F41D2-2EAF-4148-A0AC-C8C7151888B1}"/>
              </a:ext>
            </a:extLst>
          </p:cNvPr>
          <p:cNvSpPr>
            <a:spLocks noGrp="1"/>
          </p:cNvSpPr>
          <p:nvPr/>
        </p:nvSpPr>
        <p:spPr>
          <a:xfrm>
            <a:off x="7810500" y="2457450"/>
            <a:ext cx="2781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870D8E43-DD26-4677-B0F4-844CF9FCC06A}"/>
              </a:ext>
            </a:extLst>
          </p:cNvPr>
          <p:cNvSpPr>
            <a:spLocks noGrp="1"/>
          </p:cNvSpPr>
          <p:nvPr/>
        </p:nvSpPr>
        <p:spPr>
          <a:xfrm>
            <a:off x="7962900" y="2905125"/>
            <a:ext cx="2476500" cy="0"/>
          </a:xfrm>
          <a:prstGeom prst="line">
            <a:avLst/>
          </a:prstGeom>
          <a:noFill/>
          <a:ln w="11430">
            <a:solidFill>
              <a:srgbClr val="1F7B7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A329ABA-C7DA-4A0C-B8E2-F6D7CA2A54F7}"/>
              </a:ext>
            </a:extLst>
          </p:cNvPr>
          <p:cNvSpPr>
            <a:spLocks noGrp="1"/>
          </p:cNvSpPr>
          <p:nvPr/>
        </p:nvSpPr>
        <p:spPr>
          <a:xfrm>
            <a:off x="7981950" y="25717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MIDDLE DIE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0B6267-BF44-4AD2-9028-3D2D894812F3}"/>
              </a:ext>
            </a:extLst>
          </p:cNvPr>
          <p:cNvSpPr>
            <a:spLocks noGrp="1"/>
          </p:cNvSpPr>
          <p:nvPr/>
        </p:nvSpPr>
        <p:spPr>
          <a:xfrm>
            <a:off x="7981950" y="2914650"/>
            <a:ext cx="2438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IJTAG + STAP</a:t>
            </a: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53F3A61A-F2E9-4BE0-A99B-EEC004AC1958}"/>
              </a:ext>
            </a:extLst>
          </p:cNvPr>
          <p:cNvSpPr>
            <a:spLocks noGrp="1"/>
          </p:cNvSpPr>
          <p:nvPr/>
        </p:nvSpPr>
        <p:spPr>
          <a:xfrm>
            <a:off x="7991475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ABDCBF9B-37C3-44D5-8F0A-74EAA62D94FB}"/>
              </a:ext>
            </a:extLst>
          </p:cNvPr>
          <p:cNvSpPr>
            <a:spLocks noGrp="1"/>
          </p:cNvSpPr>
          <p:nvPr/>
        </p:nvSpPr>
        <p:spPr>
          <a:xfrm>
            <a:off x="8253942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0640F223-A500-45CA-8C7D-8CA2CAB38589}"/>
              </a:ext>
            </a:extLst>
          </p:cNvPr>
          <p:cNvSpPr>
            <a:spLocks noGrp="1"/>
          </p:cNvSpPr>
          <p:nvPr/>
        </p:nvSpPr>
        <p:spPr>
          <a:xfrm>
            <a:off x="8516408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B21F456F-E59C-4DBE-8543-82ACFA652FDC}"/>
              </a:ext>
            </a:extLst>
          </p:cNvPr>
          <p:cNvSpPr>
            <a:spLocks noGrp="1"/>
          </p:cNvSpPr>
          <p:nvPr/>
        </p:nvSpPr>
        <p:spPr>
          <a:xfrm>
            <a:off x="8778875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641FA554-3674-4457-87E2-741893EC6365}"/>
              </a:ext>
            </a:extLst>
          </p:cNvPr>
          <p:cNvSpPr>
            <a:spLocks noGrp="1"/>
          </p:cNvSpPr>
          <p:nvPr/>
        </p:nvSpPr>
        <p:spPr>
          <a:xfrm>
            <a:off x="9041342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1E83EF7D-A3DB-4F1A-ADE8-42469EC08635}"/>
              </a:ext>
            </a:extLst>
          </p:cNvPr>
          <p:cNvSpPr>
            <a:spLocks noGrp="1"/>
          </p:cNvSpPr>
          <p:nvPr/>
        </p:nvSpPr>
        <p:spPr>
          <a:xfrm>
            <a:off x="9303808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4D11F322-4F32-4E18-AAB4-83BB27571593}"/>
              </a:ext>
            </a:extLst>
          </p:cNvPr>
          <p:cNvSpPr>
            <a:spLocks noGrp="1"/>
          </p:cNvSpPr>
          <p:nvPr/>
        </p:nvSpPr>
        <p:spPr>
          <a:xfrm>
            <a:off x="9566275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C5821EF0-D058-4CF6-9959-6016D63074F3}"/>
              </a:ext>
            </a:extLst>
          </p:cNvPr>
          <p:cNvSpPr>
            <a:spLocks noGrp="1"/>
          </p:cNvSpPr>
          <p:nvPr/>
        </p:nvSpPr>
        <p:spPr>
          <a:xfrm>
            <a:off x="9828742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48B7C1E9-945D-4570-A879-E959D42E2146}"/>
              </a:ext>
            </a:extLst>
          </p:cNvPr>
          <p:cNvSpPr>
            <a:spLocks noGrp="1"/>
          </p:cNvSpPr>
          <p:nvPr/>
        </p:nvSpPr>
        <p:spPr>
          <a:xfrm>
            <a:off x="10091208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FCC76DE7-1DED-4924-9AB1-78F02EB8B6F9}"/>
              </a:ext>
            </a:extLst>
          </p:cNvPr>
          <p:cNvSpPr>
            <a:spLocks noGrp="1"/>
          </p:cNvSpPr>
          <p:nvPr/>
        </p:nvSpPr>
        <p:spPr>
          <a:xfrm>
            <a:off x="10353675" y="31813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CE13B0E-DA2C-45F2-B454-6F994F519525}"/>
              </a:ext>
            </a:extLst>
          </p:cNvPr>
          <p:cNvSpPr>
            <a:spLocks noGrp="1"/>
          </p:cNvSpPr>
          <p:nvPr/>
        </p:nvSpPr>
        <p:spPr>
          <a:xfrm>
            <a:off x="7639050" y="3638550"/>
            <a:ext cx="27813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EA9C49FD-5E9D-4D5D-98B0-1B3162101CDF}"/>
              </a:ext>
            </a:extLst>
          </p:cNvPr>
          <p:cNvSpPr>
            <a:spLocks noGrp="1"/>
          </p:cNvSpPr>
          <p:nvPr/>
        </p:nvSpPr>
        <p:spPr>
          <a:xfrm>
            <a:off x="7562850" y="3562350"/>
            <a:ext cx="27813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0B6B9E"/>
            </a:solidFill>
            <a:prstDash val="solid"/>
          </a:ln>
        </p:spPr>
      </p:sp>
      <p:sp>
        <p:nvSpPr>
          <p:cNvPr id="41" name="直線接點 40">
            <a:extLst>
              <a:ext uri="{FF2B5EF4-FFF2-40B4-BE49-F238E27FC236}">
                <a16:creationId xmlns:a16="http://schemas.microsoft.com/office/drawing/2014/main" id="{D99CC1FF-E394-4E9F-A8E9-72B846F1F496}"/>
              </a:ext>
            </a:extLst>
          </p:cNvPr>
          <p:cNvSpPr>
            <a:spLocks noGrp="1"/>
          </p:cNvSpPr>
          <p:nvPr/>
        </p:nvSpPr>
        <p:spPr>
          <a:xfrm>
            <a:off x="7715250" y="4010025"/>
            <a:ext cx="2476500" cy="0"/>
          </a:xfrm>
          <a:prstGeom prst="line">
            <a:avLst/>
          </a:prstGeom>
          <a:noFill/>
          <a:ln w="11430">
            <a:solidFill>
              <a:srgbClr val="0B6B9E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71BF415-BFC3-4FD4-81B3-1FBBF918EA97}"/>
              </a:ext>
            </a:extLst>
          </p:cNvPr>
          <p:cNvSpPr>
            <a:spLocks noGrp="1"/>
          </p:cNvSpPr>
          <p:nvPr/>
        </p:nvSpPr>
        <p:spPr>
          <a:xfrm>
            <a:off x="7734300" y="3676650"/>
            <a:ext cx="243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 DIE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1030EB3-9099-47A1-8CEA-F72F2FF3D907}"/>
              </a:ext>
            </a:extLst>
          </p:cNvPr>
          <p:cNvSpPr>
            <a:spLocks noGrp="1"/>
          </p:cNvSpPr>
          <p:nvPr/>
        </p:nvSpPr>
        <p:spPr>
          <a:xfrm>
            <a:off x="7734300" y="4019550"/>
            <a:ext cx="2438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PTAP · IJTAG + STAP</a:t>
            </a: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FBFBD681-2A59-41F9-9C34-5C430B203CCF}"/>
              </a:ext>
            </a:extLst>
          </p:cNvPr>
          <p:cNvSpPr>
            <a:spLocks noGrp="1"/>
          </p:cNvSpPr>
          <p:nvPr/>
        </p:nvSpPr>
        <p:spPr>
          <a:xfrm>
            <a:off x="7743825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C36F2695-F11A-405E-87ED-AEE5E01AEA07}"/>
              </a:ext>
            </a:extLst>
          </p:cNvPr>
          <p:cNvSpPr>
            <a:spLocks noGrp="1"/>
          </p:cNvSpPr>
          <p:nvPr/>
        </p:nvSpPr>
        <p:spPr>
          <a:xfrm>
            <a:off x="8006292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79DA8845-F6C4-446E-AC69-7A4E9664F43D}"/>
              </a:ext>
            </a:extLst>
          </p:cNvPr>
          <p:cNvSpPr>
            <a:spLocks noGrp="1"/>
          </p:cNvSpPr>
          <p:nvPr/>
        </p:nvSpPr>
        <p:spPr>
          <a:xfrm>
            <a:off x="8268758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472D1C6E-2A0B-49E4-8626-7E7010BB3B6B}"/>
              </a:ext>
            </a:extLst>
          </p:cNvPr>
          <p:cNvSpPr>
            <a:spLocks noGrp="1"/>
          </p:cNvSpPr>
          <p:nvPr/>
        </p:nvSpPr>
        <p:spPr>
          <a:xfrm>
            <a:off x="8531225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75A5FD39-8C72-4A7E-B29F-A32BB093CB4C}"/>
              </a:ext>
            </a:extLst>
          </p:cNvPr>
          <p:cNvSpPr>
            <a:spLocks noGrp="1"/>
          </p:cNvSpPr>
          <p:nvPr/>
        </p:nvSpPr>
        <p:spPr>
          <a:xfrm>
            <a:off x="8793692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78E145B4-0BFC-44F7-A803-E4D1D046D82F}"/>
              </a:ext>
            </a:extLst>
          </p:cNvPr>
          <p:cNvSpPr>
            <a:spLocks noGrp="1"/>
          </p:cNvSpPr>
          <p:nvPr/>
        </p:nvSpPr>
        <p:spPr>
          <a:xfrm>
            <a:off x="9056158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C1E65EB5-C9A6-4781-96AD-7997ABE1086C}"/>
              </a:ext>
            </a:extLst>
          </p:cNvPr>
          <p:cNvSpPr>
            <a:spLocks noGrp="1"/>
          </p:cNvSpPr>
          <p:nvPr/>
        </p:nvSpPr>
        <p:spPr>
          <a:xfrm>
            <a:off x="9318625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FBFF8F9B-1C3D-41D6-815B-34CA8E75E82D}"/>
              </a:ext>
            </a:extLst>
          </p:cNvPr>
          <p:cNvSpPr>
            <a:spLocks noGrp="1"/>
          </p:cNvSpPr>
          <p:nvPr/>
        </p:nvSpPr>
        <p:spPr>
          <a:xfrm>
            <a:off x="9581092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F35957CA-8EE3-4275-8691-A227FB872B2B}"/>
              </a:ext>
            </a:extLst>
          </p:cNvPr>
          <p:cNvSpPr>
            <a:spLocks noGrp="1"/>
          </p:cNvSpPr>
          <p:nvPr/>
        </p:nvSpPr>
        <p:spPr>
          <a:xfrm>
            <a:off x="9843558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1192913-13F7-4AF9-87B1-5C9A3BF304B8}"/>
              </a:ext>
            </a:extLst>
          </p:cNvPr>
          <p:cNvSpPr>
            <a:spLocks noGrp="1"/>
          </p:cNvSpPr>
          <p:nvPr/>
        </p:nvSpPr>
        <p:spPr>
          <a:xfrm>
            <a:off x="10106025" y="42862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DA7F91E4-A828-4F3D-8B1F-A729639AC98D}"/>
              </a:ext>
            </a:extLst>
          </p:cNvPr>
          <p:cNvSpPr>
            <a:spLocks noGrp="1"/>
          </p:cNvSpPr>
          <p:nvPr/>
        </p:nvSpPr>
        <p:spPr>
          <a:xfrm>
            <a:off x="6819900" y="4324350"/>
            <a:ext cx="685800" cy="361950"/>
          </a:xfrm>
          <a:prstGeom prst="roundRect">
            <a:avLst>
              <a:gd name="adj" fmla="val 15789"/>
            </a:avLst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  <p:txBody>
          <a:bodyPr wrap="square" lIns="114300" tIns="76200" rIns="114300" bIns="76200" anchor="ctr">
            <a:normAutofit fontScale="96278"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PTAP</a:t>
            </a:r>
          </a:p>
        </p:txBody>
      </p:sp>
      <p:sp>
        <p:nvSpPr>
          <p:cNvPr id="55" name="直線接點 54">
            <a:extLst>
              <a:ext uri="{FF2B5EF4-FFF2-40B4-BE49-F238E27FC236}">
                <a16:creationId xmlns:a16="http://schemas.microsoft.com/office/drawing/2014/main" id="{0C29EA33-3806-419F-A551-7FECF7CF7D3B}"/>
              </a:ext>
            </a:extLst>
          </p:cNvPr>
          <p:cNvSpPr>
            <a:spLocks noGrp="1"/>
          </p:cNvSpPr>
          <p:nvPr/>
        </p:nvSpPr>
        <p:spPr>
          <a:xfrm>
            <a:off x="7143750" y="4495800"/>
            <a:ext cx="419100" cy="0"/>
          </a:xfrm>
          <a:prstGeom prst="line">
            <a:avLst/>
          </a:prstGeom>
          <a:noFill/>
          <a:ln w="22860">
            <a:solidFill>
              <a:srgbClr val="173A59"/>
            </a:solidFill>
            <a:prstDash val="solid"/>
          </a:ln>
        </p:spPr>
      </p:sp>
      <p:sp>
        <p:nvSpPr>
          <p:cNvPr id="56" name="直線接點 55">
            <a:extLst>
              <a:ext uri="{FF2B5EF4-FFF2-40B4-BE49-F238E27FC236}">
                <a16:creationId xmlns:a16="http://schemas.microsoft.com/office/drawing/2014/main" id="{4883457B-D3B7-4B79-81CE-76DB37A56809}"/>
              </a:ext>
            </a:extLst>
          </p:cNvPr>
          <p:cNvSpPr>
            <a:spLocks noGrp="1"/>
          </p:cNvSpPr>
          <p:nvPr/>
        </p:nvSpPr>
        <p:spPr>
          <a:xfrm>
            <a:off x="9191625" y="2085975"/>
            <a:ext cx="0" cy="2343150"/>
          </a:xfrm>
          <a:prstGeom prst="line">
            <a:avLst/>
          </a:prstGeom>
          <a:noFill/>
          <a:ln w="28575">
            <a:solidFill>
              <a:srgbClr val="D96B30"/>
            </a:solidFill>
            <a:prstDash val="solid"/>
          </a:ln>
        </p:spPr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4EF41393-D01D-441D-BE8A-380C993E6BD4}"/>
              </a:ext>
            </a:extLst>
          </p:cNvPr>
          <p:cNvSpPr>
            <a:spLocks noGrp="1"/>
          </p:cNvSpPr>
          <p:nvPr/>
        </p:nvSpPr>
        <p:spPr>
          <a:xfrm>
            <a:off x="9134475" y="2038350"/>
            <a:ext cx="114300" cy="114300"/>
          </a:xfrm>
          <a:prstGeom prst="ellipse">
            <a:avLst/>
          </a:prstGeom>
          <a:solidFill>
            <a:srgbClr val="D96B30"/>
          </a:solidFill>
          <a:ln w="0">
            <a:noFill/>
            <a:prstDash val="solid"/>
          </a:ln>
        </p:spPr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C65907FC-441F-4BCC-A6E4-E92736337579}"/>
              </a:ext>
            </a:extLst>
          </p:cNvPr>
          <p:cNvSpPr>
            <a:spLocks noGrp="1"/>
          </p:cNvSpPr>
          <p:nvPr/>
        </p:nvSpPr>
        <p:spPr>
          <a:xfrm>
            <a:off x="9134475" y="3143250"/>
            <a:ext cx="114300" cy="114300"/>
          </a:xfrm>
          <a:prstGeom prst="ellipse">
            <a:avLst/>
          </a:prstGeom>
          <a:solidFill>
            <a:srgbClr val="D96B30"/>
          </a:solidFill>
          <a:ln w="0">
            <a:noFill/>
            <a:prstDash val="solid"/>
          </a:ln>
        </p:spPr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75503A67-66ED-4E28-A8B0-DB7DD3D451EF}"/>
              </a:ext>
            </a:extLst>
          </p:cNvPr>
          <p:cNvSpPr>
            <a:spLocks noGrp="1"/>
          </p:cNvSpPr>
          <p:nvPr/>
        </p:nvSpPr>
        <p:spPr>
          <a:xfrm>
            <a:off x="9134475" y="4248150"/>
            <a:ext cx="114300" cy="114300"/>
          </a:xfrm>
          <a:prstGeom prst="ellipse">
            <a:avLst/>
          </a:prstGeom>
          <a:solidFill>
            <a:srgbClr val="D96B30"/>
          </a:solidFill>
          <a:ln w="0">
            <a:noFill/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55AF33F-34FB-4D3A-8B65-8A05BEA0A5A6}"/>
              </a:ext>
            </a:extLst>
          </p:cNvPr>
          <p:cNvSpPr>
            <a:spLocks noGrp="1"/>
          </p:cNvSpPr>
          <p:nvPr/>
        </p:nvSpPr>
        <p:spPr>
          <a:xfrm>
            <a:off x="10306050" y="2076450"/>
            <a:ext cx="914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SERIAL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EA1CB5C-609D-4860-8D2C-DFAD2A95150A}"/>
              </a:ext>
            </a:extLst>
          </p:cNvPr>
          <p:cNvSpPr>
            <a:spLocks noGrp="1"/>
          </p:cNvSpPr>
          <p:nvPr/>
        </p:nvSpPr>
        <p:spPr>
          <a:xfrm>
            <a:off x="7848600" y="52673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DESIGN DATA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8D8B09D-A12A-48E7-A13D-5AEEB14730A3}"/>
              </a:ext>
            </a:extLst>
          </p:cNvPr>
          <p:cNvSpPr>
            <a:spLocks noGrp="1"/>
          </p:cNvSpPr>
          <p:nvPr/>
        </p:nvSpPr>
        <p:spPr>
          <a:xfrm>
            <a:off x="9105900" y="52673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AUTOMATION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011E7B6-AAFD-4E3D-A9F7-EF99ECC990A4}"/>
              </a:ext>
            </a:extLst>
          </p:cNvPr>
          <p:cNvSpPr>
            <a:spLocks noGrp="1"/>
          </p:cNvSpPr>
          <p:nvPr/>
        </p:nvSpPr>
        <p:spPr>
          <a:xfrm>
            <a:off x="10325100" y="52673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64" name="直線接點 63">
            <a:extLst>
              <a:ext uri="{FF2B5EF4-FFF2-40B4-BE49-F238E27FC236}">
                <a16:creationId xmlns:a16="http://schemas.microsoft.com/office/drawing/2014/main" id="{F20D6B1A-168D-4A5F-92C2-A6EDF2D0E28C}"/>
              </a:ext>
            </a:extLst>
          </p:cNvPr>
          <p:cNvSpPr>
            <a:spLocks noGrp="1"/>
          </p:cNvSpPr>
          <p:nvPr/>
        </p:nvSpPr>
        <p:spPr>
          <a:xfrm>
            <a:off x="7877175" y="5553075"/>
            <a:ext cx="3467100" cy="0"/>
          </a:xfrm>
          <a:prstGeom prst="line">
            <a:avLst/>
          </a:prstGeom>
          <a:noFill/>
          <a:ln w="9525">
            <a:solidFill>
              <a:srgbClr val="B7C5CD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7932614-3452-43F7-8397-A810BFECEA7A}"/>
              </a:ext>
            </a:extLst>
          </p:cNvPr>
          <p:cNvSpPr>
            <a:spLocks noGrp="1"/>
          </p:cNvSpPr>
          <p:nvPr/>
        </p:nvSpPr>
        <p:spPr>
          <a:xfrm>
            <a:off x="8210550" y="5610225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STANDARDIZED TEAM FLOW</a:t>
            </a:r>
          </a:p>
        </p:txBody>
      </p:sp>
      <p:sp>
        <p:nvSpPr>
          <p:cNvPr id="66" name="直線接點 65">
            <a:extLst>
              <a:ext uri="{FF2B5EF4-FFF2-40B4-BE49-F238E27FC236}">
                <a16:creationId xmlns:a16="http://schemas.microsoft.com/office/drawing/2014/main" id="{06CA2368-5D58-42CE-B3AD-77FA672529B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AB9F1CB0-14F0-41EB-ACC8-A2E004C25306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84705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B72634F-933A-48B0-8B31-F4ADD6BE5ACC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lide-11-title">
            <a:extLst>
              <a:ext uri="{FF2B5EF4-FFF2-40B4-BE49-F238E27FC236}">
                <a16:creationId xmlns:a16="http://schemas.microsoft.com/office/drawing/2014/main" id="{00CCB273-28B6-470B-B30D-30709EC6061C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1360876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E6AA6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PROJECT STATUS AT A GLANCE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94EEF770-DBC8-431D-BB2A-188CEE3FEF75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62" name="直線接點 61">
            <a:extLst>
              <a:ext uri="{FF2B5EF4-FFF2-40B4-BE49-F238E27FC236}">
                <a16:creationId xmlns:a16="http://schemas.microsoft.com/office/drawing/2014/main" id="{E7303386-C5FC-43F1-9E7A-8F7409C3F3F9}"/>
              </a:ext>
            </a:extLst>
          </p:cNvPr>
          <p:cNvSpPr>
            <a:spLocks noGrp="1"/>
          </p:cNvSpPr>
          <p:nvPr/>
        </p:nvSpPr>
        <p:spPr>
          <a:xfrm>
            <a:off x="561975" y="6722473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64" name="automation-boundary">
            <a:extLst>
              <a:ext uri="{FF2B5EF4-FFF2-40B4-BE49-F238E27FC236}">
                <a16:creationId xmlns:a16="http://schemas.microsoft.com/office/drawing/2014/main" id="{DE4A04CA-122F-4555-95A4-DE94718DF70B}"/>
              </a:ext>
            </a:extLst>
          </p:cNvPr>
          <p:cNvSpPr>
            <a:spLocks noGrp="1"/>
          </p:cNvSpPr>
          <p:nvPr/>
        </p:nvSpPr>
        <p:spPr>
          <a:xfrm>
            <a:off x="339634" y="1452971"/>
            <a:ext cx="7566116" cy="1937929"/>
          </a:xfrm>
          <a:prstGeom prst="roundRect">
            <a:avLst>
              <a:gd name="adj" fmla="val 0"/>
            </a:avLst>
          </a:prstGeom>
          <a:noFill/>
          <a:ln w="14288">
            <a:solidFill>
              <a:srgbClr val="C00000"/>
            </a:solidFill>
            <a:prstDash val="solid"/>
          </a:ln>
        </p:spPr>
      </p:sp>
      <p:sp>
        <p:nvSpPr>
          <p:cNvPr id="65" name="automation-accent">
            <a:extLst>
              <a:ext uri="{FF2B5EF4-FFF2-40B4-BE49-F238E27FC236}">
                <a16:creationId xmlns:a16="http://schemas.microsoft.com/office/drawing/2014/main" id="{9B281DCD-9884-41E8-A0CB-D800D04161B1}"/>
              </a:ext>
            </a:extLst>
          </p:cNvPr>
          <p:cNvSpPr>
            <a:spLocks noGrp="1"/>
          </p:cNvSpPr>
          <p:nvPr/>
        </p:nvSpPr>
        <p:spPr>
          <a:xfrm>
            <a:off x="339634" y="1466850"/>
            <a:ext cx="57150" cy="1924050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66" name="auto-arrow-1">
            <a:extLst>
              <a:ext uri="{FF2B5EF4-FFF2-40B4-BE49-F238E27FC236}">
                <a16:creationId xmlns:a16="http://schemas.microsoft.com/office/drawing/2014/main" id="{AA609533-7F7C-4D89-9A01-8336FF53A7CC}"/>
              </a:ext>
            </a:extLst>
          </p:cNvPr>
          <p:cNvSpPr>
            <a:spLocks noGrp="1"/>
          </p:cNvSpPr>
          <p:nvPr/>
        </p:nvSpPr>
        <p:spPr>
          <a:xfrm>
            <a:off x="2209800" y="2305050"/>
            <a:ext cx="266700" cy="266700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</p:sp>
      <p:sp>
        <p:nvSpPr>
          <p:cNvPr id="67" name="auto-arrow-2">
            <a:extLst>
              <a:ext uri="{FF2B5EF4-FFF2-40B4-BE49-F238E27FC236}">
                <a16:creationId xmlns:a16="http://schemas.microsoft.com/office/drawing/2014/main" id="{952E6986-86E8-48EC-B0C1-447B1617930A}"/>
              </a:ext>
            </a:extLst>
          </p:cNvPr>
          <p:cNvSpPr>
            <a:spLocks noGrp="1"/>
          </p:cNvSpPr>
          <p:nvPr/>
        </p:nvSpPr>
        <p:spPr>
          <a:xfrm>
            <a:off x="4076700" y="2305050"/>
            <a:ext cx="266700" cy="266700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</p:sp>
      <p:sp>
        <p:nvSpPr>
          <p:cNvPr id="68" name="auto-arrow-3">
            <a:extLst>
              <a:ext uri="{FF2B5EF4-FFF2-40B4-BE49-F238E27FC236}">
                <a16:creationId xmlns:a16="http://schemas.microsoft.com/office/drawing/2014/main" id="{D76E5C5D-2BBF-43B5-8690-1626547B5153}"/>
              </a:ext>
            </a:extLst>
          </p:cNvPr>
          <p:cNvSpPr>
            <a:spLocks noGrp="1"/>
          </p:cNvSpPr>
          <p:nvPr/>
        </p:nvSpPr>
        <p:spPr>
          <a:xfrm>
            <a:off x="5943600" y="2305050"/>
            <a:ext cx="266700" cy="266700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</p:sp>
      <p:sp>
        <p:nvSpPr>
          <p:cNvPr id="69" name="auto-arrow-4">
            <a:extLst>
              <a:ext uri="{FF2B5EF4-FFF2-40B4-BE49-F238E27FC236}">
                <a16:creationId xmlns:a16="http://schemas.microsoft.com/office/drawing/2014/main" id="{BFBE4283-37BA-4B22-83CB-DFEAED0F8645}"/>
              </a:ext>
            </a:extLst>
          </p:cNvPr>
          <p:cNvSpPr>
            <a:spLocks noGrp="1"/>
          </p:cNvSpPr>
          <p:nvPr/>
        </p:nvSpPr>
        <p:spPr>
          <a:xfrm>
            <a:off x="7810500" y="2305050"/>
            <a:ext cx="266700" cy="266700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</p:sp>
      <p:sp>
        <p:nvSpPr>
          <p:cNvPr id="76" name="automation-label">
            <a:extLst>
              <a:ext uri="{FF2B5EF4-FFF2-40B4-BE49-F238E27FC236}">
                <a16:creationId xmlns:a16="http://schemas.microsoft.com/office/drawing/2014/main" id="{519B289D-A8AB-4D88-B02B-AB88C7826095}"/>
              </a:ext>
            </a:extLst>
          </p:cNvPr>
          <p:cNvSpPr>
            <a:spLocks noGrp="1"/>
          </p:cNvSpPr>
          <p:nvPr/>
        </p:nvSpPr>
        <p:spPr>
          <a:xfrm>
            <a:off x="502648" y="1559649"/>
            <a:ext cx="209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0B456D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AUTOMATED BASELINE</a:t>
            </a:r>
          </a:p>
        </p:txBody>
      </p:sp>
      <p:sp>
        <p:nvSpPr>
          <p:cNvPr id="77" name="automation-summary">
            <a:extLst>
              <a:ext uri="{FF2B5EF4-FFF2-40B4-BE49-F238E27FC236}">
                <a16:creationId xmlns:a16="http://schemas.microsoft.com/office/drawing/2014/main" id="{099D090C-EB3E-419D-A8D4-6CFAF44E3C70}"/>
              </a:ext>
            </a:extLst>
          </p:cNvPr>
          <p:cNvSpPr>
            <a:spLocks noGrp="1"/>
          </p:cNvSpPr>
          <p:nvPr/>
        </p:nvSpPr>
        <p:spPr>
          <a:xfrm>
            <a:off x="2237831" y="1552575"/>
            <a:ext cx="4985113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657A8B"/>
                </a:solidFill>
                <a:latin typeface="Arial"/>
                <a:ea typeface="Arial"/>
                <a:cs typeface="Arial"/>
              </a:rPr>
              <a:t>ONE CONFIGURATION → GENERATED RTL / ICL / STACK / PATTERN / CHECK</a:t>
            </a:r>
          </a:p>
        </p:txBody>
      </p:sp>
      <p:sp>
        <p:nvSpPr>
          <p:cNvPr id="78" name="done-01-card">
            <a:extLst>
              <a:ext uri="{FF2B5EF4-FFF2-40B4-BE49-F238E27FC236}">
                <a16:creationId xmlns:a16="http://schemas.microsoft.com/office/drawing/2014/main" id="{039C400A-5242-4BA0-8DEA-E8BC258AC009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600200" cy="1314450"/>
          </a:xfrm>
          <a:prstGeom prst="roundRect">
            <a:avLst>
              <a:gd name="adj" fmla="val 7246"/>
            </a:avLst>
          </a:prstGeom>
          <a:noFill/>
          <a:ln w="14288">
            <a:solidFill>
              <a:srgbClr val="14785D"/>
            </a:solidFill>
            <a:prstDash val="solid"/>
          </a:ln>
        </p:spPr>
      </p:sp>
      <p:sp>
        <p:nvSpPr>
          <p:cNvPr id="79" name="done-01-header">
            <a:extLst>
              <a:ext uri="{FF2B5EF4-FFF2-40B4-BE49-F238E27FC236}">
                <a16:creationId xmlns:a16="http://schemas.microsoft.com/office/drawing/2014/main" id="{5582517C-8640-465B-8C5D-40E30BE99FA2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600200" cy="409575"/>
          </a:xfrm>
          <a:prstGeom prst="roundRect">
            <a:avLst>
              <a:gd name="adj" fmla="val 23256"/>
            </a:avLst>
          </a:prstGeom>
          <a:solidFill>
            <a:srgbClr val="0F684E"/>
          </a:solidFill>
          <a:ln w="9525">
            <a:solidFill>
              <a:srgbClr val="0F684E"/>
            </a:solidFill>
            <a:prstDash val="solid"/>
          </a:ln>
        </p:spPr>
      </p:sp>
      <p:sp>
        <p:nvSpPr>
          <p:cNvPr id="80" name="done-01-number">
            <a:extLst>
              <a:ext uri="{FF2B5EF4-FFF2-40B4-BE49-F238E27FC236}">
                <a16:creationId xmlns:a16="http://schemas.microsoft.com/office/drawing/2014/main" id="{6B971605-3FD2-48C3-82C2-18C75BCAFD0B}"/>
              </a:ext>
            </a:extLst>
          </p:cNvPr>
          <p:cNvSpPr>
            <a:spLocks noGrp="1"/>
          </p:cNvSpPr>
          <p:nvPr/>
        </p:nvSpPr>
        <p:spPr>
          <a:xfrm>
            <a:off x="723900" y="1933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1" name="done-01-title">
            <a:extLst>
              <a:ext uri="{FF2B5EF4-FFF2-40B4-BE49-F238E27FC236}">
                <a16:creationId xmlns:a16="http://schemas.microsoft.com/office/drawing/2014/main" id="{FC80FBB1-21D6-41BF-A303-B567C48C1F03}"/>
              </a:ext>
            </a:extLst>
          </p:cNvPr>
          <p:cNvSpPr>
            <a:spLocks noGrp="1"/>
          </p:cNvSpPr>
          <p:nvPr/>
        </p:nvSpPr>
        <p:spPr>
          <a:xfrm>
            <a:off x="1019175" y="1924050"/>
            <a:ext cx="81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29" lnSpcReduction="2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CONTRACT</a:t>
            </a:r>
          </a:p>
        </p:txBody>
      </p:sp>
      <p:sp>
        <p:nvSpPr>
          <p:cNvPr id="82" name="done-01-body">
            <a:extLst>
              <a:ext uri="{FF2B5EF4-FFF2-40B4-BE49-F238E27FC236}">
                <a16:creationId xmlns:a16="http://schemas.microsoft.com/office/drawing/2014/main" id="{9E56F214-7474-4A2E-A54B-C23D21FCCDE9}"/>
              </a:ext>
            </a:extLst>
          </p:cNvPr>
          <p:cNvSpPr>
            <a:spLocks noGrp="1"/>
          </p:cNvSpPr>
          <p:nvPr/>
        </p:nvSpPr>
        <p:spPr>
          <a:xfrm>
            <a:off x="742950" y="23526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M</a:t>
            </a: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anifest fields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Python pre-check</a:t>
            </a:r>
          </a:p>
        </p:txBody>
      </p:sp>
      <p:sp>
        <p:nvSpPr>
          <p:cNvPr id="83" name="done-01-check">
            <a:extLst>
              <a:ext uri="{FF2B5EF4-FFF2-40B4-BE49-F238E27FC236}">
                <a16:creationId xmlns:a16="http://schemas.microsoft.com/office/drawing/2014/main" id="{F7AC820B-BE7E-42FB-A1A0-8F84400D0041}"/>
              </a:ext>
            </a:extLst>
          </p:cNvPr>
          <p:cNvSpPr>
            <a:spLocks noGrp="1"/>
          </p:cNvSpPr>
          <p:nvPr/>
        </p:nvSpPr>
        <p:spPr>
          <a:xfrm>
            <a:off x="1905000" y="1952625"/>
            <a:ext cx="209550" cy="209550"/>
          </a:xfrm>
          <a:prstGeom prst="ellipse">
            <a:avLst/>
          </a:prstGeom>
          <a:solidFill>
            <a:srgbClr val="E8F4E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 fontScale="92220" lnSpcReduction="20000"/>
          </a:bodyPr>
          <a:lstStyle/>
          <a:p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4" name="done-02-card">
            <a:extLst>
              <a:ext uri="{FF2B5EF4-FFF2-40B4-BE49-F238E27FC236}">
                <a16:creationId xmlns:a16="http://schemas.microsoft.com/office/drawing/2014/main" id="{196970BC-8D3B-4880-B7A0-09925529A1C6}"/>
              </a:ext>
            </a:extLst>
          </p:cNvPr>
          <p:cNvSpPr>
            <a:spLocks noGrp="1"/>
          </p:cNvSpPr>
          <p:nvPr/>
        </p:nvSpPr>
        <p:spPr>
          <a:xfrm>
            <a:off x="2476500" y="1866900"/>
            <a:ext cx="1600200" cy="1314450"/>
          </a:xfrm>
          <a:prstGeom prst="roundRect">
            <a:avLst>
              <a:gd name="adj" fmla="val 7246"/>
            </a:avLst>
          </a:prstGeom>
          <a:noFill/>
          <a:ln w="14288">
            <a:solidFill>
              <a:srgbClr val="14785D"/>
            </a:solidFill>
            <a:prstDash val="solid"/>
          </a:ln>
        </p:spPr>
      </p:sp>
      <p:sp>
        <p:nvSpPr>
          <p:cNvPr id="85" name="done-02-header">
            <a:extLst>
              <a:ext uri="{FF2B5EF4-FFF2-40B4-BE49-F238E27FC236}">
                <a16:creationId xmlns:a16="http://schemas.microsoft.com/office/drawing/2014/main" id="{2057DF23-5991-4590-8EFA-971762D6F023}"/>
              </a:ext>
            </a:extLst>
          </p:cNvPr>
          <p:cNvSpPr>
            <a:spLocks noGrp="1"/>
          </p:cNvSpPr>
          <p:nvPr/>
        </p:nvSpPr>
        <p:spPr>
          <a:xfrm>
            <a:off x="2476500" y="1866900"/>
            <a:ext cx="1600200" cy="409575"/>
          </a:xfrm>
          <a:prstGeom prst="roundRect">
            <a:avLst>
              <a:gd name="adj" fmla="val 23256"/>
            </a:avLst>
          </a:prstGeom>
          <a:solidFill>
            <a:srgbClr val="0F684E"/>
          </a:solidFill>
          <a:ln w="9525">
            <a:solidFill>
              <a:srgbClr val="0F684E"/>
            </a:solidFill>
            <a:prstDash val="solid"/>
          </a:ln>
        </p:spPr>
      </p:sp>
      <p:sp>
        <p:nvSpPr>
          <p:cNvPr id="86" name="done-02-number">
            <a:extLst>
              <a:ext uri="{FF2B5EF4-FFF2-40B4-BE49-F238E27FC236}">
                <a16:creationId xmlns:a16="http://schemas.microsoft.com/office/drawing/2014/main" id="{263D2DCC-940F-46C8-AF3E-A9EDC76E0DAA}"/>
              </a:ext>
            </a:extLst>
          </p:cNvPr>
          <p:cNvSpPr>
            <a:spLocks noGrp="1"/>
          </p:cNvSpPr>
          <p:nvPr/>
        </p:nvSpPr>
        <p:spPr>
          <a:xfrm>
            <a:off x="2590800" y="1933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7" name="done-02-title">
            <a:extLst>
              <a:ext uri="{FF2B5EF4-FFF2-40B4-BE49-F238E27FC236}">
                <a16:creationId xmlns:a16="http://schemas.microsoft.com/office/drawing/2014/main" id="{606A1165-2FA0-481B-9ECD-CD029786A43C}"/>
              </a:ext>
            </a:extLst>
          </p:cNvPr>
          <p:cNvSpPr>
            <a:spLocks noGrp="1"/>
          </p:cNvSpPr>
          <p:nvPr/>
        </p:nvSpPr>
        <p:spPr>
          <a:xfrm>
            <a:off x="2886075" y="1924050"/>
            <a:ext cx="81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2815" lnSpcReduction="2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DFT CONFIG</a:t>
            </a:r>
          </a:p>
        </p:txBody>
      </p:sp>
      <p:sp>
        <p:nvSpPr>
          <p:cNvPr id="88" name="done-02-body">
            <a:extLst>
              <a:ext uri="{FF2B5EF4-FFF2-40B4-BE49-F238E27FC236}">
                <a16:creationId xmlns:a16="http://schemas.microsoft.com/office/drawing/2014/main" id="{9BA78B72-F2ED-48BA-97F9-DB4665144EC5}"/>
              </a:ext>
            </a:extLst>
          </p:cNvPr>
          <p:cNvSpPr>
            <a:spLocks noGrp="1"/>
          </p:cNvSpPr>
          <p:nvPr/>
        </p:nvSpPr>
        <p:spPr>
          <a:xfrm>
            <a:off x="2609850" y="2352675"/>
            <a:ext cx="1390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config Tcl</a:t>
            </a:r>
            <a:r>
              <a:rPr lang="en-US"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validated host setup</a:t>
            </a:r>
          </a:p>
        </p:txBody>
      </p:sp>
      <p:sp>
        <p:nvSpPr>
          <p:cNvPr id="89" name="done-02-check">
            <a:extLst>
              <a:ext uri="{FF2B5EF4-FFF2-40B4-BE49-F238E27FC236}">
                <a16:creationId xmlns:a16="http://schemas.microsoft.com/office/drawing/2014/main" id="{C11A7016-5530-4DCD-965F-9BF65529F776}"/>
              </a:ext>
            </a:extLst>
          </p:cNvPr>
          <p:cNvSpPr>
            <a:spLocks noGrp="1"/>
          </p:cNvSpPr>
          <p:nvPr/>
        </p:nvSpPr>
        <p:spPr>
          <a:xfrm>
            <a:off x="3771900" y="1952625"/>
            <a:ext cx="209550" cy="209550"/>
          </a:xfrm>
          <a:prstGeom prst="ellipse">
            <a:avLst/>
          </a:prstGeom>
          <a:solidFill>
            <a:srgbClr val="E8F4E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 fontScale="92220" lnSpcReduction="20000"/>
          </a:bodyPr>
          <a:lstStyle/>
          <a:p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0" name="done-03-card">
            <a:extLst>
              <a:ext uri="{FF2B5EF4-FFF2-40B4-BE49-F238E27FC236}">
                <a16:creationId xmlns:a16="http://schemas.microsoft.com/office/drawing/2014/main" id="{07D0258E-F84B-4524-87AB-F056A6EA0014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1600200" cy="1314450"/>
          </a:xfrm>
          <a:prstGeom prst="roundRect">
            <a:avLst>
              <a:gd name="adj" fmla="val 7246"/>
            </a:avLst>
          </a:prstGeom>
          <a:noFill/>
          <a:ln w="14288">
            <a:solidFill>
              <a:srgbClr val="14785D"/>
            </a:solidFill>
            <a:prstDash val="solid"/>
          </a:ln>
        </p:spPr>
      </p:sp>
      <p:sp>
        <p:nvSpPr>
          <p:cNvPr id="91" name="done-03-header">
            <a:extLst>
              <a:ext uri="{FF2B5EF4-FFF2-40B4-BE49-F238E27FC236}">
                <a16:creationId xmlns:a16="http://schemas.microsoft.com/office/drawing/2014/main" id="{48B3FDFA-61D8-4D18-AB80-E9B1C1C21605}"/>
              </a:ext>
            </a:extLst>
          </p:cNvPr>
          <p:cNvSpPr>
            <a:spLocks noGrp="1"/>
          </p:cNvSpPr>
          <p:nvPr/>
        </p:nvSpPr>
        <p:spPr>
          <a:xfrm>
            <a:off x="4343400" y="1866900"/>
            <a:ext cx="1600200" cy="409575"/>
          </a:xfrm>
          <a:prstGeom prst="roundRect">
            <a:avLst>
              <a:gd name="adj" fmla="val 23256"/>
            </a:avLst>
          </a:prstGeom>
          <a:solidFill>
            <a:srgbClr val="0F684E"/>
          </a:solidFill>
          <a:ln w="9525">
            <a:solidFill>
              <a:srgbClr val="0F684E"/>
            </a:solidFill>
            <a:prstDash val="solid"/>
          </a:ln>
        </p:spPr>
      </p:sp>
      <p:sp>
        <p:nvSpPr>
          <p:cNvPr id="92" name="done-03-number">
            <a:extLst>
              <a:ext uri="{FF2B5EF4-FFF2-40B4-BE49-F238E27FC236}">
                <a16:creationId xmlns:a16="http://schemas.microsoft.com/office/drawing/2014/main" id="{042DD726-9402-4B04-B499-BC153360FE18}"/>
              </a:ext>
            </a:extLst>
          </p:cNvPr>
          <p:cNvSpPr>
            <a:spLocks noGrp="1"/>
          </p:cNvSpPr>
          <p:nvPr/>
        </p:nvSpPr>
        <p:spPr>
          <a:xfrm>
            <a:off x="4457700" y="1933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3" name="done-03-title">
            <a:extLst>
              <a:ext uri="{FF2B5EF4-FFF2-40B4-BE49-F238E27FC236}">
                <a16:creationId xmlns:a16="http://schemas.microsoft.com/office/drawing/2014/main" id="{8EA459AA-A75E-4C39-9E7F-3FA545F1DAA0}"/>
              </a:ext>
            </a:extLst>
          </p:cNvPr>
          <p:cNvSpPr>
            <a:spLocks noGrp="1"/>
          </p:cNvSpPr>
          <p:nvPr/>
        </p:nvSpPr>
        <p:spPr>
          <a:xfrm>
            <a:off x="4752975" y="1924050"/>
            <a:ext cx="81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29" lnSpcReduction="2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PER-DIE INSERT</a:t>
            </a:r>
          </a:p>
        </p:txBody>
      </p:sp>
      <p:sp>
        <p:nvSpPr>
          <p:cNvPr id="94" name="done-03-body">
            <a:extLst>
              <a:ext uri="{FF2B5EF4-FFF2-40B4-BE49-F238E27FC236}">
                <a16:creationId xmlns:a16="http://schemas.microsoft.com/office/drawing/2014/main" id="{ECD56D2A-7D74-4A36-8A0F-A1BED9E5352F}"/>
              </a:ext>
            </a:extLst>
          </p:cNvPr>
          <p:cNvSpPr>
            <a:spLocks noGrp="1"/>
          </p:cNvSpPr>
          <p:nvPr/>
        </p:nvSpPr>
        <p:spPr>
          <a:xfrm>
            <a:off x="4476750" y="2352675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</a:t>
            </a: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ost-DFT RTL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</a:t>
            </a: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er-die TSDB</a:t>
            </a:r>
          </a:p>
        </p:txBody>
      </p:sp>
      <p:sp>
        <p:nvSpPr>
          <p:cNvPr id="95" name="done-03-check">
            <a:extLst>
              <a:ext uri="{FF2B5EF4-FFF2-40B4-BE49-F238E27FC236}">
                <a16:creationId xmlns:a16="http://schemas.microsoft.com/office/drawing/2014/main" id="{7220C8BD-0A39-413D-BCCE-40C5C908E035}"/>
              </a:ext>
            </a:extLst>
          </p:cNvPr>
          <p:cNvSpPr>
            <a:spLocks noGrp="1"/>
          </p:cNvSpPr>
          <p:nvPr/>
        </p:nvSpPr>
        <p:spPr>
          <a:xfrm>
            <a:off x="5638800" y="1952625"/>
            <a:ext cx="209550" cy="209550"/>
          </a:xfrm>
          <a:prstGeom prst="ellipse">
            <a:avLst/>
          </a:prstGeom>
          <a:solidFill>
            <a:srgbClr val="E8F4E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 fontScale="92220" lnSpcReduction="20000"/>
          </a:bodyPr>
          <a:lstStyle/>
          <a:p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6" name="done-04-card">
            <a:extLst>
              <a:ext uri="{FF2B5EF4-FFF2-40B4-BE49-F238E27FC236}">
                <a16:creationId xmlns:a16="http://schemas.microsoft.com/office/drawing/2014/main" id="{461D82E5-330F-4CC2-A422-637E9DF856A9}"/>
              </a:ext>
            </a:extLst>
          </p:cNvPr>
          <p:cNvSpPr>
            <a:spLocks noGrp="1"/>
          </p:cNvSpPr>
          <p:nvPr/>
        </p:nvSpPr>
        <p:spPr>
          <a:xfrm>
            <a:off x="6210300" y="1866900"/>
            <a:ext cx="1600200" cy="1314450"/>
          </a:xfrm>
          <a:prstGeom prst="roundRect">
            <a:avLst>
              <a:gd name="adj" fmla="val 7246"/>
            </a:avLst>
          </a:prstGeom>
          <a:noFill/>
          <a:ln w="14288">
            <a:solidFill>
              <a:srgbClr val="14785D"/>
            </a:solidFill>
            <a:prstDash val="solid"/>
          </a:ln>
        </p:spPr>
      </p:sp>
      <p:sp>
        <p:nvSpPr>
          <p:cNvPr id="97" name="done-04-header">
            <a:extLst>
              <a:ext uri="{FF2B5EF4-FFF2-40B4-BE49-F238E27FC236}">
                <a16:creationId xmlns:a16="http://schemas.microsoft.com/office/drawing/2014/main" id="{6A99FA6A-BD85-40AE-AF5F-45AA3DDF2FDF}"/>
              </a:ext>
            </a:extLst>
          </p:cNvPr>
          <p:cNvSpPr>
            <a:spLocks noGrp="1"/>
          </p:cNvSpPr>
          <p:nvPr/>
        </p:nvSpPr>
        <p:spPr>
          <a:xfrm>
            <a:off x="6210300" y="1866900"/>
            <a:ext cx="1600200" cy="409575"/>
          </a:xfrm>
          <a:prstGeom prst="roundRect">
            <a:avLst>
              <a:gd name="adj" fmla="val 23256"/>
            </a:avLst>
          </a:prstGeom>
          <a:solidFill>
            <a:srgbClr val="0F684E"/>
          </a:solidFill>
          <a:ln w="9525">
            <a:solidFill>
              <a:srgbClr val="0F684E"/>
            </a:solidFill>
            <a:prstDash val="solid"/>
          </a:ln>
        </p:spPr>
      </p:sp>
      <p:sp>
        <p:nvSpPr>
          <p:cNvPr id="98" name="done-04-number">
            <a:extLst>
              <a:ext uri="{FF2B5EF4-FFF2-40B4-BE49-F238E27FC236}">
                <a16:creationId xmlns:a16="http://schemas.microsoft.com/office/drawing/2014/main" id="{4C99DDFF-8A7E-4606-9D67-49FC78D51979}"/>
              </a:ext>
            </a:extLst>
          </p:cNvPr>
          <p:cNvSpPr>
            <a:spLocks noGrp="1"/>
          </p:cNvSpPr>
          <p:nvPr/>
        </p:nvSpPr>
        <p:spPr>
          <a:xfrm>
            <a:off x="6324600" y="1933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9" name="done-04-title">
            <a:extLst>
              <a:ext uri="{FF2B5EF4-FFF2-40B4-BE49-F238E27FC236}">
                <a16:creationId xmlns:a16="http://schemas.microsoft.com/office/drawing/2014/main" id="{1FFCA809-9E9F-402E-8D4D-F4D8489A4C6E}"/>
              </a:ext>
            </a:extLst>
          </p:cNvPr>
          <p:cNvSpPr>
            <a:spLocks noGrp="1"/>
          </p:cNvSpPr>
          <p:nvPr/>
        </p:nvSpPr>
        <p:spPr>
          <a:xfrm>
            <a:off x="6619875" y="1924050"/>
            <a:ext cx="81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4062" lnSpcReduction="2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ICL</a:t>
            </a:r>
            <a:r>
              <a:rPr lang="en-US"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&amp; PDL</a:t>
            </a:r>
            <a:r>
              <a:rPr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EXTRACT</a:t>
            </a:r>
          </a:p>
        </p:txBody>
      </p:sp>
      <p:sp>
        <p:nvSpPr>
          <p:cNvPr id="100" name="done-04-body">
            <a:extLst>
              <a:ext uri="{FF2B5EF4-FFF2-40B4-BE49-F238E27FC236}">
                <a16:creationId xmlns:a16="http://schemas.microsoft.com/office/drawing/2014/main" id="{CE804AC3-F78E-4971-B6CF-644D6A6E5955}"/>
              </a:ext>
            </a:extLst>
          </p:cNvPr>
          <p:cNvSpPr>
            <a:spLocks noGrp="1"/>
          </p:cNvSpPr>
          <p:nvPr/>
        </p:nvSpPr>
        <p:spPr>
          <a:xfrm>
            <a:off x="6315891" y="2376488"/>
            <a:ext cx="1584416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Inserted_</a:t>
            </a:r>
            <a:r>
              <a:rPr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die.icl</a:t>
            </a:r>
            <a:endParaRPr 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PDL retarget pattern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ea typeface="Arial"/>
                <a:cs typeface="Arial"/>
              </a:rPr>
              <a:t>Pass simulation</a:t>
            </a:r>
            <a:endParaRPr sz="1200" b="0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324C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done-04-check">
            <a:extLst>
              <a:ext uri="{FF2B5EF4-FFF2-40B4-BE49-F238E27FC236}">
                <a16:creationId xmlns:a16="http://schemas.microsoft.com/office/drawing/2014/main" id="{F755641B-5461-40EA-A63C-F96158EC2807}"/>
              </a:ext>
            </a:extLst>
          </p:cNvPr>
          <p:cNvSpPr>
            <a:spLocks noGrp="1"/>
          </p:cNvSpPr>
          <p:nvPr/>
        </p:nvSpPr>
        <p:spPr>
          <a:xfrm>
            <a:off x="7505700" y="1952625"/>
            <a:ext cx="209550" cy="209550"/>
          </a:xfrm>
          <a:prstGeom prst="ellipse">
            <a:avLst/>
          </a:prstGeom>
          <a:solidFill>
            <a:srgbClr val="E8F4E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 fontScale="92220" lnSpcReduction="20000"/>
          </a:bodyPr>
          <a:lstStyle/>
          <a:p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2" name="done-05-card">
            <a:extLst>
              <a:ext uri="{FF2B5EF4-FFF2-40B4-BE49-F238E27FC236}">
                <a16:creationId xmlns:a16="http://schemas.microsoft.com/office/drawing/2014/main" id="{63373D56-69C3-49FA-A3F0-C767A6319234}"/>
              </a:ext>
            </a:extLst>
          </p:cNvPr>
          <p:cNvSpPr>
            <a:spLocks noGrp="1"/>
          </p:cNvSpPr>
          <p:nvPr/>
        </p:nvSpPr>
        <p:spPr>
          <a:xfrm>
            <a:off x="8077200" y="1866900"/>
            <a:ext cx="1600200" cy="1314450"/>
          </a:xfrm>
          <a:prstGeom prst="roundRect">
            <a:avLst>
              <a:gd name="adj" fmla="val 7246"/>
            </a:avLst>
          </a:prstGeom>
          <a:noFill/>
          <a:ln w="14288">
            <a:solidFill>
              <a:srgbClr val="C00000"/>
            </a:solidFill>
            <a:prstDash val="solid"/>
          </a:ln>
        </p:spPr>
      </p:sp>
      <p:sp>
        <p:nvSpPr>
          <p:cNvPr id="103" name="done-05-header">
            <a:extLst>
              <a:ext uri="{FF2B5EF4-FFF2-40B4-BE49-F238E27FC236}">
                <a16:creationId xmlns:a16="http://schemas.microsoft.com/office/drawing/2014/main" id="{259618E2-D7A7-4366-8B9A-3B2C72F05A49}"/>
              </a:ext>
            </a:extLst>
          </p:cNvPr>
          <p:cNvSpPr>
            <a:spLocks noGrp="1"/>
          </p:cNvSpPr>
          <p:nvPr/>
        </p:nvSpPr>
        <p:spPr>
          <a:xfrm>
            <a:off x="8077200" y="1866900"/>
            <a:ext cx="1600200" cy="409575"/>
          </a:xfrm>
          <a:prstGeom prst="roundRect">
            <a:avLst>
              <a:gd name="adj" fmla="val 23256"/>
            </a:avLst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04" name="done-05-number">
            <a:extLst>
              <a:ext uri="{FF2B5EF4-FFF2-40B4-BE49-F238E27FC236}">
                <a16:creationId xmlns:a16="http://schemas.microsoft.com/office/drawing/2014/main" id="{B7BC7056-3FBC-44C2-9FCA-E976CB507A41}"/>
              </a:ext>
            </a:extLst>
          </p:cNvPr>
          <p:cNvSpPr>
            <a:spLocks noGrp="1"/>
          </p:cNvSpPr>
          <p:nvPr/>
        </p:nvSpPr>
        <p:spPr>
          <a:xfrm>
            <a:off x="8191500" y="19335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05" name="done-05-title">
            <a:extLst>
              <a:ext uri="{FF2B5EF4-FFF2-40B4-BE49-F238E27FC236}">
                <a16:creationId xmlns:a16="http://schemas.microsoft.com/office/drawing/2014/main" id="{AD51F68E-DB84-4641-8E95-76F899817388}"/>
              </a:ext>
            </a:extLst>
          </p:cNvPr>
          <p:cNvSpPr>
            <a:spLocks noGrp="1"/>
          </p:cNvSpPr>
          <p:nvPr/>
        </p:nvSpPr>
        <p:spPr>
          <a:xfrm>
            <a:off x="8486775" y="1924050"/>
            <a:ext cx="81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29" lnSpcReduction="2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 COMPOSE</a:t>
            </a:r>
          </a:p>
        </p:txBody>
      </p:sp>
      <p:sp>
        <p:nvSpPr>
          <p:cNvPr id="106" name="done-05-body">
            <a:extLst>
              <a:ext uri="{FF2B5EF4-FFF2-40B4-BE49-F238E27FC236}">
                <a16:creationId xmlns:a16="http://schemas.microsoft.com/office/drawing/2014/main" id="{7EDFBF1A-78F3-4BB2-979B-5C785183F3E7}"/>
              </a:ext>
            </a:extLst>
          </p:cNvPr>
          <p:cNvSpPr>
            <a:spLocks noGrp="1"/>
          </p:cNvSpPr>
          <p:nvPr/>
        </p:nvSpPr>
        <p:spPr>
          <a:xfrm>
            <a:off x="8195310" y="2361384"/>
            <a:ext cx="13335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stack top / </a:t>
            </a:r>
            <a:r>
              <a:rPr sz="1200" b="0" dirty="0" err="1">
                <a:solidFill>
                  <a:srgbClr val="324C5F"/>
                </a:solidFill>
                <a:latin typeface="Arial"/>
                <a:ea typeface="Arial"/>
                <a:cs typeface="Arial"/>
              </a:rPr>
              <a:t>stack.icl</a:t>
            </a:r>
            <a:endParaRPr sz="1200" b="0" dirty="0">
              <a:solidFill>
                <a:srgbClr val="324C5F"/>
              </a:solidFill>
              <a:latin typeface="Arial"/>
              <a:ea typeface="Arial"/>
              <a:cs typeface="Arial"/>
            </a:endParaRP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import Tcl</a:t>
            </a:r>
          </a:p>
        </p:txBody>
      </p:sp>
      <p:sp>
        <p:nvSpPr>
          <p:cNvPr id="107" name="done-05-check">
            <a:extLst>
              <a:ext uri="{FF2B5EF4-FFF2-40B4-BE49-F238E27FC236}">
                <a16:creationId xmlns:a16="http://schemas.microsoft.com/office/drawing/2014/main" id="{419AAA7B-8102-4DAB-A085-9AD3F1FAC66F}"/>
              </a:ext>
            </a:extLst>
          </p:cNvPr>
          <p:cNvSpPr>
            <a:spLocks noGrp="1"/>
          </p:cNvSpPr>
          <p:nvPr/>
        </p:nvSpPr>
        <p:spPr>
          <a:xfrm>
            <a:off x="9372600" y="1952625"/>
            <a:ext cx="209550" cy="209550"/>
          </a:xfrm>
          <a:prstGeom prst="ellipse">
            <a:avLst/>
          </a:prstGeom>
          <a:solidFill>
            <a:srgbClr val="E8F4E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 fontScale="92220" lnSpcReduction="20000"/>
          </a:bodyPr>
          <a:lstStyle/>
          <a:p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8" name="done-06-card">
            <a:extLst>
              <a:ext uri="{FF2B5EF4-FFF2-40B4-BE49-F238E27FC236}">
                <a16:creationId xmlns:a16="http://schemas.microsoft.com/office/drawing/2014/main" id="{C80BCD90-F6CE-4DA0-B49F-BA5124087B7C}"/>
              </a:ext>
            </a:extLst>
          </p:cNvPr>
          <p:cNvSpPr>
            <a:spLocks noGrp="1"/>
          </p:cNvSpPr>
          <p:nvPr/>
        </p:nvSpPr>
        <p:spPr>
          <a:xfrm>
            <a:off x="8093529" y="3761151"/>
            <a:ext cx="1600200" cy="1314450"/>
          </a:xfrm>
          <a:prstGeom prst="roundRect">
            <a:avLst>
              <a:gd name="adj" fmla="val 7246"/>
            </a:avLst>
          </a:prstGeom>
          <a:noFill/>
          <a:ln w="14288">
            <a:solidFill>
              <a:srgbClr val="C00000"/>
            </a:solidFill>
            <a:prstDash val="solid"/>
          </a:ln>
        </p:spPr>
      </p:sp>
      <p:sp>
        <p:nvSpPr>
          <p:cNvPr id="109" name="done-06-header">
            <a:extLst>
              <a:ext uri="{FF2B5EF4-FFF2-40B4-BE49-F238E27FC236}">
                <a16:creationId xmlns:a16="http://schemas.microsoft.com/office/drawing/2014/main" id="{61A8BA91-E727-4EB1-A1C6-159E34D48282}"/>
              </a:ext>
            </a:extLst>
          </p:cNvPr>
          <p:cNvSpPr>
            <a:spLocks noGrp="1"/>
          </p:cNvSpPr>
          <p:nvPr/>
        </p:nvSpPr>
        <p:spPr>
          <a:xfrm>
            <a:off x="8093529" y="3761151"/>
            <a:ext cx="1600200" cy="409575"/>
          </a:xfrm>
          <a:prstGeom prst="roundRect">
            <a:avLst>
              <a:gd name="adj" fmla="val 23256"/>
            </a:avLst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10" name="done-06-number">
            <a:extLst>
              <a:ext uri="{FF2B5EF4-FFF2-40B4-BE49-F238E27FC236}">
                <a16:creationId xmlns:a16="http://schemas.microsoft.com/office/drawing/2014/main" id="{391EEB7C-EE23-43B3-BBAD-22369328B316}"/>
              </a:ext>
            </a:extLst>
          </p:cNvPr>
          <p:cNvSpPr>
            <a:spLocks noGrp="1"/>
          </p:cNvSpPr>
          <p:nvPr/>
        </p:nvSpPr>
        <p:spPr>
          <a:xfrm>
            <a:off x="8207829" y="3864286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11" name="done-06-title">
            <a:extLst>
              <a:ext uri="{FF2B5EF4-FFF2-40B4-BE49-F238E27FC236}">
                <a16:creationId xmlns:a16="http://schemas.microsoft.com/office/drawing/2014/main" id="{9533DF74-9765-4481-A982-F78C8951F445}"/>
              </a:ext>
            </a:extLst>
          </p:cNvPr>
          <p:cNvSpPr>
            <a:spLocks noGrp="1"/>
          </p:cNvSpPr>
          <p:nvPr/>
        </p:nvSpPr>
        <p:spPr>
          <a:xfrm>
            <a:off x="8503104" y="3854761"/>
            <a:ext cx="81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1029" lnSpcReduction="1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RETARGET  VCS</a:t>
            </a:r>
            <a:r>
              <a:rPr lang="en-US"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CHECK</a:t>
            </a:r>
            <a:endParaRPr sz="12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done-06-body">
            <a:extLst>
              <a:ext uri="{FF2B5EF4-FFF2-40B4-BE49-F238E27FC236}">
                <a16:creationId xmlns:a16="http://schemas.microsoft.com/office/drawing/2014/main" id="{F4702662-E3DE-4F81-AF3C-3D5C1A42D8AE}"/>
              </a:ext>
            </a:extLst>
          </p:cNvPr>
          <p:cNvSpPr>
            <a:spLocks noGrp="1"/>
          </p:cNvSpPr>
          <p:nvPr/>
        </p:nvSpPr>
        <p:spPr>
          <a:xfrm>
            <a:off x="8183336" y="4439867"/>
            <a:ext cx="1695450" cy="4095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</a:t>
            </a: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attern expected data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VCS </a:t>
            </a:r>
            <a:r>
              <a:rPr lang="en-US"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 simulation</a:t>
            </a:r>
            <a:endParaRPr sz="1200" b="0" dirty="0">
              <a:solidFill>
                <a:srgbClr val="324C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3" name="done-06-check">
            <a:extLst>
              <a:ext uri="{FF2B5EF4-FFF2-40B4-BE49-F238E27FC236}">
                <a16:creationId xmlns:a16="http://schemas.microsoft.com/office/drawing/2014/main" id="{79533AF7-B6B0-4236-9982-9027DE83DA85}"/>
              </a:ext>
            </a:extLst>
          </p:cNvPr>
          <p:cNvSpPr>
            <a:spLocks noGrp="1"/>
          </p:cNvSpPr>
          <p:nvPr/>
        </p:nvSpPr>
        <p:spPr>
          <a:xfrm>
            <a:off x="9388929" y="3883336"/>
            <a:ext cx="209550" cy="209550"/>
          </a:xfrm>
          <a:prstGeom prst="ellipse">
            <a:avLst/>
          </a:prstGeom>
          <a:solidFill>
            <a:srgbClr val="E8F4E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 fontScale="92220" lnSpcReduction="20000"/>
          </a:bodyPr>
          <a:lstStyle/>
          <a:p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4" name="next-accent">
            <a:extLst>
              <a:ext uri="{FF2B5EF4-FFF2-40B4-BE49-F238E27FC236}">
                <a16:creationId xmlns:a16="http://schemas.microsoft.com/office/drawing/2014/main" id="{D3B02145-94ED-49E2-B453-1B146622C0C5}"/>
              </a:ext>
            </a:extLst>
          </p:cNvPr>
          <p:cNvSpPr>
            <a:spLocks noGrp="1"/>
          </p:cNvSpPr>
          <p:nvPr/>
        </p:nvSpPr>
        <p:spPr>
          <a:xfrm>
            <a:off x="344805" y="3516629"/>
            <a:ext cx="57150" cy="2286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15" name="next-label">
            <a:extLst>
              <a:ext uri="{FF2B5EF4-FFF2-40B4-BE49-F238E27FC236}">
                <a16:creationId xmlns:a16="http://schemas.microsoft.com/office/drawing/2014/main" id="{2D590BF4-92AB-4052-B083-BCDCFA5CA8B7}"/>
              </a:ext>
            </a:extLst>
          </p:cNvPr>
          <p:cNvSpPr>
            <a:spLocks noGrp="1"/>
          </p:cNvSpPr>
          <p:nvPr/>
        </p:nvSpPr>
        <p:spPr>
          <a:xfrm>
            <a:off x="516255" y="3497579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C94A16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/>
                <a:ea typeface="Arial"/>
                <a:cs typeface="Arial"/>
              </a:rPr>
              <a:t>NEXT</a:t>
            </a:r>
            <a:endParaRPr sz="1200" b="1" dirty="0">
              <a:solidFill>
                <a:schemeClr val="tx2">
                  <a:lumMod val="50000"/>
                  <a:lumOff val="50000"/>
                </a:schemeClr>
              </a:solidFill>
              <a:highlight>
                <a:srgbClr val="FFF1A8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116" name="next-summary">
            <a:extLst>
              <a:ext uri="{FF2B5EF4-FFF2-40B4-BE49-F238E27FC236}">
                <a16:creationId xmlns:a16="http://schemas.microsoft.com/office/drawing/2014/main" id="{8C7ADA76-3F3D-4157-B97F-D6BCEE68348C}"/>
              </a:ext>
            </a:extLst>
          </p:cNvPr>
          <p:cNvSpPr>
            <a:spLocks noGrp="1"/>
          </p:cNvSpPr>
          <p:nvPr/>
        </p:nvSpPr>
        <p:spPr>
          <a:xfrm>
            <a:off x="992232" y="3495675"/>
            <a:ext cx="6230712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000" b="1" dirty="0">
                <a:solidFill>
                  <a:srgbClr val="657A8B"/>
                </a:solidFill>
                <a:latin typeface="Arial"/>
                <a:ea typeface="Arial"/>
                <a:cs typeface="Arial"/>
              </a:rPr>
              <a:t>USE THE COMPLEX RTL</a:t>
            </a:r>
            <a:r>
              <a:rPr lang="en-US" sz="1000" b="1" dirty="0">
                <a:solidFill>
                  <a:srgbClr val="657A8B"/>
                </a:solidFill>
                <a:latin typeface="Arial"/>
                <a:ea typeface="Arial"/>
                <a:cs typeface="Arial"/>
              </a:rPr>
              <a:t> FROM TEAM</a:t>
            </a:r>
            <a:r>
              <a:rPr sz="1000" b="1" dirty="0">
                <a:solidFill>
                  <a:srgbClr val="657A8B"/>
                </a:solidFill>
                <a:latin typeface="Arial"/>
                <a:ea typeface="Arial"/>
                <a:cs typeface="Arial"/>
              </a:rPr>
              <a:t> AS A NEW DIE</a:t>
            </a:r>
            <a:r>
              <a:rPr lang="en-US" sz="1000" b="1" dirty="0">
                <a:solidFill>
                  <a:srgbClr val="657A8B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dirty="0">
                <a:solidFill>
                  <a:srgbClr val="657A8B"/>
                </a:solidFill>
                <a:latin typeface="Arial"/>
                <a:ea typeface="Arial"/>
                <a:cs typeface="Arial"/>
              </a:rPr>
              <a:t>; PROVE DWR ACCESS INSIDE THE STACK</a:t>
            </a:r>
          </a:p>
        </p:txBody>
      </p:sp>
      <p:sp>
        <p:nvSpPr>
          <p:cNvPr id="117" name="next-07-card">
            <a:extLst>
              <a:ext uri="{FF2B5EF4-FFF2-40B4-BE49-F238E27FC236}">
                <a16:creationId xmlns:a16="http://schemas.microsoft.com/office/drawing/2014/main" id="{334A229E-ECCD-428F-9E1B-E1D17BF570DD}"/>
              </a:ext>
            </a:extLst>
          </p:cNvPr>
          <p:cNvSpPr>
            <a:spLocks noGrp="1"/>
          </p:cNvSpPr>
          <p:nvPr/>
        </p:nvSpPr>
        <p:spPr>
          <a:xfrm>
            <a:off x="4308656" y="3761151"/>
            <a:ext cx="1607691" cy="1219200"/>
          </a:xfrm>
          <a:prstGeom prst="roundRect">
            <a:avLst>
              <a:gd name="adj" fmla="val 7813"/>
            </a:avLst>
          </a:prstGeom>
          <a:noFill/>
          <a:ln w="14288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118" name="next-07-header">
            <a:extLst>
              <a:ext uri="{FF2B5EF4-FFF2-40B4-BE49-F238E27FC236}">
                <a16:creationId xmlns:a16="http://schemas.microsoft.com/office/drawing/2014/main" id="{9AE2F87E-11EC-48B3-BBF9-3CE515368239}"/>
              </a:ext>
            </a:extLst>
          </p:cNvPr>
          <p:cNvSpPr>
            <a:spLocks noGrp="1"/>
          </p:cNvSpPr>
          <p:nvPr/>
        </p:nvSpPr>
        <p:spPr>
          <a:xfrm>
            <a:off x="4299947" y="3761151"/>
            <a:ext cx="1614722" cy="409575"/>
          </a:xfrm>
          <a:prstGeom prst="roundRect">
            <a:avLst>
              <a:gd name="adj" fmla="val 23256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119" name="next-07-number">
            <a:extLst>
              <a:ext uri="{FF2B5EF4-FFF2-40B4-BE49-F238E27FC236}">
                <a16:creationId xmlns:a16="http://schemas.microsoft.com/office/drawing/2014/main" id="{B172C131-4DDB-42DF-82EE-88474C4D4129}"/>
              </a:ext>
            </a:extLst>
          </p:cNvPr>
          <p:cNvSpPr>
            <a:spLocks noGrp="1"/>
          </p:cNvSpPr>
          <p:nvPr/>
        </p:nvSpPr>
        <p:spPr>
          <a:xfrm>
            <a:off x="4422956" y="3857899"/>
            <a:ext cx="21529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next-07-title">
            <a:extLst>
              <a:ext uri="{FF2B5EF4-FFF2-40B4-BE49-F238E27FC236}">
                <a16:creationId xmlns:a16="http://schemas.microsoft.com/office/drawing/2014/main" id="{C96E5132-189D-4EC4-83CE-D2FF25EBA36E}"/>
              </a:ext>
            </a:extLst>
          </p:cNvPr>
          <p:cNvSpPr>
            <a:spLocks noGrp="1"/>
          </p:cNvSpPr>
          <p:nvPr/>
        </p:nvSpPr>
        <p:spPr>
          <a:xfrm>
            <a:off x="4718232" y="3848374"/>
            <a:ext cx="1191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COMPLEX DIE</a:t>
            </a:r>
          </a:p>
        </p:txBody>
      </p:sp>
      <p:sp>
        <p:nvSpPr>
          <p:cNvPr id="121" name="next-07-body">
            <a:extLst>
              <a:ext uri="{FF2B5EF4-FFF2-40B4-BE49-F238E27FC236}">
                <a16:creationId xmlns:a16="http://schemas.microsoft.com/office/drawing/2014/main" id="{1E743992-2F80-4F6C-9082-F93BFB76A1CA}"/>
              </a:ext>
            </a:extLst>
          </p:cNvPr>
          <p:cNvSpPr>
            <a:spLocks noGrp="1"/>
          </p:cNvSpPr>
          <p:nvPr/>
        </p:nvSpPr>
        <p:spPr>
          <a:xfrm>
            <a:off x="4442006" y="4276999"/>
            <a:ext cx="1399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Onboard the supplied RTL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as a reusable die input</a:t>
            </a:r>
          </a:p>
        </p:txBody>
      </p:sp>
      <p:sp>
        <p:nvSpPr>
          <p:cNvPr id="122" name="next-08-card">
            <a:extLst>
              <a:ext uri="{FF2B5EF4-FFF2-40B4-BE49-F238E27FC236}">
                <a16:creationId xmlns:a16="http://schemas.microsoft.com/office/drawing/2014/main" id="{EAC268EB-514C-4382-9DEC-9FF534422BDC}"/>
              </a:ext>
            </a:extLst>
          </p:cNvPr>
          <p:cNvSpPr>
            <a:spLocks noGrp="1"/>
          </p:cNvSpPr>
          <p:nvPr/>
        </p:nvSpPr>
        <p:spPr>
          <a:xfrm>
            <a:off x="2450392" y="3761151"/>
            <a:ext cx="1607691" cy="1219200"/>
          </a:xfrm>
          <a:prstGeom prst="roundRect">
            <a:avLst>
              <a:gd name="adj" fmla="val 7813"/>
            </a:avLst>
          </a:prstGeom>
          <a:noFill/>
          <a:ln w="14288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123" name="next-08-header">
            <a:extLst>
              <a:ext uri="{FF2B5EF4-FFF2-40B4-BE49-F238E27FC236}">
                <a16:creationId xmlns:a16="http://schemas.microsoft.com/office/drawing/2014/main" id="{BD6882B4-95FB-4D57-86A5-7DC719079925}"/>
              </a:ext>
            </a:extLst>
          </p:cNvPr>
          <p:cNvSpPr>
            <a:spLocks noGrp="1"/>
          </p:cNvSpPr>
          <p:nvPr/>
        </p:nvSpPr>
        <p:spPr>
          <a:xfrm>
            <a:off x="2441683" y="3761151"/>
            <a:ext cx="1614722" cy="409575"/>
          </a:xfrm>
          <a:prstGeom prst="roundRect">
            <a:avLst>
              <a:gd name="adj" fmla="val 23256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124" name="next-08-number">
            <a:extLst>
              <a:ext uri="{FF2B5EF4-FFF2-40B4-BE49-F238E27FC236}">
                <a16:creationId xmlns:a16="http://schemas.microsoft.com/office/drawing/2014/main" id="{95A934B9-E0C5-46F5-8F8A-69372EE88141}"/>
              </a:ext>
            </a:extLst>
          </p:cNvPr>
          <p:cNvSpPr>
            <a:spLocks noGrp="1"/>
          </p:cNvSpPr>
          <p:nvPr/>
        </p:nvSpPr>
        <p:spPr>
          <a:xfrm>
            <a:off x="2564692" y="3868105"/>
            <a:ext cx="215296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next-08-title">
            <a:extLst>
              <a:ext uri="{FF2B5EF4-FFF2-40B4-BE49-F238E27FC236}">
                <a16:creationId xmlns:a16="http://schemas.microsoft.com/office/drawing/2014/main" id="{2FF4F505-F1A4-405C-A8BC-8492972A6CC7}"/>
              </a:ext>
            </a:extLst>
          </p:cNvPr>
          <p:cNvSpPr>
            <a:spLocks noGrp="1"/>
          </p:cNvSpPr>
          <p:nvPr/>
        </p:nvSpPr>
        <p:spPr>
          <a:xfrm>
            <a:off x="2859968" y="3858580"/>
            <a:ext cx="1191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DWR INSERT</a:t>
            </a:r>
          </a:p>
        </p:txBody>
      </p:sp>
      <p:sp>
        <p:nvSpPr>
          <p:cNvPr id="126" name="next-08-body">
            <a:extLst>
              <a:ext uri="{FF2B5EF4-FFF2-40B4-BE49-F238E27FC236}">
                <a16:creationId xmlns:a16="http://schemas.microsoft.com/office/drawing/2014/main" id="{0216FE69-1EF5-4922-92CF-7B5ECA020831}"/>
              </a:ext>
            </a:extLst>
          </p:cNvPr>
          <p:cNvSpPr>
            <a:spLocks noGrp="1"/>
          </p:cNvSpPr>
          <p:nvPr/>
        </p:nvSpPr>
        <p:spPr>
          <a:xfrm>
            <a:off x="2583742" y="4287205"/>
            <a:ext cx="13994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Build wrapper inventory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and external-mode chain</a:t>
            </a:r>
          </a:p>
        </p:txBody>
      </p:sp>
      <p:sp>
        <p:nvSpPr>
          <p:cNvPr id="127" name="next-09-card">
            <a:extLst>
              <a:ext uri="{FF2B5EF4-FFF2-40B4-BE49-F238E27FC236}">
                <a16:creationId xmlns:a16="http://schemas.microsoft.com/office/drawing/2014/main" id="{C10583A2-7E71-4E4D-9C9B-1690ABC96DF8}"/>
              </a:ext>
            </a:extLst>
          </p:cNvPr>
          <p:cNvSpPr>
            <a:spLocks noGrp="1"/>
          </p:cNvSpPr>
          <p:nvPr/>
        </p:nvSpPr>
        <p:spPr>
          <a:xfrm>
            <a:off x="464821" y="3761151"/>
            <a:ext cx="1695682" cy="1219200"/>
          </a:xfrm>
          <a:prstGeom prst="roundRect">
            <a:avLst>
              <a:gd name="adj" fmla="val 7813"/>
            </a:avLst>
          </a:prstGeom>
          <a:noFill/>
          <a:ln w="14288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128" name="next-09-header">
            <a:extLst>
              <a:ext uri="{FF2B5EF4-FFF2-40B4-BE49-F238E27FC236}">
                <a16:creationId xmlns:a16="http://schemas.microsoft.com/office/drawing/2014/main" id="{32B04852-D203-471A-9F29-86E5BEFB3B69}"/>
              </a:ext>
            </a:extLst>
          </p:cNvPr>
          <p:cNvSpPr>
            <a:spLocks noGrp="1"/>
          </p:cNvSpPr>
          <p:nvPr/>
        </p:nvSpPr>
        <p:spPr>
          <a:xfrm>
            <a:off x="456111" y="3761151"/>
            <a:ext cx="1703097" cy="409575"/>
          </a:xfrm>
          <a:prstGeom prst="roundRect">
            <a:avLst>
              <a:gd name="adj" fmla="val 23256"/>
            </a:avLst>
          </a:prstGeom>
          <a:solidFill>
            <a:schemeClr val="tx2">
              <a:lumMod val="50000"/>
              <a:lumOff val="50000"/>
            </a:schemeClr>
          </a:solidFill>
          <a:ln w="9525">
            <a:solidFill>
              <a:schemeClr val="tx2">
                <a:lumMod val="50000"/>
                <a:lumOff val="50000"/>
              </a:schemeClr>
            </a:solidFill>
            <a:prstDash val="solid"/>
          </a:ln>
        </p:spPr>
      </p:sp>
      <p:sp>
        <p:nvSpPr>
          <p:cNvPr id="129" name="next-09-number">
            <a:extLst>
              <a:ext uri="{FF2B5EF4-FFF2-40B4-BE49-F238E27FC236}">
                <a16:creationId xmlns:a16="http://schemas.microsoft.com/office/drawing/2014/main" id="{D931885D-1B3B-4D78-A00E-BADE130D3461}"/>
              </a:ext>
            </a:extLst>
          </p:cNvPr>
          <p:cNvSpPr>
            <a:spLocks noGrp="1"/>
          </p:cNvSpPr>
          <p:nvPr/>
        </p:nvSpPr>
        <p:spPr>
          <a:xfrm>
            <a:off x="579120" y="3884434"/>
            <a:ext cx="227079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next-09-title">
            <a:extLst>
              <a:ext uri="{FF2B5EF4-FFF2-40B4-BE49-F238E27FC236}">
                <a16:creationId xmlns:a16="http://schemas.microsoft.com/office/drawing/2014/main" id="{AE8FF6DD-6E19-4762-8230-65B0600FF305}"/>
              </a:ext>
            </a:extLst>
          </p:cNvPr>
          <p:cNvSpPr>
            <a:spLocks noGrp="1"/>
          </p:cNvSpPr>
          <p:nvPr/>
        </p:nvSpPr>
        <p:spPr>
          <a:xfrm>
            <a:off x="874397" y="3874909"/>
            <a:ext cx="130071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50" lnSpcReduction="2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 INTEGRATE</a:t>
            </a:r>
          </a:p>
        </p:txBody>
      </p:sp>
      <p:sp>
        <p:nvSpPr>
          <p:cNvPr id="131" name="next-09-body">
            <a:extLst>
              <a:ext uri="{FF2B5EF4-FFF2-40B4-BE49-F238E27FC236}">
                <a16:creationId xmlns:a16="http://schemas.microsoft.com/office/drawing/2014/main" id="{195FDFC4-40F5-4C51-A2B6-BCA2EBE5D00C}"/>
              </a:ext>
            </a:extLst>
          </p:cNvPr>
          <p:cNvSpPr>
            <a:spLocks noGrp="1"/>
          </p:cNvSpPr>
          <p:nvPr/>
        </p:nvSpPr>
        <p:spPr>
          <a:xfrm>
            <a:off x="598171" y="4303534"/>
            <a:ext cx="1476017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Compose the new die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and retarget access</a:t>
            </a:r>
          </a:p>
        </p:txBody>
      </p:sp>
      <p:sp>
        <p:nvSpPr>
          <p:cNvPr id="9" name="auto-arrow-5">
            <a:extLst>
              <a:ext uri="{FF2B5EF4-FFF2-40B4-BE49-F238E27FC236}">
                <a16:creationId xmlns:a16="http://schemas.microsoft.com/office/drawing/2014/main" id="{06E9D824-491E-082E-A290-8AFCDB17FB09}"/>
              </a:ext>
            </a:extLst>
          </p:cNvPr>
          <p:cNvSpPr>
            <a:spLocks noGrp="1"/>
          </p:cNvSpPr>
          <p:nvPr/>
        </p:nvSpPr>
        <p:spPr>
          <a:xfrm rot="5400000">
            <a:off x="8655506" y="3284418"/>
            <a:ext cx="428624" cy="353378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9BC6E31-A91F-BD54-3023-51A2C581753B}"/>
              </a:ext>
            </a:extLst>
          </p:cNvPr>
          <p:cNvSpPr txBox="1"/>
          <p:nvPr/>
        </p:nvSpPr>
        <p:spPr>
          <a:xfrm>
            <a:off x="8077200" y="1462540"/>
            <a:ext cx="245527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  <a:defRPr sz="1200" b="1">
                <a:solidFill>
                  <a:srgbClr val="0B456D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1200" b="1" dirty="0">
                <a:solidFill>
                  <a:srgbClr val="C00000"/>
                </a:solidFill>
                <a:latin typeface="Arial"/>
                <a:ea typeface="Arial"/>
                <a:cs typeface="Arial"/>
              </a:rPr>
              <a:t>FINISH THIS WEEK</a:t>
            </a:r>
          </a:p>
        </p:txBody>
      </p:sp>
      <p:sp>
        <p:nvSpPr>
          <p:cNvPr id="16" name="done-06-card">
            <a:extLst>
              <a:ext uri="{FF2B5EF4-FFF2-40B4-BE49-F238E27FC236}">
                <a16:creationId xmlns:a16="http://schemas.microsoft.com/office/drawing/2014/main" id="{B1A52A72-FD90-8EB0-109C-CAAE9E915759}"/>
              </a:ext>
            </a:extLst>
          </p:cNvPr>
          <p:cNvSpPr>
            <a:spLocks noGrp="1"/>
          </p:cNvSpPr>
          <p:nvPr/>
        </p:nvSpPr>
        <p:spPr>
          <a:xfrm>
            <a:off x="6235570" y="3761151"/>
            <a:ext cx="1600200" cy="1314450"/>
          </a:xfrm>
          <a:prstGeom prst="roundRect">
            <a:avLst>
              <a:gd name="adj" fmla="val 7246"/>
            </a:avLst>
          </a:prstGeom>
          <a:noFill/>
          <a:ln w="14288">
            <a:solidFill>
              <a:srgbClr val="C00000"/>
            </a:solidFill>
            <a:prstDash val="solid"/>
          </a:ln>
        </p:spPr>
      </p:sp>
      <p:sp>
        <p:nvSpPr>
          <p:cNvPr id="17" name="done-06-header">
            <a:extLst>
              <a:ext uri="{FF2B5EF4-FFF2-40B4-BE49-F238E27FC236}">
                <a16:creationId xmlns:a16="http://schemas.microsoft.com/office/drawing/2014/main" id="{76E25A36-9E2D-2420-E8EE-149AF836F30D}"/>
              </a:ext>
            </a:extLst>
          </p:cNvPr>
          <p:cNvSpPr>
            <a:spLocks noGrp="1"/>
          </p:cNvSpPr>
          <p:nvPr/>
        </p:nvSpPr>
        <p:spPr>
          <a:xfrm>
            <a:off x="6235570" y="3761151"/>
            <a:ext cx="1600200" cy="409575"/>
          </a:xfrm>
          <a:prstGeom prst="roundRect">
            <a:avLst>
              <a:gd name="adj" fmla="val 23256"/>
            </a:avLst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8" name="done-06-number">
            <a:extLst>
              <a:ext uri="{FF2B5EF4-FFF2-40B4-BE49-F238E27FC236}">
                <a16:creationId xmlns:a16="http://schemas.microsoft.com/office/drawing/2014/main" id="{60C5FE15-164A-04A6-BD81-46EF3AD6574E}"/>
              </a:ext>
            </a:extLst>
          </p:cNvPr>
          <p:cNvSpPr>
            <a:spLocks noGrp="1"/>
          </p:cNvSpPr>
          <p:nvPr/>
        </p:nvSpPr>
        <p:spPr>
          <a:xfrm>
            <a:off x="6349870" y="3827826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done-06-title">
            <a:extLst>
              <a:ext uri="{FF2B5EF4-FFF2-40B4-BE49-F238E27FC236}">
                <a16:creationId xmlns:a16="http://schemas.microsoft.com/office/drawing/2014/main" id="{868C8880-A2AA-3D80-846B-C3D9078D26EE}"/>
              </a:ext>
            </a:extLst>
          </p:cNvPr>
          <p:cNvSpPr>
            <a:spLocks noGrp="1"/>
          </p:cNvSpPr>
          <p:nvPr/>
        </p:nvSpPr>
        <p:spPr>
          <a:xfrm>
            <a:off x="6645145" y="3818301"/>
            <a:ext cx="819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29" lnSpcReduction="20000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SYNSIS</a:t>
            </a:r>
          </a:p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GLS</a:t>
            </a:r>
            <a:endParaRPr sz="12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done-06-body">
            <a:extLst>
              <a:ext uri="{FF2B5EF4-FFF2-40B4-BE49-F238E27FC236}">
                <a16:creationId xmlns:a16="http://schemas.microsoft.com/office/drawing/2014/main" id="{5C593723-1888-BB1B-6901-9E887FF0098F}"/>
              </a:ext>
            </a:extLst>
          </p:cNvPr>
          <p:cNvSpPr>
            <a:spLocks noGrp="1"/>
          </p:cNvSpPr>
          <p:nvPr/>
        </p:nvSpPr>
        <p:spPr>
          <a:xfrm>
            <a:off x="6325377" y="4403407"/>
            <a:ext cx="1695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pattern expected data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VCS </a:t>
            </a:r>
            <a:r>
              <a:rPr lang="en-US"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 simulation</a:t>
            </a:r>
            <a:endParaRPr sz="1200" b="0" dirty="0">
              <a:solidFill>
                <a:srgbClr val="324C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done-06-check">
            <a:extLst>
              <a:ext uri="{FF2B5EF4-FFF2-40B4-BE49-F238E27FC236}">
                <a16:creationId xmlns:a16="http://schemas.microsoft.com/office/drawing/2014/main" id="{E65AA4CE-5302-888C-9502-5116BD285695}"/>
              </a:ext>
            </a:extLst>
          </p:cNvPr>
          <p:cNvSpPr>
            <a:spLocks noGrp="1"/>
          </p:cNvSpPr>
          <p:nvPr/>
        </p:nvSpPr>
        <p:spPr>
          <a:xfrm>
            <a:off x="7530970" y="3846876"/>
            <a:ext cx="209550" cy="209550"/>
          </a:xfrm>
          <a:prstGeom prst="ellipse">
            <a:avLst/>
          </a:prstGeom>
          <a:solidFill>
            <a:srgbClr val="E8F4EF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rmAutofit fontScale="92220" lnSpcReduction="20000"/>
          </a:bodyPr>
          <a:lstStyle/>
          <a:p>
            <a:pPr algn="ctr">
              <a:buNone/>
              <a:defRPr sz="1200" b="1">
                <a:solidFill>
                  <a:srgbClr val="0F684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84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auto-arrow-5">
            <a:extLst>
              <a:ext uri="{FF2B5EF4-FFF2-40B4-BE49-F238E27FC236}">
                <a16:creationId xmlns:a16="http://schemas.microsoft.com/office/drawing/2014/main" id="{75E52A5B-4583-1D64-EB90-9D21A2EF87ED}"/>
              </a:ext>
            </a:extLst>
          </p:cNvPr>
          <p:cNvSpPr>
            <a:spLocks noGrp="1"/>
          </p:cNvSpPr>
          <p:nvPr/>
        </p:nvSpPr>
        <p:spPr>
          <a:xfrm rot="10800000">
            <a:off x="5944922" y="4271829"/>
            <a:ext cx="266700" cy="266700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</p:sp>
      <p:sp>
        <p:nvSpPr>
          <p:cNvPr id="24" name="auto-arrow-5">
            <a:extLst>
              <a:ext uri="{FF2B5EF4-FFF2-40B4-BE49-F238E27FC236}">
                <a16:creationId xmlns:a16="http://schemas.microsoft.com/office/drawing/2014/main" id="{843B7386-5E61-11DC-0458-F7F7DC44CC90}"/>
              </a:ext>
            </a:extLst>
          </p:cNvPr>
          <p:cNvSpPr>
            <a:spLocks noGrp="1"/>
          </p:cNvSpPr>
          <p:nvPr/>
        </p:nvSpPr>
        <p:spPr>
          <a:xfrm rot="10800000">
            <a:off x="4051351" y="4271829"/>
            <a:ext cx="266700" cy="266700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</p:sp>
      <p:sp>
        <p:nvSpPr>
          <p:cNvPr id="25" name="auto-arrow-5">
            <a:extLst>
              <a:ext uri="{FF2B5EF4-FFF2-40B4-BE49-F238E27FC236}">
                <a16:creationId xmlns:a16="http://schemas.microsoft.com/office/drawing/2014/main" id="{D57C4CCC-E230-66D1-4B16-0E1EBAADA7AE}"/>
              </a:ext>
            </a:extLst>
          </p:cNvPr>
          <p:cNvSpPr>
            <a:spLocks noGrp="1"/>
          </p:cNvSpPr>
          <p:nvPr/>
        </p:nvSpPr>
        <p:spPr>
          <a:xfrm rot="10800000">
            <a:off x="2174983" y="4271829"/>
            <a:ext cx="266700" cy="266700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</p:sp>
      <p:sp>
        <p:nvSpPr>
          <p:cNvPr id="5" name="auto-arrow-5">
            <a:extLst>
              <a:ext uri="{FF2B5EF4-FFF2-40B4-BE49-F238E27FC236}">
                <a16:creationId xmlns:a16="http://schemas.microsoft.com/office/drawing/2014/main" id="{C916142E-1036-288E-4DE6-B7BC5ECEEADD}"/>
              </a:ext>
            </a:extLst>
          </p:cNvPr>
          <p:cNvSpPr>
            <a:spLocks noGrp="1"/>
          </p:cNvSpPr>
          <p:nvPr/>
        </p:nvSpPr>
        <p:spPr>
          <a:xfrm rot="10800000">
            <a:off x="7811822" y="4267200"/>
            <a:ext cx="266700" cy="266700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</p:sp>
      <p:sp>
        <p:nvSpPr>
          <p:cNvPr id="13" name="done-06-card">
            <a:extLst>
              <a:ext uri="{FF2B5EF4-FFF2-40B4-BE49-F238E27FC236}">
                <a16:creationId xmlns:a16="http://schemas.microsoft.com/office/drawing/2014/main" id="{2A4BEC20-B8F5-CA85-9225-81F7E43398C4}"/>
              </a:ext>
            </a:extLst>
          </p:cNvPr>
          <p:cNvSpPr>
            <a:spLocks noGrp="1"/>
          </p:cNvSpPr>
          <p:nvPr/>
        </p:nvSpPr>
        <p:spPr>
          <a:xfrm>
            <a:off x="434358" y="5305425"/>
            <a:ext cx="2417717" cy="1314450"/>
          </a:xfrm>
          <a:prstGeom prst="roundRect">
            <a:avLst>
              <a:gd name="adj" fmla="val 7246"/>
            </a:avLst>
          </a:prstGeom>
          <a:noFill/>
          <a:ln w="14288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14" name="done-06-header">
            <a:extLst>
              <a:ext uri="{FF2B5EF4-FFF2-40B4-BE49-F238E27FC236}">
                <a16:creationId xmlns:a16="http://schemas.microsoft.com/office/drawing/2014/main" id="{D7711BFD-9B44-6D50-B511-87684CDDB345}"/>
              </a:ext>
            </a:extLst>
          </p:cNvPr>
          <p:cNvSpPr>
            <a:spLocks noGrp="1"/>
          </p:cNvSpPr>
          <p:nvPr/>
        </p:nvSpPr>
        <p:spPr>
          <a:xfrm>
            <a:off x="434358" y="5305425"/>
            <a:ext cx="2417717" cy="409575"/>
          </a:xfrm>
          <a:prstGeom prst="roundRect">
            <a:avLst>
              <a:gd name="adj" fmla="val 23256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accent5">
                <a:lumMod val="60000"/>
                <a:lumOff val="40000"/>
              </a:schemeClr>
            </a:solidFill>
            <a:prstDash val="solid"/>
          </a:ln>
        </p:spPr>
      </p:sp>
      <p:sp>
        <p:nvSpPr>
          <p:cNvPr id="22" name="done-06-number">
            <a:extLst>
              <a:ext uri="{FF2B5EF4-FFF2-40B4-BE49-F238E27FC236}">
                <a16:creationId xmlns:a16="http://schemas.microsoft.com/office/drawing/2014/main" id="{22EDCD31-4F09-89ED-9117-B50719244565}"/>
              </a:ext>
            </a:extLst>
          </p:cNvPr>
          <p:cNvSpPr>
            <a:spLocks noGrp="1"/>
          </p:cNvSpPr>
          <p:nvPr/>
        </p:nvSpPr>
        <p:spPr>
          <a:xfrm>
            <a:off x="548659" y="537210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  <a:endParaRPr sz="12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done-06-title">
            <a:extLst>
              <a:ext uri="{FF2B5EF4-FFF2-40B4-BE49-F238E27FC236}">
                <a16:creationId xmlns:a16="http://schemas.microsoft.com/office/drawing/2014/main" id="{678ACA6A-1AF2-CCFA-1D91-89935EC3EDB6}"/>
              </a:ext>
            </a:extLst>
          </p:cNvPr>
          <p:cNvSpPr>
            <a:spLocks noGrp="1"/>
          </p:cNvSpPr>
          <p:nvPr/>
        </p:nvSpPr>
        <p:spPr>
          <a:xfrm>
            <a:off x="843933" y="5362575"/>
            <a:ext cx="160769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29"/>
          </a:bodyPr>
          <a:lstStyle/>
          <a:p>
            <a:pPr algn="l">
              <a:buNone/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275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GUI / VISUAL REPORT</a:t>
            </a:r>
            <a:endParaRPr sz="1275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done-06-body">
            <a:extLst>
              <a:ext uri="{FF2B5EF4-FFF2-40B4-BE49-F238E27FC236}">
                <a16:creationId xmlns:a16="http://schemas.microsoft.com/office/drawing/2014/main" id="{DBCBE8CD-B9C2-5FB8-A516-52AEA7997817}"/>
              </a:ext>
            </a:extLst>
          </p:cNvPr>
          <p:cNvSpPr>
            <a:spLocks noGrp="1"/>
          </p:cNvSpPr>
          <p:nvPr/>
        </p:nvSpPr>
        <p:spPr>
          <a:xfrm>
            <a:off x="531723" y="5801947"/>
            <a:ext cx="2179111" cy="8074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Launch the automated run 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120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T</a:t>
            </a:r>
            <a:r>
              <a:rPr lang="en-US" altLang="zh-TW"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rack accountable stage status 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altLang="zh-TW" sz="120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E</a:t>
            </a:r>
            <a:r>
              <a:rPr lang="en-US" altLang="zh-TW" sz="1200" b="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xport PASS/FAIL/MISMATCH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324C5F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324C5F"/>
                </a:solidFill>
                <a:latin typeface="Arial"/>
                <a:ea typeface="Arial"/>
                <a:cs typeface="Arial"/>
              </a:rPr>
              <a:t>HTML form</a:t>
            </a:r>
            <a:endParaRPr sz="1200" b="0" dirty="0">
              <a:solidFill>
                <a:srgbClr val="324C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auto-arrow-5">
            <a:extLst>
              <a:ext uri="{FF2B5EF4-FFF2-40B4-BE49-F238E27FC236}">
                <a16:creationId xmlns:a16="http://schemas.microsoft.com/office/drawing/2014/main" id="{F8668A34-C38D-FBE3-BD55-EB5664D60F0B}"/>
              </a:ext>
            </a:extLst>
          </p:cNvPr>
          <p:cNvSpPr>
            <a:spLocks noGrp="1"/>
          </p:cNvSpPr>
          <p:nvPr/>
        </p:nvSpPr>
        <p:spPr>
          <a:xfrm rot="5400000">
            <a:off x="1050608" y="4975658"/>
            <a:ext cx="343992" cy="353378"/>
          </a:xfrm>
          <a:prstGeom prst="rightArrow">
            <a:avLst/>
          </a:prstGeom>
          <a:solidFill>
            <a:srgbClr val="0E6AA6"/>
          </a:solidFill>
          <a:ln w="0">
            <a:noFill/>
            <a:prstDash val="solid"/>
          </a:ln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0595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E99BF7A-A6AE-440E-802D-572023A7409E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A · PROBLEM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969763B-215B-4A45-A522-5FB9AB37E49E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lide-2-title">
            <a:extLst>
              <a:ext uri="{FF2B5EF4-FFF2-40B4-BE49-F238E27FC236}">
                <a16:creationId xmlns:a16="http://schemas.microsoft.com/office/drawing/2014/main" id="{C102FCD0-6BA5-4267-B001-3236B0FC1A1A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935" lnSpcReduction="1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gap is not Tessent capability—it is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repeatable integration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CFC13A2C-420E-40D3-9D18-8598A7577DCD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8A464D-D266-48A3-94D9-D4F9F0FF7935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MANUAL DESIGN-BY-DESIGN EXECUTION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10E6203-836A-4275-83B4-4B4142975E14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1047750" cy="495300"/>
          </a:xfrm>
          <a:prstGeom prst="roundRect">
            <a:avLst>
              <a:gd name="adj" fmla="val 23077"/>
            </a:avLst>
          </a:prstGeom>
          <a:solidFill>
            <a:srgbClr val="F6F8F9"/>
          </a:solidFill>
          <a:ln w="11430">
            <a:solidFill>
              <a:srgbClr val="B7C5CD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3E8BE1C-BB9F-4EA2-A4E0-054978C40B3E}"/>
              </a:ext>
            </a:extLst>
          </p:cNvPr>
          <p:cNvSpPr>
            <a:spLocks noGrp="1"/>
          </p:cNvSpPr>
          <p:nvPr/>
        </p:nvSpPr>
        <p:spPr>
          <a:xfrm>
            <a:off x="628650" y="2809875"/>
            <a:ext cx="1047750" cy="495300"/>
          </a:xfrm>
          <a:prstGeom prst="roundRect">
            <a:avLst>
              <a:gd name="adj" fmla="val 23077"/>
            </a:avLst>
          </a:prstGeom>
          <a:solidFill>
            <a:srgbClr val="F6F8F9"/>
          </a:solidFill>
          <a:ln w="11430">
            <a:solidFill>
              <a:srgbClr val="B7C5CD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B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6F41792E-8B8D-45FF-B2DF-307120724DAB}"/>
              </a:ext>
            </a:extLst>
          </p:cNvPr>
          <p:cNvSpPr>
            <a:spLocks noGrp="1"/>
          </p:cNvSpPr>
          <p:nvPr/>
        </p:nvSpPr>
        <p:spPr>
          <a:xfrm>
            <a:off x="628650" y="3581400"/>
            <a:ext cx="1047750" cy="495300"/>
          </a:xfrm>
          <a:prstGeom prst="roundRect">
            <a:avLst>
              <a:gd name="adj" fmla="val 23077"/>
            </a:avLst>
          </a:prstGeom>
          <a:solidFill>
            <a:srgbClr val="F6F8F9"/>
          </a:solidFill>
          <a:ln w="11430">
            <a:solidFill>
              <a:srgbClr val="B7C5CD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C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9A6786-D00B-49F7-AFA1-5E8E5B85D9CD}"/>
              </a:ext>
            </a:extLst>
          </p:cNvPr>
          <p:cNvSpPr>
            <a:spLocks noGrp="1"/>
          </p:cNvSpPr>
          <p:nvPr/>
        </p:nvSpPr>
        <p:spPr>
          <a:xfrm>
            <a:off x="2190750" y="1952625"/>
            <a:ext cx="17335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1430">
            <a:solidFill>
              <a:srgbClr val="B94A48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insert_A.tcl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300EF76-87ED-4541-966C-E12E5366C374}"/>
              </a:ext>
            </a:extLst>
          </p:cNvPr>
          <p:cNvSpPr>
            <a:spLocks noGrp="1"/>
          </p:cNvSpPr>
          <p:nvPr/>
        </p:nvSpPr>
        <p:spPr>
          <a:xfrm>
            <a:off x="2190750" y="2724150"/>
            <a:ext cx="17335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1430">
            <a:solidFill>
              <a:srgbClr val="D96B30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insert_B_v2.tcl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91FADDD4-8D99-42B0-8609-BD7E28CB66BC}"/>
              </a:ext>
            </a:extLst>
          </p:cNvPr>
          <p:cNvSpPr>
            <a:spLocks noGrp="1"/>
          </p:cNvSpPr>
          <p:nvPr/>
        </p:nvSpPr>
        <p:spPr>
          <a:xfrm>
            <a:off x="2190750" y="3495675"/>
            <a:ext cx="17335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1430">
            <a:solidFill>
              <a:srgbClr val="B94A48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stack_fix.tcl</a:t>
            </a:r>
          </a:p>
        </p:txBody>
      </p:sp>
      <p:cxnSp>
        <p:nvCxnSpPr>
          <p:cNvPr id="195" name="直線單箭頭接點 194"/>
          <p:cNvCxnSpPr>
            <a:stCxn id="6" idx="3"/>
            <a:endCxn id="9" idx="1"/>
          </p:cNvCxnSpPr>
          <p:nvPr/>
        </p:nvCxnSpPr>
        <p:spPr>
          <a:xfrm>
            <a:off x="1676400" y="2286000"/>
            <a:ext cx="514350" cy="0"/>
          </a:xfrm>
          <a:prstGeom prst="straightConnector1">
            <a:avLst/>
          </a:prstGeom>
          <a:ln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6" name="直線單箭頭接點 195"/>
          <p:cNvCxnSpPr>
            <a:stCxn id="7" idx="3"/>
            <a:endCxn id="10" idx="1"/>
          </p:cNvCxnSpPr>
          <p:nvPr/>
        </p:nvCxnSpPr>
        <p:spPr>
          <a:xfrm>
            <a:off x="1676400" y="3057525"/>
            <a:ext cx="514350" cy="0"/>
          </a:xfrm>
          <a:prstGeom prst="straightConnector1">
            <a:avLst/>
          </a:prstGeom>
          <a:ln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7" name="直線單箭頭接點 196"/>
          <p:cNvCxnSpPr>
            <a:stCxn id="8" idx="3"/>
            <a:endCxn id="11" idx="1"/>
          </p:cNvCxnSpPr>
          <p:nvPr/>
        </p:nvCxnSpPr>
        <p:spPr>
          <a:xfrm>
            <a:off x="1676400" y="3829050"/>
            <a:ext cx="514350" cy="0"/>
          </a:xfrm>
          <a:prstGeom prst="straightConnector1">
            <a:avLst/>
          </a:prstGeom>
          <a:ln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EECAFC0-9210-43FB-A0F1-E871138940A0}"/>
              </a:ext>
            </a:extLst>
          </p:cNvPr>
          <p:cNvSpPr>
            <a:spLocks noGrp="1"/>
          </p:cNvSpPr>
          <p:nvPr/>
        </p:nvSpPr>
        <p:spPr>
          <a:xfrm>
            <a:off x="4267200" y="1952625"/>
            <a:ext cx="3067050" cy="2209800"/>
          </a:xfrm>
          <a:prstGeom prst="roundRect">
            <a:avLst>
              <a:gd name="adj" fmla="val 3448"/>
            </a:avLst>
          </a:prstGeom>
          <a:solidFill>
            <a:srgbClr val="26343C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61D94E-5F49-4985-9DF3-02A09A2D9592}"/>
              </a:ext>
            </a:extLst>
          </p:cNvPr>
          <p:cNvSpPr>
            <a:spLocks noGrp="1"/>
          </p:cNvSpPr>
          <p:nvPr/>
        </p:nvSpPr>
        <p:spPr>
          <a:xfrm>
            <a:off x="4438650" y="2095500"/>
            <a:ext cx="272415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WARNING: no source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ERROR: inaccessible TDR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INFO: extraction completed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ERROR: retarget failed</a:t>
            </a:r>
          </a:p>
        </p:txBody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49E97146-02E1-4C05-89B8-441EAC5C46B8}"/>
              </a:ext>
            </a:extLst>
          </p:cNvPr>
          <p:cNvSpPr>
            <a:spLocks noGrp="1"/>
          </p:cNvSpPr>
          <p:nvPr/>
        </p:nvSpPr>
        <p:spPr>
          <a:xfrm>
            <a:off x="3924300" y="2276475"/>
            <a:ext cx="342900" cy="0"/>
          </a:xfrm>
          <a:prstGeom prst="line">
            <a:avLst/>
          </a:prstGeom>
          <a:noFill/>
          <a:ln w="19050">
            <a:solidFill>
              <a:srgbClr val="B94A48"/>
            </a:solidFill>
            <a:prstDash val="solid"/>
          </a:ln>
        </p:spPr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578B1532-4F2A-4B40-BF6C-01B6C6CACB7C}"/>
              </a:ext>
            </a:extLst>
          </p:cNvPr>
          <p:cNvSpPr>
            <a:spLocks noGrp="1"/>
          </p:cNvSpPr>
          <p:nvPr/>
        </p:nvSpPr>
        <p:spPr>
          <a:xfrm>
            <a:off x="3924300" y="3048000"/>
            <a:ext cx="342900" cy="0"/>
          </a:xfrm>
          <a:prstGeom prst="line">
            <a:avLst/>
          </a:prstGeom>
          <a:noFill/>
          <a:ln w="19050">
            <a:solidFill>
              <a:srgbClr val="D96B30"/>
            </a:solidFill>
            <a:prstDash val="solid"/>
          </a:ln>
        </p:spPr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08ACF2A4-65A3-4268-8053-BDC4D91128F5}"/>
              </a:ext>
            </a:extLst>
          </p:cNvPr>
          <p:cNvSpPr>
            <a:spLocks noGrp="1"/>
          </p:cNvSpPr>
          <p:nvPr/>
        </p:nvSpPr>
        <p:spPr>
          <a:xfrm>
            <a:off x="3924300" y="3819525"/>
            <a:ext cx="342900" cy="0"/>
          </a:xfrm>
          <a:prstGeom prst="line">
            <a:avLst/>
          </a:prstGeom>
          <a:noFill/>
          <a:ln w="19050">
            <a:solidFill>
              <a:srgbClr val="B94A48"/>
            </a:solidFill>
            <a:prstDash val="solid"/>
          </a:ln>
        </p:spPr>
      </p:sp>
      <p:sp>
        <p:nvSpPr>
          <p:cNvPr id="20" name="直線接點 19">
            <a:extLst>
              <a:ext uri="{FF2B5EF4-FFF2-40B4-BE49-F238E27FC236}">
                <a16:creationId xmlns:a16="http://schemas.microsoft.com/office/drawing/2014/main" id="{D6697C6A-F287-4E9C-AA40-37500EF0EC9A}"/>
              </a:ext>
            </a:extLst>
          </p:cNvPr>
          <p:cNvSpPr>
            <a:spLocks noGrp="1"/>
          </p:cNvSpPr>
          <p:nvPr/>
        </p:nvSpPr>
        <p:spPr>
          <a:xfrm>
            <a:off x="7639050" y="1676400"/>
            <a:ext cx="0" cy="3714750"/>
          </a:xfrm>
          <a:prstGeom prst="line">
            <a:avLst/>
          </a:prstGeom>
          <a:noFill/>
          <a:ln w="13335">
            <a:solidFill>
              <a:srgbClr val="D7E0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00FF9D-61B2-424E-A94C-7E1083184D6B}"/>
              </a:ext>
            </a:extLst>
          </p:cNvPr>
          <p:cNvSpPr>
            <a:spLocks noGrp="1"/>
          </p:cNvSpPr>
          <p:nvPr/>
        </p:nvSpPr>
        <p:spPr>
          <a:xfrm>
            <a:off x="8096250" y="15811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WHAT THE TEAM STILL LACKS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472F3A-B39B-485A-8883-2A538A5B2079}"/>
              </a:ext>
            </a:extLst>
          </p:cNvPr>
          <p:cNvSpPr>
            <a:spLocks noGrp="1"/>
          </p:cNvSpPr>
          <p:nvPr/>
        </p:nvSpPr>
        <p:spPr>
          <a:xfrm>
            <a:off x="8096250" y="2047875"/>
            <a:ext cx="3238500" cy="2647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 contract: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what a designer must provide</a:t>
            </a:r>
          </a:p>
          <a:p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abstraction: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 / Middle / Top behavior</a:t>
            </a:r>
          </a:p>
          <a:p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Quality gates: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what counts as a valid result</a:t>
            </a:r>
          </a:p>
          <a:p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Failure localization: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where the flow must stop</a:t>
            </a:r>
          </a:p>
          <a:p>
            <a:pPr marL="24" indent="-12" algn="l">
              <a:lnSpc>
                <a:spcPct val="102000"/>
              </a:lnSpc>
              <a:spcAft>
                <a:spcPts val="13"/>
              </a:spcAft>
              <a:buNone/>
              <a:defRPr sz="15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Portable evidence: </a:t>
            </a:r>
            <a:r>
              <a:rPr sz="1575">
                <a:solidFill>
                  <a:srgbClr val="102332"/>
                </a:solidFill>
                <a:latin typeface="Arial"/>
                <a:ea typeface="Arial"/>
                <a:cs typeface="Arial"/>
              </a:rPr>
              <a:t>reports, ICL, patterns, simulation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F11F9823-7199-43E5-A25B-18F07414EC31}"/>
              </a:ext>
            </a:extLst>
          </p:cNvPr>
          <p:cNvSpPr>
            <a:spLocks noGrp="1"/>
          </p:cNvSpPr>
          <p:nvPr/>
        </p:nvSpPr>
        <p:spPr>
          <a:xfrm>
            <a:off x="8096250" y="4953000"/>
            <a:ext cx="1162050" cy="266700"/>
          </a:xfrm>
          <a:prstGeom prst="roundRect">
            <a:avLst>
              <a:gd name="adj" fmla="val 50000"/>
            </a:avLst>
          </a:prstGeom>
          <a:solidFill>
            <a:srgbClr val="FAEEEE"/>
          </a:solidFill>
          <a:ln w="11430">
            <a:solidFill>
              <a:srgbClr val="FAEEEE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TOOL RUN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F71BC3B-1EEC-44BE-B9C8-CFEB11E126A1}"/>
              </a:ext>
            </a:extLst>
          </p:cNvPr>
          <p:cNvSpPr>
            <a:spLocks noGrp="1"/>
          </p:cNvSpPr>
          <p:nvPr/>
        </p:nvSpPr>
        <p:spPr>
          <a:xfrm>
            <a:off x="9429750" y="4953000"/>
            <a:ext cx="361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003" lnSpcReduction="10000"/>
          </a:bodyPr>
          <a:lstStyle/>
          <a:p>
            <a:pPr algn="ctr">
              <a:lnSpc>
                <a:spcPct val="102000"/>
              </a:lnSpc>
              <a:buNone/>
              <a:defRPr sz="1875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FA2AB82-803E-48C2-AA31-900DD8AC1667}"/>
              </a:ext>
            </a:extLst>
          </p:cNvPr>
          <p:cNvSpPr>
            <a:spLocks noGrp="1"/>
          </p:cNvSpPr>
          <p:nvPr/>
        </p:nvSpPr>
        <p:spPr>
          <a:xfrm>
            <a:off x="9944100" y="4953000"/>
            <a:ext cx="1562100" cy="266700"/>
          </a:xfrm>
          <a:prstGeom prst="roundRect">
            <a:avLst>
              <a:gd name="adj" fmla="val 50000"/>
            </a:avLst>
          </a:prstGeom>
          <a:solidFill>
            <a:srgbClr val="EDF5F8"/>
          </a:solidFill>
          <a:ln w="11430">
            <a:solidFill>
              <a:srgbClr val="EDF5F8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TEAM CAPABILITY</a:t>
            </a:r>
          </a:p>
        </p:txBody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6A9F33BC-3B3B-43A4-BF6C-1FF835402B27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B94A48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4F76A54-69F8-44FB-AE9D-9EE691530AF9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827"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 tool run becomes a team capability only when inputs, decisions, and acceptance criteria are standardized.</a:t>
            </a:r>
          </a:p>
        </p:txBody>
      </p:sp>
      <p:sp>
        <p:nvSpPr>
          <p:cNvPr id="28" name="直線接點 27">
            <a:extLst>
              <a:ext uri="{FF2B5EF4-FFF2-40B4-BE49-F238E27FC236}">
                <a16:creationId xmlns:a16="http://schemas.microsoft.com/office/drawing/2014/main" id="{D064EF4B-3F23-469A-9DDC-8793F7F65DB8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F00DE17-2A8A-4A65-A4DE-1C7E893EC60E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45904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60CDEDEE-8611-4638-8ED6-9146BD2A3466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 · HOW TESSENT SOLVES IT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7D5368-B2F8-4B0D-A8C1-F9D9643D7570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slide-3-title">
            <a:extLst>
              <a:ext uri="{FF2B5EF4-FFF2-40B4-BE49-F238E27FC236}">
                <a16:creationId xmlns:a16="http://schemas.microsoft.com/office/drawing/2014/main" id="{7B8509E6-55D4-4EA4-A1D1-8D04E8D4B271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251" lnSpcReduction="2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Tessent executes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the RTL-to-stack flow through standardized handoffs.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DC416181-E02D-42BD-A655-093E5026D001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A31679-4E5E-4DDC-A2D0-83654D834AB0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928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TESSENT RTL EXECUTION · INSERT → EXTRACT → RETARGET → VERIFY</a:t>
            </a:r>
          </a:p>
        </p:txBody>
      </p:sp>
      <p:sp>
        <p:nvSpPr>
          <p:cNvPr id="6" name="flow-node-0">
            <a:extLst>
              <a:ext uri="{FF2B5EF4-FFF2-40B4-BE49-F238E27FC236}">
                <a16:creationId xmlns:a16="http://schemas.microsoft.com/office/drawing/2014/main" id="{C5447E6D-87FA-41C0-8D01-56E2055CE809}"/>
              </a:ext>
            </a:extLst>
          </p:cNvPr>
          <p:cNvSpPr>
            <a:spLocks noGrp="1"/>
          </p:cNvSpPr>
          <p:nvPr/>
        </p:nvSpPr>
        <p:spPr>
          <a:xfrm>
            <a:off x="609600" y="1790700"/>
            <a:ext cx="1600200" cy="1200150"/>
          </a:xfrm>
          <a:prstGeom prst="roundRect">
            <a:avLst>
              <a:gd name="adj" fmla="val 7937"/>
            </a:avLst>
          </a:prstGeom>
          <a:solidFill>
            <a:srgbClr val="F6F8F9"/>
          </a:solidFill>
          <a:ln w="11430">
            <a:solidFill>
              <a:srgbClr val="5E6D7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E66566-7706-46F3-9D43-0F3048180711}"/>
              </a:ext>
            </a:extLst>
          </p:cNvPr>
          <p:cNvSpPr>
            <a:spLocks noGrp="1"/>
          </p:cNvSpPr>
          <p:nvPr/>
        </p:nvSpPr>
        <p:spPr>
          <a:xfrm>
            <a:off x="733425" y="18859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FF9C9F-43D3-4F58-B262-BD94EE2C90AC}"/>
              </a:ext>
            </a:extLst>
          </p:cNvPr>
          <p:cNvSpPr>
            <a:spLocks noGrp="1"/>
          </p:cNvSpPr>
          <p:nvPr/>
        </p:nvSpPr>
        <p:spPr>
          <a:xfrm>
            <a:off x="762000" y="2152650"/>
            <a:ext cx="1295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35" lnSpcReduction="10000"/>
          </a:bodyPr>
          <a:lstStyle/>
          <a:p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EXISTING</a:t>
            </a:r>
          </a:p>
          <a:p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4E6EFF-D890-485D-8E9C-0C73654789AA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646"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RTL · libraries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instrument ports</a:t>
            </a:r>
          </a:p>
        </p:txBody>
      </p:sp>
      <p:sp>
        <p:nvSpPr>
          <p:cNvPr id="10" name="flow-node-1">
            <a:extLst>
              <a:ext uri="{FF2B5EF4-FFF2-40B4-BE49-F238E27FC236}">
                <a16:creationId xmlns:a16="http://schemas.microsoft.com/office/drawing/2014/main" id="{5A842B18-801D-4281-9318-CA214161DFF7}"/>
              </a:ext>
            </a:extLst>
          </p:cNvPr>
          <p:cNvSpPr>
            <a:spLocks noGrp="1"/>
          </p:cNvSpPr>
          <p:nvPr/>
        </p:nvSpPr>
        <p:spPr>
          <a:xfrm>
            <a:off x="2686050" y="1790700"/>
            <a:ext cx="1600200" cy="1200150"/>
          </a:xfrm>
          <a:prstGeom prst="roundRect">
            <a:avLst>
              <a:gd name="adj" fmla="val 7937"/>
            </a:avLst>
          </a:prstGeom>
          <a:solidFill>
            <a:srgbClr val="EDF5F8"/>
          </a:solidFill>
          <a:ln w="11430">
            <a:solidFill>
              <a:srgbClr val="0B6B9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8DB38F-64C5-4B20-8E6F-4FE843F38F86}"/>
              </a:ext>
            </a:extLst>
          </p:cNvPr>
          <p:cNvSpPr>
            <a:spLocks noGrp="1"/>
          </p:cNvSpPr>
          <p:nvPr/>
        </p:nvSpPr>
        <p:spPr>
          <a:xfrm>
            <a:off x="2809875" y="18859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58EA3B-4C2F-443B-9590-7C2FA87FC6B0}"/>
              </a:ext>
            </a:extLst>
          </p:cNvPr>
          <p:cNvSpPr>
            <a:spLocks noGrp="1"/>
          </p:cNvSpPr>
          <p:nvPr/>
        </p:nvSpPr>
        <p:spPr>
          <a:xfrm>
            <a:off x="2838450" y="2152650"/>
            <a:ext cx="1295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35" lnSpcReduction="10000"/>
          </a:bodyPr>
          <a:lstStyle/>
          <a:p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</a:t>
            </a:r>
          </a:p>
          <a:p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INSERTION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0677E22-0326-4F2B-8AEC-3E1C8FA64519}"/>
              </a:ext>
            </a:extLst>
          </p:cNvPr>
          <p:cNvSpPr>
            <a:spLocks noGrp="1"/>
          </p:cNvSpPr>
          <p:nvPr/>
        </p:nvSpPr>
        <p:spPr>
          <a:xfrm>
            <a:off x="2838450" y="260985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646"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IEEE 1687 / 1838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14" name="flow-node-2">
            <a:extLst>
              <a:ext uri="{FF2B5EF4-FFF2-40B4-BE49-F238E27FC236}">
                <a16:creationId xmlns:a16="http://schemas.microsoft.com/office/drawing/2014/main" id="{87DC176C-C741-4EB5-BE1B-3E25EC3E8890}"/>
              </a:ext>
            </a:extLst>
          </p:cNvPr>
          <p:cNvSpPr>
            <a:spLocks noGrp="1"/>
          </p:cNvSpPr>
          <p:nvPr/>
        </p:nvSpPr>
        <p:spPr>
          <a:xfrm>
            <a:off x="4762500" y="1790700"/>
            <a:ext cx="1600200" cy="1200150"/>
          </a:xfrm>
          <a:prstGeom prst="roundRect">
            <a:avLst>
              <a:gd name="adj" fmla="val 7937"/>
            </a:avLst>
          </a:prstGeom>
          <a:solidFill>
            <a:srgbClr val="E9F4F7"/>
          </a:solidFill>
          <a:ln w="11430">
            <a:solidFill>
              <a:srgbClr val="3A91B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9CB945-37E2-4D5B-BE7D-AE4D70228EB6}"/>
              </a:ext>
            </a:extLst>
          </p:cNvPr>
          <p:cNvSpPr>
            <a:spLocks noGrp="1"/>
          </p:cNvSpPr>
          <p:nvPr/>
        </p:nvSpPr>
        <p:spPr>
          <a:xfrm>
            <a:off x="4886325" y="18859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DD8F3B-73CF-4185-B9A0-2006C5F2136C}"/>
              </a:ext>
            </a:extLst>
          </p:cNvPr>
          <p:cNvSpPr>
            <a:spLocks noGrp="1"/>
          </p:cNvSpPr>
          <p:nvPr/>
        </p:nvSpPr>
        <p:spPr>
          <a:xfrm>
            <a:off x="4914900" y="2152650"/>
            <a:ext cx="1295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35" lnSpcReduction="10000"/>
          </a:bodyPr>
          <a:lstStyle/>
          <a:p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/ PDL</a:t>
            </a:r>
          </a:p>
          <a:p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49E0E7-832A-4080-97A5-793C6CD1D959}"/>
              </a:ext>
            </a:extLst>
          </p:cNvPr>
          <p:cNvSpPr>
            <a:spLocks noGrp="1"/>
          </p:cNvSpPr>
          <p:nvPr/>
        </p:nvSpPr>
        <p:spPr>
          <a:xfrm>
            <a:off x="4914900" y="260985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646"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network hierarchy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instrument intent</a:t>
            </a:r>
          </a:p>
        </p:txBody>
      </p:sp>
      <p:sp>
        <p:nvSpPr>
          <p:cNvPr id="18" name="flow-node-3">
            <a:extLst>
              <a:ext uri="{FF2B5EF4-FFF2-40B4-BE49-F238E27FC236}">
                <a16:creationId xmlns:a16="http://schemas.microsoft.com/office/drawing/2014/main" id="{12B185A5-039F-4A49-818C-76D88D8009DB}"/>
              </a:ext>
            </a:extLst>
          </p:cNvPr>
          <p:cNvSpPr>
            <a:spLocks noGrp="1"/>
          </p:cNvSpPr>
          <p:nvPr/>
        </p:nvSpPr>
        <p:spPr>
          <a:xfrm>
            <a:off x="6838950" y="1790700"/>
            <a:ext cx="1600200" cy="1200150"/>
          </a:xfrm>
          <a:prstGeom prst="roundRect">
            <a:avLst>
              <a:gd name="adj" fmla="val 7937"/>
            </a:avLst>
          </a:prstGeom>
          <a:solidFill>
            <a:srgbClr val="EEF6F0"/>
          </a:solidFill>
          <a:ln w="11430">
            <a:solidFill>
              <a:srgbClr val="1F7B7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C8EAD80-1DCA-45CD-AF5E-85D58D217A53}"/>
              </a:ext>
            </a:extLst>
          </p:cNvPr>
          <p:cNvSpPr>
            <a:spLocks noGrp="1"/>
          </p:cNvSpPr>
          <p:nvPr/>
        </p:nvSpPr>
        <p:spPr>
          <a:xfrm>
            <a:off x="6962775" y="18859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27B821-0906-47C4-805D-FB3FDE245328}"/>
              </a:ext>
            </a:extLst>
          </p:cNvPr>
          <p:cNvSpPr>
            <a:spLocks noGrp="1"/>
          </p:cNvSpPr>
          <p:nvPr/>
        </p:nvSpPr>
        <p:spPr>
          <a:xfrm>
            <a:off x="6991350" y="2152650"/>
            <a:ext cx="12954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PACKAGE</a:t>
            </a:r>
          </a:p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5582C0-A60D-4AB2-A5A9-7F1171A09E19}"/>
              </a:ext>
            </a:extLst>
          </p:cNvPr>
          <p:cNvSpPr>
            <a:spLocks noGrp="1"/>
          </p:cNvSpPr>
          <p:nvPr/>
        </p:nvSpPr>
        <p:spPr>
          <a:xfrm>
            <a:off x="6991350" y="2609850"/>
            <a:ext cx="1295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646"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stack_top · ICL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resolved path</a:t>
            </a:r>
          </a:p>
        </p:txBody>
      </p:sp>
      <p:sp>
        <p:nvSpPr>
          <p:cNvPr id="22" name="flow-node-4">
            <a:extLst>
              <a:ext uri="{FF2B5EF4-FFF2-40B4-BE49-F238E27FC236}">
                <a16:creationId xmlns:a16="http://schemas.microsoft.com/office/drawing/2014/main" id="{B50828FF-4D1F-42C6-B869-30ACF07737CE}"/>
              </a:ext>
            </a:extLst>
          </p:cNvPr>
          <p:cNvSpPr>
            <a:spLocks noGrp="1"/>
          </p:cNvSpPr>
          <p:nvPr/>
        </p:nvSpPr>
        <p:spPr>
          <a:xfrm>
            <a:off x="8915400" y="1790700"/>
            <a:ext cx="2590800" cy="1200150"/>
          </a:xfrm>
          <a:prstGeom prst="roundRect">
            <a:avLst>
              <a:gd name="adj" fmla="val 7937"/>
            </a:avLst>
          </a:prstGeom>
          <a:solidFill>
            <a:srgbClr val="FBF0EA"/>
          </a:solidFill>
          <a:ln w="11430">
            <a:solidFill>
              <a:srgbClr val="D96B30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C64864-6996-4817-950D-74D13C061645}"/>
              </a:ext>
            </a:extLst>
          </p:cNvPr>
          <p:cNvSpPr>
            <a:spLocks noGrp="1"/>
          </p:cNvSpPr>
          <p:nvPr/>
        </p:nvSpPr>
        <p:spPr>
          <a:xfrm>
            <a:off x="9039225" y="18859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56F2F9-005B-4CEE-8437-1EA5CE8741B6}"/>
              </a:ext>
            </a:extLst>
          </p:cNvPr>
          <p:cNvSpPr>
            <a:spLocks noGrp="1"/>
          </p:cNvSpPr>
          <p:nvPr/>
        </p:nvSpPr>
        <p:spPr>
          <a:xfrm>
            <a:off x="9067800" y="2152650"/>
            <a:ext cx="2286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035" lnSpcReduction="10000"/>
          </a:bodyPr>
          <a:lstStyle/>
          <a:p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VCS</a:t>
            </a:r>
          </a:p>
          <a:p>
            <a:pPr algn="l">
              <a:lnSpc>
                <a:spcPct val="102000"/>
              </a:lnSpc>
              <a:buNone/>
              <a:defRPr sz="15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33E350-9497-43AA-92B6-B95C33806C63}"/>
              </a:ext>
            </a:extLst>
          </p:cNvPr>
          <p:cNvSpPr>
            <a:spLocks noGrp="1"/>
          </p:cNvSpPr>
          <p:nvPr/>
        </p:nvSpPr>
        <p:spPr>
          <a:xfrm>
            <a:off x="9067800" y="2609850"/>
            <a:ext cx="2286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646"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waveform · compare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PASS / FAIL</a:t>
            </a:r>
          </a:p>
        </p:txBody>
      </p:sp>
      <p:cxnSp>
        <p:nvCxnSpPr>
          <p:cNvPr id="427" name="直線單箭頭接點 426"/>
          <p:cNvCxnSpPr>
            <a:stCxn id="6" idx="3"/>
            <a:endCxn id="10" idx="1"/>
          </p:cNvCxnSpPr>
          <p:nvPr/>
        </p:nvCxnSpPr>
        <p:spPr>
          <a:xfrm>
            <a:off x="2209800" y="2390775"/>
            <a:ext cx="476250" cy="0"/>
          </a:xfrm>
          <a:prstGeom prst="straightConnector1">
            <a:avLst/>
          </a:prstGeom>
          <a:ln w="20955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8" name="直線單箭頭接點 427"/>
          <p:cNvCxnSpPr>
            <a:stCxn id="10" idx="3"/>
            <a:endCxn id="14" idx="1"/>
          </p:cNvCxnSpPr>
          <p:nvPr/>
        </p:nvCxnSpPr>
        <p:spPr>
          <a:xfrm>
            <a:off x="4286250" y="2390775"/>
            <a:ext cx="476250" cy="0"/>
          </a:xfrm>
          <a:prstGeom prst="straightConnector1">
            <a:avLst/>
          </a:prstGeom>
          <a:ln w="20955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29" name="直線單箭頭接點 428"/>
          <p:cNvCxnSpPr>
            <a:stCxn id="14" idx="3"/>
            <a:endCxn id="18" idx="1"/>
          </p:cNvCxnSpPr>
          <p:nvPr/>
        </p:nvCxnSpPr>
        <p:spPr>
          <a:xfrm>
            <a:off x="6362700" y="2390775"/>
            <a:ext cx="476250" cy="0"/>
          </a:xfrm>
          <a:prstGeom prst="straightConnector1">
            <a:avLst/>
          </a:prstGeom>
          <a:ln w="20955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430" name="直線單箭頭接點 429"/>
          <p:cNvCxnSpPr>
            <a:stCxn id="18" idx="3"/>
            <a:endCxn id="22" idx="1"/>
          </p:cNvCxnSpPr>
          <p:nvPr/>
        </p:nvCxnSpPr>
        <p:spPr>
          <a:xfrm>
            <a:off x="8439150" y="2390775"/>
            <a:ext cx="476250" cy="0"/>
          </a:xfrm>
          <a:prstGeom prst="straightConnector1">
            <a:avLst/>
          </a:prstGeom>
          <a:ln w="20955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9" name="直線接點 78">
            <a:extLst>
              <a:ext uri="{FF2B5EF4-FFF2-40B4-BE49-F238E27FC236}">
                <a16:creationId xmlns:a16="http://schemas.microsoft.com/office/drawing/2014/main" id="{DB2C8557-B769-42A2-9EAB-BAA2FEF2BFA7}"/>
              </a:ext>
            </a:extLst>
          </p:cNvPr>
          <p:cNvSpPr>
            <a:spLocks noGrp="1"/>
          </p:cNvSpPr>
          <p:nvPr/>
        </p:nvSpPr>
        <p:spPr>
          <a:xfrm>
            <a:off x="552450" y="5148375"/>
            <a:ext cx="38100" cy="285750"/>
          </a:xfrm>
          <a:prstGeom prst="line">
            <a:avLst/>
          </a:prstGeom>
          <a:noFill/>
          <a:ln w="38100">
            <a:solidFill>
              <a:srgbClr val="0B6B9E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365F3ED-495F-4C40-8681-78824797B419}"/>
              </a:ext>
            </a:extLst>
          </p:cNvPr>
          <p:cNvSpPr>
            <a:spLocks noGrp="1"/>
          </p:cNvSpPr>
          <p:nvPr/>
        </p:nvSpPr>
        <p:spPr>
          <a:xfrm>
            <a:off x="723900" y="51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 is the execution engine; automation standardizes inputs, handoffs, and evidence.</a:t>
            </a:r>
          </a:p>
        </p:txBody>
      </p:sp>
      <p:sp>
        <p:nvSpPr>
          <p:cNvPr id="81" name="直線接點 80">
            <a:extLst>
              <a:ext uri="{FF2B5EF4-FFF2-40B4-BE49-F238E27FC236}">
                <a16:creationId xmlns:a16="http://schemas.microsoft.com/office/drawing/2014/main" id="{540EC495-6D08-4959-A30B-7BE8EF48FB3E}"/>
              </a:ext>
            </a:extLst>
          </p:cNvPr>
          <p:cNvSpPr>
            <a:spLocks noGrp="1"/>
          </p:cNvSpPr>
          <p:nvPr/>
        </p:nvSpPr>
        <p:spPr>
          <a:xfrm>
            <a:off x="552450" y="55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DCE9810-CC92-4BC4-98FA-3E2C5ED7302F}"/>
              </a:ext>
            </a:extLst>
          </p:cNvPr>
          <p:cNvSpPr>
            <a:spLocks noGrp="1"/>
          </p:cNvSpPr>
          <p:nvPr/>
        </p:nvSpPr>
        <p:spPr>
          <a:xfrm>
            <a:off x="552450" y="56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18866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>
            <a:extLst>
              <a:ext uri="{FF2B5EF4-FFF2-40B4-BE49-F238E27FC236}">
                <a16:creationId xmlns:a16="http://schemas.microsoft.com/office/drawing/2014/main" id="{15F90350-95A3-41F5-83E3-53201BFAA421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C.1 · CLEAN PIPELINE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209F53-7AA4-46BA-ABFD-E27A6C787639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slide-5-title">
            <a:extLst>
              <a:ext uri="{FF2B5EF4-FFF2-40B4-BE49-F238E27FC236}">
                <a16:creationId xmlns:a16="http://schemas.microsoft.com/office/drawing/2014/main" id="{CBE07828-2209-49B6-9546-F74916BF3A85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2003" lnSpcReduction="2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Every run starts from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golden RTL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and promotes only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validated artifacts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B1733F21-77C3-4997-88EC-CA2670D4F7FD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0262FA-A68E-4349-85CB-8869D9569E91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CLEAN AND REPRODUCIBLE EXECUTION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310F466A-F775-47D0-8A2D-E192BDA56B40}"/>
              </a:ext>
            </a:extLst>
          </p:cNvPr>
          <p:cNvSpPr>
            <a:spLocks noGrp="1"/>
          </p:cNvSpPr>
          <p:nvPr/>
        </p:nvSpPr>
        <p:spPr>
          <a:xfrm>
            <a:off x="800100" y="1952625"/>
            <a:ext cx="419100" cy="419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5E6D7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64ADA3-F157-4A51-8BA0-076877556E0D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301CA83-3E99-4D68-88C0-E52A92167050}"/>
              </a:ext>
            </a:extLst>
          </p:cNvPr>
          <p:cNvSpPr>
            <a:spLocks noGrp="1"/>
          </p:cNvSpPr>
          <p:nvPr/>
        </p:nvSpPr>
        <p:spPr>
          <a:xfrm>
            <a:off x="1485900" y="1914525"/>
            <a:ext cx="445770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B8D1C2B-2840-4BE5-96B4-19881B7D4B8B}"/>
              </a:ext>
            </a:extLst>
          </p:cNvPr>
          <p:cNvSpPr>
            <a:spLocks noGrp="1"/>
          </p:cNvSpPr>
          <p:nvPr/>
        </p:nvSpPr>
        <p:spPr>
          <a:xfrm>
            <a:off x="1657350" y="20193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65E7A96-D710-4A0E-983D-50C94C5414E2}"/>
              </a:ext>
            </a:extLst>
          </p:cNvPr>
          <p:cNvSpPr>
            <a:spLocks noGrp="1"/>
          </p:cNvSpPr>
          <p:nvPr/>
        </p:nvSpPr>
        <p:spPr>
          <a:xfrm>
            <a:off x="2914650" y="20193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Create an isolated run directory</a:t>
            </a:r>
          </a:p>
        </p:txBody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5B671B9B-5C79-4419-A645-B5874FED6E0A}"/>
              </a:ext>
            </a:extLst>
          </p:cNvPr>
          <p:cNvSpPr>
            <a:spLocks noGrp="1"/>
          </p:cNvSpPr>
          <p:nvPr/>
        </p:nvSpPr>
        <p:spPr>
          <a:xfrm>
            <a:off x="1000125" y="2381250"/>
            <a:ext cx="0" cy="314325"/>
          </a:xfrm>
          <a:prstGeom prst="line">
            <a:avLst/>
          </a:prstGeom>
          <a:noFill/>
          <a:ln w="19050">
            <a:solidFill>
              <a:srgbClr val="B7C5CD"/>
            </a:solidFill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56843BB-AA89-4759-9302-E16DF9E8C682}"/>
              </a:ext>
            </a:extLst>
          </p:cNvPr>
          <p:cNvSpPr>
            <a:spLocks noGrp="1"/>
          </p:cNvSpPr>
          <p:nvPr/>
        </p:nvSpPr>
        <p:spPr>
          <a:xfrm>
            <a:off x="800100" y="2628900"/>
            <a:ext cx="419100" cy="419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0B6B9E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47EBFA-2994-41B9-BB1F-0631B265CB7C}"/>
              </a:ext>
            </a:extLst>
          </p:cNvPr>
          <p:cNvSpPr>
            <a:spLocks noGrp="1"/>
          </p:cNvSpPr>
          <p:nvPr/>
        </p:nvSpPr>
        <p:spPr>
          <a:xfrm>
            <a:off x="800100" y="264795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A5E6114-7D51-4C3F-97FD-93FBB09EAF34}"/>
              </a:ext>
            </a:extLst>
          </p:cNvPr>
          <p:cNvSpPr>
            <a:spLocks noGrp="1"/>
          </p:cNvSpPr>
          <p:nvPr/>
        </p:nvSpPr>
        <p:spPr>
          <a:xfrm>
            <a:off x="1485900" y="2590800"/>
            <a:ext cx="445770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75CD21-A89B-4B5B-81CA-A173FD4A3868}"/>
              </a:ext>
            </a:extLst>
          </p:cNvPr>
          <p:cNvSpPr>
            <a:spLocks noGrp="1"/>
          </p:cNvSpPr>
          <p:nvPr/>
        </p:nvSpPr>
        <p:spPr>
          <a:xfrm>
            <a:off x="1657350" y="26955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PRECHECK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A9AE6EB-8C15-41E1-80AF-C19DEA913D23}"/>
              </a:ext>
            </a:extLst>
          </p:cNvPr>
          <p:cNvSpPr>
            <a:spLocks noGrp="1"/>
          </p:cNvSpPr>
          <p:nvPr/>
        </p:nvSpPr>
        <p:spPr>
          <a:xfrm>
            <a:off x="2914650" y="26955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Parse manifest; reject missing inputs</a:t>
            </a:r>
          </a:p>
        </p:txBody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F0EAF275-337E-4695-8308-B883F9114F82}"/>
              </a:ext>
            </a:extLst>
          </p:cNvPr>
          <p:cNvSpPr>
            <a:spLocks noGrp="1"/>
          </p:cNvSpPr>
          <p:nvPr/>
        </p:nvSpPr>
        <p:spPr>
          <a:xfrm>
            <a:off x="1000125" y="3057525"/>
            <a:ext cx="0" cy="314325"/>
          </a:xfrm>
          <a:prstGeom prst="line">
            <a:avLst/>
          </a:prstGeom>
          <a:noFill/>
          <a:ln w="19050">
            <a:solidFill>
              <a:srgbClr val="B7C5CD"/>
            </a:solidFill>
            <a:prstDash val="solid"/>
          </a:ln>
        </p:spPr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EDC3FB7F-04F8-4281-8EC1-7F6E5E190E35}"/>
              </a:ext>
            </a:extLst>
          </p:cNvPr>
          <p:cNvSpPr>
            <a:spLocks noGrp="1"/>
          </p:cNvSpPr>
          <p:nvPr/>
        </p:nvSpPr>
        <p:spPr>
          <a:xfrm>
            <a:off x="800100" y="3305175"/>
            <a:ext cx="419100" cy="419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A91B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CFC83E8-5BE0-42FA-B743-1E9DFFECB0E5}"/>
              </a:ext>
            </a:extLst>
          </p:cNvPr>
          <p:cNvSpPr>
            <a:spLocks noGrp="1"/>
          </p:cNvSpPr>
          <p:nvPr/>
        </p:nvSpPr>
        <p:spPr>
          <a:xfrm>
            <a:off x="800100" y="3324225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E7634941-DD3F-4D18-A2C8-24A7015E0657}"/>
              </a:ext>
            </a:extLst>
          </p:cNvPr>
          <p:cNvSpPr>
            <a:spLocks noGrp="1"/>
          </p:cNvSpPr>
          <p:nvPr/>
        </p:nvSpPr>
        <p:spPr>
          <a:xfrm>
            <a:off x="1485900" y="3267075"/>
            <a:ext cx="445770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F1892E-A6F0-4F26-84AE-77AFE4A44577}"/>
              </a:ext>
            </a:extLst>
          </p:cNvPr>
          <p:cNvSpPr>
            <a:spLocks noGrp="1"/>
          </p:cNvSpPr>
          <p:nvPr/>
        </p:nvSpPr>
        <p:spPr>
          <a:xfrm>
            <a:off x="1657350" y="337185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66F69B-7B17-435F-84B6-13927E28BF48}"/>
              </a:ext>
            </a:extLst>
          </p:cNvPr>
          <p:cNvSpPr>
            <a:spLocks noGrp="1"/>
          </p:cNvSpPr>
          <p:nvPr/>
        </p:nvSpPr>
        <p:spPr>
          <a:xfrm>
            <a:off x="2914650" y="337185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 role-specific Tessent data</a:t>
            </a:r>
          </a:p>
        </p:txBody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CA76FC7D-DF73-4685-AC26-34B88DC4BFCB}"/>
              </a:ext>
            </a:extLst>
          </p:cNvPr>
          <p:cNvSpPr>
            <a:spLocks noGrp="1"/>
          </p:cNvSpPr>
          <p:nvPr/>
        </p:nvSpPr>
        <p:spPr>
          <a:xfrm>
            <a:off x="1000125" y="3733800"/>
            <a:ext cx="0" cy="314325"/>
          </a:xfrm>
          <a:prstGeom prst="line">
            <a:avLst/>
          </a:prstGeom>
          <a:noFill/>
          <a:ln w="19050">
            <a:solidFill>
              <a:srgbClr val="B7C5CD"/>
            </a:solidFill>
            <a:prstDash val="solid"/>
          </a:ln>
        </p:spPr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AAE48D1-5C52-4A2A-B5F6-A9D7FE5AB785}"/>
              </a:ext>
            </a:extLst>
          </p:cNvPr>
          <p:cNvSpPr>
            <a:spLocks noGrp="1"/>
          </p:cNvSpPr>
          <p:nvPr/>
        </p:nvSpPr>
        <p:spPr>
          <a:xfrm>
            <a:off x="800100" y="3981450"/>
            <a:ext cx="419100" cy="419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281F0A7-67AB-4EF5-9A9C-535A7A9932FD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F90D329F-2323-4D63-BE76-B098CE36B736}"/>
              </a:ext>
            </a:extLst>
          </p:cNvPr>
          <p:cNvSpPr>
            <a:spLocks noGrp="1"/>
          </p:cNvSpPr>
          <p:nvPr/>
        </p:nvSpPr>
        <p:spPr>
          <a:xfrm>
            <a:off x="1485900" y="3943350"/>
            <a:ext cx="445770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1694D1-F9DB-4FE5-A2E5-E11BBF682C0F}"/>
              </a:ext>
            </a:extLst>
          </p:cNvPr>
          <p:cNvSpPr>
            <a:spLocks noGrp="1"/>
          </p:cNvSpPr>
          <p:nvPr/>
        </p:nvSpPr>
        <p:spPr>
          <a:xfrm>
            <a:off x="1657350" y="404812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C81964A-BE02-4B2B-B75A-693D51051DC6}"/>
              </a:ext>
            </a:extLst>
          </p:cNvPr>
          <p:cNvSpPr>
            <a:spLocks noGrp="1"/>
          </p:cNvSpPr>
          <p:nvPr/>
        </p:nvSpPr>
        <p:spPr>
          <a:xfrm>
            <a:off x="2914650" y="404812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 IEEE 1687 / 1838 hardware</a:t>
            </a:r>
          </a:p>
        </p:txBody>
      </p:sp>
      <p:sp>
        <p:nvSpPr>
          <p:cNvPr id="29" name="直線接點 28">
            <a:extLst>
              <a:ext uri="{FF2B5EF4-FFF2-40B4-BE49-F238E27FC236}">
                <a16:creationId xmlns:a16="http://schemas.microsoft.com/office/drawing/2014/main" id="{0715D7AA-A9DB-4C3B-9157-5609BDAB418F}"/>
              </a:ext>
            </a:extLst>
          </p:cNvPr>
          <p:cNvSpPr>
            <a:spLocks noGrp="1"/>
          </p:cNvSpPr>
          <p:nvPr/>
        </p:nvSpPr>
        <p:spPr>
          <a:xfrm>
            <a:off x="1000125" y="4410075"/>
            <a:ext cx="0" cy="314325"/>
          </a:xfrm>
          <a:prstGeom prst="line">
            <a:avLst/>
          </a:prstGeom>
          <a:noFill/>
          <a:ln w="19050">
            <a:solidFill>
              <a:srgbClr val="B7C5CD"/>
            </a:solidFill>
            <a:prstDash val="solid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48B570A0-FADB-4329-B304-9891A121C532}"/>
              </a:ext>
            </a:extLst>
          </p:cNvPr>
          <p:cNvSpPr>
            <a:spLocks noGrp="1"/>
          </p:cNvSpPr>
          <p:nvPr/>
        </p:nvSpPr>
        <p:spPr>
          <a:xfrm>
            <a:off x="800100" y="4657725"/>
            <a:ext cx="419100" cy="419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3F7B4B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0635B3C-0EA4-4B8C-9CD1-8299EF8FF760}"/>
              </a:ext>
            </a:extLst>
          </p:cNvPr>
          <p:cNvSpPr>
            <a:spLocks noGrp="1"/>
          </p:cNvSpPr>
          <p:nvPr/>
        </p:nvSpPr>
        <p:spPr>
          <a:xfrm>
            <a:off x="800100" y="4676775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40DE07F1-D8C1-4691-9159-A755E94F1B54}"/>
              </a:ext>
            </a:extLst>
          </p:cNvPr>
          <p:cNvSpPr>
            <a:spLocks noGrp="1"/>
          </p:cNvSpPr>
          <p:nvPr/>
        </p:nvSpPr>
        <p:spPr>
          <a:xfrm>
            <a:off x="1485900" y="4619625"/>
            <a:ext cx="445770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0654DB2-E1F7-4C3A-9D77-EFE5415450CE}"/>
              </a:ext>
            </a:extLst>
          </p:cNvPr>
          <p:cNvSpPr>
            <a:spLocks noGrp="1"/>
          </p:cNvSpPr>
          <p:nvPr/>
        </p:nvSpPr>
        <p:spPr>
          <a:xfrm>
            <a:off x="1657350" y="4724400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853791D-59CE-4AA1-A44B-F437BD529543}"/>
              </a:ext>
            </a:extLst>
          </p:cNvPr>
          <p:cNvSpPr>
            <a:spLocks noGrp="1"/>
          </p:cNvSpPr>
          <p:nvPr/>
        </p:nvSpPr>
        <p:spPr>
          <a:xfrm>
            <a:off x="2914650" y="4724400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Export post-DFT RTL, ICL, and TSDB</a:t>
            </a:r>
          </a:p>
        </p:txBody>
      </p:sp>
      <p:sp>
        <p:nvSpPr>
          <p:cNvPr id="35" name="直線接點 34">
            <a:extLst>
              <a:ext uri="{FF2B5EF4-FFF2-40B4-BE49-F238E27FC236}">
                <a16:creationId xmlns:a16="http://schemas.microsoft.com/office/drawing/2014/main" id="{0C5C8200-89AD-458F-A920-DDE467BB7C3D}"/>
              </a:ext>
            </a:extLst>
          </p:cNvPr>
          <p:cNvSpPr>
            <a:spLocks noGrp="1"/>
          </p:cNvSpPr>
          <p:nvPr/>
        </p:nvSpPr>
        <p:spPr>
          <a:xfrm>
            <a:off x="1000125" y="5086350"/>
            <a:ext cx="0" cy="314325"/>
          </a:xfrm>
          <a:prstGeom prst="line">
            <a:avLst/>
          </a:prstGeom>
          <a:noFill/>
          <a:ln w="19050">
            <a:solidFill>
              <a:srgbClr val="B7C5CD"/>
            </a:solidFill>
            <a:prstDash val="solid"/>
          </a:ln>
        </p:spPr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DFF14629-C02E-4505-8841-68288B8306F8}"/>
              </a:ext>
            </a:extLst>
          </p:cNvPr>
          <p:cNvSpPr>
            <a:spLocks noGrp="1"/>
          </p:cNvSpPr>
          <p:nvPr/>
        </p:nvSpPr>
        <p:spPr>
          <a:xfrm>
            <a:off x="800100" y="5334000"/>
            <a:ext cx="419100" cy="419100"/>
          </a:xfrm>
          <a:prstGeom prst="ellipse">
            <a:avLst/>
          </a:prstGeom>
          <a:solidFill>
            <a:srgbClr val="FFFFFF"/>
          </a:solidFill>
          <a:ln w="11430">
            <a:solidFill>
              <a:srgbClr val="D96B3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500B70B-15D8-479E-AF85-1C1B52019005}"/>
              </a:ext>
            </a:extLst>
          </p:cNvPr>
          <p:cNvSpPr>
            <a:spLocks noGrp="1"/>
          </p:cNvSpPr>
          <p:nvPr/>
        </p:nvSpPr>
        <p:spPr>
          <a:xfrm>
            <a:off x="800100" y="5353050"/>
            <a:ext cx="419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B559FE33-3331-4ED4-8394-FEBC0E40B4DC}"/>
              </a:ext>
            </a:extLst>
          </p:cNvPr>
          <p:cNvSpPr>
            <a:spLocks noGrp="1"/>
          </p:cNvSpPr>
          <p:nvPr/>
        </p:nvSpPr>
        <p:spPr>
          <a:xfrm>
            <a:off x="1485900" y="5295900"/>
            <a:ext cx="4457700" cy="495300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20672F0-0BAD-40FE-925A-30648EC96105}"/>
              </a:ext>
            </a:extLst>
          </p:cNvPr>
          <p:cNvSpPr>
            <a:spLocks noGrp="1"/>
          </p:cNvSpPr>
          <p:nvPr/>
        </p:nvSpPr>
        <p:spPr>
          <a:xfrm>
            <a:off x="1657350" y="5400675"/>
            <a:ext cx="1257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32A41A3-2C60-4884-AE1F-9E9CFB22F6D3}"/>
              </a:ext>
            </a:extLst>
          </p:cNvPr>
          <p:cNvSpPr>
            <a:spLocks noGrp="1"/>
          </p:cNvSpPr>
          <p:nvPr/>
        </p:nvSpPr>
        <p:spPr>
          <a:xfrm>
            <a:off x="2914650" y="5400675"/>
            <a:ext cx="3562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35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Retarget, simulate, and archive evidence</a:t>
            </a:r>
          </a:p>
        </p:txBody>
      </p:sp>
      <p:sp>
        <p:nvSpPr>
          <p:cNvPr id="41" name="直線接點 40">
            <a:extLst>
              <a:ext uri="{FF2B5EF4-FFF2-40B4-BE49-F238E27FC236}">
                <a16:creationId xmlns:a16="http://schemas.microsoft.com/office/drawing/2014/main" id="{471EB4A9-DB32-4D15-9E27-BB8FD42F715B}"/>
              </a:ext>
            </a:extLst>
          </p:cNvPr>
          <p:cNvSpPr>
            <a:spLocks noGrp="1"/>
          </p:cNvSpPr>
          <p:nvPr/>
        </p:nvSpPr>
        <p:spPr>
          <a:xfrm>
            <a:off x="6705600" y="1771650"/>
            <a:ext cx="0" cy="4000500"/>
          </a:xfrm>
          <a:prstGeom prst="line">
            <a:avLst/>
          </a:prstGeom>
          <a:noFill/>
          <a:ln w="13335">
            <a:solidFill>
              <a:srgbClr val="D7E0E5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59DC361-5908-47CE-97EC-7F94DDEBC3ED}"/>
              </a:ext>
            </a:extLst>
          </p:cNvPr>
          <p:cNvSpPr>
            <a:spLocks noGrp="1"/>
          </p:cNvSpPr>
          <p:nvPr/>
        </p:nvSpPr>
        <p:spPr>
          <a:xfrm>
            <a:off x="7086600" y="1571625"/>
            <a:ext cx="4476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97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PHASE EXIT CONTRACT · WRITE ONLY AFTER THE GATE PASSES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B8B957C-7424-4F44-9B25-C12F6C778AF3}"/>
              </a:ext>
            </a:extLst>
          </p:cNvPr>
          <p:cNvSpPr>
            <a:spLocks noGrp="1"/>
          </p:cNvSpPr>
          <p:nvPr/>
        </p:nvSpPr>
        <p:spPr>
          <a:xfrm>
            <a:off x="7086600" y="1952625"/>
            <a:ext cx="1066800" cy="3619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823B3FD-B55C-46E0-9947-4C89E782AB44}"/>
              </a:ext>
            </a:extLst>
          </p:cNvPr>
          <p:cNvSpPr>
            <a:spLocks noGrp="1"/>
          </p:cNvSpPr>
          <p:nvPr/>
        </p:nvSpPr>
        <p:spPr>
          <a:xfrm>
            <a:off x="7181850" y="1981200"/>
            <a:ext cx="876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STAGE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69EC298-FE23-46F9-9B73-98321C864E6A}"/>
              </a:ext>
            </a:extLst>
          </p:cNvPr>
          <p:cNvSpPr>
            <a:spLocks noGrp="1"/>
          </p:cNvSpPr>
          <p:nvPr/>
        </p:nvSpPr>
        <p:spPr>
          <a:xfrm>
            <a:off x="8153400" y="1952625"/>
            <a:ext cx="1295400" cy="3619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5F56E7A-2302-4EC8-8B63-3A1B8C892D5C}"/>
              </a:ext>
            </a:extLst>
          </p:cNvPr>
          <p:cNvSpPr>
            <a:spLocks noGrp="1"/>
          </p:cNvSpPr>
          <p:nvPr/>
        </p:nvSpPr>
        <p:spPr>
          <a:xfrm>
            <a:off x="8248650" y="1981200"/>
            <a:ext cx="110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WRITE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D59A865-84E5-4006-8FE5-9C80EA9ADDE0}"/>
              </a:ext>
            </a:extLst>
          </p:cNvPr>
          <p:cNvSpPr>
            <a:spLocks noGrp="1"/>
          </p:cNvSpPr>
          <p:nvPr/>
        </p:nvSpPr>
        <p:spPr>
          <a:xfrm>
            <a:off x="9448800" y="1952625"/>
            <a:ext cx="2057400" cy="3619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2EF5A9A-B3D9-4D4A-89ED-AEC45FDABFD9}"/>
              </a:ext>
            </a:extLst>
          </p:cNvPr>
          <p:cNvSpPr>
            <a:spLocks noGrp="1"/>
          </p:cNvSpPr>
          <p:nvPr/>
        </p:nvSpPr>
        <p:spPr>
          <a:xfrm>
            <a:off x="9544050" y="19812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 / STOP CONDITION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AAA5D898-71B4-47A0-90E0-BACBF419855F}"/>
              </a:ext>
            </a:extLst>
          </p:cNvPr>
          <p:cNvSpPr>
            <a:spLocks noGrp="1"/>
          </p:cNvSpPr>
          <p:nvPr/>
        </p:nvSpPr>
        <p:spPr>
          <a:xfrm>
            <a:off x="7086600" y="2314575"/>
            <a:ext cx="10668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1335A32-6DA1-4CF2-8783-36C811F09826}"/>
              </a:ext>
            </a:extLst>
          </p:cNvPr>
          <p:cNvSpPr>
            <a:spLocks noGrp="1"/>
          </p:cNvSpPr>
          <p:nvPr/>
        </p:nvSpPr>
        <p:spPr>
          <a:xfrm>
            <a:off x="7181850" y="2343150"/>
            <a:ext cx="876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CLEAN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022DB3D-8DF3-419F-BBD1-D81640233F6D}"/>
              </a:ext>
            </a:extLst>
          </p:cNvPr>
          <p:cNvSpPr>
            <a:spLocks noGrp="1"/>
          </p:cNvSpPr>
          <p:nvPr/>
        </p:nvSpPr>
        <p:spPr>
          <a:xfrm>
            <a:off x="8153400" y="2314575"/>
            <a:ext cx="12954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A1B5A947-00B3-4300-B90B-B142577157BE}"/>
              </a:ext>
            </a:extLst>
          </p:cNvPr>
          <p:cNvSpPr>
            <a:spLocks noGrp="1"/>
          </p:cNvSpPr>
          <p:nvPr/>
        </p:nvSpPr>
        <p:spPr>
          <a:xfrm>
            <a:off x="8248650" y="234315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run directory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597AB05-8C0E-4AD9-A8D3-998E307AE1F4}"/>
              </a:ext>
            </a:extLst>
          </p:cNvPr>
          <p:cNvSpPr>
            <a:spLocks noGrp="1"/>
          </p:cNvSpPr>
          <p:nvPr/>
        </p:nvSpPr>
        <p:spPr>
          <a:xfrm>
            <a:off x="9448800" y="2314575"/>
            <a:ext cx="20574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C34BC19-4461-44B3-B08B-8F5EF54FB152}"/>
              </a:ext>
            </a:extLst>
          </p:cNvPr>
          <p:cNvSpPr>
            <a:spLocks noGrp="1"/>
          </p:cNvSpPr>
          <p:nvPr/>
        </p:nvSpPr>
        <p:spPr>
          <a:xfrm>
            <a:off x="9544050" y="234315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dirty or reused inserted RTL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D6C1DFA-2E2E-4A92-B080-6127928BAA26}"/>
              </a:ext>
            </a:extLst>
          </p:cNvPr>
          <p:cNvSpPr>
            <a:spLocks noGrp="1"/>
          </p:cNvSpPr>
          <p:nvPr/>
        </p:nvSpPr>
        <p:spPr>
          <a:xfrm>
            <a:off x="7086600" y="2828925"/>
            <a:ext cx="10668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4C1EBE0-EBA8-404A-BDCE-F6E0D9F7E8C2}"/>
              </a:ext>
            </a:extLst>
          </p:cNvPr>
          <p:cNvSpPr>
            <a:spLocks noGrp="1"/>
          </p:cNvSpPr>
          <p:nvPr/>
        </p:nvSpPr>
        <p:spPr>
          <a:xfrm>
            <a:off x="7181850" y="2857500"/>
            <a:ext cx="876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PRECHECK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3E830BA-57BA-4E9D-A9C9-3B7B88A69421}"/>
              </a:ext>
            </a:extLst>
          </p:cNvPr>
          <p:cNvSpPr>
            <a:spLocks noGrp="1"/>
          </p:cNvSpPr>
          <p:nvPr/>
        </p:nvSpPr>
        <p:spPr>
          <a:xfrm>
            <a:off x="8153400" y="2828925"/>
            <a:ext cx="12954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BF0D641-2A12-42C1-A718-224E2D3ABFEF}"/>
              </a:ext>
            </a:extLst>
          </p:cNvPr>
          <p:cNvSpPr>
            <a:spLocks noGrp="1"/>
          </p:cNvSpPr>
          <p:nvPr/>
        </p:nvSpPr>
        <p:spPr>
          <a:xfrm>
            <a:off x="8248650" y="285750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 audit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657CF9E-A836-4B9C-A5F8-D4AEEB0E6316}"/>
              </a:ext>
            </a:extLst>
          </p:cNvPr>
          <p:cNvSpPr>
            <a:spLocks noGrp="1"/>
          </p:cNvSpPr>
          <p:nvPr/>
        </p:nvSpPr>
        <p:spPr>
          <a:xfrm>
            <a:off x="9448800" y="2828925"/>
            <a:ext cx="20574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F50F87D-494B-4C9A-850C-226E66F44573}"/>
              </a:ext>
            </a:extLst>
          </p:cNvPr>
          <p:cNvSpPr>
            <a:spLocks noGrp="1"/>
          </p:cNvSpPr>
          <p:nvPr/>
        </p:nvSpPr>
        <p:spPr>
          <a:xfrm>
            <a:off x="9544050" y="28575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missing file, top, clock, reset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C360DD4-7CFE-4CC7-95F6-63A6662607B4}"/>
              </a:ext>
            </a:extLst>
          </p:cNvPr>
          <p:cNvSpPr>
            <a:spLocks noGrp="1"/>
          </p:cNvSpPr>
          <p:nvPr/>
        </p:nvSpPr>
        <p:spPr>
          <a:xfrm>
            <a:off x="7086600" y="3343275"/>
            <a:ext cx="10668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0135991-5CA0-45A7-8168-0F9EF0CD3779}"/>
              </a:ext>
            </a:extLst>
          </p:cNvPr>
          <p:cNvSpPr>
            <a:spLocks noGrp="1"/>
          </p:cNvSpPr>
          <p:nvPr/>
        </p:nvSpPr>
        <p:spPr>
          <a:xfrm>
            <a:off x="7181850" y="3371850"/>
            <a:ext cx="876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C61FCD1D-53B9-4CD6-A84F-8730B6F09BC0}"/>
              </a:ext>
            </a:extLst>
          </p:cNvPr>
          <p:cNvSpPr>
            <a:spLocks noGrp="1"/>
          </p:cNvSpPr>
          <p:nvPr/>
        </p:nvSpPr>
        <p:spPr>
          <a:xfrm>
            <a:off x="8153400" y="3343275"/>
            <a:ext cx="12954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C61785B-99D7-45BE-AA81-39708860013D}"/>
              </a:ext>
            </a:extLst>
          </p:cNvPr>
          <p:cNvSpPr>
            <a:spLocks noGrp="1"/>
          </p:cNvSpPr>
          <p:nvPr/>
        </p:nvSpPr>
        <p:spPr>
          <a:xfrm>
            <a:off x="8248650" y="337185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resolved config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81A9337-5444-40AC-BF7E-68054B356F60}"/>
              </a:ext>
            </a:extLst>
          </p:cNvPr>
          <p:cNvSpPr>
            <a:spLocks noGrp="1"/>
          </p:cNvSpPr>
          <p:nvPr/>
        </p:nvSpPr>
        <p:spPr>
          <a:xfrm>
            <a:off x="9448800" y="3343275"/>
            <a:ext cx="20574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D730A26-2380-46AF-ADC8-9B8515C5659F}"/>
              </a:ext>
            </a:extLst>
          </p:cNvPr>
          <p:cNvSpPr>
            <a:spLocks noGrp="1"/>
          </p:cNvSpPr>
          <p:nvPr/>
        </p:nvSpPr>
        <p:spPr>
          <a:xfrm>
            <a:off x="9544050" y="337185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unknown role or unresolved port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99CB5B69-2BAB-4862-A5BB-1C2CFF8E4EC2}"/>
              </a:ext>
            </a:extLst>
          </p:cNvPr>
          <p:cNvSpPr>
            <a:spLocks noGrp="1"/>
          </p:cNvSpPr>
          <p:nvPr/>
        </p:nvSpPr>
        <p:spPr>
          <a:xfrm>
            <a:off x="7086600" y="3857625"/>
            <a:ext cx="10668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832D567-DCBB-4945-8FBE-324D12246425}"/>
              </a:ext>
            </a:extLst>
          </p:cNvPr>
          <p:cNvSpPr>
            <a:spLocks noGrp="1"/>
          </p:cNvSpPr>
          <p:nvPr/>
        </p:nvSpPr>
        <p:spPr>
          <a:xfrm>
            <a:off x="7181850" y="3886200"/>
            <a:ext cx="876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08D79A1-91EC-4F8B-93CA-D3033B76C61D}"/>
              </a:ext>
            </a:extLst>
          </p:cNvPr>
          <p:cNvSpPr>
            <a:spLocks noGrp="1"/>
          </p:cNvSpPr>
          <p:nvPr/>
        </p:nvSpPr>
        <p:spPr>
          <a:xfrm>
            <a:off x="8153400" y="3857625"/>
            <a:ext cx="12954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A0702921-AD4B-4D7B-AA03-32439AB0ABA4}"/>
              </a:ext>
            </a:extLst>
          </p:cNvPr>
          <p:cNvSpPr>
            <a:spLocks noGrp="1"/>
          </p:cNvSpPr>
          <p:nvPr/>
        </p:nvSpPr>
        <p:spPr>
          <a:xfrm>
            <a:off x="8248650" y="388620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BBD08B0-68B3-49ED-A17F-99A12C7ACDA8}"/>
              </a:ext>
            </a:extLst>
          </p:cNvPr>
          <p:cNvSpPr>
            <a:spLocks noGrp="1"/>
          </p:cNvSpPr>
          <p:nvPr/>
        </p:nvSpPr>
        <p:spPr>
          <a:xfrm>
            <a:off x="9448800" y="3857625"/>
            <a:ext cx="20574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72CE81E4-A519-4217-9DE8-D394B957B3C9}"/>
              </a:ext>
            </a:extLst>
          </p:cNvPr>
          <p:cNvSpPr>
            <a:spLocks noGrp="1"/>
          </p:cNvSpPr>
          <p:nvPr/>
        </p:nvSpPr>
        <p:spPr>
          <a:xfrm>
            <a:off x="9544050" y="38862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DRC or hierarchy failure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1543B47-F8AF-4394-BCBE-4C7F88AF101B}"/>
              </a:ext>
            </a:extLst>
          </p:cNvPr>
          <p:cNvSpPr>
            <a:spLocks noGrp="1"/>
          </p:cNvSpPr>
          <p:nvPr/>
        </p:nvSpPr>
        <p:spPr>
          <a:xfrm>
            <a:off x="7086600" y="4371975"/>
            <a:ext cx="10668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C67D4EA-C0F1-4E3E-B9F8-7975547FEC5F}"/>
              </a:ext>
            </a:extLst>
          </p:cNvPr>
          <p:cNvSpPr>
            <a:spLocks noGrp="1"/>
          </p:cNvSpPr>
          <p:nvPr/>
        </p:nvSpPr>
        <p:spPr>
          <a:xfrm>
            <a:off x="7181850" y="4400550"/>
            <a:ext cx="876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5E4F9A8E-5AD0-41D2-A5F8-896BFEAA30C3}"/>
              </a:ext>
            </a:extLst>
          </p:cNvPr>
          <p:cNvSpPr>
            <a:spLocks noGrp="1"/>
          </p:cNvSpPr>
          <p:nvPr/>
        </p:nvSpPr>
        <p:spPr>
          <a:xfrm>
            <a:off x="8153400" y="4371975"/>
            <a:ext cx="12954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82AE36-F759-4923-99F6-344726BD9791}"/>
              </a:ext>
            </a:extLst>
          </p:cNvPr>
          <p:cNvSpPr>
            <a:spLocks noGrp="1"/>
          </p:cNvSpPr>
          <p:nvPr/>
        </p:nvSpPr>
        <p:spPr>
          <a:xfrm>
            <a:off x="8248650" y="440055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+ TSDB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9F8E526-C032-424C-B410-CE75FE54263B}"/>
              </a:ext>
            </a:extLst>
          </p:cNvPr>
          <p:cNvSpPr>
            <a:spLocks noGrp="1"/>
          </p:cNvSpPr>
          <p:nvPr/>
        </p:nvSpPr>
        <p:spPr>
          <a:xfrm>
            <a:off x="9448800" y="4371975"/>
            <a:ext cx="2057400" cy="5143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8DC96B16-ACEF-4638-997F-19F16AE563B5}"/>
              </a:ext>
            </a:extLst>
          </p:cNvPr>
          <p:cNvSpPr>
            <a:spLocks noGrp="1"/>
          </p:cNvSpPr>
          <p:nvPr/>
        </p:nvSpPr>
        <p:spPr>
          <a:xfrm>
            <a:off x="9544050" y="440055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no-source / no-destination path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19CA959-F02D-4305-95E2-98E22E7D68C5}"/>
              </a:ext>
            </a:extLst>
          </p:cNvPr>
          <p:cNvSpPr>
            <a:spLocks noGrp="1"/>
          </p:cNvSpPr>
          <p:nvPr/>
        </p:nvSpPr>
        <p:spPr>
          <a:xfrm>
            <a:off x="7086600" y="4886325"/>
            <a:ext cx="10668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0251E376-358F-4455-BB1F-BD1305346BDE}"/>
              </a:ext>
            </a:extLst>
          </p:cNvPr>
          <p:cNvSpPr>
            <a:spLocks noGrp="1"/>
          </p:cNvSpPr>
          <p:nvPr/>
        </p:nvSpPr>
        <p:spPr>
          <a:xfrm>
            <a:off x="7181850" y="4914900"/>
            <a:ext cx="876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3CAE1D48-5BBA-43F6-B0BA-38F0BCB42F00}"/>
              </a:ext>
            </a:extLst>
          </p:cNvPr>
          <p:cNvSpPr>
            <a:spLocks noGrp="1"/>
          </p:cNvSpPr>
          <p:nvPr/>
        </p:nvSpPr>
        <p:spPr>
          <a:xfrm>
            <a:off x="8153400" y="4886325"/>
            <a:ext cx="12954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76560B28-6F77-4F7A-9C96-63BD848284C1}"/>
              </a:ext>
            </a:extLst>
          </p:cNvPr>
          <p:cNvSpPr>
            <a:spLocks noGrp="1"/>
          </p:cNvSpPr>
          <p:nvPr/>
        </p:nvSpPr>
        <p:spPr>
          <a:xfrm>
            <a:off x="8248650" y="4914900"/>
            <a:ext cx="1104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 + sim log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3F30BF8-6BE3-4F89-80B4-FAC0DEEB742A}"/>
              </a:ext>
            </a:extLst>
          </p:cNvPr>
          <p:cNvSpPr>
            <a:spLocks noGrp="1"/>
          </p:cNvSpPr>
          <p:nvPr/>
        </p:nvSpPr>
        <p:spPr>
          <a:xfrm>
            <a:off x="9448800" y="4886325"/>
            <a:ext cx="2057400" cy="5143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D004646B-61ED-4458-82BD-66F821B5E008}"/>
              </a:ext>
            </a:extLst>
          </p:cNvPr>
          <p:cNvSpPr>
            <a:spLocks noGrp="1"/>
          </p:cNvSpPr>
          <p:nvPr/>
        </p:nvSpPr>
        <p:spPr>
          <a:xfrm>
            <a:off x="9544050" y="4914900"/>
            <a:ext cx="186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unreachable TDR or care mismatch</a:t>
            </a:r>
          </a:p>
        </p:txBody>
      </p:sp>
      <p:sp>
        <p:nvSpPr>
          <p:cNvPr id="85" name="直線接點 84">
            <a:extLst>
              <a:ext uri="{FF2B5EF4-FFF2-40B4-BE49-F238E27FC236}">
                <a16:creationId xmlns:a16="http://schemas.microsoft.com/office/drawing/2014/main" id="{92C0E152-8F9C-4C96-B33F-3ED28B927618}"/>
              </a:ext>
            </a:extLst>
          </p:cNvPr>
          <p:cNvSpPr>
            <a:spLocks noGrp="1"/>
          </p:cNvSpPr>
          <p:nvPr/>
        </p:nvSpPr>
        <p:spPr>
          <a:xfrm>
            <a:off x="7086600" y="5753100"/>
            <a:ext cx="1257300" cy="0"/>
          </a:xfrm>
          <a:prstGeom prst="line">
            <a:avLst/>
          </a:prstGeom>
          <a:noFill/>
          <a:ln w="38100">
            <a:solidFill>
              <a:srgbClr val="B94A48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68951AA-38AE-419D-9E92-C202A5382167}"/>
              </a:ext>
            </a:extLst>
          </p:cNvPr>
          <p:cNvSpPr>
            <a:spLocks noGrp="1"/>
          </p:cNvSpPr>
          <p:nvPr/>
        </p:nvSpPr>
        <p:spPr>
          <a:xfrm>
            <a:off x="7086600" y="5591175"/>
            <a:ext cx="1257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FAIL FAST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4187AC1-4501-49F4-9C41-A81B4965BBCF}"/>
              </a:ext>
            </a:extLst>
          </p:cNvPr>
          <p:cNvSpPr>
            <a:spLocks noGrp="1"/>
          </p:cNvSpPr>
          <p:nvPr/>
        </p:nvSpPr>
        <p:spPr>
          <a:xfrm>
            <a:off x="8515350" y="561022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088" lnSpcReduction="20000"/>
          </a:bodyPr>
          <a:lstStyle/>
          <a:p>
            <a:pPr algn="l">
              <a:lnSpc>
                <a:spcPct val="102000"/>
              </a:lnSpc>
              <a:buNone/>
              <a:defRPr sz="127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No downstream artifact is promoted after a failed gate.</a:t>
            </a:r>
          </a:p>
        </p:txBody>
      </p:sp>
      <p:sp>
        <p:nvSpPr>
          <p:cNvPr id="88" name="直線接點 87">
            <a:extLst>
              <a:ext uri="{FF2B5EF4-FFF2-40B4-BE49-F238E27FC236}">
                <a16:creationId xmlns:a16="http://schemas.microsoft.com/office/drawing/2014/main" id="{4656AAEA-5B0E-4C69-8322-88749EA2FE00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0B6B9E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948AF0F-8F9B-4133-B44E-FF1AB5ECEE4A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flow is deterministic: same inputs, same stages, same evidence package.</a:t>
            </a:r>
          </a:p>
        </p:txBody>
      </p:sp>
      <p:sp>
        <p:nvSpPr>
          <p:cNvPr id="90" name="直線接點 89">
            <a:extLst>
              <a:ext uri="{FF2B5EF4-FFF2-40B4-BE49-F238E27FC236}">
                <a16:creationId xmlns:a16="http://schemas.microsoft.com/office/drawing/2014/main" id="{820A66F5-3A47-43E4-AF5F-D1B634FD8BC6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390DE14E-2A42-4C34-A003-63CE3BB92E09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2724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C5A3202-6328-496C-B179-87224571D7DC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C.2 · GRADUATE DESIGN QUALITY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EA5DC9-DC92-4C18-832C-63E29DD7F9CD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3E2DB515-A5DF-4AEC-861B-2B528B217D23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1392" lnSpcReduction="2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Quality gates distinguish “tool completed” from “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access proven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.”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9C291EC-F481-4852-A702-336B34F37A66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847206-957D-4F3F-8E6F-E2B7DA97749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781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SIX QUALITY GATES · REPORT → VALIDATE → EXTRACT → RETARGET → SIMULATE → RERUN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ED784A0-DC83-4AEB-A28E-3695C0BC8881}"/>
              </a:ext>
            </a:extLst>
          </p:cNvPr>
          <p:cNvSpPr>
            <a:spLocks noGrp="1"/>
          </p:cNvSpPr>
          <p:nvPr/>
        </p:nvSpPr>
        <p:spPr>
          <a:xfrm>
            <a:off x="609600" y="3301175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GENERATION SUCCESS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554208B-F902-4DDC-B835-AC2ABC648C61}"/>
              </a:ext>
            </a:extLst>
          </p:cNvPr>
          <p:cNvSpPr>
            <a:spLocks noGrp="1"/>
          </p:cNvSpPr>
          <p:nvPr/>
        </p:nvSpPr>
        <p:spPr>
          <a:xfrm>
            <a:off x="609600" y="5030725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ACCESS + REPRODUCIBILITY</a:t>
            </a:r>
          </a:p>
        </p:txBody>
      </p:sp>
      <p:sp>
        <p:nvSpPr>
          <p:cNvPr id="80" name="直線接點 79">
            <a:extLst>
              <a:ext uri="{FF2B5EF4-FFF2-40B4-BE49-F238E27FC236}">
                <a16:creationId xmlns:a16="http://schemas.microsoft.com/office/drawing/2014/main" id="{86D164F0-7CD7-4EE8-B677-A3D8405E1CDE}"/>
              </a:ext>
            </a:extLst>
          </p:cNvPr>
          <p:cNvSpPr>
            <a:spLocks noGrp="1"/>
          </p:cNvSpPr>
          <p:nvPr/>
        </p:nvSpPr>
        <p:spPr>
          <a:xfrm>
            <a:off x="552450" y="5440275"/>
            <a:ext cx="38100" cy="285750"/>
          </a:xfrm>
          <a:prstGeom prst="line">
            <a:avLst/>
          </a:prstGeom>
          <a:noFill/>
          <a:ln w="38100">
            <a:solidFill>
              <a:srgbClr val="D96B30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CE7CE74-A95F-4011-8CD2-E15596BBC0AE}"/>
              </a:ext>
            </a:extLst>
          </p:cNvPr>
          <p:cNvSpPr>
            <a:spLocks noGrp="1"/>
          </p:cNvSpPr>
          <p:nvPr/>
        </p:nvSpPr>
        <p:spPr>
          <a:xfrm>
            <a:off x="723900" y="54307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652"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 successful command is only an intermediate state; acceptance requires structural and behavioral evidence.</a:t>
            </a:r>
          </a:p>
        </p:txBody>
      </p:sp>
      <p:sp>
        <p:nvSpPr>
          <p:cNvPr id="82" name="直線接點 81">
            <a:extLst>
              <a:ext uri="{FF2B5EF4-FFF2-40B4-BE49-F238E27FC236}">
                <a16:creationId xmlns:a16="http://schemas.microsoft.com/office/drawing/2014/main" id="{5FB0D15D-10B6-415F-9752-F3EFA1A71793}"/>
              </a:ext>
            </a:extLst>
          </p:cNvPr>
          <p:cNvSpPr>
            <a:spLocks noGrp="1"/>
          </p:cNvSpPr>
          <p:nvPr/>
        </p:nvSpPr>
        <p:spPr>
          <a:xfrm>
            <a:off x="552450" y="58879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3E923D2-E4FF-4654-8EE9-92ECEF76B2B4}"/>
              </a:ext>
            </a:extLst>
          </p:cNvPr>
          <p:cNvSpPr>
            <a:spLocks noGrp="1"/>
          </p:cNvSpPr>
          <p:nvPr/>
        </p:nvSpPr>
        <p:spPr>
          <a:xfrm>
            <a:off x="552450" y="59736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  <p:sp>
        <p:nvSpPr>
          <p:cNvPr id="84" name="gate-card-bg">
            <a:extLst>
              <a:ext uri="{FF2B5EF4-FFF2-40B4-BE49-F238E27FC236}">
                <a16:creationId xmlns:a16="http://schemas.microsoft.com/office/drawing/2014/main" id="{B98DB251-5D7D-473D-8372-547CB3FBA64D}"/>
              </a:ext>
            </a:extLst>
          </p:cNvPr>
          <p:cNvSpPr>
            <a:spLocks noGrp="1"/>
          </p:cNvSpPr>
          <p:nvPr/>
        </p:nvSpPr>
        <p:spPr>
          <a:xfrm>
            <a:off x="609600" y="1931175"/>
            <a:ext cx="3457600" cy="1250000"/>
          </a:xfrm>
          <a:prstGeom prst="roundRect">
            <a:avLst>
              <a:gd name="adj" fmla="val 7937"/>
            </a:avLst>
          </a:prstGeom>
          <a:solidFill>
            <a:srgbClr val="F6F8F9"/>
          </a:solidFill>
          <a:ln w="11430">
            <a:solidFill>
              <a:srgbClr val="5E6D78"/>
            </a:solidFill>
            <a:prstDash val="solid"/>
          </a:ln>
        </p:spPr>
      </p:sp>
      <p:sp>
        <p:nvSpPr>
          <p:cNvPr id="85" name="gate-card-title">
            <a:extLst>
              <a:ext uri="{FF2B5EF4-FFF2-40B4-BE49-F238E27FC236}">
                <a16:creationId xmlns:a16="http://schemas.microsoft.com/office/drawing/2014/main" id="{93CA7B70-52A8-4543-9B10-4782AFFDB6AD}"/>
              </a:ext>
            </a:extLst>
          </p:cNvPr>
          <p:cNvSpPr>
            <a:spLocks noGrp="1"/>
          </p:cNvSpPr>
          <p:nvPr/>
        </p:nvSpPr>
        <p:spPr>
          <a:xfrm>
            <a:off x="762000" y="2045475"/>
            <a:ext cx="31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01 REPORT</a:t>
            </a:r>
          </a:p>
        </p:txBody>
      </p:sp>
      <p:sp>
        <p:nvSpPr>
          <p:cNvPr id="86" name="gate-card-caption">
            <a:extLst>
              <a:ext uri="{FF2B5EF4-FFF2-40B4-BE49-F238E27FC236}">
                <a16:creationId xmlns:a16="http://schemas.microsoft.com/office/drawing/2014/main" id="{5E6001FE-D0E3-4A04-AD80-44643EB23680}"/>
              </a:ext>
            </a:extLst>
          </p:cNvPr>
          <p:cNvSpPr>
            <a:spLocks noGrp="1"/>
          </p:cNvSpPr>
          <p:nvPr/>
        </p:nvSpPr>
        <p:spPr>
          <a:xfrm>
            <a:off x="762000" y="2445525"/>
            <a:ext cx="315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1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Expected hosts, SIBs, TDRs, and ports are present.</a:t>
            </a:r>
          </a:p>
        </p:txBody>
      </p:sp>
      <p:sp>
        <p:nvSpPr>
          <p:cNvPr id="87" name="gate-card-bg">
            <a:extLst>
              <a:ext uri="{FF2B5EF4-FFF2-40B4-BE49-F238E27FC236}">
                <a16:creationId xmlns:a16="http://schemas.microsoft.com/office/drawing/2014/main" id="{DB455621-0F7B-4BE6-8C13-D0C8B2C80B3B}"/>
              </a:ext>
            </a:extLst>
          </p:cNvPr>
          <p:cNvSpPr>
            <a:spLocks noGrp="1"/>
          </p:cNvSpPr>
          <p:nvPr/>
        </p:nvSpPr>
        <p:spPr>
          <a:xfrm>
            <a:off x="4367200" y="1931175"/>
            <a:ext cx="3457600" cy="1250000"/>
          </a:xfrm>
          <a:prstGeom prst="roundRect">
            <a:avLst>
              <a:gd name="adj" fmla="val 7937"/>
            </a:avLst>
          </a:prstGeom>
          <a:solidFill>
            <a:srgbClr val="EDF5F8"/>
          </a:solidFill>
          <a:ln w="11430">
            <a:solidFill>
              <a:srgbClr val="0B6B9E"/>
            </a:solidFill>
            <a:prstDash val="solid"/>
          </a:ln>
        </p:spPr>
      </p:sp>
      <p:sp>
        <p:nvSpPr>
          <p:cNvPr id="88" name="gate-card-title">
            <a:extLst>
              <a:ext uri="{FF2B5EF4-FFF2-40B4-BE49-F238E27FC236}">
                <a16:creationId xmlns:a16="http://schemas.microsoft.com/office/drawing/2014/main" id="{CF6E07D5-EFC0-4F6E-A5EB-468D38FD51B0}"/>
              </a:ext>
            </a:extLst>
          </p:cNvPr>
          <p:cNvSpPr>
            <a:spLocks noGrp="1"/>
          </p:cNvSpPr>
          <p:nvPr/>
        </p:nvSpPr>
        <p:spPr>
          <a:xfrm>
            <a:off x="4519600" y="2045475"/>
            <a:ext cx="31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02 VALIDATE</a:t>
            </a:r>
          </a:p>
        </p:txBody>
      </p:sp>
      <p:sp>
        <p:nvSpPr>
          <p:cNvPr id="89" name="gate-card-caption">
            <a:extLst>
              <a:ext uri="{FF2B5EF4-FFF2-40B4-BE49-F238E27FC236}">
                <a16:creationId xmlns:a16="http://schemas.microsoft.com/office/drawing/2014/main" id="{148B5AA8-C992-41F2-B83D-3A4222E7016A}"/>
              </a:ext>
            </a:extLst>
          </p:cNvPr>
          <p:cNvSpPr>
            <a:spLocks noGrp="1"/>
          </p:cNvSpPr>
          <p:nvPr/>
        </p:nvSpPr>
        <p:spPr>
          <a:xfrm>
            <a:off x="4519600" y="2445525"/>
            <a:ext cx="315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1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No illegal host, unconnected source, or unresolved destination.</a:t>
            </a:r>
          </a:p>
        </p:txBody>
      </p:sp>
      <p:sp>
        <p:nvSpPr>
          <p:cNvPr id="90" name="gate-card-bg">
            <a:extLst>
              <a:ext uri="{FF2B5EF4-FFF2-40B4-BE49-F238E27FC236}">
                <a16:creationId xmlns:a16="http://schemas.microsoft.com/office/drawing/2014/main" id="{231D5012-74CC-4E68-8D23-8FED13BF8209}"/>
              </a:ext>
            </a:extLst>
          </p:cNvPr>
          <p:cNvSpPr>
            <a:spLocks noGrp="1"/>
          </p:cNvSpPr>
          <p:nvPr/>
        </p:nvSpPr>
        <p:spPr>
          <a:xfrm>
            <a:off x="8124800" y="1931175"/>
            <a:ext cx="3457600" cy="1250000"/>
          </a:xfrm>
          <a:prstGeom prst="roundRect">
            <a:avLst>
              <a:gd name="adj" fmla="val 7937"/>
            </a:avLst>
          </a:prstGeom>
          <a:solidFill>
            <a:srgbClr val="E9F4F7"/>
          </a:solidFill>
          <a:ln w="11430">
            <a:solidFill>
              <a:srgbClr val="3A91B3"/>
            </a:solidFill>
            <a:prstDash val="solid"/>
          </a:ln>
        </p:spPr>
      </p:sp>
      <p:sp>
        <p:nvSpPr>
          <p:cNvPr id="91" name="gate-card-title">
            <a:extLst>
              <a:ext uri="{FF2B5EF4-FFF2-40B4-BE49-F238E27FC236}">
                <a16:creationId xmlns:a16="http://schemas.microsoft.com/office/drawing/2014/main" id="{CA87B168-0048-4E85-894B-31C0BCD1B956}"/>
              </a:ext>
            </a:extLst>
          </p:cNvPr>
          <p:cNvSpPr>
            <a:spLocks noGrp="1"/>
          </p:cNvSpPr>
          <p:nvPr/>
        </p:nvSpPr>
        <p:spPr>
          <a:xfrm>
            <a:off x="8277200" y="2045475"/>
            <a:ext cx="31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03 EXTRACT</a:t>
            </a:r>
          </a:p>
        </p:txBody>
      </p:sp>
      <p:sp>
        <p:nvSpPr>
          <p:cNvPr id="92" name="gate-card-caption">
            <a:extLst>
              <a:ext uri="{FF2B5EF4-FFF2-40B4-BE49-F238E27FC236}">
                <a16:creationId xmlns:a16="http://schemas.microsoft.com/office/drawing/2014/main" id="{4791C427-30EE-49C9-82D6-9A2625744571}"/>
              </a:ext>
            </a:extLst>
          </p:cNvPr>
          <p:cNvSpPr>
            <a:spLocks noGrp="1"/>
          </p:cNvSpPr>
          <p:nvPr/>
        </p:nvSpPr>
        <p:spPr>
          <a:xfrm>
            <a:off x="8277200" y="2445525"/>
            <a:ext cx="315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1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ICL paths and ports match the post-DFT hardware hierarchy.</a:t>
            </a:r>
          </a:p>
        </p:txBody>
      </p:sp>
      <p:sp>
        <p:nvSpPr>
          <p:cNvPr id="93" name="gate-card-bg">
            <a:extLst>
              <a:ext uri="{FF2B5EF4-FFF2-40B4-BE49-F238E27FC236}">
                <a16:creationId xmlns:a16="http://schemas.microsoft.com/office/drawing/2014/main" id="{AE54C351-331F-42C2-B69E-ACD1651380B1}"/>
              </a:ext>
            </a:extLst>
          </p:cNvPr>
          <p:cNvSpPr>
            <a:spLocks noGrp="1"/>
          </p:cNvSpPr>
          <p:nvPr/>
        </p:nvSpPr>
        <p:spPr>
          <a:xfrm>
            <a:off x="609600" y="3660725"/>
            <a:ext cx="3457600" cy="1250000"/>
          </a:xfrm>
          <a:prstGeom prst="roundRect">
            <a:avLst>
              <a:gd name="adj" fmla="val 7937"/>
            </a:avLst>
          </a:prstGeom>
          <a:solidFill>
            <a:srgbClr val="EEF6F0"/>
          </a:solidFill>
          <a:ln w="11430">
            <a:solidFill>
              <a:srgbClr val="1F7B72"/>
            </a:solidFill>
            <a:prstDash val="solid"/>
          </a:ln>
        </p:spPr>
      </p:sp>
      <p:sp>
        <p:nvSpPr>
          <p:cNvPr id="94" name="gate-card-title">
            <a:extLst>
              <a:ext uri="{FF2B5EF4-FFF2-40B4-BE49-F238E27FC236}">
                <a16:creationId xmlns:a16="http://schemas.microsoft.com/office/drawing/2014/main" id="{59944FC7-6E81-4306-A84C-962B1FBCB76E}"/>
              </a:ext>
            </a:extLst>
          </p:cNvPr>
          <p:cNvSpPr>
            <a:spLocks noGrp="1"/>
          </p:cNvSpPr>
          <p:nvPr/>
        </p:nvSpPr>
        <p:spPr>
          <a:xfrm>
            <a:off x="762000" y="3775025"/>
            <a:ext cx="31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04 RETARGET</a:t>
            </a:r>
          </a:p>
        </p:txBody>
      </p:sp>
      <p:sp>
        <p:nvSpPr>
          <p:cNvPr id="95" name="gate-card-caption">
            <a:extLst>
              <a:ext uri="{FF2B5EF4-FFF2-40B4-BE49-F238E27FC236}">
                <a16:creationId xmlns:a16="http://schemas.microsoft.com/office/drawing/2014/main" id="{8679E930-1234-43AC-A8A5-A4703295E54B}"/>
              </a:ext>
            </a:extLst>
          </p:cNvPr>
          <p:cNvSpPr>
            <a:spLocks noGrp="1"/>
          </p:cNvSpPr>
          <p:nvPr/>
        </p:nvSpPr>
        <p:spPr>
          <a:xfrm>
            <a:off x="762000" y="4175075"/>
            <a:ext cx="315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1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Reachable / declared instruments = 100%.</a:t>
            </a:r>
          </a:p>
        </p:txBody>
      </p:sp>
      <p:sp>
        <p:nvSpPr>
          <p:cNvPr id="96" name="gate-card-bg">
            <a:extLst>
              <a:ext uri="{FF2B5EF4-FFF2-40B4-BE49-F238E27FC236}">
                <a16:creationId xmlns:a16="http://schemas.microsoft.com/office/drawing/2014/main" id="{63102ACF-EA09-47CF-A158-DC07C2FB5942}"/>
              </a:ext>
            </a:extLst>
          </p:cNvPr>
          <p:cNvSpPr>
            <a:spLocks noGrp="1"/>
          </p:cNvSpPr>
          <p:nvPr/>
        </p:nvSpPr>
        <p:spPr>
          <a:xfrm>
            <a:off x="4367200" y="3660725"/>
            <a:ext cx="3457600" cy="1250000"/>
          </a:xfrm>
          <a:prstGeom prst="roundRect">
            <a:avLst>
              <a:gd name="adj" fmla="val 7937"/>
            </a:avLst>
          </a:prstGeom>
          <a:solidFill>
            <a:srgbClr val="FBF0EA"/>
          </a:solidFill>
          <a:ln w="11430">
            <a:solidFill>
              <a:srgbClr val="D96B30"/>
            </a:solidFill>
            <a:prstDash val="solid"/>
          </a:ln>
        </p:spPr>
      </p:sp>
      <p:sp>
        <p:nvSpPr>
          <p:cNvPr id="97" name="gate-card-title">
            <a:extLst>
              <a:ext uri="{FF2B5EF4-FFF2-40B4-BE49-F238E27FC236}">
                <a16:creationId xmlns:a16="http://schemas.microsoft.com/office/drawing/2014/main" id="{4559694E-B30F-48D2-88B8-43599238CB23}"/>
              </a:ext>
            </a:extLst>
          </p:cNvPr>
          <p:cNvSpPr>
            <a:spLocks noGrp="1"/>
          </p:cNvSpPr>
          <p:nvPr/>
        </p:nvSpPr>
        <p:spPr>
          <a:xfrm>
            <a:off x="4519600" y="3775025"/>
            <a:ext cx="31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05 SIMULATE</a:t>
            </a:r>
          </a:p>
        </p:txBody>
      </p:sp>
      <p:sp>
        <p:nvSpPr>
          <p:cNvPr id="98" name="gate-card-caption">
            <a:extLst>
              <a:ext uri="{FF2B5EF4-FFF2-40B4-BE49-F238E27FC236}">
                <a16:creationId xmlns:a16="http://schemas.microsoft.com/office/drawing/2014/main" id="{8122A0C9-1930-496A-88CC-809EA7260DAE}"/>
              </a:ext>
            </a:extLst>
          </p:cNvPr>
          <p:cNvSpPr>
            <a:spLocks noGrp="1"/>
          </p:cNvSpPr>
          <p:nvPr/>
        </p:nvSpPr>
        <p:spPr>
          <a:xfrm>
            <a:off x="4519600" y="4175075"/>
            <a:ext cx="315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1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Care-bit mismatch = 0 and expected TDR value is observed.</a:t>
            </a:r>
          </a:p>
        </p:txBody>
      </p:sp>
      <p:sp>
        <p:nvSpPr>
          <p:cNvPr id="99" name="gate-card-bg">
            <a:extLst>
              <a:ext uri="{FF2B5EF4-FFF2-40B4-BE49-F238E27FC236}">
                <a16:creationId xmlns:a16="http://schemas.microsoft.com/office/drawing/2014/main" id="{3DF74B37-E020-4289-BBA5-596E0E57590C}"/>
              </a:ext>
            </a:extLst>
          </p:cNvPr>
          <p:cNvSpPr>
            <a:spLocks noGrp="1"/>
          </p:cNvSpPr>
          <p:nvPr/>
        </p:nvSpPr>
        <p:spPr>
          <a:xfrm>
            <a:off x="8124800" y="3660725"/>
            <a:ext cx="3457600" cy="1250000"/>
          </a:xfrm>
          <a:prstGeom prst="roundRect">
            <a:avLst>
              <a:gd name="adj" fmla="val 7937"/>
            </a:avLst>
          </a:prstGeom>
          <a:solidFill>
            <a:srgbClr val="F6F8F9"/>
          </a:solidFill>
          <a:ln w="11430">
            <a:solidFill>
              <a:srgbClr val="5E6D78"/>
            </a:solidFill>
            <a:prstDash val="solid"/>
          </a:ln>
        </p:spPr>
      </p:sp>
      <p:sp>
        <p:nvSpPr>
          <p:cNvPr id="100" name="gate-card-title">
            <a:extLst>
              <a:ext uri="{FF2B5EF4-FFF2-40B4-BE49-F238E27FC236}">
                <a16:creationId xmlns:a16="http://schemas.microsoft.com/office/drawing/2014/main" id="{C3F8BE79-354B-4F43-8CFE-7024C442BAC6}"/>
              </a:ext>
            </a:extLst>
          </p:cNvPr>
          <p:cNvSpPr>
            <a:spLocks noGrp="1"/>
          </p:cNvSpPr>
          <p:nvPr/>
        </p:nvSpPr>
        <p:spPr>
          <a:xfrm>
            <a:off x="8277200" y="3775025"/>
            <a:ext cx="3152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4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06 RERUN</a:t>
            </a:r>
          </a:p>
        </p:txBody>
      </p:sp>
      <p:sp>
        <p:nvSpPr>
          <p:cNvPr id="101" name="gate-card-caption">
            <a:extLst>
              <a:ext uri="{FF2B5EF4-FFF2-40B4-BE49-F238E27FC236}">
                <a16:creationId xmlns:a16="http://schemas.microsoft.com/office/drawing/2014/main" id="{C93A8E75-1338-44CF-B6CD-0FE5C76FE726}"/>
              </a:ext>
            </a:extLst>
          </p:cNvPr>
          <p:cNvSpPr>
            <a:spLocks noGrp="1"/>
          </p:cNvSpPr>
          <p:nvPr/>
        </p:nvSpPr>
        <p:spPr>
          <a:xfrm>
            <a:off x="8277200" y="4175075"/>
            <a:ext cx="3152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15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15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Same manifest reproduces reachable targets and 0 care-bit mismatch.</a:t>
            </a:r>
          </a:p>
        </p:txBody>
      </p:sp>
    </p:spTree>
    <p:extLst>
      <p:ext uri="{BB962C8B-B14F-4D97-AF65-F5344CB8AC3E}">
        <p14:creationId xmlns:p14="http://schemas.microsoft.com/office/powerpoint/2010/main" val="1098666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945A733-DB78-4ED8-A1CD-BB947198EB06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C.2.1 · TOPOLOGY REASONING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FA2A71-9859-4456-AC48-BCAB8D280521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slide-8-title">
            <a:extLst>
              <a:ext uri="{FF2B5EF4-FFF2-40B4-BE49-F238E27FC236}">
                <a16:creationId xmlns:a16="http://schemas.microsoft.com/office/drawing/2014/main" id="{A6805179-5C23-46AB-A772-F091E74A01AA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167" lnSpcReduction="2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HostIjtag + HostStap fix demonstrates topology-level design reasoning.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50C944B2-8613-46D3-9B24-E8F73CDBAA7F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D8EF5C6-39B1-4F5F-A852-A96D549763F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BEFORE · TWO INDEPENDENT ACCESS ROOTS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0A328EB-957B-4060-B6A7-C14F169FE36B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838200" cy="419100"/>
          </a:xfrm>
          <a:prstGeom prst="roundRect">
            <a:avLst>
              <a:gd name="adj" fmla="val 27273"/>
            </a:avLst>
          </a:prstGeom>
          <a:solidFill>
            <a:srgbClr val="FAEEEE"/>
          </a:solidFill>
          <a:ln w="11430">
            <a:solidFill>
              <a:srgbClr val="B94A48"/>
            </a:solidFill>
            <a:prstDash val="solid"/>
          </a:ln>
        </p:spPr>
        <p:txBody>
          <a:bodyPr wrap="square" lIns="114300" tIns="76200" rIns="114300" bIns="76200" anchor="ctr">
            <a:normAutofit fontScale="97086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TAP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EFB5880-7C49-4FF4-8094-BB2801534644}"/>
              </a:ext>
            </a:extLst>
          </p:cNvPr>
          <p:cNvSpPr>
            <a:spLocks noGrp="1"/>
          </p:cNvSpPr>
          <p:nvPr/>
        </p:nvSpPr>
        <p:spPr>
          <a:xfrm>
            <a:off x="2095500" y="1924050"/>
            <a:ext cx="15811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1430">
            <a:solidFill>
              <a:srgbClr val="B94A48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HostIjtag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B6B1CA05-79FD-4D14-97FB-C8D3ED85B266}"/>
              </a:ext>
            </a:extLst>
          </p:cNvPr>
          <p:cNvSpPr>
            <a:spLocks noGrp="1"/>
          </p:cNvSpPr>
          <p:nvPr/>
        </p:nvSpPr>
        <p:spPr>
          <a:xfrm>
            <a:off x="2095500" y="2819400"/>
            <a:ext cx="15811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1430">
            <a:solidFill>
              <a:srgbClr val="D96B30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HostStap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BCBC1DE-B138-4225-8A2E-B8DD5E074767}"/>
              </a:ext>
            </a:extLst>
          </p:cNvPr>
          <p:cNvSpPr>
            <a:spLocks noGrp="1"/>
          </p:cNvSpPr>
          <p:nvPr/>
        </p:nvSpPr>
        <p:spPr>
          <a:xfrm>
            <a:off x="4171950" y="1924050"/>
            <a:ext cx="1504950" cy="552450"/>
          </a:xfrm>
          <a:prstGeom prst="roundRect">
            <a:avLst>
              <a:gd name="adj" fmla="val 20690"/>
            </a:avLst>
          </a:prstGeom>
          <a:solidFill>
            <a:srgbClr val="F6F8F9"/>
          </a:solidFill>
          <a:ln w="11430">
            <a:solidFill>
              <a:srgbClr val="B7C5CD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SIB → TDR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B0D241A-FDC0-4A9F-BBED-BD701FA3BC39}"/>
              </a:ext>
            </a:extLst>
          </p:cNvPr>
          <p:cNvSpPr>
            <a:spLocks noGrp="1"/>
          </p:cNvSpPr>
          <p:nvPr/>
        </p:nvSpPr>
        <p:spPr>
          <a:xfrm>
            <a:off x="4171950" y="2819400"/>
            <a:ext cx="1504950" cy="552450"/>
          </a:xfrm>
          <a:prstGeom prst="roundRect">
            <a:avLst>
              <a:gd name="adj" fmla="val 20690"/>
            </a:avLst>
          </a:prstGeom>
          <a:solidFill>
            <a:srgbClr val="F6F8F9"/>
          </a:solidFill>
          <a:ln w="11430">
            <a:solidFill>
              <a:srgbClr val="B7C5CD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Upper die</a:t>
            </a:r>
          </a:p>
        </p:txBody>
      </p:sp>
      <p:cxnSp>
        <p:nvCxnSpPr>
          <p:cNvPr id="371" name="直線單箭頭接點 370"/>
          <p:cNvCxnSpPr>
            <a:stCxn id="6" idx="3"/>
            <a:endCxn id="7" idx="1"/>
          </p:cNvCxnSpPr>
          <p:nvPr/>
        </p:nvCxnSpPr>
        <p:spPr>
          <a:xfrm flipV="1">
            <a:off x="1504950" y="2200275"/>
            <a:ext cx="590550" cy="104775"/>
          </a:xfrm>
          <a:prstGeom prst="straightConnector1">
            <a:avLst/>
          </a:prstGeom>
          <a:ln w="19050">
            <a:solidFill>
              <a:srgbClr val="B94A4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2" name="直線單箭頭接點 371"/>
          <p:cNvCxnSpPr>
            <a:stCxn id="6" idx="3"/>
            <a:endCxn id="8" idx="1"/>
          </p:cNvCxnSpPr>
          <p:nvPr/>
        </p:nvCxnSpPr>
        <p:spPr>
          <a:xfrm>
            <a:off x="1504950" y="2305050"/>
            <a:ext cx="590550" cy="790575"/>
          </a:xfrm>
          <a:prstGeom prst="straightConnector1">
            <a:avLst/>
          </a:prstGeom>
          <a:ln w="19050">
            <a:solidFill>
              <a:srgbClr val="D96B3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3" name="直線單箭頭接點 372"/>
          <p:cNvCxnSpPr>
            <a:stCxn id="7" idx="3"/>
            <a:endCxn id="9" idx="1"/>
          </p:cNvCxnSpPr>
          <p:nvPr/>
        </p:nvCxnSpPr>
        <p:spPr>
          <a:xfrm>
            <a:off x="3676650" y="2200275"/>
            <a:ext cx="495300" cy="0"/>
          </a:xfrm>
          <a:prstGeom prst="straightConnector1">
            <a:avLst/>
          </a:prstGeom>
          <a:ln w="19050">
            <a:solidFill>
              <a:srgbClr val="B94A4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4" name="直線單箭頭接點 373"/>
          <p:cNvCxnSpPr>
            <a:stCxn id="8" idx="3"/>
            <a:endCxn id="10" idx="1"/>
          </p:cNvCxnSpPr>
          <p:nvPr/>
        </p:nvCxnSpPr>
        <p:spPr>
          <a:xfrm>
            <a:off x="3676650" y="3095625"/>
            <a:ext cx="495300" cy="0"/>
          </a:xfrm>
          <a:prstGeom prst="straightConnector1">
            <a:avLst/>
          </a:prstGeom>
          <a:ln w="19050">
            <a:solidFill>
              <a:srgbClr val="D96B30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B114B458-328A-4A75-8DCB-CE054CD5C9EB}"/>
              </a:ext>
            </a:extLst>
          </p:cNvPr>
          <p:cNvSpPr>
            <a:spLocks noGrp="1"/>
          </p:cNvSpPr>
          <p:nvPr/>
        </p:nvSpPr>
        <p:spPr>
          <a:xfrm>
            <a:off x="3714750" y="2638425"/>
            <a:ext cx="400050" cy="0"/>
          </a:xfrm>
          <a:prstGeom prst="line">
            <a:avLst/>
          </a:prstGeom>
          <a:noFill/>
          <a:ln w="28575">
            <a:solidFill>
              <a:srgbClr val="B94A48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F1EDB5-8D35-4883-BF28-9CB7C30FDDCA}"/>
              </a:ext>
            </a:extLst>
          </p:cNvPr>
          <p:cNvSpPr>
            <a:spLocks noGrp="1"/>
          </p:cNvSpPr>
          <p:nvPr/>
        </p:nvSpPr>
        <p:spPr>
          <a:xfrm>
            <a:off x="3762375" y="24574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ctr">
              <a:lnSpc>
                <a:spcPct val="102000"/>
              </a:lnSpc>
              <a:buNone/>
              <a:defRPr sz="225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A78078-EC74-43D3-8F66-88C857B618C8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50101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marL="24" indent="-12" algn="l">
              <a:lnSpc>
                <a:spcPct val="102000"/>
              </a:lnSpc>
              <a:spcAft>
                <a:spcPts val="6"/>
              </a:spcAft>
              <a:buNone/>
              <a:defRPr sz="135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332"/>
                </a:solidFill>
                <a:latin typeface="Arial"/>
                <a:ea typeface="Arial"/>
                <a:cs typeface="Arial"/>
              </a:rPr>
              <a:t>TDR and SIB appear in the extracted ICL</a:t>
            </a:r>
          </a:p>
          <a:p>
            <a:pPr marL="24" indent="-12" algn="l">
              <a:lnSpc>
                <a:spcPct val="102000"/>
              </a:lnSpc>
              <a:spcAft>
                <a:spcPts val="6"/>
              </a:spcAft>
              <a:buNone/>
              <a:defRPr sz="135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 cannot traverse to the intended target</a:t>
            </a:r>
          </a:p>
          <a:p>
            <a:pPr marL="24" indent="-12" algn="l">
              <a:lnSpc>
                <a:spcPct val="102000"/>
              </a:lnSpc>
              <a:spcAft>
                <a:spcPts val="6"/>
              </a:spcAft>
              <a:buNone/>
              <a:defRPr sz="135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02332"/>
                </a:solidFill>
                <a:latin typeface="Arial"/>
                <a:ea typeface="Arial"/>
                <a:cs typeface="Arial"/>
              </a:rPr>
              <a:t>Typical symptom: inaccessible / no-source path</a:t>
            </a:r>
          </a:p>
        </p:txBody>
      </p:sp>
      <p:sp>
        <p:nvSpPr>
          <p:cNvPr id="18" name="直線接點 17">
            <a:extLst>
              <a:ext uri="{FF2B5EF4-FFF2-40B4-BE49-F238E27FC236}">
                <a16:creationId xmlns:a16="http://schemas.microsoft.com/office/drawing/2014/main" id="{78E79894-EC2B-49B6-A59A-CEB23A480689}"/>
              </a:ext>
            </a:extLst>
          </p:cNvPr>
          <p:cNvSpPr>
            <a:spLocks noGrp="1"/>
          </p:cNvSpPr>
          <p:nvPr/>
        </p:nvSpPr>
        <p:spPr>
          <a:xfrm>
            <a:off x="6038850" y="1638300"/>
            <a:ext cx="0" cy="3933825"/>
          </a:xfrm>
          <a:prstGeom prst="line">
            <a:avLst/>
          </a:prstGeom>
          <a:noFill/>
          <a:ln w="13335">
            <a:solidFill>
              <a:srgbClr val="D7E0E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18A219-17F6-4E5B-B70C-F3B80079C94A}"/>
              </a:ext>
            </a:extLst>
          </p:cNvPr>
          <p:cNvSpPr>
            <a:spLocks noGrp="1"/>
          </p:cNvSpPr>
          <p:nvPr/>
        </p:nvSpPr>
        <p:spPr>
          <a:xfrm>
            <a:off x="6496050" y="15716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AFTER · ONE INTENDED HOST TOPOLOGY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CAB437E-1A10-451C-9495-3925CD87B29F}"/>
              </a:ext>
            </a:extLst>
          </p:cNvPr>
          <p:cNvSpPr>
            <a:spLocks noGrp="1"/>
          </p:cNvSpPr>
          <p:nvPr/>
        </p:nvSpPr>
        <p:spPr>
          <a:xfrm>
            <a:off x="6553200" y="2095500"/>
            <a:ext cx="838200" cy="419100"/>
          </a:xfrm>
          <a:prstGeom prst="roundRect">
            <a:avLst>
              <a:gd name="adj" fmla="val 27273"/>
            </a:avLst>
          </a:prstGeom>
          <a:solidFill>
            <a:srgbClr val="EDF5F8"/>
          </a:solidFill>
          <a:ln w="11430">
            <a:solidFill>
              <a:srgbClr val="0B6B9E"/>
            </a:solidFill>
            <a:prstDash val="solid"/>
          </a:ln>
        </p:spPr>
        <p:txBody>
          <a:bodyPr wrap="square" lIns="114300" tIns="76200" rIns="114300" bIns="76200" anchor="ctr">
            <a:normAutofit fontScale="97086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TAP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696F0625-248B-4F36-A589-CCD5BE9F9F63}"/>
              </a:ext>
            </a:extLst>
          </p:cNvPr>
          <p:cNvSpPr>
            <a:spLocks noGrp="1"/>
          </p:cNvSpPr>
          <p:nvPr/>
        </p:nvSpPr>
        <p:spPr>
          <a:xfrm>
            <a:off x="8001000" y="1952625"/>
            <a:ext cx="2514600" cy="666750"/>
          </a:xfrm>
          <a:prstGeom prst="roundRect">
            <a:avLst>
              <a:gd name="adj" fmla="val 17143"/>
            </a:avLst>
          </a:prstGeom>
          <a:solidFill>
            <a:srgbClr val="EEF6F0"/>
          </a:solidFill>
          <a:ln w="11430">
            <a:solidFill>
              <a:srgbClr val="1F7B72"/>
            </a:solidFill>
            <a:prstDash val="solid"/>
          </a:ln>
        </p:spPr>
        <p:txBody>
          <a:bodyPr wrap="square" lIns="114300" tIns="76200" rIns="114300" bIns="76200" anchor="ctr">
            <a:normAutofit fontScale="97855" lnSpcReduction="10000"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Unified host configuration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6C56633-D7D9-4937-8A23-E454E4B9647A}"/>
              </a:ext>
            </a:extLst>
          </p:cNvPr>
          <p:cNvSpPr>
            <a:spLocks noGrp="1"/>
          </p:cNvSpPr>
          <p:nvPr/>
        </p:nvSpPr>
        <p:spPr>
          <a:xfrm>
            <a:off x="7086600" y="3048000"/>
            <a:ext cx="16192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3A91B3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IJTAG</a:t>
            </a: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SIB → TDR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28411AF4-1B56-4930-8202-F77061D36B9E}"/>
              </a:ext>
            </a:extLst>
          </p:cNvPr>
          <p:cNvSpPr>
            <a:spLocks noGrp="1"/>
          </p:cNvSpPr>
          <p:nvPr/>
        </p:nvSpPr>
        <p:spPr>
          <a:xfrm>
            <a:off x="9277350" y="3048000"/>
            <a:ext cx="184785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  <p:txBody>
          <a:bodyPr wrap="square" lIns="114300" tIns="76200" rIns="114300" bIns="76200" anchor="ctr">
            <a:normAutofit fontScale="95519"/>
          </a:bodyPr>
          <a:lstStyle/>
          <a:p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Downstream STAP</a:t>
            </a:r>
          </a:p>
          <a:p>
            <a:pPr algn="ctr">
              <a:lnSpc>
                <a:spcPct val="100000"/>
              </a:lnSpc>
              <a:buNone/>
              <a:defRPr sz="13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Upper-die access</a:t>
            </a:r>
          </a:p>
        </p:txBody>
      </p:sp>
      <p:cxnSp>
        <p:nvCxnSpPr>
          <p:cNvPr id="384" name="直線單箭頭接點 383"/>
          <p:cNvCxnSpPr>
            <a:stCxn id="20" idx="3"/>
            <a:endCxn id="21" idx="1"/>
          </p:cNvCxnSpPr>
          <p:nvPr/>
        </p:nvCxnSpPr>
        <p:spPr>
          <a:xfrm flipV="1">
            <a:off x="7391400" y="2286000"/>
            <a:ext cx="609600" cy="19050"/>
          </a:xfrm>
          <a:prstGeom prst="straightConnector1">
            <a:avLst/>
          </a:prstGeom>
          <a:ln w="19050">
            <a:solidFill>
              <a:srgbClr val="0B6B9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5" name="接點: 肘形 384"/>
          <p:cNvCxnSpPr>
            <a:stCxn id="21" idx="2"/>
            <a:endCxn id="22" idx="0"/>
          </p:cNvCxnSpPr>
          <p:nvPr/>
        </p:nvCxnSpPr>
        <p:spPr>
          <a:xfrm flipH="1">
            <a:off x="7896225" y="2619375"/>
            <a:ext cx="1362075" cy="428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3A91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6" name="接點: 肘形 385"/>
          <p:cNvCxnSpPr>
            <a:stCxn id="21" idx="2"/>
            <a:endCxn id="23" idx="0"/>
          </p:cNvCxnSpPr>
          <p:nvPr/>
        </p:nvCxnSpPr>
        <p:spPr>
          <a:xfrm>
            <a:off x="9258300" y="2619375"/>
            <a:ext cx="942975" cy="428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1F7B7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21B555DF-C65B-47FC-B028-02329D4D27A7}"/>
              </a:ext>
            </a:extLst>
          </p:cNvPr>
          <p:cNvSpPr>
            <a:spLocks noGrp="1"/>
          </p:cNvSpPr>
          <p:nvPr/>
        </p:nvSpPr>
        <p:spPr>
          <a:xfrm>
            <a:off x="8858250" y="4276725"/>
            <a:ext cx="1581150" cy="0"/>
          </a:xfrm>
          <a:prstGeom prst="line">
            <a:avLst/>
          </a:prstGeom>
          <a:noFill/>
          <a:ln w="38100">
            <a:solidFill>
              <a:srgbClr val="3F7B4B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2C546B9-15E8-4521-AB93-3E5D487CAEE5}"/>
              </a:ext>
            </a:extLst>
          </p:cNvPr>
          <p:cNvSpPr>
            <a:spLocks noGrp="1"/>
          </p:cNvSpPr>
          <p:nvPr/>
        </p:nvSpPr>
        <p:spPr>
          <a:xfrm>
            <a:off x="8858250" y="4057650"/>
            <a:ext cx="1581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RETARGETABLE PATH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71BF204-7ED4-4B72-8E8D-F9504D25D816}"/>
              </a:ext>
            </a:extLst>
          </p:cNvPr>
          <p:cNvSpPr>
            <a:spLocks noGrp="1"/>
          </p:cNvSpPr>
          <p:nvPr/>
        </p:nvSpPr>
        <p:spPr>
          <a:xfrm>
            <a:off x="6553200" y="43624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088" lnSpcReduction="20000"/>
          </a:bodyPr>
          <a:lstStyle/>
          <a:p>
            <a:pPr algn="ctr">
              <a:lnSpc>
                <a:spcPct val="102000"/>
              </a:lnSpc>
              <a:buNone/>
              <a:defRPr sz="1275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HostIjtag + HostStap are created in the same configuration transaction.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17F816B-1BE0-4F2C-A6AF-6A3AC40C31FF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DEBUG EVIDENCE · VISIBILITY ALONE IS INSUFFICIENT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05DEFED-E9AD-4673-B2D6-3D1A99CCBEC0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61925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DC7B9-0D20-40C6-9134-3297EC386FA3}"/>
              </a:ext>
            </a:extLst>
          </p:cNvPr>
          <p:cNvSpPr>
            <a:spLocks noGrp="1"/>
          </p:cNvSpPr>
          <p:nvPr/>
        </p:nvSpPr>
        <p:spPr>
          <a:xfrm>
            <a:off x="704850" y="496252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BD8CA59-F24C-4165-A0D6-7877E82EFEB7}"/>
              </a:ext>
            </a:extLst>
          </p:cNvPr>
          <p:cNvSpPr>
            <a:spLocks noGrp="1"/>
          </p:cNvSpPr>
          <p:nvPr/>
        </p:nvSpPr>
        <p:spPr>
          <a:xfrm>
            <a:off x="2228850" y="4933950"/>
            <a:ext cx="219075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6D68F2-7B44-47DD-A909-7F994C759D5B}"/>
              </a:ext>
            </a:extLst>
          </p:cNvPr>
          <p:cNvSpPr>
            <a:spLocks noGrp="1"/>
          </p:cNvSpPr>
          <p:nvPr/>
        </p:nvSpPr>
        <p:spPr>
          <a:xfrm>
            <a:off x="2324100" y="4962525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782593E-5AE7-4BB1-B777-5F714D44FC72}"/>
              </a:ext>
            </a:extLst>
          </p:cNvPr>
          <p:cNvSpPr>
            <a:spLocks noGrp="1"/>
          </p:cNvSpPr>
          <p:nvPr/>
        </p:nvSpPr>
        <p:spPr>
          <a:xfrm>
            <a:off x="4419600" y="4933950"/>
            <a:ext cx="219075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E01D76B-302A-47BA-96CD-6650BF83C826}"/>
              </a:ext>
            </a:extLst>
          </p:cNvPr>
          <p:cNvSpPr>
            <a:spLocks noGrp="1"/>
          </p:cNvSpPr>
          <p:nvPr/>
        </p:nvSpPr>
        <p:spPr>
          <a:xfrm>
            <a:off x="4514850" y="4962525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F0C6F75-EDFA-41FF-80B4-15264B2BB431}"/>
              </a:ext>
            </a:extLst>
          </p:cNvPr>
          <p:cNvSpPr>
            <a:spLocks noGrp="1"/>
          </p:cNvSpPr>
          <p:nvPr/>
        </p:nvSpPr>
        <p:spPr>
          <a:xfrm>
            <a:off x="6610350" y="4933950"/>
            <a:ext cx="489585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708B7F8-45BC-4C45-898E-354CBB63AB3A}"/>
              </a:ext>
            </a:extLst>
          </p:cNvPr>
          <p:cNvSpPr>
            <a:spLocks noGrp="1"/>
          </p:cNvSpPr>
          <p:nvPr/>
        </p:nvSpPr>
        <p:spPr>
          <a:xfrm>
            <a:off x="6705600" y="4962525"/>
            <a:ext cx="4705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ACCEPTANCE CRITERION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2722C5F-5154-45E1-9EDA-4BED8A633883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161925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883ECD9-6805-454C-8ED7-05E38D9C1655}"/>
              </a:ext>
            </a:extLst>
          </p:cNvPr>
          <p:cNvSpPr>
            <a:spLocks noGrp="1"/>
          </p:cNvSpPr>
          <p:nvPr/>
        </p:nvSpPr>
        <p:spPr>
          <a:xfrm>
            <a:off x="704850" y="5191125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Access roots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8151A08-DBFB-4CC2-9FFB-37417C56840B}"/>
              </a:ext>
            </a:extLst>
          </p:cNvPr>
          <p:cNvSpPr>
            <a:spLocks noGrp="1"/>
          </p:cNvSpPr>
          <p:nvPr/>
        </p:nvSpPr>
        <p:spPr>
          <a:xfrm>
            <a:off x="2228850" y="5162550"/>
            <a:ext cx="219075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50A7B14-1275-4E5E-A798-5490023DF00D}"/>
              </a:ext>
            </a:extLst>
          </p:cNvPr>
          <p:cNvSpPr>
            <a:spLocks noGrp="1"/>
          </p:cNvSpPr>
          <p:nvPr/>
        </p:nvSpPr>
        <p:spPr>
          <a:xfrm>
            <a:off x="2324100" y="5191125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4A48"/>
                </a:solidFill>
                <a:latin typeface="Arial"/>
                <a:ea typeface="Arial"/>
                <a:cs typeface="Arial"/>
              </a:rPr>
              <a:t>2 independent roots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67064D8-ED9F-4398-9595-0B50C3A5DBF5}"/>
              </a:ext>
            </a:extLst>
          </p:cNvPr>
          <p:cNvSpPr>
            <a:spLocks noGrp="1"/>
          </p:cNvSpPr>
          <p:nvPr/>
        </p:nvSpPr>
        <p:spPr>
          <a:xfrm>
            <a:off x="4419600" y="5162550"/>
            <a:ext cx="219075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FF92F1ED-8F1D-4CF6-9281-F44FA66080A3}"/>
              </a:ext>
            </a:extLst>
          </p:cNvPr>
          <p:cNvSpPr>
            <a:spLocks noGrp="1"/>
          </p:cNvSpPr>
          <p:nvPr/>
        </p:nvSpPr>
        <p:spPr>
          <a:xfrm>
            <a:off x="4514850" y="5191125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1 intended host root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421D9E1-148D-4EA9-B6C8-FD619FB8E657}"/>
              </a:ext>
            </a:extLst>
          </p:cNvPr>
          <p:cNvSpPr>
            <a:spLocks noGrp="1"/>
          </p:cNvSpPr>
          <p:nvPr/>
        </p:nvSpPr>
        <p:spPr>
          <a:xfrm>
            <a:off x="6610350" y="5162550"/>
            <a:ext cx="489585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DA25EE0-B8A8-49BB-923C-0AC11C9246B4}"/>
              </a:ext>
            </a:extLst>
          </p:cNvPr>
          <p:cNvSpPr>
            <a:spLocks noGrp="1"/>
          </p:cNvSpPr>
          <p:nvPr/>
        </p:nvSpPr>
        <p:spPr>
          <a:xfrm>
            <a:off x="6705600" y="5191125"/>
            <a:ext cx="4705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One PTAP path owns local IJTAG and downstream STAP.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16F5D03-8A99-485E-96B4-A0AFBD298014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1619250" cy="1905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29805E4-B102-4BF8-B01B-F61909528984}"/>
              </a:ext>
            </a:extLst>
          </p:cNvPr>
          <p:cNvSpPr>
            <a:spLocks noGrp="1"/>
          </p:cNvSpPr>
          <p:nvPr/>
        </p:nvSpPr>
        <p:spPr>
          <a:xfrm>
            <a:off x="704850" y="5381625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Extracted ICL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3D6ACF4-B1A2-450A-9126-504180A97596}"/>
              </a:ext>
            </a:extLst>
          </p:cNvPr>
          <p:cNvSpPr>
            <a:spLocks noGrp="1"/>
          </p:cNvSpPr>
          <p:nvPr/>
        </p:nvSpPr>
        <p:spPr>
          <a:xfrm>
            <a:off x="2228850" y="5353050"/>
            <a:ext cx="2190750" cy="1905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19F3CD0-07B5-4560-8ACA-0FE4A042F247}"/>
              </a:ext>
            </a:extLst>
          </p:cNvPr>
          <p:cNvSpPr>
            <a:spLocks noGrp="1"/>
          </p:cNvSpPr>
          <p:nvPr/>
        </p:nvSpPr>
        <p:spPr>
          <a:xfrm>
            <a:off x="2324100" y="5381625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4A48"/>
                </a:solidFill>
                <a:latin typeface="Arial"/>
                <a:ea typeface="Arial"/>
                <a:cs typeface="Arial"/>
              </a:rPr>
              <a:t>TDR / SIB visible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FA1BA48-4F3E-44E3-9293-DA438F5FF704}"/>
              </a:ext>
            </a:extLst>
          </p:cNvPr>
          <p:cNvSpPr>
            <a:spLocks noGrp="1"/>
          </p:cNvSpPr>
          <p:nvPr/>
        </p:nvSpPr>
        <p:spPr>
          <a:xfrm>
            <a:off x="4419600" y="5353050"/>
            <a:ext cx="2190750" cy="1905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027B305-7708-4D2F-9103-4230DE1D03D2}"/>
              </a:ext>
            </a:extLst>
          </p:cNvPr>
          <p:cNvSpPr>
            <a:spLocks noGrp="1"/>
          </p:cNvSpPr>
          <p:nvPr/>
        </p:nvSpPr>
        <p:spPr>
          <a:xfrm>
            <a:off x="4514850" y="5381625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TDR / SIB visible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E70B2CF-27F7-4962-9D69-B22AA50D77A1}"/>
              </a:ext>
            </a:extLst>
          </p:cNvPr>
          <p:cNvSpPr>
            <a:spLocks noGrp="1"/>
          </p:cNvSpPr>
          <p:nvPr/>
        </p:nvSpPr>
        <p:spPr>
          <a:xfrm>
            <a:off x="6610350" y="5353050"/>
            <a:ext cx="4895850" cy="1905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E147270-329D-47E1-B808-D56254F76FA4}"/>
              </a:ext>
            </a:extLst>
          </p:cNvPr>
          <p:cNvSpPr>
            <a:spLocks noGrp="1"/>
          </p:cNvSpPr>
          <p:nvPr/>
        </p:nvSpPr>
        <p:spPr>
          <a:xfrm>
            <a:off x="6705600" y="5381625"/>
            <a:ext cx="4705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topology matches the inserted RTL hierarchy.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7403A2D-A9D5-4768-848B-37A43EE6B474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61925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8865A3D-0103-4201-B588-A35C55CF97A2}"/>
              </a:ext>
            </a:extLst>
          </p:cNvPr>
          <p:cNvSpPr>
            <a:spLocks noGrp="1"/>
          </p:cNvSpPr>
          <p:nvPr/>
        </p:nvSpPr>
        <p:spPr>
          <a:xfrm>
            <a:off x="704850" y="5572125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B5894638-B262-41E6-9835-282970B9237C}"/>
              </a:ext>
            </a:extLst>
          </p:cNvPr>
          <p:cNvSpPr>
            <a:spLocks noGrp="1"/>
          </p:cNvSpPr>
          <p:nvPr/>
        </p:nvSpPr>
        <p:spPr>
          <a:xfrm>
            <a:off x="2228850" y="5543550"/>
            <a:ext cx="219075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B6A1AC3E-B74D-4915-96E1-51D72E273179}"/>
              </a:ext>
            </a:extLst>
          </p:cNvPr>
          <p:cNvSpPr>
            <a:spLocks noGrp="1"/>
          </p:cNvSpPr>
          <p:nvPr/>
        </p:nvSpPr>
        <p:spPr>
          <a:xfrm>
            <a:off x="2324100" y="5572125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4A48"/>
                </a:solidFill>
                <a:latin typeface="Arial"/>
                <a:ea typeface="Arial"/>
                <a:cs typeface="Arial"/>
              </a:rPr>
              <a:t>Upper target inaccessible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535476E-4BED-43EE-B65A-204E79F45E04}"/>
              </a:ext>
            </a:extLst>
          </p:cNvPr>
          <p:cNvSpPr>
            <a:spLocks noGrp="1"/>
          </p:cNvSpPr>
          <p:nvPr/>
        </p:nvSpPr>
        <p:spPr>
          <a:xfrm>
            <a:off x="4419600" y="5543550"/>
            <a:ext cx="219075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D428332-E17A-4AA4-8FE9-C9AD9A105B22}"/>
              </a:ext>
            </a:extLst>
          </p:cNvPr>
          <p:cNvSpPr>
            <a:spLocks noGrp="1"/>
          </p:cNvSpPr>
          <p:nvPr/>
        </p:nvSpPr>
        <p:spPr>
          <a:xfrm>
            <a:off x="4514850" y="5572125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Upper target reachable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CE949B7-75FC-4D39-83E1-1319CE3754DF}"/>
              </a:ext>
            </a:extLst>
          </p:cNvPr>
          <p:cNvSpPr>
            <a:spLocks noGrp="1"/>
          </p:cNvSpPr>
          <p:nvPr/>
        </p:nvSpPr>
        <p:spPr>
          <a:xfrm>
            <a:off x="6610350" y="5543550"/>
            <a:ext cx="4895850" cy="1905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01AAE770-5F9B-4C1C-85BC-B8F73A7034F5}"/>
              </a:ext>
            </a:extLst>
          </p:cNvPr>
          <p:cNvSpPr>
            <a:spLocks noGrp="1"/>
          </p:cNvSpPr>
          <p:nvPr/>
        </p:nvSpPr>
        <p:spPr>
          <a:xfrm>
            <a:off x="6705600" y="5572125"/>
            <a:ext cx="4705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Reachable / declared targets = 100%.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66AB5BA-429C-42A9-A3CF-9F892C5CE198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619250" cy="1905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8925C3C-6E9E-4B3B-B59A-1D4CDFC36763}"/>
              </a:ext>
            </a:extLst>
          </p:cNvPr>
          <p:cNvSpPr>
            <a:spLocks noGrp="1"/>
          </p:cNvSpPr>
          <p:nvPr/>
        </p:nvSpPr>
        <p:spPr>
          <a:xfrm>
            <a:off x="704850" y="5762625"/>
            <a:ext cx="14287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Error signature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DC990E8-EE56-426D-872E-DBD5A32CD79C}"/>
              </a:ext>
            </a:extLst>
          </p:cNvPr>
          <p:cNvSpPr>
            <a:spLocks noGrp="1"/>
          </p:cNvSpPr>
          <p:nvPr/>
        </p:nvSpPr>
        <p:spPr>
          <a:xfrm>
            <a:off x="2228850" y="5734050"/>
            <a:ext cx="2190750" cy="1905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19F51169-B2D6-4517-8E8D-D594C33F81B4}"/>
              </a:ext>
            </a:extLst>
          </p:cNvPr>
          <p:cNvSpPr>
            <a:spLocks noGrp="1"/>
          </p:cNvSpPr>
          <p:nvPr/>
        </p:nvSpPr>
        <p:spPr>
          <a:xfrm>
            <a:off x="2324100" y="5762625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4A48"/>
                </a:solidFill>
                <a:latin typeface="Arial"/>
                <a:ea typeface="Arial"/>
                <a:cs typeface="Arial"/>
              </a:rPr>
              <a:t>no-source / inaccessible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54B4736-0317-421C-A035-FE213D3C611E}"/>
              </a:ext>
            </a:extLst>
          </p:cNvPr>
          <p:cNvSpPr>
            <a:spLocks noGrp="1"/>
          </p:cNvSpPr>
          <p:nvPr/>
        </p:nvSpPr>
        <p:spPr>
          <a:xfrm>
            <a:off x="4419600" y="5734050"/>
            <a:ext cx="2190750" cy="1905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C6D8427-D084-4BB6-A085-F4FC73163A3E}"/>
              </a:ext>
            </a:extLst>
          </p:cNvPr>
          <p:cNvSpPr>
            <a:spLocks noGrp="1"/>
          </p:cNvSpPr>
          <p:nvPr/>
        </p:nvSpPr>
        <p:spPr>
          <a:xfrm>
            <a:off x="4514850" y="5762625"/>
            <a:ext cx="20002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no unresolved path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A742278-C2F5-4F07-B513-6FBAA24EF89F}"/>
              </a:ext>
            </a:extLst>
          </p:cNvPr>
          <p:cNvSpPr>
            <a:spLocks noGrp="1"/>
          </p:cNvSpPr>
          <p:nvPr/>
        </p:nvSpPr>
        <p:spPr>
          <a:xfrm>
            <a:off x="6610350" y="5734050"/>
            <a:ext cx="4895850" cy="1905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35F360A-D4DD-4172-8706-8481A829ABCF}"/>
              </a:ext>
            </a:extLst>
          </p:cNvPr>
          <p:cNvSpPr>
            <a:spLocks noGrp="1"/>
          </p:cNvSpPr>
          <p:nvPr/>
        </p:nvSpPr>
        <p:spPr>
          <a:xfrm>
            <a:off x="6705600" y="5762625"/>
            <a:ext cx="47053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0316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 unresolved source, destination, or hierarchy mapping.</a:t>
            </a:r>
          </a:p>
        </p:txBody>
      </p:sp>
      <p:sp>
        <p:nvSpPr>
          <p:cNvPr id="71" name="直線接點 70">
            <a:extLst>
              <a:ext uri="{FF2B5EF4-FFF2-40B4-BE49-F238E27FC236}">
                <a16:creationId xmlns:a16="http://schemas.microsoft.com/office/drawing/2014/main" id="{9EB7FE69-321B-4495-8AC9-B50553ADCDDF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1F7B72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063813D-94FA-42E0-8833-BD7E892CB21C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fix came from </a:t>
            </a:r>
            <a:r>
              <a:rPr sz="15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topology reasoning</a:t>
            </a: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—not from adding another Tessent command.</a:t>
            </a:r>
          </a:p>
        </p:txBody>
      </p:sp>
      <p:sp>
        <p:nvSpPr>
          <p:cNvPr id="73" name="直線接點 72">
            <a:extLst>
              <a:ext uri="{FF2B5EF4-FFF2-40B4-BE49-F238E27FC236}">
                <a16:creationId xmlns:a16="http://schemas.microsoft.com/office/drawing/2014/main" id="{159689F7-FE2C-4785-95C6-6D2D762C8935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4118219-9847-477B-A2F9-460AC07F3FAA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9150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86FF29C-37B0-4440-AD60-E2363864EC50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C.3 · ENABLE AUTOMATION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67C254-FFA4-432A-A98C-0C704C144E50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slide-4-title">
            <a:extLst>
              <a:ext uri="{FF2B5EF4-FFF2-40B4-BE49-F238E27FC236}">
                <a16:creationId xmlns:a16="http://schemas.microsoft.com/office/drawing/2014/main" id="{0E15D700-5C32-459D-9B2E-C649C4303D5B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778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Design intent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stays outside the reusable Tessent procedure.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7AEB35F1-F01E-4277-9148-A73CE029C49B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095F38-22AE-4EF2-85AB-67805337111A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USER-PROVIDED INPUTS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2BE7DD0-0837-4CA7-BDB0-C00C6EC08DC7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3143250" cy="3067050"/>
          </a:xfrm>
          <a:prstGeom prst="roundRect">
            <a:avLst>
              <a:gd name="adj" fmla="val 3106"/>
            </a:avLst>
          </a:prstGeom>
          <a:solidFill>
            <a:srgbClr val="F6F8F9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3998D76-6F79-44CA-AD90-28FF534A0545}"/>
              </a:ext>
            </a:extLst>
          </p:cNvPr>
          <p:cNvSpPr>
            <a:spLocks noGrp="1"/>
          </p:cNvSpPr>
          <p:nvPr/>
        </p:nvSpPr>
        <p:spPr>
          <a:xfrm>
            <a:off x="819150" y="2162175"/>
            <a:ext cx="2724150" cy="1847850"/>
          </a:xfrm>
          <a:prstGeom prst="roundRect">
            <a:avLst>
              <a:gd name="adj" fmla="val 4124"/>
            </a:avLst>
          </a:prstGeom>
          <a:solidFill>
            <a:srgbClr val="20313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979C04-DC66-4673-A06B-42A71681AC27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23812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project/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rtl/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filelist.f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libraries.tcl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dft_manifest.yaml</a:t>
            </a:r>
          </a:p>
          <a:p>
            <a:pPr algn="l">
              <a:lnSpc>
                <a:spcPct val="105000"/>
              </a:lnSpc>
              <a:buNone/>
              <a:defRPr sz="135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└─ expected_results.yaml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4FD280-14E6-458E-88D3-59E1BB89D7D2}"/>
              </a:ext>
            </a:extLst>
          </p:cNvPr>
          <p:cNvSpPr>
            <a:spLocks noGrp="1"/>
          </p:cNvSpPr>
          <p:nvPr/>
        </p:nvSpPr>
        <p:spPr>
          <a:xfrm>
            <a:off x="819150" y="4191000"/>
            <a:ext cx="27241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119" lnSpcReduction="10000"/>
          </a:bodyPr>
          <a:lstStyle/>
          <a:p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332"/>
                </a:solidFill>
                <a:latin typeface="Arial"/>
                <a:ea typeface="Arial"/>
                <a:cs typeface="Arial"/>
              </a:rPr>
              <a:t>Golden RTL and top module</a:t>
            </a:r>
          </a:p>
          <a:p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332"/>
                </a:solidFill>
                <a:latin typeface="Arial"/>
                <a:ea typeface="Arial"/>
                <a:cs typeface="Arial"/>
              </a:rPr>
              <a:t>Clock / reset and technology data</a:t>
            </a:r>
          </a:p>
          <a:p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role and local instruments</a:t>
            </a:r>
          </a:p>
          <a:p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75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connectivity and expected results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EA39CE-3EE0-4DD6-AA37-F3F9DE5788D6}"/>
              </a:ext>
            </a:extLst>
          </p:cNvPr>
          <p:cNvSpPr>
            <a:spLocks noGrp="1"/>
          </p:cNvSpPr>
          <p:nvPr/>
        </p:nvSpPr>
        <p:spPr>
          <a:xfrm>
            <a:off x="4248150" y="15716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AUTOMATION BOUNDARY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D52809F-0DEF-4C14-83A3-F9ADAC895D54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2476500" cy="895350"/>
          </a:xfrm>
          <a:prstGeom prst="roundRect">
            <a:avLst>
              <a:gd name="adj" fmla="val 12766"/>
            </a:avLst>
          </a:prstGeom>
          <a:solidFill>
            <a:srgbClr val="EDF5F8"/>
          </a:solidFill>
          <a:ln w="11430">
            <a:solidFill>
              <a:srgbClr val="0B6B9E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Python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39245F4-9C72-4CE7-8784-2214F5E1237C}"/>
              </a:ext>
            </a:extLst>
          </p:cNvPr>
          <p:cNvSpPr>
            <a:spLocks noGrp="1"/>
          </p:cNvSpPr>
          <p:nvPr/>
        </p:nvSpPr>
        <p:spPr>
          <a:xfrm>
            <a:off x="4381500" y="3448050"/>
            <a:ext cx="24765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Reusable Tcl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PROCEDURES</a:t>
            </a:r>
          </a:p>
        </p:txBody>
      </p:sp>
      <p:cxnSp>
        <p:nvCxnSpPr>
          <p:cNvPr id="212" name="直線單箭頭接點 211"/>
          <p:cNvCxnSpPr>
            <a:stCxn id="11" idx="2"/>
            <a:endCxn id="12" idx="0"/>
          </p:cNvCxnSpPr>
          <p:nvPr/>
        </p:nvCxnSpPr>
        <p:spPr>
          <a:xfrm>
            <a:off x="5619750" y="2990850"/>
            <a:ext cx="0" cy="457200"/>
          </a:xfrm>
          <a:prstGeom prst="straightConnector1">
            <a:avLst/>
          </a:prstGeom>
          <a:ln w="19050">
            <a:solidFill>
              <a:srgbClr val="173A59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571B7564-F08C-4D1C-83D1-5E4907F63C94}"/>
              </a:ext>
            </a:extLst>
          </p:cNvPr>
          <p:cNvSpPr>
            <a:spLocks noGrp="1"/>
          </p:cNvSpPr>
          <p:nvPr/>
        </p:nvSpPr>
        <p:spPr>
          <a:xfrm>
            <a:off x="4324350" y="3076575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337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parse · validate · generate · dispatch</a:t>
            </a:r>
          </a:p>
        </p:txBody>
      </p:sp>
      <p:sp>
        <p:nvSpPr>
          <p:cNvPr id="15" name="直線接點 14">
            <a:extLst>
              <a:ext uri="{FF2B5EF4-FFF2-40B4-BE49-F238E27FC236}">
                <a16:creationId xmlns:a16="http://schemas.microsoft.com/office/drawing/2014/main" id="{12DDA1E1-6395-4400-86BF-731A6BDAFA4B}"/>
              </a:ext>
            </a:extLst>
          </p:cNvPr>
          <p:cNvSpPr>
            <a:spLocks noGrp="1"/>
          </p:cNvSpPr>
          <p:nvPr/>
        </p:nvSpPr>
        <p:spPr>
          <a:xfrm>
            <a:off x="3752850" y="3438525"/>
            <a:ext cx="628650" cy="0"/>
          </a:xfrm>
          <a:prstGeom prst="line">
            <a:avLst/>
          </a:prstGeom>
          <a:noFill/>
          <a:ln w="19050">
            <a:solidFill>
              <a:srgbClr val="B7C5CD"/>
            </a:solidFill>
            <a:prstDash val="solid"/>
          </a:ln>
        </p:spPr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C88C6836-71D6-419B-9AB3-BD1D9C88D397}"/>
              </a:ext>
            </a:extLst>
          </p:cNvPr>
          <p:cNvSpPr>
            <a:spLocks noGrp="1"/>
          </p:cNvSpPr>
          <p:nvPr/>
        </p:nvSpPr>
        <p:spPr>
          <a:xfrm>
            <a:off x="6858000" y="3447234"/>
            <a:ext cx="628650" cy="0"/>
          </a:xfrm>
          <a:prstGeom prst="line">
            <a:avLst/>
          </a:prstGeom>
          <a:noFill/>
          <a:ln w="19050">
            <a:solidFill>
              <a:srgbClr val="B7C5CD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D77769-7EFF-490D-A8D2-055582767C4A}"/>
              </a:ext>
            </a:extLst>
          </p:cNvPr>
          <p:cNvSpPr>
            <a:spLocks noGrp="1"/>
          </p:cNvSpPr>
          <p:nvPr/>
        </p:nvSpPr>
        <p:spPr>
          <a:xfrm>
            <a:off x="7505700" y="1571625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GENERATED DELIVERABLES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528DB491-6533-4956-87C6-469C9E3EB7DF}"/>
              </a:ext>
            </a:extLst>
          </p:cNvPr>
          <p:cNvSpPr>
            <a:spLocks noGrp="1"/>
          </p:cNvSpPr>
          <p:nvPr/>
        </p:nvSpPr>
        <p:spPr>
          <a:xfrm>
            <a:off x="7505700" y="1943100"/>
            <a:ext cx="4000500" cy="3067050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6784C8-17C5-4FF4-BB56-E208B6B970D3}"/>
              </a:ext>
            </a:extLst>
          </p:cNvPr>
          <p:cNvSpPr>
            <a:spLocks noGrp="1"/>
          </p:cNvSpPr>
          <p:nvPr/>
        </p:nvSpPr>
        <p:spPr>
          <a:xfrm>
            <a:off x="7753350" y="20955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FDF7B66-AE53-4D9E-B78D-23DD57A93DEE}"/>
              </a:ext>
            </a:extLst>
          </p:cNvPr>
          <p:cNvSpPr>
            <a:spLocks noGrp="1"/>
          </p:cNvSpPr>
          <p:nvPr/>
        </p:nvSpPr>
        <p:spPr>
          <a:xfrm>
            <a:off x="9372600" y="209550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509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role-specific inserted design</a:t>
            </a:r>
          </a:p>
        </p:txBody>
      </p:sp>
      <p:sp>
        <p:nvSpPr>
          <p:cNvPr id="21" name="直線接點 20">
            <a:extLst>
              <a:ext uri="{FF2B5EF4-FFF2-40B4-BE49-F238E27FC236}">
                <a16:creationId xmlns:a16="http://schemas.microsoft.com/office/drawing/2014/main" id="{C019C8B9-9D6C-48D8-AC46-0C5DFA4D1196}"/>
              </a:ext>
            </a:extLst>
          </p:cNvPr>
          <p:cNvSpPr>
            <a:spLocks noGrp="1"/>
          </p:cNvSpPr>
          <p:nvPr/>
        </p:nvSpPr>
        <p:spPr>
          <a:xfrm>
            <a:off x="7753350" y="2466975"/>
            <a:ext cx="348615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C7965E3-510B-4775-AB6D-7264A4F81C82}"/>
              </a:ext>
            </a:extLst>
          </p:cNvPr>
          <p:cNvSpPr>
            <a:spLocks noGrp="1"/>
          </p:cNvSpPr>
          <p:nvPr/>
        </p:nvSpPr>
        <p:spPr>
          <a:xfrm>
            <a:off x="7753350" y="2628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ICL / TSDB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92B7832-EAD0-45DF-9DA7-9E5673029B1C}"/>
              </a:ext>
            </a:extLst>
          </p:cNvPr>
          <p:cNvSpPr>
            <a:spLocks noGrp="1"/>
          </p:cNvSpPr>
          <p:nvPr/>
        </p:nvSpPr>
        <p:spPr>
          <a:xfrm>
            <a:off x="9372600" y="262890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047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per-die and stack hierarchy</a:t>
            </a:r>
          </a:p>
        </p:txBody>
      </p:sp>
      <p:sp>
        <p:nvSpPr>
          <p:cNvPr id="24" name="直線接點 23">
            <a:extLst>
              <a:ext uri="{FF2B5EF4-FFF2-40B4-BE49-F238E27FC236}">
                <a16:creationId xmlns:a16="http://schemas.microsoft.com/office/drawing/2014/main" id="{60CAF601-4064-4417-AA53-0B4C6D71D277}"/>
              </a:ext>
            </a:extLst>
          </p:cNvPr>
          <p:cNvSpPr>
            <a:spLocks noGrp="1"/>
          </p:cNvSpPr>
          <p:nvPr/>
        </p:nvSpPr>
        <p:spPr>
          <a:xfrm>
            <a:off x="7753350" y="3000375"/>
            <a:ext cx="348615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23B86C3-91F1-41C9-9977-EB3975FE24F6}"/>
              </a:ext>
            </a:extLst>
          </p:cNvPr>
          <p:cNvSpPr>
            <a:spLocks noGrp="1"/>
          </p:cNvSpPr>
          <p:nvPr/>
        </p:nvSpPr>
        <p:spPr>
          <a:xfrm>
            <a:off x="7753350" y="31623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259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IMPORT / RETARGET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2ED1CD0-51E5-4D25-833A-11AB79F296E7}"/>
              </a:ext>
            </a:extLst>
          </p:cNvPr>
          <p:cNvSpPr>
            <a:spLocks noGrp="1"/>
          </p:cNvSpPr>
          <p:nvPr/>
        </p:nvSpPr>
        <p:spPr>
          <a:xfrm>
            <a:off x="9372600" y="316230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access procedures</a:t>
            </a:r>
          </a:p>
        </p:txBody>
      </p:sp>
      <p:sp>
        <p:nvSpPr>
          <p:cNvPr id="27" name="直線接點 26">
            <a:extLst>
              <a:ext uri="{FF2B5EF4-FFF2-40B4-BE49-F238E27FC236}">
                <a16:creationId xmlns:a16="http://schemas.microsoft.com/office/drawing/2014/main" id="{BC62BE89-B1A3-403B-AA34-B43DCD598E3D}"/>
              </a:ext>
            </a:extLst>
          </p:cNvPr>
          <p:cNvSpPr>
            <a:spLocks noGrp="1"/>
          </p:cNvSpPr>
          <p:nvPr/>
        </p:nvSpPr>
        <p:spPr>
          <a:xfrm>
            <a:off x="7753350" y="3533775"/>
            <a:ext cx="348615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6AB2689-0C24-4500-B642-DD18B89DF51C}"/>
              </a:ext>
            </a:extLst>
          </p:cNvPr>
          <p:cNvSpPr>
            <a:spLocks noGrp="1"/>
          </p:cNvSpPr>
          <p:nvPr/>
        </p:nvSpPr>
        <p:spPr>
          <a:xfrm>
            <a:off x="7753350" y="3695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PATTERNS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E52DBE2-4470-4E77-98B3-C125B5461633}"/>
              </a:ext>
            </a:extLst>
          </p:cNvPr>
          <p:cNvSpPr>
            <a:spLocks noGrp="1"/>
          </p:cNvSpPr>
          <p:nvPr/>
        </p:nvSpPr>
        <p:spPr>
          <a:xfrm>
            <a:off x="9372600" y="369570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retargeted access tests</a:t>
            </a:r>
          </a:p>
        </p:txBody>
      </p:sp>
      <p:sp>
        <p:nvSpPr>
          <p:cNvPr id="30" name="直線接點 29">
            <a:extLst>
              <a:ext uri="{FF2B5EF4-FFF2-40B4-BE49-F238E27FC236}">
                <a16:creationId xmlns:a16="http://schemas.microsoft.com/office/drawing/2014/main" id="{7E2B037B-637D-4A18-8CDB-6B91EA4BC2D7}"/>
              </a:ext>
            </a:extLst>
          </p:cNvPr>
          <p:cNvSpPr>
            <a:spLocks noGrp="1"/>
          </p:cNvSpPr>
          <p:nvPr/>
        </p:nvSpPr>
        <p:spPr>
          <a:xfrm>
            <a:off x="7753350" y="4067175"/>
            <a:ext cx="348615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9E37EB5-ABFD-4648-8AD8-6A7CCA2EA4DD}"/>
              </a:ext>
            </a:extLst>
          </p:cNvPr>
          <p:cNvSpPr>
            <a:spLocks noGrp="1"/>
          </p:cNvSpPr>
          <p:nvPr/>
        </p:nvSpPr>
        <p:spPr>
          <a:xfrm>
            <a:off x="7753350" y="42291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REPORTS / LOGS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3FF4ADB-EA98-4873-8182-D85288E8190B}"/>
              </a:ext>
            </a:extLst>
          </p:cNvPr>
          <p:cNvSpPr>
            <a:spLocks noGrp="1"/>
          </p:cNvSpPr>
          <p:nvPr/>
        </p:nvSpPr>
        <p:spPr>
          <a:xfrm>
            <a:off x="9372600" y="4229100"/>
            <a:ext cx="1866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review and rerun evidence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DAF8064-4784-44B6-AE99-C2411C872E0D}"/>
              </a:ext>
            </a:extLst>
          </p:cNvPr>
          <p:cNvSpPr>
            <a:spLocks noGrp="1"/>
          </p:cNvSpPr>
          <p:nvPr/>
        </p:nvSpPr>
        <p:spPr>
          <a:xfrm>
            <a:off x="4381500" y="4543425"/>
            <a:ext cx="247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199" lnSpcReduction="2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Rule: design-specific net names are referenced by the manifest, never embedded in core Tcl.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AE0379-1E1C-472E-86B1-0F3439E6B2D5}"/>
              </a:ext>
            </a:extLst>
          </p:cNvPr>
          <p:cNvSpPr>
            <a:spLocks noGrp="1"/>
          </p:cNvSpPr>
          <p:nvPr/>
        </p:nvSpPr>
        <p:spPr>
          <a:xfrm>
            <a:off x="609600" y="5181600"/>
            <a:ext cx="704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609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MANIFEST SCHEMA · THE USER EDITS VALUES; THE FLOW OWNS IMPLEMENTATION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CD825E-3A12-497B-8EFF-043263E580A5}"/>
              </a:ext>
            </a:extLst>
          </p:cNvPr>
          <p:cNvSpPr>
            <a:spLocks noGrp="1"/>
          </p:cNvSpPr>
          <p:nvPr/>
        </p:nvSpPr>
        <p:spPr>
          <a:xfrm>
            <a:off x="609600" y="5438775"/>
            <a:ext cx="203835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4B231D3-8626-4D69-9AF3-F69F4DEFE5ED}"/>
              </a:ext>
            </a:extLst>
          </p:cNvPr>
          <p:cNvSpPr>
            <a:spLocks noGrp="1"/>
          </p:cNvSpPr>
          <p:nvPr/>
        </p:nvSpPr>
        <p:spPr>
          <a:xfrm>
            <a:off x="704850" y="5467350"/>
            <a:ext cx="1847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F87BAFE-00A1-4E54-A8E1-8687C0E3734C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203835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476F242-E057-4593-8791-0FE6BE097B83}"/>
              </a:ext>
            </a:extLst>
          </p:cNvPr>
          <p:cNvSpPr>
            <a:spLocks noGrp="1"/>
          </p:cNvSpPr>
          <p:nvPr/>
        </p:nvSpPr>
        <p:spPr>
          <a:xfrm>
            <a:off x="704850" y="56959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768"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top / files</a:t>
            </a: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clock / reset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32C2747-294D-4AA8-B4A1-F5F1EA4F1D4C}"/>
              </a:ext>
            </a:extLst>
          </p:cNvPr>
          <p:cNvSpPr>
            <a:spLocks noGrp="1"/>
          </p:cNvSpPr>
          <p:nvPr/>
        </p:nvSpPr>
        <p:spPr>
          <a:xfrm>
            <a:off x="2647950" y="5438775"/>
            <a:ext cx="219075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B6D517C-E994-4AA6-B87D-FF5D1B11058D}"/>
              </a:ext>
            </a:extLst>
          </p:cNvPr>
          <p:cNvSpPr>
            <a:spLocks noGrp="1"/>
          </p:cNvSpPr>
          <p:nvPr/>
        </p:nvSpPr>
        <p:spPr>
          <a:xfrm>
            <a:off x="2743200" y="5467350"/>
            <a:ext cx="2000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 ROLE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ECC68A9-A7B1-4CEA-A4F2-CCDD1AD1215B}"/>
              </a:ext>
            </a:extLst>
          </p:cNvPr>
          <p:cNvSpPr>
            <a:spLocks noGrp="1"/>
          </p:cNvSpPr>
          <p:nvPr/>
        </p:nvSpPr>
        <p:spPr>
          <a:xfrm>
            <a:off x="2647950" y="5667375"/>
            <a:ext cx="21907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99C24FF-C350-4897-8CB5-681F9A028589}"/>
              </a:ext>
            </a:extLst>
          </p:cNvPr>
          <p:cNvSpPr>
            <a:spLocks noGrp="1"/>
          </p:cNvSpPr>
          <p:nvPr/>
        </p:nvSpPr>
        <p:spPr>
          <a:xfrm>
            <a:off x="2743200" y="56959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768"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 | middle | top</a:t>
            </a: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PTAP / STAP policy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BBA6AA2-F9CA-4257-97BD-53BE631C56AA}"/>
              </a:ext>
            </a:extLst>
          </p:cNvPr>
          <p:cNvSpPr>
            <a:spLocks noGrp="1"/>
          </p:cNvSpPr>
          <p:nvPr/>
        </p:nvSpPr>
        <p:spPr>
          <a:xfrm>
            <a:off x="4838700" y="5438775"/>
            <a:ext cx="238125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C940AAC-91B2-4EF6-95BC-B14FD290E0FA}"/>
              </a:ext>
            </a:extLst>
          </p:cNvPr>
          <p:cNvSpPr>
            <a:spLocks noGrp="1"/>
          </p:cNvSpPr>
          <p:nvPr/>
        </p:nvSpPr>
        <p:spPr>
          <a:xfrm>
            <a:off x="4933950" y="5467350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IJTAG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072A8B7-4353-4B55-9EED-357847597B9F}"/>
              </a:ext>
            </a:extLst>
          </p:cNvPr>
          <p:cNvSpPr>
            <a:spLocks noGrp="1"/>
          </p:cNvSpPr>
          <p:nvPr/>
        </p:nvSpPr>
        <p:spPr>
          <a:xfrm>
            <a:off x="4838700" y="5667375"/>
            <a:ext cx="238125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6906903-902E-40A2-B2DC-F1B9EBFFD885}"/>
              </a:ext>
            </a:extLst>
          </p:cNvPr>
          <p:cNvSpPr>
            <a:spLocks noGrp="1"/>
          </p:cNvSpPr>
          <p:nvPr/>
        </p:nvSpPr>
        <p:spPr>
          <a:xfrm>
            <a:off x="4933950" y="56959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768"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/ TDR list</a:t>
            </a: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SIB placement intent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53007CD-8ED5-4E91-967A-F4DDC9A9088B}"/>
              </a:ext>
            </a:extLst>
          </p:cNvPr>
          <p:cNvSpPr>
            <a:spLocks noGrp="1"/>
          </p:cNvSpPr>
          <p:nvPr/>
        </p:nvSpPr>
        <p:spPr>
          <a:xfrm>
            <a:off x="7219950" y="5438775"/>
            <a:ext cx="203835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28A4E22-81DC-4E7C-AB9C-2D9D8EB75DF7}"/>
              </a:ext>
            </a:extLst>
          </p:cNvPr>
          <p:cNvSpPr>
            <a:spLocks noGrp="1"/>
          </p:cNvSpPr>
          <p:nvPr/>
        </p:nvSpPr>
        <p:spPr>
          <a:xfrm>
            <a:off x="7315200" y="5467350"/>
            <a:ext cx="1847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67951B9-438B-4041-8E05-E8E90966BF88}"/>
              </a:ext>
            </a:extLst>
          </p:cNvPr>
          <p:cNvSpPr>
            <a:spLocks noGrp="1"/>
          </p:cNvSpPr>
          <p:nvPr/>
        </p:nvSpPr>
        <p:spPr>
          <a:xfrm>
            <a:off x="7219950" y="5667375"/>
            <a:ext cx="20383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8AD2DDC-ABA0-4E48-BB62-E89493313D34}"/>
              </a:ext>
            </a:extLst>
          </p:cNvPr>
          <p:cNvSpPr>
            <a:spLocks noGrp="1"/>
          </p:cNvSpPr>
          <p:nvPr/>
        </p:nvSpPr>
        <p:spPr>
          <a:xfrm>
            <a:off x="7315200" y="5695950"/>
            <a:ext cx="1847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6768"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order</a:t>
            </a: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upstream / downstream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E9F0489-E468-4AE7-9D5F-58567187DC56}"/>
              </a:ext>
            </a:extLst>
          </p:cNvPr>
          <p:cNvSpPr>
            <a:spLocks noGrp="1"/>
          </p:cNvSpPr>
          <p:nvPr/>
        </p:nvSpPr>
        <p:spPr>
          <a:xfrm>
            <a:off x="9258300" y="5438775"/>
            <a:ext cx="2247900" cy="2286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651D704-DB39-4090-A99F-9A430E2B7E73}"/>
              </a:ext>
            </a:extLst>
          </p:cNvPr>
          <p:cNvSpPr>
            <a:spLocks noGrp="1"/>
          </p:cNvSpPr>
          <p:nvPr/>
        </p:nvSpPr>
        <p:spPr>
          <a:xfrm>
            <a:off x="9353550" y="5467350"/>
            <a:ext cx="2057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12"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CHECKER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1F12DEF-74FB-4D97-B255-E58265546743}"/>
              </a:ext>
            </a:extLst>
          </p:cNvPr>
          <p:cNvSpPr>
            <a:spLocks noGrp="1"/>
          </p:cNvSpPr>
          <p:nvPr/>
        </p:nvSpPr>
        <p:spPr>
          <a:xfrm>
            <a:off x="9258300" y="5667375"/>
            <a:ext cx="224790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6D65302-1481-4D27-8C86-5C0351EB467F}"/>
              </a:ext>
            </a:extLst>
          </p:cNvPr>
          <p:cNvSpPr>
            <a:spLocks noGrp="1"/>
          </p:cNvSpPr>
          <p:nvPr/>
        </p:nvSpPr>
        <p:spPr>
          <a:xfrm>
            <a:off x="9353550" y="56959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593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expected data</a:t>
            </a:r>
          </a:p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compare rules</a:t>
            </a:r>
          </a:p>
        </p:txBody>
      </p:sp>
      <p:sp>
        <p:nvSpPr>
          <p:cNvPr id="55" name="直線接點 54">
            <a:extLst>
              <a:ext uri="{FF2B5EF4-FFF2-40B4-BE49-F238E27FC236}">
                <a16:creationId xmlns:a16="http://schemas.microsoft.com/office/drawing/2014/main" id="{C10045B4-1FB8-4761-BD4E-63A0CDEE5A7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F8AC03C-8107-4602-90FD-5BA4D7D4A093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974034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eyebrow">
            <a:extLst>
              <a:ext uri="{FF2B5EF4-FFF2-40B4-BE49-F238E27FC236}">
                <a16:creationId xmlns:a16="http://schemas.microsoft.com/office/drawing/2014/main" id="{F30CB606-E40A-484D-92D5-A59CC520248B}"/>
              </a:ext>
            </a:extLst>
          </p:cNvPr>
          <p:cNvSpPr>
            <a:spLocks noGrp="1"/>
          </p:cNvSpPr>
          <p:nvPr/>
        </p:nvSpPr>
        <p:spPr>
          <a:xfrm>
            <a:off x="457200" y="171450"/>
            <a:ext cx="619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A8B"/>
                </a:solidFill>
                <a:latin typeface="Arial"/>
                <a:ea typeface="Arial"/>
                <a:cs typeface="Arial"/>
              </a:rPr>
              <a:t>C.3.1 · LOCAL-DIE AUTOMATION  |  RTL → RETARGET → VCS</a:t>
            </a:r>
          </a:p>
        </p:txBody>
      </p:sp>
      <p:sp>
        <p:nvSpPr>
          <p:cNvPr id="2" name="title-one-csv">
            <a:extLst>
              <a:ext uri="{FF2B5EF4-FFF2-40B4-BE49-F238E27FC236}">
                <a16:creationId xmlns:a16="http://schemas.microsoft.com/office/drawing/2014/main" id="{5D3624D7-1612-4FBA-B249-980CA6151775}"/>
              </a:ext>
            </a:extLst>
          </p:cNvPr>
          <p:cNvSpPr>
            <a:spLocks noGrp="1"/>
          </p:cNvSpPr>
          <p:nvPr/>
        </p:nvSpPr>
        <p:spPr>
          <a:xfrm>
            <a:off x="457200" y="390525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146B5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6B50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ONE CSV</a:t>
            </a:r>
          </a:p>
        </p:txBody>
      </p:sp>
      <p:sp>
        <p:nvSpPr>
          <p:cNvPr id="3" name="title-middle">
            <a:extLst>
              <a:ext uri="{FF2B5EF4-FFF2-40B4-BE49-F238E27FC236}">
                <a16:creationId xmlns:a16="http://schemas.microsoft.com/office/drawing/2014/main" id="{9D3D554D-724B-4746-8CCD-DC88D7DF27D0}"/>
              </a:ext>
            </a:extLst>
          </p:cNvPr>
          <p:cNvSpPr>
            <a:spLocks noGrp="1"/>
          </p:cNvSpPr>
          <p:nvPr/>
        </p:nvSpPr>
        <p:spPr>
          <a:xfrm>
            <a:off x="2276475" y="390525"/>
            <a:ext cx="417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4912"/>
          </a:bodyPr>
          <a:lstStyle/>
          <a:p>
            <a:pPr algn="l">
              <a:buNone/>
              <a:defRPr sz="2925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DRIVES THE COMPLETE</a:t>
            </a:r>
          </a:p>
        </p:txBody>
      </p:sp>
      <p:sp>
        <p:nvSpPr>
          <p:cNvPr id="4" name="title-end">
            <a:extLst>
              <a:ext uri="{FF2B5EF4-FFF2-40B4-BE49-F238E27FC236}">
                <a16:creationId xmlns:a16="http://schemas.microsoft.com/office/drawing/2014/main" id="{D655F113-F19A-497B-BD45-1594F99B1B91}"/>
              </a:ext>
            </a:extLst>
          </p:cNvPr>
          <p:cNvSpPr>
            <a:spLocks noGrp="1"/>
          </p:cNvSpPr>
          <p:nvPr/>
        </p:nvSpPr>
        <p:spPr>
          <a:xfrm>
            <a:off x="6648450" y="390525"/>
            <a:ext cx="5086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2925" b="1">
                <a:solidFill>
                  <a:srgbClr val="0B629C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B629C"/>
                </a:solidFill>
                <a:latin typeface="Arial"/>
                <a:ea typeface="Arial"/>
                <a:cs typeface="Arial"/>
              </a:rPr>
              <a:t>DFT-TO-PATTERN FLOW</a:t>
            </a: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4BA5B926-AC38-40F5-B866-33E010C6EAAA}"/>
              </a:ext>
            </a:extLst>
          </p:cNvPr>
          <p:cNvSpPr>
            <a:spLocks noGrp="1"/>
          </p:cNvSpPr>
          <p:nvPr/>
        </p:nvSpPr>
        <p:spPr>
          <a:xfrm>
            <a:off x="457200" y="895350"/>
            <a:ext cx="11277600" cy="47625"/>
          </a:xfrm>
          <a:prstGeom prst="rect">
            <a:avLst/>
          </a:prstGeom>
          <a:solidFill>
            <a:srgbClr val="EE6A21"/>
          </a:solidFill>
          <a:ln w="0">
            <a:solidFill>
              <a:srgbClr val="EE6A21"/>
            </a:solidFill>
            <a:prstDash val="solid"/>
          </a:ln>
        </p:spPr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AE41869F-DA3C-43B4-8EAD-B4F426E56380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11277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Design intent is captured once; reusable Python/Tcl generates every local-die handoff through VCS pattern verification.</a:t>
            </a:r>
          </a:p>
        </p:txBody>
      </p:sp>
      <p:sp>
        <p:nvSpPr>
          <p:cNvPr id="7" name="arrow-input-configure">
            <a:extLst>
              <a:ext uri="{FF2B5EF4-FFF2-40B4-BE49-F238E27FC236}">
                <a16:creationId xmlns:a16="http://schemas.microsoft.com/office/drawing/2014/main" id="{6F9316AA-0D9E-4BAC-8CE3-A97D79292AB7}"/>
              </a:ext>
            </a:extLst>
          </p:cNvPr>
          <p:cNvSpPr>
            <a:spLocks noGrp="1"/>
          </p:cNvSpPr>
          <p:nvPr/>
        </p:nvSpPr>
        <p:spPr>
          <a:xfrm>
            <a:off x="2676525" y="2276475"/>
            <a:ext cx="371475" cy="295275"/>
          </a:xfrm>
          <a:prstGeom prst="rightArrow">
            <a:avLst/>
          </a:prstGeom>
          <a:solidFill>
            <a:srgbClr val="EE6A21"/>
          </a:solidFill>
          <a:ln w="0">
            <a:solidFill>
              <a:srgbClr val="EE6A21"/>
            </a:solidFill>
            <a:prstDash val="solid"/>
          </a:ln>
        </p:spPr>
      </p:sp>
      <p:sp>
        <p:nvSpPr>
          <p:cNvPr id="8" name="arrow-configure-insert">
            <a:extLst>
              <a:ext uri="{FF2B5EF4-FFF2-40B4-BE49-F238E27FC236}">
                <a16:creationId xmlns:a16="http://schemas.microsoft.com/office/drawing/2014/main" id="{42C87C11-5D7B-4483-B034-417B4B3FD8B3}"/>
              </a:ext>
            </a:extLst>
          </p:cNvPr>
          <p:cNvSpPr>
            <a:spLocks noGrp="1"/>
          </p:cNvSpPr>
          <p:nvPr/>
        </p:nvSpPr>
        <p:spPr>
          <a:xfrm>
            <a:off x="5562600" y="2276475"/>
            <a:ext cx="285750" cy="295275"/>
          </a:xfrm>
          <a:prstGeom prst="rightArrow">
            <a:avLst/>
          </a:prstGeom>
          <a:solidFill>
            <a:srgbClr val="1781BD"/>
          </a:solidFill>
          <a:ln w="0">
            <a:solidFill>
              <a:srgbClr val="1781BD"/>
            </a:solidFill>
            <a:prstDash val="solid"/>
          </a:ln>
        </p:spPr>
      </p:sp>
      <p:sp>
        <p:nvSpPr>
          <p:cNvPr id="9" name="arrow-insert-discover">
            <a:extLst>
              <a:ext uri="{FF2B5EF4-FFF2-40B4-BE49-F238E27FC236}">
                <a16:creationId xmlns:a16="http://schemas.microsoft.com/office/drawing/2014/main" id="{A3FA6699-33B7-492F-BD4A-93DE739F8DD5}"/>
              </a:ext>
            </a:extLst>
          </p:cNvPr>
          <p:cNvSpPr>
            <a:spLocks noGrp="1"/>
          </p:cNvSpPr>
          <p:nvPr/>
        </p:nvSpPr>
        <p:spPr>
          <a:xfrm>
            <a:off x="8362950" y="2276475"/>
            <a:ext cx="285750" cy="295275"/>
          </a:xfrm>
          <a:prstGeom prst="rightArrow">
            <a:avLst/>
          </a:prstGeom>
          <a:solidFill>
            <a:srgbClr val="1781BD"/>
          </a:solidFill>
          <a:ln w="0">
            <a:solidFill>
              <a:srgbClr val="1781BD"/>
            </a:solidFill>
            <a:prstDash val="solid"/>
          </a:ln>
        </p:spPr>
      </p:sp>
      <p:sp>
        <p:nvSpPr>
          <p:cNvPr id="10" name="arrow-discover-retarget">
            <a:extLst>
              <a:ext uri="{FF2B5EF4-FFF2-40B4-BE49-F238E27FC236}">
                <a16:creationId xmlns:a16="http://schemas.microsoft.com/office/drawing/2014/main" id="{0887FACD-7204-469B-BFDA-4717114C5DE1}"/>
              </a:ext>
            </a:extLst>
          </p:cNvPr>
          <p:cNvSpPr>
            <a:spLocks noGrp="1"/>
          </p:cNvSpPr>
          <p:nvPr/>
        </p:nvSpPr>
        <p:spPr>
          <a:xfrm>
            <a:off x="9744075" y="3267075"/>
            <a:ext cx="323850" cy="590550"/>
          </a:xfrm>
          <a:prstGeom prst="downArrow">
            <a:avLst/>
          </a:prstGeom>
          <a:solidFill>
            <a:srgbClr val="1781BD"/>
          </a:solidFill>
          <a:ln w="0">
            <a:solidFill>
              <a:srgbClr val="1781BD"/>
            </a:solidFill>
            <a:prstDash val="solid"/>
          </a:ln>
        </p:spPr>
      </p:sp>
      <p:sp>
        <p:nvSpPr>
          <p:cNvPr id="11" name="arrow-retarget-verify">
            <a:extLst>
              <a:ext uri="{FF2B5EF4-FFF2-40B4-BE49-F238E27FC236}">
                <a16:creationId xmlns:a16="http://schemas.microsoft.com/office/drawing/2014/main" id="{AFA0839D-B561-49B1-970A-4170F1C4946E}"/>
              </a:ext>
            </a:extLst>
          </p:cNvPr>
          <p:cNvSpPr>
            <a:spLocks noGrp="1"/>
          </p:cNvSpPr>
          <p:nvPr/>
        </p:nvSpPr>
        <p:spPr>
          <a:xfrm>
            <a:off x="8362950" y="4572000"/>
            <a:ext cx="285750" cy="295275"/>
          </a:xfrm>
          <a:prstGeom prst="leftArrow">
            <a:avLst/>
          </a:prstGeom>
          <a:solidFill>
            <a:srgbClr val="1781BD"/>
          </a:solidFill>
          <a:ln w="0">
            <a:solidFill>
              <a:srgbClr val="1781BD"/>
            </a:solidFill>
            <a:prstDash val="solid"/>
          </a:ln>
        </p:spPr>
      </p:sp>
      <p:sp>
        <p:nvSpPr>
          <p:cNvPr id="12" name="arrow-verify-signoff">
            <a:extLst>
              <a:ext uri="{FF2B5EF4-FFF2-40B4-BE49-F238E27FC236}">
                <a16:creationId xmlns:a16="http://schemas.microsoft.com/office/drawing/2014/main" id="{6ECCE60A-230E-4FD9-87CA-BC04B83E066D}"/>
              </a:ext>
            </a:extLst>
          </p:cNvPr>
          <p:cNvSpPr>
            <a:spLocks noGrp="1"/>
          </p:cNvSpPr>
          <p:nvPr/>
        </p:nvSpPr>
        <p:spPr>
          <a:xfrm>
            <a:off x="5562600" y="4572000"/>
            <a:ext cx="285750" cy="295275"/>
          </a:xfrm>
          <a:prstGeom prst="leftArrow">
            <a:avLst/>
          </a:prstGeom>
          <a:solidFill>
            <a:srgbClr val="20926F"/>
          </a:solidFill>
          <a:ln w="0">
            <a:solidFill>
              <a:srgbClr val="20926F"/>
            </a:solidFill>
            <a:prstDash val="solid"/>
          </a:ln>
        </p:spPr>
      </p:sp>
      <p:sp>
        <p:nvSpPr>
          <p:cNvPr id="13" name="input-zone-label">
            <a:extLst>
              <a:ext uri="{FF2B5EF4-FFF2-40B4-BE49-F238E27FC236}">
                <a16:creationId xmlns:a16="http://schemas.microsoft.com/office/drawing/2014/main" id="{8CFC6259-D31D-4AFF-98DB-8E073661A837}"/>
              </a:ext>
            </a:extLst>
          </p:cNvPr>
          <p:cNvSpPr>
            <a:spLocks noGrp="1"/>
          </p:cNvSpPr>
          <p:nvPr/>
        </p:nvSpPr>
        <p:spPr>
          <a:xfrm>
            <a:off x="457200" y="1304925"/>
            <a:ext cx="2286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146B5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6B50"/>
                </a:solidFill>
                <a:latin typeface="Arial"/>
                <a:ea typeface="Arial"/>
                <a:cs typeface="Arial"/>
              </a:rPr>
              <a:t>1 USER-MAINTAINED INPUT</a:t>
            </a:r>
          </a:p>
        </p:txBody>
      </p:sp>
      <p:sp>
        <p:nvSpPr>
          <p:cNvPr id="14" name="core-zone-label">
            <a:extLst>
              <a:ext uri="{FF2B5EF4-FFF2-40B4-BE49-F238E27FC236}">
                <a16:creationId xmlns:a16="http://schemas.microsoft.com/office/drawing/2014/main" id="{4EB79A3D-5233-4A7F-8035-A3AB948A4211}"/>
              </a:ext>
            </a:extLst>
          </p:cNvPr>
          <p:cNvSpPr>
            <a:spLocks noGrp="1"/>
          </p:cNvSpPr>
          <p:nvPr/>
        </p:nvSpPr>
        <p:spPr>
          <a:xfrm>
            <a:off x="3048000" y="1304925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0B629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29C"/>
                </a:solidFill>
                <a:latin typeface="Arial"/>
                <a:ea typeface="Arial"/>
                <a:cs typeface="Arial"/>
              </a:rPr>
              <a:t>REUSABLE PYTHON / TCL AUTOMATION CORE</a:t>
            </a:r>
          </a:p>
        </p:txBody>
      </p:sp>
      <p:sp>
        <p:nvSpPr>
          <p:cNvPr id="15" name="core-zone-detail">
            <a:extLst>
              <a:ext uri="{FF2B5EF4-FFF2-40B4-BE49-F238E27FC236}">
                <a16:creationId xmlns:a16="http://schemas.microsoft.com/office/drawing/2014/main" id="{721C18D6-90AB-4254-A782-6B38460FEEF6}"/>
              </a:ext>
            </a:extLst>
          </p:cNvPr>
          <p:cNvSpPr>
            <a:spLocks noGrp="1"/>
          </p:cNvSpPr>
          <p:nvPr/>
        </p:nvSpPr>
        <p:spPr>
          <a:xfrm>
            <a:off x="8334375" y="1304925"/>
            <a:ext cx="34004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DESIGN-SPECIFIC DATA STOPS AT THE CSV</a:t>
            </a:r>
          </a:p>
        </p:txBody>
      </p:sp>
      <p:sp>
        <p:nvSpPr>
          <p:cNvPr id="16" name="manifest-frame">
            <a:extLst>
              <a:ext uri="{FF2B5EF4-FFF2-40B4-BE49-F238E27FC236}">
                <a16:creationId xmlns:a16="http://schemas.microsoft.com/office/drawing/2014/main" id="{6236E15B-39A0-4EBB-AC5C-ED0D3E7CC7F0}"/>
              </a:ext>
            </a:extLst>
          </p:cNvPr>
          <p:cNvSpPr>
            <a:spLocks noGrp="1"/>
          </p:cNvSpPr>
          <p:nvPr/>
        </p:nvSpPr>
        <p:spPr>
          <a:xfrm>
            <a:off x="457200" y="1581150"/>
            <a:ext cx="2219325" cy="3962400"/>
          </a:xfrm>
          <a:prstGeom prst="roundRect">
            <a:avLst>
              <a:gd name="adj" fmla="val 5150"/>
            </a:avLst>
          </a:prstGeom>
          <a:solidFill>
            <a:srgbClr val="146B50"/>
          </a:solidFill>
          <a:ln w="0">
            <a:solidFill>
              <a:srgbClr val="146B5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7" name="manifest-orange-edge">
            <a:extLst>
              <a:ext uri="{FF2B5EF4-FFF2-40B4-BE49-F238E27FC236}">
                <a16:creationId xmlns:a16="http://schemas.microsoft.com/office/drawing/2014/main" id="{64CCDE05-2984-48AE-9990-68C9519840B2}"/>
              </a:ext>
            </a:extLst>
          </p:cNvPr>
          <p:cNvSpPr>
            <a:spLocks noGrp="1"/>
          </p:cNvSpPr>
          <p:nvPr/>
        </p:nvSpPr>
        <p:spPr>
          <a:xfrm>
            <a:off x="457200" y="1581150"/>
            <a:ext cx="66675" cy="3962400"/>
          </a:xfrm>
          <a:prstGeom prst="rect">
            <a:avLst/>
          </a:prstGeom>
          <a:solidFill>
            <a:srgbClr val="EE6A21"/>
          </a:solidFill>
          <a:ln w="0">
            <a:solidFill>
              <a:srgbClr val="EE6A21"/>
            </a:solidFill>
            <a:prstDash val="solid"/>
          </a:ln>
        </p:spPr>
      </p:sp>
      <p:sp>
        <p:nvSpPr>
          <p:cNvPr id="18" name="manifest-user">
            <a:extLst>
              <a:ext uri="{FF2B5EF4-FFF2-40B4-BE49-F238E27FC236}">
                <a16:creationId xmlns:a16="http://schemas.microsoft.com/office/drawing/2014/main" id="{AFCF1F28-C667-4BE3-8CAA-28AAF259CF0D}"/>
              </a:ext>
            </a:extLst>
          </p:cNvPr>
          <p:cNvSpPr>
            <a:spLocks noGrp="1"/>
          </p:cNvSpPr>
          <p:nvPr/>
        </p:nvSpPr>
        <p:spPr>
          <a:xfrm>
            <a:off x="647700" y="1733550"/>
            <a:ext cx="1809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buNone/>
              <a:defRPr sz="1200" b="1">
                <a:solidFill>
                  <a:srgbClr val="D8F1E8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D8F1E8"/>
                </a:solidFill>
                <a:latin typeface="Arial"/>
                <a:ea typeface="Arial"/>
                <a:cs typeface="Arial"/>
              </a:rPr>
              <a:t>USER PROVIDES</a:t>
            </a:r>
          </a:p>
        </p:txBody>
      </p:sp>
      <p:sp>
        <p:nvSpPr>
          <p:cNvPr id="19" name="manifest-file">
            <a:extLst>
              <a:ext uri="{FF2B5EF4-FFF2-40B4-BE49-F238E27FC236}">
                <a16:creationId xmlns:a16="http://schemas.microsoft.com/office/drawing/2014/main" id="{4D1D7A9A-81F2-4176-A894-07D48F1C341C}"/>
              </a:ext>
            </a:extLst>
          </p:cNvPr>
          <p:cNvSpPr>
            <a:spLocks noGrp="1"/>
          </p:cNvSpPr>
          <p:nvPr/>
        </p:nvSpPr>
        <p:spPr>
          <a:xfrm>
            <a:off x="647700" y="1962150"/>
            <a:ext cx="17907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8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38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design_config</a:t>
            </a:r>
            <a:r>
              <a:rPr sz="1838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_</a:t>
            </a:r>
          </a:p>
          <a:p>
            <a:pPr algn="l">
              <a:buNone/>
              <a:defRPr sz="183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38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&lt;die&gt;.csv</a:t>
            </a:r>
          </a:p>
        </p:txBody>
      </p:sp>
      <p:sp>
        <p:nvSpPr>
          <p:cNvPr id="20" name="manifest-truth">
            <a:extLst>
              <a:ext uri="{FF2B5EF4-FFF2-40B4-BE49-F238E27FC236}">
                <a16:creationId xmlns:a16="http://schemas.microsoft.com/office/drawing/2014/main" id="{4217A701-1ABA-480A-87B2-B09A5EEEF2BA}"/>
              </a:ext>
            </a:extLst>
          </p:cNvPr>
          <p:cNvSpPr>
            <a:spLocks noGrp="1"/>
          </p:cNvSpPr>
          <p:nvPr/>
        </p:nvSpPr>
        <p:spPr>
          <a:xfrm>
            <a:off x="647700" y="2571750"/>
            <a:ext cx="1790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496"/>
          </a:bodyPr>
          <a:lstStyle/>
          <a:p>
            <a:pPr algn="l">
              <a:buNone/>
              <a:defRPr sz="1200" b="1">
                <a:solidFill>
                  <a:srgbClr val="B7DE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7DED0"/>
                </a:solidFill>
                <a:latin typeface="Arial"/>
                <a:ea typeface="Arial"/>
                <a:cs typeface="Arial"/>
              </a:rPr>
              <a:t>DIE-SPECIFIC SOURCE</a:t>
            </a:r>
          </a:p>
        </p:txBody>
      </p:sp>
      <p:sp>
        <p:nvSpPr>
          <p:cNvPr id="21" name="manifest-rule-0">
            <a:extLst>
              <a:ext uri="{FF2B5EF4-FFF2-40B4-BE49-F238E27FC236}">
                <a16:creationId xmlns:a16="http://schemas.microsoft.com/office/drawing/2014/main" id="{1414CF84-9A24-4906-85EB-B99FBDC21BAE}"/>
              </a:ext>
            </a:extLst>
          </p:cNvPr>
          <p:cNvSpPr>
            <a:spLocks noGrp="1"/>
          </p:cNvSpPr>
          <p:nvPr/>
        </p:nvSpPr>
        <p:spPr>
          <a:xfrm>
            <a:off x="638175" y="2857500"/>
            <a:ext cx="1809750" cy="14288"/>
          </a:xfrm>
          <a:prstGeom prst="rect">
            <a:avLst/>
          </a:prstGeom>
          <a:solidFill>
            <a:srgbClr val="5FA58B"/>
          </a:solidFill>
          <a:ln w="0">
            <a:solidFill>
              <a:srgbClr val="5FA58B"/>
            </a:solidFill>
            <a:prstDash val="solid"/>
          </a:ln>
        </p:spPr>
      </p:sp>
      <p:sp>
        <p:nvSpPr>
          <p:cNvPr id="22" name="manifest-DESIGN-tag">
            <a:extLst>
              <a:ext uri="{FF2B5EF4-FFF2-40B4-BE49-F238E27FC236}">
                <a16:creationId xmlns:a16="http://schemas.microsoft.com/office/drawing/2014/main" id="{365611ED-5FDC-48C3-B2C9-464079E9FAE0}"/>
              </a:ext>
            </a:extLst>
          </p:cNvPr>
          <p:cNvSpPr>
            <a:spLocks noGrp="1"/>
          </p:cNvSpPr>
          <p:nvPr/>
        </p:nvSpPr>
        <p:spPr>
          <a:xfrm>
            <a:off x="638175" y="29527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A7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D8C7"/>
                </a:solidFill>
                <a:latin typeface="Arial"/>
                <a:ea typeface="Arial"/>
                <a:cs typeface="Arial"/>
              </a:rPr>
              <a:t>[DESIGN]</a:t>
            </a:r>
          </a:p>
        </p:txBody>
      </p:sp>
      <p:sp>
        <p:nvSpPr>
          <p:cNvPr id="23" name="manifest-DESIGN-body">
            <a:extLst>
              <a:ext uri="{FF2B5EF4-FFF2-40B4-BE49-F238E27FC236}">
                <a16:creationId xmlns:a16="http://schemas.microsoft.com/office/drawing/2014/main" id="{D18295CE-1A34-436B-AB4C-9ACD615A4A2B}"/>
              </a:ext>
            </a:extLst>
          </p:cNvPr>
          <p:cNvSpPr>
            <a:spLocks noGrp="1"/>
          </p:cNvSpPr>
          <p:nvPr/>
        </p:nvSpPr>
        <p:spPr>
          <a:xfrm>
            <a:off x="638175" y="31527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 · top · RTL list</a:t>
            </a:r>
          </a:p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 / middle / top role</a:t>
            </a:r>
          </a:p>
        </p:txBody>
      </p:sp>
      <p:sp>
        <p:nvSpPr>
          <p:cNvPr id="24" name="manifest-rule-1">
            <a:extLst>
              <a:ext uri="{FF2B5EF4-FFF2-40B4-BE49-F238E27FC236}">
                <a16:creationId xmlns:a16="http://schemas.microsoft.com/office/drawing/2014/main" id="{BA8B1DE5-1178-4292-85AF-5FE74F9DF706}"/>
              </a:ext>
            </a:extLst>
          </p:cNvPr>
          <p:cNvSpPr>
            <a:spLocks noGrp="1"/>
          </p:cNvSpPr>
          <p:nvPr/>
        </p:nvSpPr>
        <p:spPr>
          <a:xfrm>
            <a:off x="638175" y="3514725"/>
            <a:ext cx="1809750" cy="9525"/>
          </a:xfrm>
          <a:prstGeom prst="rect">
            <a:avLst/>
          </a:prstGeom>
          <a:solidFill>
            <a:srgbClr val="5FA58B"/>
          </a:solidFill>
          <a:ln w="0">
            <a:solidFill>
              <a:srgbClr val="5FA58B"/>
            </a:solidFill>
            <a:prstDash val="solid"/>
          </a:ln>
        </p:spPr>
      </p:sp>
      <p:sp>
        <p:nvSpPr>
          <p:cNvPr id="25" name="manifest-TDR-tag">
            <a:extLst>
              <a:ext uri="{FF2B5EF4-FFF2-40B4-BE49-F238E27FC236}">
                <a16:creationId xmlns:a16="http://schemas.microsoft.com/office/drawing/2014/main" id="{FE5CBCD8-2BA8-4AA9-A6EC-E499A6622D83}"/>
              </a:ext>
            </a:extLst>
          </p:cNvPr>
          <p:cNvSpPr>
            <a:spLocks noGrp="1"/>
          </p:cNvSpPr>
          <p:nvPr/>
        </p:nvSpPr>
        <p:spPr>
          <a:xfrm>
            <a:off x="638175" y="36004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A7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D8C7"/>
                </a:solidFill>
                <a:latin typeface="Arial"/>
                <a:ea typeface="Arial"/>
                <a:cs typeface="Arial"/>
              </a:rPr>
              <a:t>[TDR]</a:t>
            </a:r>
          </a:p>
        </p:txBody>
      </p:sp>
      <p:sp>
        <p:nvSpPr>
          <p:cNvPr id="26" name="manifest-TDR-body">
            <a:extLst>
              <a:ext uri="{FF2B5EF4-FFF2-40B4-BE49-F238E27FC236}">
                <a16:creationId xmlns:a16="http://schemas.microsoft.com/office/drawing/2014/main" id="{FDA9A73F-3408-47C2-87E9-3B22F7CF43FD}"/>
              </a:ext>
            </a:extLst>
          </p:cNvPr>
          <p:cNvSpPr>
            <a:spLocks noGrp="1"/>
          </p:cNvSpPr>
          <p:nvPr/>
        </p:nvSpPr>
        <p:spPr>
          <a:xfrm>
            <a:off x="638175" y="38004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instrument · data ports · PDL</a:t>
            </a:r>
          </a:p>
        </p:txBody>
      </p:sp>
      <p:sp>
        <p:nvSpPr>
          <p:cNvPr id="27" name="manifest-rule-2">
            <a:extLst>
              <a:ext uri="{FF2B5EF4-FFF2-40B4-BE49-F238E27FC236}">
                <a16:creationId xmlns:a16="http://schemas.microsoft.com/office/drawing/2014/main" id="{A8654209-9911-486B-9C4C-122FF1865B1A}"/>
              </a:ext>
            </a:extLst>
          </p:cNvPr>
          <p:cNvSpPr>
            <a:spLocks noGrp="1"/>
          </p:cNvSpPr>
          <p:nvPr/>
        </p:nvSpPr>
        <p:spPr>
          <a:xfrm>
            <a:off x="638175" y="4162425"/>
            <a:ext cx="1809750" cy="9525"/>
          </a:xfrm>
          <a:prstGeom prst="rect">
            <a:avLst/>
          </a:prstGeom>
          <a:solidFill>
            <a:srgbClr val="5FA58B"/>
          </a:solidFill>
          <a:ln w="0">
            <a:solidFill>
              <a:srgbClr val="5FA58B"/>
            </a:solidFill>
            <a:prstDash val="solid"/>
          </a:ln>
        </p:spPr>
      </p:sp>
      <p:sp>
        <p:nvSpPr>
          <p:cNvPr id="28" name="manifest-STAP-tag">
            <a:extLst>
              <a:ext uri="{FF2B5EF4-FFF2-40B4-BE49-F238E27FC236}">
                <a16:creationId xmlns:a16="http://schemas.microsoft.com/office/drawing/2014/main" id="{55CEFE8E-DF5F-43A3-9FC5-5EBC70EA8979}"/>
              </a:ext>
            </a:extLst>
          </p:cNvPr>
          <p:cNvSpPr>
            <a:spLocks noGrp="1"/>
          </p:cNvSpPr>
          <p:nvPr/>
        </p:nvSpPr>
        <p:spPr>
          <a:xfrm>
            <a:off x="638175" y="42481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A7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D8C7"/>
                </a:solidFill>
                <a:latin typeface="Arial"/>
                <a:ea typeface="Arial"/>
                <a:cs typeface="Arial"/>
              </a:rPr>
              <a:t>[STAP]</a:t>
            </a:r>
          </a:p>
        </p:txBody>
      </p:sp>
      <p:sp>
        <p:nvSpPr>
          <p:cNvPr id="29" name="manifest-STAP-body">
            <a:extLst>
              <a:ext uri="{FF2B5EF4-FFF2-40B4-BE49-F238E27FC236}">
                <a16:creationId xmlns:a16="http://schemas.microsoft.com/office/drawing/2014/main" id="{ECF83680-A16B-4D75-BE62-5F22CD571034}"/>
              </a:ext>
            </a:extLst>
          </p:cNvPr>
          <p:cNvSpPr>
            <a:spLocks noGrp="1"/>
          </p:cNvSpPr>
          <p:nvPr/>
        </p:nvSpPr>
        <p:spPr>
          <a:xfrm>
            <a:off x="638175" y="44481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secondary TAP ports</a:t>
            </a:r>
          </a:p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stack-access definition</a:t>
            </a:r>
          </a:p>
        </p:txBody>
      </p:sp>
      <p:sp>
        <p:nvSpPr>
          <p:cNvPr id="30" name="manifest-rule-3">
            <a:extLst>
              <a:ext uri="{FF2B5EF4-FFF2-40B4-BE49-F238E27FC236}">
                <a16:creationId xmlns:a16="http://schemas.microsoft.com/office/drawing/2014/main" id="{7ACCB15D-ECBC-488A-84D3-5C82972C1FF7}"/>
              </a:ext>
            </a:extLst>
          </p:cNvPr>
          <p:cNvSpPr>
            <a:spLocks noGrp="1"/>
          </p:cNvSpPr>
          <p:nvPr/>
        </p:nvSpPr>
        <p:spPr>
          <a:xfrm>
            <a:off x="638175" y="4810125"/>
            <a:ext cx="1809750" cy="9525"/>
          </a:xfrm>
          <a:prstGeom prst="rect">
            <a:avLst/>
          </a:prstGeom>
          <a:solidFill>
            <a:srgbClr val="5FA58B"/>
          </a:solidFill>
          <a:ln w="0">
            <a:solidFill>
              <a:srgbClr val="5FA58B"/>
            </a:solidFill>
            <a:prstDash val="solid"/>
          </a:ln>
        </p:spPr>
      </p:sp>
      <p:sp>
        <p:nvSpPr>
          <p:cNvPr id="31" name="manifest-RETARGET-tag">
            <a:extLst>
              <a:ext uri="{FF2B5EF4-FFF2-40B4-BE49-F238E27FC236}">
                <a16:creationId xmlns:a16="http://schemas.microsoft.com/office/drawing/2014/main" id="{2E488BA2-E698-4B7D-ADBF-65E60575B21E}"/>
              </a:ext>
            </a:extLst>
          </p:cNvPr>
          <p:cNvSpPr>
            <a:spLocks noGrp="1"/>
          </p:cNvSpPr>
          <p:nvPr/>
        </p:nvSpPr>
        <p:spPr>
          <a:xfrm>
            <a:off x="638175" y="489585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A7D8C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7D8C7"/>
                </a:solidFill>
                <a:latin typeface="Arial"/>
                <a:ea typeface="Arial"/>
                <a:cs typeface="Arial"/>
              </a:rPr>
              <a:t>[RETARGET]</a:t>
            </a:r>
          </a:p>
        </p:txBody>
      </p:sp>
      <p:sp>
        <p:nvSpPr>
          <p:cNvPr id="32" name="manifest-RETARGET-body">
            <a:extLst>
              <a:ext uri="{FF2B5EF4-FFF2-40B4-BE49-F238E27FC236}">
                <a16:creationId xmlns:a16="http://schemas.microsoft.com/office/drawing/2014/main" id="{01C8F400-DBA6-4E81-A9B5-30D56308BCF3}"/>
              </a:ext>
            </a:extLst>
          </p:cNvPr>
          <p:cNvSpPr>
            <a:spLocks noGrp="1"/>
          </p:cNvSpPr>
          <p:nvPr/>
        </p:nvSpPr>
        <p:spPr>
          <a:xfrm>
            <a:off x="638175" y="5095875"/>
            <a:ext cx="1866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clock · reset · black boxes</a:t>
            </a:r>
          </a:p>
          <a:p>
            <a:pPr algn="l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pattern environment</a:t>
            </a:r>
          </a:p>
        </p:txBody>
      </p:sp>
      <p:sp>
        <p:nvSpPr>
          <p:cNvPr id="33" name="stage-1-frame">
            <a:extLst>
              <a:ext uri="{FF2B5EF4-FFF2-40B4-BE49-F238E27FC236}">
                <a16:creationId xmlns:a16="http://schemas.microsoft.com/office/drawing/2014/main" id="{F4B8CA19-0AB0-4084-9917-BFD793E72BA4}"/>
              </a:ext>
            </a:extLst>
          </p:cNvPr>
          <p:cNvSpPr>
            <a:spLocks noGrp="1"/>
          </p:cNvSpPr>
          <p:nvPr/>
        </p:nvSpPr>
        <p:spPr>
          <a:xfrm>
            <a:off x="3048000" y="1581150"/>
            <a:ext cx="2514600" cy="1685925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4288">
            <a:solidFill>
              <a:srgbClr val="8EB6C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4" name="stage-1-header">
            <a:extLst>
              <a:ext uri="{FF2B5EF4-FFF2-40B4-BE49-F238E27FC236}">
                <a16:creationId xmlns:a16="http://schemas.microsoft.com/office/drawing/2014/main" id="{332C0B5C-5888-4F69-8899-C1A935C70C62}"/>
              </a:ext>
            </a:extLst>
          </p:cNvPr>
          <p:cNvSpPr>
            <a:spLocks noGrp="1"/>
          </p:cNvSpPr>
          <p:nvPr/>
        </p:nvSpPr>
        <p:spPr>
          <a:xfrm>
            <a:off x="3048000" y="1581150"/>
            <a:ext cx="2514600" cy="457200"/>
          </a:xfrm>
          <a:prstGeom prst="rect">
            <a:avLst/>
          </a:prstGeom>
          <a:solidFill>
            <a:srgbClr val="0B629C"/>
          </a:solidFill>
          <a:ln w="0">
            <a:solidFill>
              <a:srgbClr val="0B629C"/>
            </a:solidFill>
            <a:prstDash val="solid"/>
          </a:ln>
        </p:spPr>
      </p:sp>
      <p:sp>
        <p:nvSpPr>
          <p:cNvPr id="35" name="stage-1-number-block">
            <a:extLst>
              <a:ext uri="{FF2B5EF4-FFF2-40B4-BE49-F238E27FC236}">
                <a16:creationId xmlns:a16="http://schemas.microsoft.com/office/drawing/2014/main" id="{C1EBBA33-AB51-4DF0-BB45-913C3E344D70}"/>
              </a:ext>
            </a:extLst>
          </p:cNvPr>
          <p:cNvSpPr>
            <a:spLocks noGrp="1"/>
          </p:cNvSpPr>
          <p:nvPr/>
        </p:nvSpPr>
        <p:spPr>
          <a:xfrm>
            <a:off x="3048000" y="1581150"/>
            <a:ext cx="476250" cy="457200"/>
          </a:xfrm>
          <a:prstGeom prst="rect">
            <a:avLst/>
          </a:prstGeom>
          <a:solidFill>
            <a:srgbClr val="103C5E"/>
          </a:solidFill>
          <a:ln w="0">
            <a:solidFill>
              <a:srgbClr val="103C5E"/>
            </a:solidFill>
            <a:prstDash val="solid"/>
          </a:ln>
        </p:spPr>
      </p:sp>
      <p:sp>
        <p:nvSpPr>
          <p:cNvPr id="36" name="stage-1-number">
            <a:extLst>
              <a:ext uri="{FF2B5EF4-FFF2-40B4-BE49-F238E27FC236}">
                <a16:creationId xmlns:a16="http://schemas.microsoft.com/office/drawing/2014/main" id="{A13E1B70-D84D-4174-87F2-1449757BE220}"/>
              </a:ext>
            </a:extLst>
          </p:cNvPr>
          <p:cNvSpPr>
            <a:spLocks noGrp="1"/>
          </p:cNvSpPr>
          <p:nvPr/>
        </p:nvSpPr>
        <p:spPr>
          <a:xfrm>
            <a:off x="3048000" y="158115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7" name="stage-1-title">
            <a:extLst>
              <a:ext uri="{FF2B5EF4-FFF2-40B4-BE49-F238E27FC236}">
                <a16:creationId xmlns:a16="http://schemas.microsoft.com/office/drawing/2014/main" id="{69A51F20-0866-4BC4-B95A-AC7223C436C7}"/>
              </a:ext>
            </a:extLst>
          </p:cNvPr>
          <p:cNvSpPr>
            <a:spLocks noGrp="1"/>
          </p:cNvSpPr>
          <p:nvPr/>
        </p:nvSpPr>
        <p:spPr>
          <a:xfrm>
            <a:off x="3638550" y="1581150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38" name="stage-1-script">
            <a:extLst>
              <a:ext uri="{FF2B5EF4-FFF2-40B4-BE49-F238E27FC236}">
                <a16:creationId xmlns:a16="http://schemas.microsoft.com/office/drawing/2014/main" id="{DAA9EBA5-DA2B-436B-96CF-3ABABD7B64BA}"/>
              </a:ext>
            </a:extLst>
          </p:cNvPr>
          <p:cNvSpPr>
            <a:spLocks noGrp="1"/>
          </p:cNvSpPr>
          <p:nvPr/>
        </p:nvSpPr>
        <p:spPr>
          <a:xfrm>
            <a:off x="3200400" y="20955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275"/>
          </a:bodyPr>
          <a:lstStyle/>
          <a:p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gen_read_config.py</a:t>
            </a:r>
          </a:p>
        </p:txBody>
      </p:sp>
      <p:sp>
        <p:nvSpPr>
          <p:cNvPr id="39" name="stage-1-action">
            <a:extLst>
              <a:ext uri="{FF2B5EF4-FFF2-40B4-BE49-F238E27FC236}">
                <a16:creationId xmlns:a16="http://schemas.microsoft.com/office/drawing/2014/main" id="{0630C147-F3B8-4027-AB75-7EDAFFFBCFD0}"/>
              </a:ext>
            </a:extLst>
          </p:cNvPr>
          <p:cNvSpPr>
            <a:spLocks noGrp="1"/>
          </p:cNvSpPr>
          <p:nvPr/>
        </p:nvSpPr>
        <p:spPr>
          <a:xfrm>
            <a:off x="3200400" y="2314575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721" lnSpcReduction="10000"/>
          </a:bodyPr>
          <a:lstStyle/>
          <a:p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Builds the die-specific Tessent setup from the CSV.</a:t>
            </a:r>
          </a:p>
        </p:txBody>
      </p:sp>
      <p:sp>
        <p:nvSpPr>
          <p:cNvPr id="40" name="stage-1-artifact-band">
            <a:extLst>
              <a:ext uri="{FF2B5EF4-FFF2-40B4-BE49-F238E27FC236}">
                <a16:creationId xmlns:a16="http://schemas.microsoft.com/office/drawing/2014/main" id="{CC2A7A8A-5179-405E-AE64-F28F501DA584}"/>
              </a:ext>
            </a:extLst>
          </p:cNvPr>
          <p:cNvSpPr>
            <a:spLocks noGrp="1"/>
          </p:cNvSpPr>
          <p:nvPr/>
        </p:nvSpPr>
        <p:spPr>
          <a:xfrm>
            <a:off x="3048000" y="2647950"/>
            <a:ext cx="2514600" cy="619125"/>
          </a:xfrm>
          <a:prstGeom prst="rect">
            <a:avLst/>
          </a:prstGeom>
          <a:noFill/>
          <a:ln w="7620">
            <a:solidFill>
              <a:srgbClr val="F1D4C3"/>
            </a:solidFill>
            <a:prstDash val="solid"/>
          </a:ln>
        </p:spPr>
      </p:sp>
      <p:sp>
        <p:nvSpPr>
          <p:cNvPr id="41" name="stage-1-artifact-label">
            <a:extLst>
              <a:ext uri="{FF2B5EF4-FFF2-40B4-BE49-F238E27FC236}">
                <a16:creationId xmlns:a16="http://schemas.microsoft.com/office/drawing/2014/main" id="{4DFD3788-9B32-40BD-9D58-1883ED452055}"/>
              </a:ext>
            </a:extLst>
          </p:cNvPr>
          <p:cNvSpPr>
            <a:spLocks noGrp="1"/>
          </p:cNvSpPr>
          <p:nvPr/>
        </p:nvSpPr>
        <p:spPr>
          <a:xfrm>
            <a:off x="3181350" y="2647950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391"/>
          </a:bodyPr>
          <a:lstStyle/>
          <a:p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42" name="stage-1-artifact">
            <a:extLst>
              <a:ext uri="{FF2B5EF4-FFF2-40B4-BE49-F238E27FC236}">
                <a16:creationId xmlns:a16="http://schemas.microsoft.com/office/drawing/2014/main" id="{AFF28F28-F283-4C1D-980F-F13E8F2EB189}"/>
              </a:ext>
            </a:extLst>
          </p:cNvPr>
          <p:cNvSpPr>
            <a:spLocks noGrp="1"/>
          </p:cNvSpPr>
          <p:nvPr/>
        </p:nvSpPr>
        <p:spPr>
          <a:xfrm>
            <a:off x="3181350" y="2847975"/>
            <a:ext cx="22479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341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insert_vars.tcl — setup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ijtag_spec.tcl — host map</a:t>
            </a:r>
          </a:p>
        </p:txBody>
      </p:sp>
      <p:sp>
        <p:nvSpPr>
          <p:cNvPr id="43" name="stage-2-frame">
            <a:extLst>
              <a:ext uri="{FF2B5EF4-FFF2-40B4-BE49-F238E27FC236}">
                <a16:creationId xmlns:a16="http://schemas.microsoft.com/office/drawing/2014/main" id="{7323196D-196A-47E3-9A4B-59F41E367BF2}"/>
              </a:ext>
            </a:extLst>
          </p:cNvPr>
          <p:cNvSpPr>
            <a:spLocks noGrp="1"/>
          </p:cNvSpPr>
          <p:nvPr/>
        </p:nvSpPr>
        <p:spPr>
          <a:xfrm>
            <a:off x="5848350" y="1581150"/>
            <a:ext cx="2514600" cy="1685925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4288">
            <a:solidFill>
              <a:srgbClr val="8EB6C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4" name="stage-2-header">
            <a:extLst>
              <a:ext uri="{FF2B5EF4-FFF2-40B4-BE49-F238E27FC236}">
                <a16:creationId xmlns:a16="http://schemas.microsoft.com/office/drawing/2014/main" id="{0F40B7E0-9811-4D1A-94B0-CB260CC6E0B8}"/>
              </a:ext>
            </a:extLst>
          </p:cNvPr>
          <p:cNvSpPr>
            <a:spLocks noGrp="1"/>
          </p:cNvSpPr>
          <p:nvPr/>
        </p:nvSpPr>
        <p:spPr>
          <a:xfrm>
            <a:off x="5848350" y="1581150"/>
            <a:ext cx="2514600" cy="457200"/>
          </a:xfrm>
          <a:prstGeom prst="rect">
            <a:avLst/>
          </a:prstGeom>
          <a:solidFill>
            <a:srgbClr val="0B629C"/>
          </a:solidFill>
          <a:ln w="0">
            <a:solidFill>
              <a:srgbClr val="0B629C"/>
            </a:solidFill>
            <a:prstDash val="solid"/>
          </a:ln>
        </p:spPr>
      </p:sp>
      <p:sp>
        <p:nvSpPr>
          <p:cNvPr id="45" name="stage-2-number-block">
            <a:extLst>
              <a:ext uri="{FF2B5EF4-FFF2-40B4-BE49-F238E27FC236}">
                <a16:creationId xmlns:a16="http://schemas.microsoft.com/office/drawing/2014/main" id="{696DD54A-4F74-461C-AE4C-98D0A5347C09}"/>
              </a:ext>
            </a:extLst>
          </p:cNvPr>
          <p:cNvSpPr>
            <a:spLocks noGrp="1"/>
          </p:cNvSpPr>
          <p:nvPr/>
        </p:nvSpPr>
        <p:spPr>
          <a:xfrm>
            <a:off x="5848350" y="1581150"/>
            <a:ext cx="476250" cy="457200"/>
          </a:xfrm>
          <a:prstGeom prst="rect">
            <a:avLst/>
          </a:prstGeom>
          <a:solidFill>
            <a:srgbClr val="103C5E"/>
          </a:solidFill>
          <a:ln w="0">
            <a:solidFill>
              <a:srgbClr val="103C5E"/>
            </a:solidFill>
            <a:prstDash val="solid"/>
          </a:ln>
        </p:spPr>
      </p:sp>
      <p:sp>
        <p:nvSpPr>
          <p:cNvPr id="46" name="stage-2-number">
            <a:extLst>
              <a:ext uri="{FF2B5EF4-FFF2-40B4-BE49-F238E27FC236}">
                <a16:creationId xmlns:a16="http://schemas.microsoft.com/office/drawing/2014/main" id="{F1DF328F-3ACB-4F22-A359-32C88C9D57D0}"/>
              </a:ext>
            </a:extLst>
          </p:cNvPr>
          <p:cNvSpPr>
            <a:spLocks noGrp="1"/>
          </p:cNvSpPr>
          <p:nvPr/>
        </p:nvSpPr>
        <p:spPr>
          <a:xfrm>
            <a:off x="5848350" y="158115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7" name="stage-2-title">
            <a:extLst>
              <a:ext uri="{FF2B5EF4-FFF2-40B4-BE49-F238E27FC236}">
                <a16:creationId xmlns:a16="http://schemas.microsoft.com/office/drawing/2014/main" id="{B35499F5-EBD2-4ACF-B206-573D76FBD46A}"/>
              </a:ext>
            </a:extLst>
          </p:cNvPr>
          <p:cNvSpPr>
            <a:spLocks noGrp="1"/>
          </p:cNvSpPr>
          <p:nvPr/>
        </p:nvSpPr>
        <p:spPr>
          <a:xfrm>
            <a:off x="6438900" y="1581150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INSERT DFT</a:t>
            </a:r>
          </a:p>
        </p:txBody>
      </p:sp>
      <p:sp>
        <p:nvSpPr>
          <p:cNvPr id="48" name="stage-2-script">
            <a:extLst>
              <a:ext uri="{FF2B5EF4-FFF2-40B4-BE49-F238E27FC236}">
                <a16:creationId xmlns:a16="http://schemas.microsoft.com/office/drawing/2014/main" id="{580CE835-7946-444F-8C91-471120058E96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275"/>
          </a:bodyPr>
          <a:lstStyle/>
          <a:p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run_insert.sh</a:t>
            </a:r>
          </a:p>
        </p:txBody>
      </p:sp>
      <p:sp>
        <p:nvSpPr>
          <p:cNvPr id="49" name="stage-2-action">
            <a:extLst>
              <a:ext uri="{FF2B5EF4-FFF2-40B4-BE49-F238E27FC236}">
                <a16:creationId xmlns:a16="http://schemas.microsoft.com/office/drawing/2014/main" id="{BC25253C-B7D5-4D9C-A1AB-046E7460063F}"/>
              </a:ext>
            </a:extLst>
          </p:cNvPr>
          <p:cNvSpPr>
            <a:spLocks noGrp="1"/>
          </p:cNvSpPr>
          <p:nvPr/>
        </p:nvSpPr>
        <p:spPr>
          <a:xfrm>
            <a:off x="6000750" y="2314575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721" lnSpcReduction="10000"/>
          </a:bodyPr>
          <a:lstStyle/>
          <a:p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Runs Tessent insertion and exports the local-die database.</a:t>
            </a:r>
          </a:p>
        </p:txBody>
      </p:sp>
      <p:sp>
        <p:nvSpPr>
          <p:cNvPr id="50" name="stage-2-artifact-band">
            <a:extLst>
              <a:ext uri="{FF2B5EF4-FFF2-40B4-BE49-F238E27FC236}">
                <a16:creationId xmlns:a16="http://schemas.microsoft.com/office/drawing/2014/main" id="{70E69BC5-318C-46B7-A007-06195EF7D3CC}"/>
              </a:ext>
            </a:extLst>
          </p:cNvPr>
          <p:cNvSpPr>
            <a:spLocks noGrp="1"/>
          </p:cNvSpPr>
          <p:nvPr/>
        </p:nvSpPr>
        <p:spPr>
          <a:xfrm>
            <a:off x="5848350" y="2647950"/>
            <a:ext cx="2514600" cy="619125"/>
          </a:xfrm>
          <a:prstGeom prst="rect">
            <a:avLst/>
          </a:prstGeom>
          <a:noFill/>
          <a:ln w="7620">
            <a:solidFill>
              <a:srgbClr val="F1D4C3"/>
            </a:solidFill>
            <a:prstDash val="solid"/>
          </a:ln>
        </p:spPr>
      </p:sp>
      <p:sp>
        <p:nvSpPr>
          <p:cNvPr id="51" name="stage-2-artifact-label">
            <a:extLst>
              <a:ext uri="{FF2B5EF4-FFF2-40B4-BE49-F238E27FC236}">
                <a16:creationId xmlns:a16="http://schemas.microsoft.com/office/drawing/2014/main" id="{E2F00E17-EDE9-4C70-A699-FC607C359F87}"/>
              </a:ext>
            </a:extLst>
          </p:cNvPr>
          <p:cNvSpPr>
            <a:spLocks noGrp="1"/>
          </p:cNvSpPr>
          <p:nvPr/>
        </p:nvSpPr>
        <p:spPr>
          <a:xfrm>
            <a:off x="5981700" y="2647950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391"/>
          </a:bodyPr>
          <a:lstStyle/>
          <a:p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52" name="stage-2-artifact">
            <a:extLst>
              <a:ext uri="{FF2B5EF4-FFF2-40B4-BE49-F238E27FC236}">
                <a16:creationId xmlns:a16="http://schemas.microsoft.com/office/drawing/2014/main" id="{30C75105-8F89-420C-8EB3-6A414DE1E8BE}"/>
              </a:ext>
            </a:extLst>
          </p:cNvPr>
          <p:cNvSpPr>
            <a:spLocks noGrp="1"/>
          </p:cNvSpPr>
          <p:nvPr/>
        </p:nvSpPr>
        <p:spPr>
          <a:xfrm>
            <a:off x="5981700" y="2847975"/>
            <a:ext cx="22479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255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dft_inserted.v — inserted RTL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design.icl / dft.tsdb — access DB</a:t>
            </a:r>
          </a:p>
        </p:txBody>
      </p:sp>
      <p:sp>
        <p:nvSpPr>
          <p:cNvPr id="53" name="stage-3-frame">
            <a:extLst>
              <a:ext uri="{FF2B5EF4-FFF2-40B4-BE49-F238E27FC236}">
                <a16:creationId xmlns:a16="http://schemas.microsoft.com/office/drawing/2014/main" id="{3D5E7C3E-8E41-4A3C-9A1B-D09550FE5F9C}"/>
              </a:ext>
            </a:extLst>
          </p:cNvPr>
          <p:cNvSpPr>
            <a:spLocks noGrp="1"/>
          </p:cNvSpPr>
          <p:nvPr/>
        </p:nvSpPr>
        <p:spPr>
          <a:xfrm>
            <a:off x="8648700" y="1581150"/>
            <a:ext cx="2514600" cy="1685925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4288">
            <a:solidFill>
              <a:srgbClr val="8EB6C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4" name="stage-3-header">
            <a:extLst>
              <a:ext uri="{FF2B5EF4-FFF2-40B4-BE49-F238E27FC236}">
                <a16:creationId xmlns:a16="http://schemas.microsoft.com/office/drawing/2014/main" id="{B39CFD62-39B9-48A7-8813-04AB0CC0AA0F}"/>
              </a:ext>
            </a:extLst>
          </p:cNvPr>
          <p:cNvSpPr>
            <a:spLocks noGrp="1"/>
          </p:cNvSpPr>
          <p:nvPr/>
        </p:nvSpPr>
        <p:spPr>
          <a:xfrm>
            <a:off x="8648700" y="1581150"/>
            <a:ext cx="2514600" cy="457200"/>
          </a:xfrm>
          <a:prstGeom prst="rect">
            <a:avLst/>
          </a:prstGeom>
          <a:solidFill>
            <a:srgbClr val="0B629C"/>
          </a:solidFill>
          <a:ln w="0">
            <a:solidFill>
              <a:srgbClr val="0B629C"/>
            </a:solidFill>
            <a:prstDash val="solid"/>
          </a:ln>
        </p:spPr>
      </p:sp>
      <p:sp>
        <p:nvSpPr>
          <p:cNvPr id="55" name="stage-3-number-block">
            <a:extLst>
              <a:ext uri="{FF2B5EF4-FFF2-40B4-BE49-F238E27FC236}">
                <a16:creationId xmlns:a16="http://schemas.microsoft.com/office/drawing/2014/main" id="{1C800CBA-4545-4552-ABF0-776FFED1F72C}"/>
              </a:ext>
            </a:extLst>
          </p:cNvPr>
          <p:cNvSpPr>
            <a:spLocks noGrp="1"/>
          </p:cNvSpPr>
          <p:nvPr/>
        </p:nvSpPr>
        <p:spPr>
          <a:xfrm>
            <a:off x="8648700" y="1581150"/>
            <a:ext cx="476250" cy="457200"/>
          </a:xfrm>
          <a:prstGeom prst="rect">
            <a:avLst/>
          </a:prstGeom>
          <a:solidFill>
            <a:srgbClr val="103C5E"/>
          </a:solidFill>
          <a:ln w="0">
            <a:solidFill>
              <a:srgbClr val="103C5E"/>
            </a:solidFill>
            <a:prstDash val="solid"/>
          </a:ln>
        </p:spPr>
      </p:sp>
      <p:sp>
        <p:nvSpPr>
          <p:cNvPr id="56" name="stage-3-number">
            <a:extLst>
              <a:ext uri="{FF2B5EF4-FFF2-40B4-BE49-F238E27FC236}">
                <a16:creationId xmlns:a16="http://schemas.microsoft.com/office/drawing/2014/main" id="{1236FACB-C5FD-4149-B604-BE81474F8B4C}"/>
              </a:ext>
            </a:extLst>
          </p:cNvPr>
          <p:cNvSpPr>
            <a:spLocks noGrp="1"/>
          </p:cNvSpPr>
          <p:nvPr/>
        </p:nvSpPr>
        <p:spPr>
          <a:xfrm>
            <a:off x="8648700" y="1581150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7" name="stage-3-title">
            <a:extLst>
              <a:ext uri="{FF2B5EF4-FFF2-40B4-BE49-F238E27FC236}">
                <a16:creationId xmlns:a16="http://schemas.microsoft.com/office/drawing/2014/main" id="{21E7C3C6-E20F-4CE4-842F-3EA261F3F184}"/>
              </a:ext>
            </a:extLst>
          </p:cNvPr>
          <p:cNvSpPr>
            <a:spLocks noGrp="1"/>
          </p:cNvSpPr>
          <p:nvPr/>
        </p:nvSpPr>
        <p:spPr>
          <a:xfrm>
            <a:off x="9239250" y="1581150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DISCOVER ICL</a:t>
            </a:r>
          </a:p>
        </p:txBody>
      </p:sp>
      <p:sp>
        <p:nvSpPr>
          <p:cNvPr id="58" name="stage-3-script">
            <a:extLst>
              <a:ext uri="{FF2B5EF4-FFF2-40B4-BE49-F238E27FC236}">
                <a16:creationId xmlns:a16="http://schemas.microsoft.com/office/drawing/2014/main" id="{5D9AEA7D-CCE2-44F6-ACC3-D0E905B8434C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275"/>
          </a:bodyPr>
          <a:lstStyle/>
          <a:p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parse_icl.py</a:t>
            </a:r>
          </a:p>
        </p:txBody>
      </p:sp>
      <p:sp>
        <p:nvSpPr>
          <p:cNvPr id="59" name="stage-3-action">
            <a:extLst>
              <a:ext uri="{FF2B5EF4-FFF2-40B4-BE49-F238E27FC236}">
                <a16:creationId xmlns:a16="http://schemas.microsoft.com/office/drawing/2014/main" id="{6B62DB75-AC55-4FC1-9504-C6E50EC7013C}"/>
              </a:ext>
            </a:extLst>
          </p:cNvPr>
          <p:cNvSpPr>
            <a:spLocks noGrp="1"/>
          </p:cNvSpPr>
          <p:nvPr/>
        </p:nvSpPr>
        <p:spPr>
          <a:xfrm>
            <a:off x="8801100" y="2314575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721" lnSpcReduction="10000"/>
          </a:bodyPr>
          <a:lstStyle/>
          <a:p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Finds instruments and builds the retarget context.</a:t>
            </a:r>
          </a:p>
        </p:txBody>
      </p:sp>
      <p:sp>
        <p:nvSpPr>
          <p:cNvPr id="60" name="stage-3-artifact-band">
            <a:extLst>
              <a:ext uri="{FF2B5EF4-FFF2-40B4-BE49-F238E27FC236}">
                <a16:creationId xmlns:a16="http://schemas.microsoft.com/office/drawing/2014/main" id="{9ADDCDE5-D559-4205-B688-100B5EB55415}"/>
              </a:ext>
            </a:extLst>
          </p:cNvPr>
          <p:cNvSpPr>
            <a:spLocks noGrp="1"/>
          </p:cNvSpPr>
          <p:nvPr/>
        </p:nvSpPr>
        <p:spPr>
          <a:xfrm>
            <a:off x="8648700" y="2647950"/>
            <a:ext cx="2514600" cy="619125"/>
          </a:xfrm>
          <a:prstGeom prst="rect">
            <a:avLst/>
          </a:prstGeom>
          <a:noFill/>
          <a:ln w="7620">
            <a:solidFill>
              <a:srgbClr val="F1D4C3"/>
            </a:solidFill>
            <a:prstDash val="solid"/>
          </a:ln>
        </p:spPr>
      </p:sp>
      <p:sp>
        <p:nvSpPr>
          <p:cNvPr id="61" name="stage-3-artifact-label">
            <a:extLst>
              <a:ext uri="{FF2B5EF4-FFF2-40B4-BE49-F238E27FC236}">
                <a16:creationId xmlns:a16="http://schemas.microsoft.com/office/drawing/2014/main" id="{E2E09D39-3C70-41CF-80E6-32A05C411FAB}"/>
              </a:ext>
            </a:extLst>
          </p:cNvPr>
          <p:cNvSpPr>
            <a:spLocks noGrp="1"/>
          </p:cNvSpPr>
          <p:nvPr/>
        </p:nvSpPr>
        <p:spPr>
          <a:xfrm>
            <a:off x="8782050" y="2647950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391"/>
          </a:bodyPr>
          <a:lstStyle/>
          <a:p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62" name="stage-3-artifact">
            <a:extLst>
              <a:ext uri="{FF2B5EF4-FFF2-40B4-BE49-F238E27FC236}">
                <a16:creationId xmlns:a16="http://schemas.microsoft.com/office/drawing/2014/main" id="{AD54FDC4-CA01-47AB-BAD1-61552231ADD5}"/>
              </a:ext>
            </a:extLst>
          </p:cNvPr>
          <p:cNvSpPr>
            <a:spLocks noGrp="1"/>
          </p:cNvSpPr>
          <p:nvPr/>
        </p:nvSpPr>
        <p:spPr>
          <a:xfrm>
            <a:off x="8782050" y="2847975"/>
            <a:ext cx="22479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retarget_vars.tcl — setup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retarget_info.txt — paths</a:t>
            </a:r>
          </a:p>
        </p:txBody>
      </p:sp>
      <p:sp>
        <p:nvSpPr>
          <p:cNvPr id="63" name="stage-4-frame">
            <a:extLst>
              <a:ext uri="{FF2B5EF4-FFF2-40B4-BE49-F238E27FC236}">
                <a16:creationId xmlns:a16="http://schemas.microsoft.com/office/drawing/2014/main" id="{1FD00EF0-A55A-48B0-897C-78B469F6BF89}"/>
              </a:ext>
            </a:extLst>
          </p:cNvPr>
          <p:cNvSpPr>
            <a:spLocks noGrp="1"/>
          </p:cNvSpPr>
          <p:nvPr/>
        </p:nvSpPr>
        <p:spPr>
          <a:xfrm>
            <a:off x="8648700" y="3857625"/>
            <a:ext cx="2514600" cy="1685925"/>
          </a:xfrm>
          <a:prstGeom prst="roundRect">
            <a:avLst>
              <a:gd name="adj" fmla="val 5650"/>
            </a:avLst>
          </a:prstGeom>
          <a:solidFill>
            <a:srgbClr val="FFFFFF"/>
          </a:solidFill>
          <a:ln w="14288">
            <a:solidFill>
              <a:srgbClr val="8EB6C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4" name="stage-4-header">
            <a:extLst>
              <a:ext uri="{FF2B5EF4-FFF2-40B4-BE49-F238E27FC236}">
                <a16:creationId xmlns:a16="http://schemas.microsoft.com/office/drawing/2014/main" id="{948B44AC-40AC-45D3-BE52-82F907197484}"/>
              </a:ext>
            </a:extLst>
          </p:cNvPr>
          <p:cNvSpPr>
            <a:spLocks noGrp="1"/>
          </p:cNvSpPr>
          <p:nvPr/>
        </p:nvSpPr>
        <p:spPr>
          <a:xfrm>
            <a:off x="8648700" y="3857625"/>
            <a:ext cx="2514600" cy="457200"/>
          </a:xfrm>
          <a:prstGeom prst="rect">
            <a:avLst/>
          </a:prstGeom>
          <a:solidFill>
            <a:srgbClr val="0B629C"/>
          </a:solidFill>
          <a:ln w="0">
            <a:solidFill>
              <a:srgbClr val="0B629C"/>
            </a:solidFill>
            <a:prstDash val="solid"/>
          </a:ln>
        </p:spPr>
      </p:sp>
      <p:sp>
        <p:nvSpPr>
          <p:cNvPr id="65" name="stage-4-number-block">
            <a:extLst>
              <a:ext uri="{FF2B5EF4-FFF2-40B4-BE49-F238E27FC236}">
                <a16:creationId xmlns:a16="http://schemas.microsoft.com/office/drawing/2014/main" id="{20BBDD99-8560-4386-ADD1-B1AF7CB8D97D}"/>
              </a:ext>
            </a:extLst>
          </p:cNvPr>
          <p:cNvSpPr>
            <a:spLocks noGrp="1"/>
          </p:cNvSpPr>
          <p:nvPr/>
        </p:nvSpPr>
        <p:spPr>
          <a:xfrm>
            <a:off x="8648700" y="3857625"/>
            <a:ext cx="476250" cy="457200"/>
          </a:xfrm>
          <a:prstGeom prst="rect">
            <a:avLst/>
          </a:prstGeom>
          <a:solidFill>
            <a:srgbClr val="103C5E"/>
          </a:solidFill>
          <a:ln w="0">
            <a:solidFill>
              <a:srgbClr val="103C5E"/>
            </a:solidFill>
            <a:prstDash val="solid"/>
          </a:ln>
        </p:spPr>
      </p:sp>
      <p:sp>
        <p:nvSpPr>
          <p:cNvPr id="66" name="stage-4-number">
            <a:extLst>
              <a:ext uri="{FF2B5EF4-FFF2-40B4-BE49-F238E27FC236}">
                <a16:creationId xmlns:a16="http://schemas.microsoft.com/office/drawing/2014/main" id="{F5F7A407-A29B-4676-BACF-AF08C72A0E30}"/>
              </a:ext>
            </a:extLst>
          </p:cNvPr>
          <p:cNvSpPr>
            <a:spLocks noGrp="1"/>
          </p:cNvSpPr>
          <p:nvPr/>
        </p:nvSpPr>
        <p:spPr>
          <a:xfrm>
            <a:off x="8648700" y="3857625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7" name="stage-4-title">
            <a:extLst>
              <a:ext uri="{FF2B5EF4-FFF2-40B4-BE49-F238E27FC236}">
                <a16:creationId xmlns:a16="http://schemas.microsoft.com/office/drawing/2014/main" id="{EF334953-6354-4E2B-9B43-823C2AA211DD}"/>
              </a:ext>
            </a:extLst>
          </p:cNvPr>
          <p:cNvSpPr>
            <a:spLocks noGrp="1"/>
          </p:cNvSpPr>
          <p:nvPr/>
        </p:nvSpPr>
        <p:spPr>
          <a:xfrm>
            <a:off x="9239250" y="3857625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68" name="stage-4-script">
            <a:extLst>
              <a:ext uri="{FF2B5EF4-FFF2-40B4-BE49-F238E27FC236}">
                <a16:creationId xmlns:a16="http://schemas.microsoft.com/office/drawing/2014/main" id="{63EEC33F-D8A4-49F8-BA0B-5EF01DE28BD8}"/>
              </a:ext>
            </a:extLst>
          </p:cNvPr>
          <p:cNvSpPr>
            <a:spLocks noGrp="1"/>
          </p:cNvSpPr>
          <p:nvPr/>
        </p:nvSpPr>
        <p:spPr>
          <a:xfrm>
            <a:off x="8801100" y="4371975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275"/>
          </a:bodyPr>
          <a:lstStyle/>
          <a:p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run_retarget.tcl</a:t>
            </a:r>
          </a:p>
        </p:txBody>
      </p:sp>
      <p:sp>
        <p:nvSpPr>
          <p:cNvPr id="69" name="stage-4-action">
            <a:extLst>
              <a:ext uri="{FF2B5EF4-FFF2-40B4-BE49-F238E27FC236}">
                <a16:creationId xmlns:a16="http://schemas.microsoft.com/office/drawing/2014/main" id="{BBAF8459-EFEA-4965-972C-D8BE69683837}"/>
              </a:ext>
            </a:extLst>
          </p:cNvPr>
          <p:cNvSpPr>
            <a:spLocks noGrp="1"/>
          </p:cNvSpPr>
          <p:nvPr/>
        </p:nvSpPr>
        <p:spPr>
          <a:xfrm>
            <a:off x="8801100" y="45910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721" lnSpcReduction="10000"/>
          </a:bodyPr>
          <a:lstStyle/>
          <a:p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Generates access and STAP-routing patterns.</a:t>
            </a:r>
          </a:p>
        </p:txBody>
      </p:sp>
      <p:sp>
        <p:nvSpPr>
          <p:cNvPr id="70" name="stage-4-artifact-band">
            <a:extLst>
              <a:ext uri="{FF2B5EF4-FFF2-40B4-BE49-F238E27FC236}">
                <a16:creationId xmlns:a16="http://schemas.microsoft.com/office/drawing/2014/main" id="{A070D911-88B5-47DD-93D5-A473EDDC258A}"/>
              </a:ext>
            </a:extLst>
          </p:cNvPr>
          <p:cNvSpPr>
            <a:spLocks noGrp="1"/>
          </p:cNvSpPr>
          <p:nvPr/>
        </p:nvSpPr>
        <p:spPr>
          <a:xfrm>
            <a:off x="8648700" y="4924425"/>
            <a:ext cx="2514600" cy="619125"/>
          </a:xfrm>
          <a:prstGeom prst="rect">
            <a:avLst/>
          </a:prstGeom>
          <a:noFill/>
          <a:ln w="7620">
            <a:solidFill>
              <a:srgbClr val="F1D4C3"/>
            </a:solidFill>
            <a:prstDash val="solid"/>
          </a:ln>
        </p:spPr>
      </p:sp>
      <p:sp>
        <p:nvSpPr>
          <p:cNvPr id="71" name="stage-4-artifact-label">
            <a:extLst>
              <a:ext uri="{FF2B5EF4-FFF2-40B4-BE49-F238E27FC236}">
                <a16:creationId xmlns:a16="http://schemas.microsoft.com/office/drawing/2014/main" id="{0B51A057-6BCC-4D43-9B07-E68B4435516A}"/>
              </a:ext>
            </a:extLst>
          </p:cNvPr>
          <p:cNvSpPr>
            <a:spLocks noGrp="1"/>
          </p:cNvSpPr>
          <p:nvPr/>
        </p:nvSpPr>
        <p:spPr>
          <a:xfrm>
            <a:off x="8782050" y="492442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391"/>
          </a:bodyPr>
          <a:lstStyle/>
          <a:p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72" name="stage-4-artifact">
            <a:extLst>
              <a:ext uri="{FF2B5EF4-FFF2-40B4-BE49-F238E27FC236}">
                <a16:creationId xmlns:a16="http://schemas.microsoft.com/office/drawing/2014/main" id="{B0C60F72-A9C8-4ED2-95F9-D8C2FC234C77}"/>
              </a:ext>
            </a:extLst>
          </p:cNvPr>
          <p:cNvSpPr>
            <a:spLocks noGrp="1"/>
          </p:cNvSpPr>
          <p:nvPr/>
        </p:nvSpPr>
        <p:spPr>
          <a:xfrm>
            <a:off x="8782050" y="5124450"/>
            <a:ext cx="22479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255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local_patterns.v — VCS pattern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STAP / PDL — route + operations</a:t>
            </a:r>
          </a:p>
        </p:txBody>
      </p:sp>
      <p:sp>
        <p:nvSpPr>
          <p:cNvPr id="73" name="stage-5-frame">
            <a:extLst>
              <a:ext uri="{FF2B5EF4-FFF2-40B4-BE49-F238E27FC236}">
                <a16:creationId xmlns:a16="http://schemas.microsoft.com/office/drawing/2014/main" id="{2EEBCDF9-5FB0-4106-B422-4C6F3585D456}"/>
              </a:ext>
            </a:extLst>
          </p:cNvPr>
          <p:cNvSpPr>
            <a:spLocks noGrp="1"/>
          </p:cNvSpPr>
          <p:nvPr/>
        </p:nvSpPr>
        <p:spPr>
          <a:xfrm>
            <a:off x="5848350" y="3857625"/>
            <a:ext cx="2514600" cy="1685925"/>
          </a:xfrm>
          <a:prstGeom prst="roundRect">
            <a:avLst>
              <a:gd name="adj" fmla="val 5650"/>
            </a:avLst>
          </a:prstGeom>
          <a:solidFill>
            <a:srgbClr val="E8F5EF"/>
          </a:solidFill>
          <a:ln w="14288">
            <a:solidFill>
              <a:srgbClr val="87BB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4" name="stage-5-header">
            <a:extLst>
              <a:ext uri="{FF2B5EF4-FFF2-40B4-BE49-F238E27FC236}">
                <a16:creationId xmlns:a16="http://schemas.microsoft.com/office/drawing/2014/main" id="{BC7541CE-5900-491E-926F-ADF9FF73B942}"/>
              </a:ext>
            </a:extLst>
          </p:cNvPr>
          <p:cNvSpPr>
            <a:spLocks noGrp="1"/>
          </p:cNvSpPr>
          <p:nvPr/>
        </p:nvSpPr>
        <p:spPr>
          <a:xfrm>
            <a:off x="5848350" y="3857625"/>
            <a:ext cx="2514600" cy="457200"/>
          </a:xfrm>
          <a:prstGeom prst="rect">
            <a:avLst/>
          </a:prstGeom>
          <a:solidFill>
            <a:srgbClr val="146B50"/>
          </a:solidFill>
          <a:ln w="0">
            <a:solidFill>
              <a:srgbClr val="146B50"/>
            </a:solidFill>
            <a:prstDash val="solid"/>
          </a:ln>
        </p:spPr>
      </p:sp>
      <p:sp>
        <p:nvSpPr>
          <p:cNvPr id="75" name="stage-5-number-block">
            <a:extLst>
              <a:ext uri="{FF2B5EF4-FFF2-40B4-BE49-F238E27FC236}">
                <a16:creationId xmlns:a16="http://schemas.microsoft.com/office/drawing/2014/main" id="{261712F2-0CBF-4E9A-A83D-B66117C30ED4}"/>
              </a:ext>
            </a:extLst>
          </p:cNvPr>
          <p:cNvSpPr>
            <a:spLocks noGrp="1"/>
          </p:cNvSpPr>
          <p:nvPr/>
        </p:nvSpPr>
        <p:spPr>
          <a:xfrm>
            <a:off x="5848350" y="3857625"/>
            <a:ext cx="476250" cy="457200"/>
          </a:xfrm>
          <a:prstGeom prst="rect">
            <a:avLst/>
          </a:prstGeom>
          <a:solidFill>
            <a:srgbClr val="20926F"/>
          </a:solidFill>
          <a:ln w="0">
            <a:solidFill>
              <a:srgbClr val="20926F"/>
            </a:solidFill>
            <a:prstDash val="solid"/>
          </a:ln>
        </p:spPr>
      </p:sp>
      <p:sp>
        <p:nvSpPr>
          <p:cNvPr id="76" name="stage-5-number">
            <a:extLst>
              <a:ext uri="{FF2B5EF4-FFF2-40B4-BE49-F238E27FC236}">
                <a16:creationId xmlns:a16="http://schemas.microsoft.com/office/drawing/2014/main" id="{056667F9-6AB5-428C-A180-FECB48982FC2}"/>
              </a:ext>
            </a:extLst>
          </p:cNvPr>
          <p:cNvSpPr>
            <a:spLocks noGrp="1"/>
          </p:cNvSpPr>
          <p:nvPr/>
        </p:nvSpPr>
        <p:spPr>
          <a:xfrm>
            <a:off x="5848350" y="3857625"/>
            <a:ext cx="47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7" name="stage-5-title">
            <a:extLst>
              <a:ext uri="{FF2B5EF4-FFF2-40B4-BE49-F238E27FC236}">
                <a16:creationId xmlns:a16="http://schemas.microsoft.com/office/drawing/2014/main" id="{5134DDFF-C4C5-4E09-ABDA-0EBF2DE76441}"/>
              </a:ext>
            </a:extLst>
          </p:cNvPr>
          <p:cNvSpPr>
            <a:spLocks noGrp="1"/>
          </p:cNvSpPr>
          <p:nvPr/>
        </p:nvSpPr>
        <p:spPr>
          <a:xfrm>
            <a:off x="6438900" y="3857625"/>
            <a:ext cx="1828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buNone/>
              <a:defRPr sz="168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8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78" name="stage-5-script">
            <a:extLst>
              <a:ext uri="{FF2B5EF4-FFF2-40B4-BE49-F238E27FC236}">
                <a16:creationId xmlns:a16="http://schemas.microsoft.com/office/drawing/2014/main" id="{BEFAF0BE-6E08-4C23-8EE4-4485F3C7DEA1}"/>
              </a:ext>
            </a:extLst>
          </p:cNvPr>
          <p:cNvSpPr>
            <a:spLocks noGrp="1"/>
          </p:cNvSpPr>
          <p:nvPr/>
        </p:nvSpPr>
        <p:spPr>
          <a:xfrm>
            <a:off x="6000750" y="4371975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275"/>
          </a:bodyPr>
          <a:lstStyle/>
          <a:p>
            <a:pPr algn="l">
              <a:buNone/>
              <a:defRPr sz="1448" b="1">
                <a:solidFill>
                  <a:srgbClr val="0A2238"/>
                </a:solidFill>
                <a:latin typeface="Arial"/>
                <a:ea typeface="Arial"/>
                <a:cs typeface="Arial"/>
              </a:defRPr>
            </a:pPr>
            <a:r>
              <a:rPr sz="1448" b="1">
                <a:solidFill>
                  <a:srgbClr val="0A2238"/>
                </a:solidFill>
                <a:latin typeface="Arial"/>
                <a:ea typeface="Arial"/>
                <a:cs typeface="Arial"/>
              </a:rPr>
              <a:t>run_sim.sh</a:t>
            </a:r>
          </a:p>
        </p:txBody>
      </p:sp>
      <p:sp>
        <p:nvSpPr>
          <p:cNvPr id="79" name="stage-5-action">
            <a:extLst>
              <a:ext uri="{FF2B5EF4-FFF2-40B4-BE49-F238E27FC236}">
                <a16:creationId xmlns:a16="http://schemas.microsoft.com/office/drawing/2014/main" id="{52602D19-5DF5-4DFB-8447-B734AC91E503}"/>
              </a:ext>
            </a:extLst>
          </p:cNvPr>
          <p:cNvSpPr>
            <a:spLocks noGrp="1"/>
          </p:cNvSpPr>
          <p:nvPr/>
        </p:nvSpPr>
        <p:spPr>
          <a:xfrm>
            <a:off x="6000750" y="4591050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721" lnSpcReduction="10000"/>
          </a:bodyPr>
          <a:lstStyle/>
          <a:p>
            <a:pPr algn="l">
              <a:buNone/>
              <a:defRPr sz="1200" b="1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Runs VCS and checks the serial-access waveform.</a:t>
            </a:r>
          </a:p>
        </p:txBody>
      </p:sp>
      <p:sp>
        <p:nvSpPr>
          <p:cNvPr id="80" name="stage-5-artifact-band">
            <a:extLst>
              <a:ext uri="{FF2B5EF4-FFF2-40B4-BE49-F238E27FC236}">
                <a16:creationId xmlns:a16="http://schemas.microsoft.com/office/drawing/2014/main" id="{25C5F54A-BBA5-487B-9122-EC2F87E8832A}"/>
              </a:ext>
            </a:extLst>
          </p:cNvPr>
          <p:cNvSpPr>
            <a:spLocks noGrp="1"/>
          </p:cNvSpPr>
          <p:nvPr/>
        </p:nvSpPr>
        <p:spPr>
          <a:xfrm>
            <a:off x="5848350" y="4924425"/>
            <a:ext cx="2514600" cy="619125"/>
          </a:xfrm>
          <a:prstGeom prst="rect">
            <a:avLst/>
          </a:prstGeom>
          <a:noFill/>
          <a:ln w="7620">
            <a:solidFill>
              <a:srgbClr val="F1D4C3"/>
            </a:solidFill>
            <a:prstDash val="solid"/>
          </a:ln>
        </p:spPr>
      </p:sp>
      <p:sp>
        <p:nvSpPr>
          <p:cNvPr id="81" name="stage-5-artifact-label">
            <a:extLst>
              <a:ext uri="{FF2B5EF4-FFF2-40B4-BE49-F238E27FC236}">
                <a16:creationId xmlns:a16="http://schemas.microsoft.com/office/drawing/2014/main" id="{C1958274-B99F-4316-B6E4-B27BD0D4594B}"/>
              </a:ext>
            </a:extLst>
          </p:cNvPr>
          <p:cNvSpPr>
            <a:spLocks noGrp="1"/>
          </p:cNvSpPr>
          <p:nvPr/>
        </p:nvSpPr>
        <p:spPr>
          <a:xfrm>
            <a:off x="5981700" y="4924425"/>
            <a:ext cx="1123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391"/>
          </a:bodyPr>
          <a:lstStyle/>
          <a:p>
            <a:pPr algn="l">
              <a:buNone/>
              <a:defRPr sz="1200" b="1">
                <a:solidFill>
                  <a:srgbClr val="C84A0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84A0A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82" name="stage-5-artifact">
            <a:extLst>
              <a:ext uri="{FF2B5EF4-FFF2-40B4-BE49-F238E27FC236}">
                <a16:creationId xmlns:a16="http://schemas.microsoft.com/office/drawing/2014/main" id="{DFCE4B34-0C32-4950-9EBB-33360EDE9657}"/>
              </a:ext>
            </a:extLst>
          </p:cNvPr>
          <p:cNvSpPr>
            <a:spLocks noGrp="1"/>
          </p:cNvSpPr>
          <p:nvPr/>
        </p:nvSpPr>
        <p:spPr>
          <a:xfrm>
            <a:off x="5981700" y="5124450"/>
            <a:ext cx="224790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755"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sim.log / waveform DB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314A5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4A5E"/>
                </a:solidFill>
                <a:latin typeface="Arial"/>
                <a:ea typeface="Arial"/>
                <a:cs typeface="Arial"/>
              </a:rPr>
              <a:t>PASS / FAIL — data check</a:t>
            </a:r>
          </a:p>
        </p:txBody>
      </p:sp>
      <p:sp>
        <p:nvSpPr>
          <p:cNvPr id="83" name="signoff-frame">
            <a:extLst>
              <a:ext uri="{FF2B5EF4-FFF2-40B4-BE49-F238E27FC236}">
                <a16:creationId xmlns:a16="http://schemas.microsoft.com/office/drawing/2014/main" id="{5AD024CC-6592-4B7D-95C6-151E072DB64F}"/>
              </a:ext>
            </a:extLst>
          </p:cNvPr>
          <p:cNvSpPr>
            <a:spLocks noGrp="1"/>
          </p:cNvSpPr>
          <p:nvPr/>
        </p:nvSpPr>
        <p:spPr>
          <a:xfrm>
            <a:off x="3048000" y="3857625"/>
            <a:ext cx="2514600" cy="1685925"/>
          </a:xfrm>
          <a:prstGeom prst="roundRect">
            <a:avLst>
              <a:gd name="adj" fmla="val 6780"/>
            </a:avLst>
          </a:prstGeom>
          <a:solidFill>
            <a:srgbClr val="0A2238"/>
          </a:solidFill>
          <a:ln w="0">
            <a:solidFill>
              <a:srgbClr val="0A223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84" name="signoff-accent">
            <a:extLst>
              <a:ext uri="{FF2B5EF4-FFF2-40B4-BE49-F238E27FC236}">
                <a16:creationId xmlns:a16="http://schemas.microsoft.com/office/drawing/2014/main" id="{3E9AFA6B-FF81-4945-8E6F-82991FC3FBBD}"/>
              </a:ext>
            </a:extLst>
          </p:cNvPr>
          <p:cNvSpPr>
            <a:spLocks noGrp="1"/>
          </p:cNvSpPr>
          <p:nvPr/>
        </p:nvSpPr>
        <p:spPr>
          <a:xfrm>
            <a:off x="3048000" y="3857625"/>
            <a:ext cx="66675" cy="1685925"/>
          </a:xfrm>
          <a:prstGeom prst="rect">
            <a:avLst/>
          </a:prstGeom>
          <a:solidFill>
            <a:srgbClr val="20926F"/>
          </a:solidFill>
          <a:ln w="0">
            <a:solidFill>
              <a:srgbClr val="20926F"/>
            </a:solidFill>
            <a:prstDash val="solid"/>
          </a:ln>
        </p:spPr>
      </p:sp>
      <p:sp>
        <p:nvSpPr>
          <p:cNvPr id="85" name="signoff-check-circle">
            <a:extLst>
              <a:ext uri="{FF2B5EF4-FFF2-40B4-BE49-F238E27FC236}">
                <a16:creationId xmlns:a16="http://schemas.microsoft.com/office/drawing/2014/main" id="{7F3621F3-5EF8-44A8-9DF6-17641EF88EB1}"/>
              </a:ext>
            </a:extLst>
          </p:cNvPr>
          <p:cNvSpPr>
            <a:spLocks noGrp="1"/>
          </p:cNvSpPr>
          <p:nvPr/>
        </p:nvSpPr>
        <p:spPr>
          <a:xfrm>
            <a:off x="3219450" y="4057650"/>
            <a:ext cx="495300" cy="495300"/>
          </a:xfrm>
          <a:prstGeom prst="ellipse">
            <a:avLst/>
          </a:prstGeom>
          <a:solidFill>
            <a:srgbClr val="20926F"/>
          </a:solidFill>
          <a:ln w="0">
            <a:solidFill>
              <a:srgbClr val="20926F"/>
            </a:solidFill>
            <a:prstDash val="solid"/>
          </a:ln>
        </p:spPr>
      </p:sp>
      <p:sp>
        <p:nvSpPr>
          <p:cNvPr id="86" name="signoff-check">
            <a:extLst>
              <a:ext uri="{FF2B5EF4-FFF2-40B4-BE49-F238E27FC236}">
                <a16:creationId xmlns:a16="http://schemas.microsoft.com/office/drawing/2014/main" id="{6BEF80B2-E759-4E10-BBB0-C6EE2B04BE14}"/>
              </a:ext>
            </a:extLst>
          </p:cNvPr>
          <p:cNvSpPr>
            <a:spLocks noGrp="1"/>
          </p:cNvSpPr>
          <p:nvPr/>
        </p:nvSpPr>
        <p:spPr>
          <a:xfrm>
            <a:off x="3219450" y="4010025"/>
            <a:ext cx="4953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7" name="signoff-eyebrow">
            <a:extLst>
              <a:ext uri="{FF2B5EF4-FFF2-40B4-BE49-F238E27FC236}">
                <a16:creationId xmlns:a16="http://schemas.microsoft.com/office/drawing/2014/main" id="{6B0DF11E-8015-4C03-8FAD-406A21BEBD3D}"/>
              </a:ext>
            </a:extLst>
          </p:cNvPr>
          <p:cNvSpPr>
            <a:spLocks noGrp="1"/>
          </p:cNvSpPr>
          <p:nvPr/>
        </p:nvSpPr>
        <p:spPr>
          <a:xfrm>
            <a:off x="3829050" y="4029075"/>
            <a:ext cx="156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lnSpcReduction="10000"/>
          </a:bodyPr>
          <a:lstStyle/>
          <a:p>
            <a:pPr algn="l">
              <a:buNone/>
              <a:defRPr sz="1200" b="1">
                <a:solidFill>
                  <a:srgbClr val="AFC8D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FC8DA"/>
                </a:solidFill>
                <a:latin typeface="Arial"/>
                <a:ea typeface="Arial"/>
                <a:cs typeface="Arial"/>
              </a:rPr>
              <a:t>LOCAL-DIE RESULT</a:t>
            </a:r>
          </a:p>
        </p:txBody>
      </p:sp>
      <p:sp>
        <p:nvSpPr>
          <p:cNvPr id="88" name="signoff-title">
            <a:extLst>
              <a:ext uri="{FF2B5EF4-FFF2-40B4-BE49-F238E27FC236}">
                <a16:creationId xmlns:a16="http://schemas.microsoft.com/office/drawing/2014/main" id="{D4666986-556D-45D7-AACD-A9329D100F89}"/>
              </a:ext>
            </a:extLst>
          </p:cNvPr>
          <p:cNvSpPr>
            <a:spLocks noGrp="1"/>
          </p:cNvSpPr>
          <p:nvPr/>
        </p:nvSpPr>
        <p:spPr>
          <a:xfrm>
            <a:off x="3829050" y="4219575"/>
            <a:ext cx="1600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7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VCS PATTERN</a:t>
            </a:r>
          </a:p>
          <a:p>
            <a:pPr algn="l">
              <a:buNone/>
              <a:defRPr sz="1763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63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89" name="signoff-rule">
            <a:extLst>
              <a:ext uri="{FF2B5EF4-FFF2-40B4-BE49-F238E27FC236}">
                <a16:creationId xmlns:a16="http://schemas.microsoft.com/office/drawing/2014/main" id="{B2529435-945C-401C-9F1F-9F8A9C4E0A97}"/>
              </a:ext>
            </a:extLst>
          </p:cNvPr>
          <p:cNvSpPr>
            <a:spLocks noGrp="1"/>
          </p:cNvSpPr>
          <p:nvPr/>
        </p:nvSpPr>
        <p:spPr>
          <a:xfrm>
            <a:off x="3219450" y="4924425"/>
            <a:ext cx="2171700" cy="14288"/>
          </a:xfrm>
          <a:prstGeom prst="rect">
            <a:avLst/>
          </a:prstGeom>
          <a:solidFill>
            <a:srgbClr val="36566F"/>
          </a:solidFill>
          <a:ln w="0">
            <a:solidFill>
              <a:srgbClr val="36566F"/>
            </a:solidFill>
            <a:prstDash val="solid"/>
          </a:ln>
        </p:spPr>
      </p:sp>
      <p:sp>
        <p:nvSpPr>
          <p:cNvPr id="90" name="signoff-evidence">
            <a:extLst>
              <a:ext uri="{FF2B5EF4-FFF2-40B4-BE49-F238E27FC236}">
                <a16:creationId xmlns:a16="http://schemas.microsoft.com/office/drawing/2014/main" id="{30FA6510-7EF7-4A14-ABAF-1B788AE8909E}"/>
              </a:ext>
            </a:extLst>
          </p:cNvPr>
          <p:cNvSpPr>
            <a:spLocks noGrp="1"/>
          </p:cNvSpPr>
          <p:nvPr/>
        </p:nvSpPr>
        <p:spPr>
          <a:xfrm>
            <a:off x="3219450" y="5010150"/>
            <a:ext cx="2171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118" lnSpcReduction="10000"/>
          </a:bodyPr>
          <a:lstStyle/>
          <a:p>
            <a:pPr algn="l">
              <a:buNone/>
              <a:defRPr sz="1200" b="1">
                <a:solidFill>
                  <a:srgbClr val="E7F0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F0F7"/>
                </a:solidFill>
                <a:latin typeface="Arial"/>
                <a:ea typeface="Arial"/>
                <a:cs typeface="Arial"/>
              </a:rPr>
              <a:t>retargeted pattern executes</a:t>
            </a:r>
          </a:p>
          <a:p>
            <a:pPr algn="l">
              <a:buNone/>
              <a:defRPr sz="1200" b="1">
                <a:solidFill>
                  <a:srgbClr val="E7F0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7F0F7"/>
                </a:solidFill>
                <a:latin typeface="Arial"/>
                <a:ea typeface="Arial"/>
                <a:cs typeface="Arial"/>
              </a:rPr>
              <a:t>waveform checked  ·  verdict recorded</a:t>
            </a:r>
          </a:p>
        </p:txBody>
      </p:sp>
      <p:sp>
        <p:nvSpPr>
          <p:cNvPr id="91" name="contribution-bar">
            <a:extLst>
              <a:ext uri="{FF2B5EF4-FFF2-40B4-BE49-F238E27FC236}">
                <a16:creationId xmlns:a16="http://schemas.microsoft.com/office/drawing/2014/main" id="{6791A39A-D0D4-4893-A6DE-1C24D4A7D0B0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1277600" cy="714375"/>
          </a:xfrm>
          <a:prstGeom prst="rect">
            <a:avLst/>
          </a:prstGeom>
          <a:solidFill>
            <a:srgbClr val="0A2238"/>
          </a:solidFill>
          <a:ln w="0">
            <a:solidFill>
              <a:srgbClr val="0A2238"/>
            </a:solidFill>
            <a:prstDash val="solid"/>
          </a:ln>
        </p:spPr>
      </p:sp>
      <p:sp>
        <p:nvSpPr>
          <p:cNvPr id="92" name="contribution-accent">
            <a:extLst>
              <a:ext uri="{FF2B5EF4-FFF2-40B4-BE49-F238E27FC236}">
                <a16:creationId xmlns:a16="http://schemas.microsoft.com/office/drawing/2014/main" id="{65410EFB-7A21-42BE-9A03-91708B05F7E6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76200" cy="714375"/>
          </a:xfrm>
          <a:prstGeom prst="rect">
            <a:avLst/>
          </a:prstGeom>
          <a:solidFill>
            <a:srgbClr val="EE6A21"/>
          </a:solidFill>
          <a:ln w="0">
            <a:solidFill>
              <a:srgbClr val="EE6A21"/>
            </a:solidFill>
            <a:prstDash val="solid"/>
          </a:ln>
        </p:spPr>
      </p:sp>
      <p:sp>
        <p:nvSpPr>
          <p:cNvPr id="93" name="contribution-label">
            <a:extLst>
              <a:ext uri="{FF2B5EF4-FFF2-40B4-BE49-F238E27FC236}">
                <a16:creationId xmlns:a16="http://schemas.microsoft.com/office/drawing/2014/main" id="{FFF7CE49-0A2D-4301-A439-AB4FC8C66499}"/>
              </a:ext>
            </a:extLst>
          </p:cNvPr>
          <p:cNvSpPr>
            <a:spLocks noGrp="1"/>
          </p:cNvSpPr>
          <p:nvPr/>
        </p:nvSpPr>
        <p:spPr>
          <a:xfrm>
            <a:off x="685800" y="5924550"/>
            <a:ext cx="2266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lnSpcReduction="10000"/>
          </a:bodyPr>
          <a:lstStyle/>
          <a:p>
            <a:pPr algn="l">
              <a:buNone/>
              <a:defRPr sz="1200" b="1">
                <a:solidFill>
                  <a:srgbClr val="FF7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A2E"/>
                </a:solidFill>
                <a:latin typeface="Arial"/>
                <a:ea typeface="Arial"/>
                <a:cs typeface="Arial"/>
              </a:rPr>
              <a:t>AUTOMATION CONTRIBUTION</a:t>
            </a:r>
          </a:p>
        </p:txBody>
      </p:sp>
      <p:sp>
        <p:nvSpPr>
          <p:cNvPr id="94" name="contribution-main">
            <a:extLst>
              <a:ext uri="{FF2B5EF4-FFF2-40B4-BE49-F238E27FC236}">
                <a16:creationId xmlns:a16="http://schemas.microsoft.com/office/drawing/2014/main" id="{7921CE1E-1A27-4C29-84BD-90C8BBD6206E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668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933"/>
          </a:bodyPr>
          <a:lstStyle/>
          <a:p>
            <a:pPr algn="l">
              <a:buNone/>
              <a:defRPr sz="15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DATA ENTERS ONCE — EVERY FILE HANDOFF IS GENERATED, EXPLAINED, RETARGETED AND VERIFIED.</a:t>
            </a:r>
          </a:p>
        </p:txBody>
      </p:sp>
      <p:sp>
        <p:nvSpPr>
          <p:cNvPr id="95" name="footer">
            <a:extLst>
              <a:ext uri="{FF2B5EF4-FFF2-40B4-BE49-F238E27FC236}">
                <a16:creationId xmlns:a16="http://schemas.microsoft.com/office/drawing/2014/main" id="{425ED948-6B46-4F4D-837D-30780E01F3A3}"/>
              </a:ext>
            </a:extLst>
          </p:cNvPr>
          <p:cNvSpPr>
            <a:spLocks noGrp="1"/>
          </p:cNvSpPr>
          <p:nvPr/>
        </p:nvSpPr>
        <p:spPr>
          <a:xfrm>
            <a:off x="457200" y="6572250"/>
            <a:ext cx="11277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r">
              <a:buNone/>
              <a:defRPr sz="1200" b="1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57A8B"/>
                </a:solidFill>
                <a:latin typeface="Arial"/>
                <a:ea typeface="Arial"/>
                <a:cs typeface="Arial"/>
              </a:rPr>
              <a:t>BLUE = REUSABLE  |  ORANGE = GENERATED  |  GREEN = INPUT / VERIFICATION</a:t>
            </a:r>
          </a:p>
        </p:txBody>
      </p:sp>
      <p:sp>
        <p:nvSpPr>
          <p:cNvPr id="96" name="page-marker">
            <a:extLst>
              <a:ext uri="{FF2B5EF4-FFF2-40B4-BE49-F238E27FC236}">
                <a16:creationId xmlns:a16="http://schemas.microsoft.com/office/drawing/2014/main" id="{6E45812C-12B3-40B4-B5BC-484E3B463E35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1200">
                <a:solidFill>
                  <a:srgbClr val="657A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57A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040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>
            <a:extLst>
              <a:ext uri="{FF2B5EF4-FFF2-40B4-BE49-F238E27FC236}">
                <a16:creationId xmlns:a16="http://schemas.microsoft.com/office/drawing/2014/main" id="{F02C319F-A644-4708-8981-DCD783D62866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 · CONCLUSION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72634F-933A-48B0-8B31-F4ADD6BE5ACC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slide-11-title">
            <a:extLst>
              <a:ext uri="{FF2B5EF4-FFF2-40B4-BE49-F238E27FC236}">
                <a16:creationId xmlns:a16="http://schemas.microsoft.com/office/drawing/2014/main" id="{00CCB273-28B6-470B-B30D-30709EC6061C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544" lnSpcReduction="1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deliverable is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reusable infrastructure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—not isolated commands.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94EEF770-DBC8-431D-BB2A-188CEE3FEF75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A35BDC-4A17-41F2-8AC4-35894CFEFC3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419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WHAT THIS PROJECT ADDS TO THE TEAM</a:t>
            </a:r>
          </a:p>
        </p:txBody>
      </p:sp>
      <p:sp>
        <p:nvSpPr>
          <p:cNvPr id="6" name="直線接點 5">
            <a:extLst>
              <a:ext uri="{FF2B5EF4-FFF2-40B4-BE49-F238E27FC236}">
                <a16:creationId xmlns:a16="http://schemas.microsoft.com/office/drawing/2014/main" id="{D4D35C6A-7B51-4C65-8E34-3F67536A066F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0" cy="2190750"/>
          </a:xfrm>
          <a:prstGeom prst="line">
            <a:avLst/>
          </a:prstGeom>
          <a:noFill/>
          <a:ln w="47625">
            <a:solidFill>
              <a:srgbClr val="0B6B9E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09682B-84A6-453C-A96D-3A23B245EA4C}"/>
              </a:ext>
            </a:extLst>
          </p:cNvPr>
          <p:cNvSpPr>
            <a:spLocks noGrp="1"/>
          </p:cNvSpPr>
          <p:nvPr/>
        </p:nvSpPr>
        <p:spPr>
          <a:xfrm>
            <a:off x="819150" y="20002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063CC9F-27D0-4CAB-A08F-391D0B482146}"/>
              </a:ext>
            </a:extLst>
          </p:cNvPr>
          <p:cNvSpPr>
            <a:spLocks noGrp="1"/>
          </p:cNvSpPr>
          <p:nvPr/>
        </p:nvSpPr>
        <p:spPr>
          <a:xfrm>
            <a:off x="819150" y="24003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REUSABLE</a:t>
            </a:r>
          </a:p>
          <a:p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44176C-3DB5-49CB-BF5F-BCB3846A964D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Separates design-specific inputs from the reusable Tessent procedure.</a:t>
            </a:r>
          </a:p>
        </p:txBody>
      </p:sp>
      <p:sp>
        <p:nvSpPr>
          <p:cNvPr id="10" name="直線接點 9">
            <a:extLst>
              <a:ext uri="{FF2B5EF4-FFF2-40B4-BE49-F238E27FC236}">
                <a16:creationId xmlns:a16="http://schemas.microsoft.com/office/drawing/2014/main" id="{E26FF11F-C7BE-42DC-A52A-7CE88B8392F2}"/>
              </a:ext>
            </a:extLst>
          </p:cNvPr>
          <p:cNvSpPr>
            <a:spLocks noGrp="1"/>
          </p:cNvSpPr>
          <p:nvPr/>
        </p:nvSpPr>
        <p:spPr>
          <a:xfrm>
            <a:off x="4305300" y="2000250"/>
            <a:ext cx="0" cy="2190750"/>
          </a:xfrm>
          <a:prstGeom prst="line">
            <a:avLst/>
          </a:prstGeom>
          <a:noFill/>
          <a:ln w="47625">
            <a:solidFill>
              <a:srgbClr val="1F7B72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C02B8-05BA-475B-AAAD-096023F03D08}"/>
              </a:ext>
            </a:extLst>
          </p:cNvPr>
          <p:cNvSpPr>
            <a:spLocks noGrp="1"/>
          </p:cNvSpPr>
          <p:nvPr/>
        </p:nvSpPr>
        <p:spPr>
          <a:xfrm>
            <a:off x="4514850" y="20002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301F53-0259-4E32-BC3C-280CB02DA8DD}"/>
              </a:ext>
            </a:extLst>
          </p:cNvPr>
          <p:cNvSpPr>
            <a:spLocks noGrp="1"/>
          </p:cNvSpPr>
          <p:nvPr/>
        </p:nvSpPr>
        <p:spPr>
          <a:xfrm>
            <a:off x="4514850" y="24003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PROGRESSIVE</a:t>
            </a:r>
          </a:p>
          <a:p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CORRECTNESS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608AA1-9CCA-499A-9520-856A382D58E4}"/>
              </a:ext>
            </a:extLst>
          </p:cNvPr>
          <p:cNvSpPr>
            <a:spLocks noGrp="1"/>
          </p:cNvSpPr>
          <p:nvPr/>
        </p:nvSpPr>
        <p:spPr>
          <a:xfrm>
            <a:off x="4514850" y="32385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954"/>
          </a:bodyPr>
          <a:lstStyle/>
          <a:p>
            <a:pPr algn="l">
              <a:lnSpc>
                <a:spcPct val="102000"/>
              </a:lnSpc>
              <a:buNone/>
              <a:defRPr sz="15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Defines gates from configuration reports to stack-level simulation evidence.</a:t>
            </a:r>
          </a:p>
        </p:txBody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E783F126-5B84-4F76-A608-1D5D24139015}"/>
              </a:ext>
            </a:extLst>
          </p:cNvPr>
          <p:cNvSpPr>
            <a:spLocks noGrp="1"/>
          </p:cNvSpPr>
          <p:nvPr/>
        </p:nvSpPr>
        <p:spPr>
          <a:xfrm>
            <a:off x="8001000" y="2000250"/>
            <a:ext cx="0" cy="2190750"/>
          </a:xfrm>
          <a:prstGeom prst="line">
            <a:avLst/>
          </a:prstGeom>
          <a:noFill/>
          <a:ln w="47625">
            <a:solidFill>
              <a:srgbClr val="D96B30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E87B743-C0DE-4F06-83F6-51E5852BE05C}"/>
              </a:ext>
            </a:extLst>
          </p:cNvPr>
          <p:cNvSpPr>
            <a:spLocks noGrp="1"/>
          </p:cNvSpPr>
          <p:nvPr/>
        </p:nvSpPr>
        <p:spPr>
          <a:xfrm>
            <a:off x="8210550" y="2000250"/>
            <a:ext cx="533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CE16AFB-BF3A-4888-AE8C-3A8BB8C0C8E5}"/>
              </a:ext>
            </a:extLst>
          </p:cNvPr>
          <p:cNvSpPr>
            <a:spLocks noGrp="1"/>
          </p:cNvSpPr>
          <p:nvPr/>
        </p:nvSpPr>
        <p:spPr>
          <a:xfrm>
            <a:off x="8210550" y="2400300"/>
            <a:ext cx="285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SCALABLE</a:t>
            </a:r>
          </a:p>
          <a:p>
            <a:pPr algn="l">
              <a:lnSpc>
                <a:spcPct val="102000"/>
              </a:lnSpc>
              <a:buNone/>
              <a:defRPr sz="20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DEPLOYMENT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A1C75B-5503-43EB-B3F5-AB73C3864707}"/>
              </a:ext>
            </a:extLst>
          </p:cNvPr>
          <p:cNvSpPr>
            <a:spLocks noGrp="1"/>
          </p:cNvSpPr>
          <p:nvPr/>
        </p:nvSpPr>
        <p:spPr>
          <a:xfrm>
            <a:off x="8210550" y="32385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500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Supports different die roles, instruments, and stack structures; DWR remains the next extension.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22BE41E-66B4-41DC-AE02-B4AEBEFD9AD9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495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CAPABILITY OWNERSHIP AND PROJECT STATUS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78F1DE-0AB3-4650-8FCC-C5B0CD524465}"/>
              </a:ext>
            </a:extLst>
          </p:cNvPr>
          <p:cNvSpPr>
            <a:spLocks noGrp="1"/>
          </p:cNvSpPr>
          <p:nvPr/>
        </p:nvSpPr>
        <p:spPr>
          <a:xfrm>
            <a:off x="609600" y="4552950"/>
            <a:ext cx="234315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03952E6-8E33-4AE3-821F-F213F9712C1E}"/>
              </a:ext>
            </a:extLst>
          </p:cNvPr>
          <p:cNvSpPr>
            <a:spLocks noGrp="1"/>
          </p:cNvSpPr>
          <p:nvPr/>
        </p:nvSpPr>
        <p:spPr>
          <a:xfrm>
            <a:off x="704850" y="45815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 NEED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E7A794-8F40-44DD-A1E0-51545F930027}"/>
              </a:ext>
            </a:extLst>
          </p:cNvPr>
          <p:cNvSpPr>
            <a:spLocks noGrp="1"/>
          </p:cNvSpPr>
          <p:nvPr/>
        </p:nvSpPr>
        <p:spPr>
          <a:xfrm>
            <a:off x="2952750" y="4552950"/>
            <a:ext cx="272415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CB3E44-19A8-4579-BFF7-EE536A60530D}"/>
              </a:ext>
            </a:extLst>
          </p:cNvPr>
          <p:cNvSpPr>
            <a:spLocks noGrp="1"/>
          </p:cNvSpPr>
          <p:nvPr/>
        </p:nvSpPr>
        <p:spPr>
          <a:xfrm>
            <a:off x="3048000" y="4581525"/>
            <a:ext cx="2533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TESSENT PROVIDES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9ACA34F-BBF2-4386-A229-D20C635506A4}"/>
              </a:ext>
            </a:extLst>
          </p:cNvPr>
          <p:cNvSpPr>
            <a:spLocks noGrp="1"/>
          </p:cNvSpPr>
          <p:nvPr/>
        </p:nvSpPr>
        <p:spPr>
          <a:xfrm>
            <a:off x="5676900" y="4552950"/>
            <a:ext cx="400050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17ABFBF-1E35-416C-9524-DA103F6C875F}"/>
              </a:ext>
            </a:extLst>
          </p:cNvPr>
          <p:cNvSpPr>
            <a:spLocks noGrp="1"/>
          </p:cNvSpPr>
          <p:nvPr/>
        </p:nvSpPr>
        <p:spPr>
          <a:xfrm>
            <a:off x="5772150" y="4581525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THIS PROJECT PROVIDES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4177FA-1D6C-4CDA-A698-E132EB1C543F}"/>
              </a:ext>
            </a:extLst>
          </p:cNvPr>
          <p:cNvSpPr>
            <a:spLocks noGrp="1"/>
          </p:cNvSpPr>
          <p:nvPr/>
        </p:nvSpPr>
        <p:spPr>
          <a:xfrm>
            <a:off x="9677400" y="4552950"/>
            <a:ext cx="182880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5E2BAA-88A4-4CA9-9E35-E20AE147423C}"/>
              </a:ext>
            </a:extLst>
          </p:cNvPr>
          <p:cNvSpPr>
            <a:spLocks noGrp="1"/>
          </p:cNvSpPr>
          <p:nvPr/>
        </p:nvSpPr>
        <p:spPr>
          <a:xfrm>
            <a:off x="9772650" y="4581525"/>
            <a:ext cx="1638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415C29-89BF-4587-B339-C04B0D09EAB8}"/>
              </a:ext>
            </a:extLst>
          </p:cNvPr>
          <p:cNvSpPr>
            <a:spLocks noGrp="1"/>
          </p:cNvSpPr>
          <p:nvPr/>
        </p:nvSpPr>
        <p:spPr>
          <a:xfrm>
            <a:off x="609600" y="4800600"/>
            <a:ext cx="23431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1D029F4-6520-4145-A0D9-24C647D95DDD}"/>
              </a:ext>
            </a:extLst>
          </p:cNvPr>
          <p:cNvSpPr>
            <a:spLocks noGrp="1"/>
          </p:cNvSpPr>
          <p:nvPr/>
        </p:nvSpPr>
        <p:spPr>
          <a:xfrm>
            <a:off x="704850" y="4829175"/>
            <a:ext cx="2152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Per-die IEEE 1687 / 1838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E23F0E-B00A-4987-AFBA-5634C2D29F82}"/>
              </a:ext>
            </a:extLst>
          </p:cNvPr>
          <p:cNvSpPr>
            <a:spLocks noGrp="1"/>
          </p:cNvSpPr>
          <p:nvPr/>
        </p:nvSpPr>
        <p:spPr>
          <a:xfrm>
            <a:off x="2952750" y="4800600"/>
            <a:ext cx="27241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D8FE56-BC38-437C-B78E-1098C018660E}"/>
              </a:ext>
            </a:extLst>
          </p:cNvPr>
          <p:cNvSpPr>
            <a:spLocks noGrp="1"/>
          </p:cNvSpPr>
          <p:nvPr/>
        </p:nvSpPr>
        <p:spPr>
          <a:xfrm>
            <a:off x="3048000" y="4829175"/>
            <a:ext cx="2533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Insertion / extraction commands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148D24F-FE2B-4866-8E57-DABBE3288B43}"/>
              </a:ext>
            </a:extLst>
          </p:cNvPr>
          <p:cNvSpPr>
            <a:spLocks noGrp="1"/>
          </p:cNvSpPr>
          <p:nvPr/>
        </p:nvSpPr>
        <p:spPr>
          <a:xfrm>
            <a:off x="5676900" y="4800600"/>
            <a:ext cx="40005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B3381D1-1FCC-4DE2-9072-3D04906A05A8}"/>
              </a:ext>
            </a:extLst>
          </p:cNvPr>
          <p:cNvSpPr>
            <a:spLocks noGrp="1"/>
          </p:cNvSpPr>
          <p:nvPr/>
        </p:nvSpPr>
        <p:spPr>
          <a:xfrm>
            <a:off x="5772150" y="4829175"/>
            <a:ext cx="3810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abstraction + reusable configuration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995D00B-9E2B-404C-8D82-AC15787B486F}"/>
              </a:ext>
            </a:extLst>
          </p:cNvPr>
          <p:cNvSpPr>
            <a:spLocks noGrp="1"/>
          </p:cNvSpPr>
          <p:nvPr/>
        </p:nvSpPr>
        <p:spPr>
          <a:xfrm>
            <a:off x="9677400" y="4800600"/>
            <a:ext cx="18288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E0E98C3-B7C5-40AC-ADAF-F8A94C4A423B}"/>
              </a:ext>
            </a:extLst>
          </p:cNvPr>
          <p:cNvSpPr>
            <a:spLocks noGrp="1"/>
          </p:cNvSpPr>
          <p:nvPr/>
        </p:nvSpPr>
        <p:spPr>
          <a:xfrm>
            <a:off x="9772650" y="4829175"/>
            <a:ext cx="16383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D3C598-A267-4D04-94B2-5D954028295A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234315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3350F3-A142-467B-AF05-319F4BCC7BF2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2152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access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A9F3FC-002A-4B5A-A26E-3F1F2960F622}"/>
              </a:ext>
            </a:extLst>
          </p:cNvPr>
          <p:cNvSpPr>
            <a:spLocks noGrp="1"/>
          </p:cNvSpPr>
          <p:nvPr/>
        </p:nvSpPr>
        <p:spPr>
          <a:xfrm>
            <a:off x="2952750" y="5038725"/>
            <a:ext cx="272415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E697B77-69F6-4C7C-A4DB-360C0D6EB10F}"/>
              </a:ext>
            </a:extLst>
          </p:cNvPr>
          <p:cNvSpPr>
            <a:spLocks noGrp="1"/>
          </p:cNvSpPr>
          <p:nvPr/>
        </p:nvSpPr>
        <p:spPr>
          <a:xfrm>
            <a:off x="3048000" y="5067300"/>
            <a:ext cx="2533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import and retarget engine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51474E6-0C86-4FD8-BF23-096D67D616CA}"/>
              </a:ext>
            </a:extLst>
          </p:cNvPr>
          <p:cNvSpPr>
            <a:spLocks noGrp="1"/>
          </p:cNvSpPr>
          <p:nvPr/>
        </p:nvSpPr>
        <p:spPr>
          <a:xfrm>
            <a:off x="5676900" y="5038725"/>
            <a:ext cx="400050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EF1AD16-FFBD-4D08-B8FD-6396F87F507D}"/>
              </a:ext>
            </a:extLst>
          </p:cNvPr>
          <p:cNvSpPr>
            <a:spLocks noGrp="1"/>
          </p:cNvSpPr>
          <p:nvPr/>
        </p:nvSpPr>
        <p:spPr>
          <a:xfrm>
            <a:off x="5772150" y="5067300"/>
            <a:ext cx="3810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Unified topology + generated stack/import flow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4A59B1A-8603-4087-8402-EC2565A350B3}"/>
              </a:ext>
            </a:extLst>
          </p:cNvPr>
          <p:cNvSpPr>
            <a:spLocks noGrp="1"/>
          </p:cNvSpPr>
          <p:nvPr/>
        </p:nvSpPr>
        <p:spPr>
          <a:xfrm>
            <a:off x="9677400" y="5038725"/>
            <a:ext cx="182880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3F8560A-97BE-4E13-8C02-01E522B75F08}"/>
              </a:ext>
            </a:extLst>
          </p:cNvPr>
          <p:cNvSpPr>
            <a:spLocks noGrp="1"/>
          </p:cNvSpPr>
          <p:nvPr/>
        </p:nvSpPr>
        <p:spPr>
          <a:xfrm>
            <a:off x="9772650" y="5067300"/>
            <a:ext cx="16383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018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5B1D0EA-C5EC-46B4-B796-89AA35F40D77}"/>
              </a:ext>
            </a:extLst>
          </p:cNvPr>
          <p:cNvSpPr>
            <a:spLocks noGrp="1"/>
          </p:cNvSpPr>
          <p:nvPr/>
        </p:nvSpPr>
        <p:spPr>
          <a:xfrm>
            <a:off x="609600" y="5276850"/>
            <a:ext cx="23431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23EA170-FA78-4FA1-A9EF-F88DB23B367F}"/>
              </a:ext>
            </a:extLst>
          </p:cNvPr>
          <p:cNvSpPr>
            <a:spLocks noGrp="1"/>
          </p:cNvSpPr>
          <p:nvPr/>
        </p:nvSpPr>
        <p:spPr>
          <a:xfrm>
            <a:off x="704850" y="5305425"/>
            <a:ext cx="2152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 link verification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77BE3E9-713E-4C53-B8D4-9A059F6EC5BE}"/>
              </a:ext>
            </a:extLst>
          </p:cNvPr>
          <p:cNvSpPr>
            <a:spLocks noGrp="1"/>
          </p:cNvSpPr>
          <p:nvPr/>
        </p:nvSpPr>
        <p:spPr>
          <a:xfrm>
            <a:off x="2952750" y="5276850"/>
            <a:ext cx="27241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EC16004-9BD5-4B0C-BBD6-E600BE7456D3}"/>
              </a:ext>
            </a:extLst>
          </p:cNvPr>
          <p:cNvSpPr>
            <a:spLocks noGrp="1"/>
          </p:cNvSpPr>
          <p:nvPr/>
        </p:nvSpPr>
        <p:spPr>
          <a:xfrm>
            <a:off x="3048000" y="5305425"/>
            <a:ext cx="2533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Wrapper and pattern capability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B32FDC2-A638-4665-BFA0-B7E7B5803F08}"/>
              </a:ext>
            </a:extLst>
          </p:cNvPr>
          <p:cNvSpPr>
            <a:spLocks noGrp="1"/>
          </p:cNvSpPr>
          <p:nvPr/>
        </p:nvSpPr>
        <p:spPr>
          <a:xfrm>
            <a:off x="5676900" y="5276850"/>
            <a:ext cx="40005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632D68E9-7607-41D9-ABE8-CBDD657FF8B8}"/>
              </a:ext>
            </a:extLst>
          </p:cNvPr>
          <p:cNvSpPr>
            <a:spLocks noGrp="1"/>
          </p:cNvSpPr>
          <p:nvPr/>
        </p:nvSpPr>
        <p:spPr>
          <a:xfrm>
            <a:off x="5772150" y="5305425"/>
            <a:ext cx="3810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018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Plan: port inventory + mapping + link result matrix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7E2F212-1DE6-46D9-AE3D-F03A0A4D5512}"/>
              </a:ext>
            </a:extLst>
          </p:cNvPr>
          <p:cNvSpPr>
            <a:spLocks noGrp="1"/>
          </p:cNvSpPr>
          <p:nvPr/>
        </p:nvSpPr>
        <p:spPr>
          <a:xfrm>
            <a:off x="9677400" y="5276850"/>
            <a:ext cx="18288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D3D7C5D-F3F0-481E-8B72-8360D0B52AB6}"/>
              </a:ext>
            </a:extLst>
          </p:cNvPr>
          <p:cNvSpPr>
            <a:spLocks noGrp="1"/>
          </p:cNvSpPr>
          <p:nvPr/>
        </p:nvSpPr>
        <p:spPr>
          <a:xfrm>
            <a:off x="9772650" y="5305425"/>
            <a:ext cx="16383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22F2C4B-4EB6-4A02-82F2-17D1B437C50A}"/>
              </a:ext>
            </a:extLst>
          </p:cNvPr>
          <p:cNvSpPr>
            <a:spLocks noGrp="1"/>
          </p:cNvSpPr>
          <p:nvPr/>
        </p:nvSpPr>
        <p:spPr>
          <a:xfrm>
            <a:off x="609600" y="5514975"/>
            <a:ext cx="234315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18DE209-07F0-4B7F-AD17-930DFB2AC44F}"/>
              </a:ext>
            </a:extLst>
          </p:cNvPr>
          <p:cNvSpPr>
            <a:spLocks noGrp="1"/>
          </p:cNvSpPr>
          <p:nvPr/>
        </p:nvSpPr>
        <p:spPr>
          <a:xfrm>
            <a:off x="704850" y="5543550"/>
            <a:ext cx="2152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Design portability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E3D8410-91E2-402D-8FD9-0EEF396C1669}"/>
              </a:ext>
            </a:extLst>
          </p:cNvPr>
          <p:cNvSpPr>
            <a:spLocks noGrp="1"/>
          </p:cNvSpPr>
          <p:nvPr/>
        </p:nvSpPr>
        <p:spPr>
          <a:xfrm>
            <a:off x="2952750" y="5514975"/>
            <a:ext cx="272415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0906E7B-0380-4E41-B21B-1C12312357F5}"/>
              </a:ext>
            </a:extLst>
          </p:cNvPr>
          <p:cNvSpPr>
            <a:spLocks noGrp="1"/>
          </p:cNvSpPr>
          <p:nvPr/>
        </p:nvSpPr>
        <p:spPr>
          <a:xfrm>
            <a:off x="3048000" y="5543550"/>
            <a:ext cx="25336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Execution on a supplied design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4528252-8B78-490B-8D9B-7F6B6E2AD7EB}"/>
              </a:ext>
            </a:extLst>
          </p:cNvPr>
          <p:cNvSpPr>
            <a:spLocks noGrp="1"/>
          </p:cNvSpPr>
          <p:nvPr/>
        </p:nvSpPr>
        <p:spPr>
          <a:xfrm>
            <a:off x="5676900" y="5514975"/>
            <a:ext cx="400050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0A16779-2DA3-42EB-9B70-77BB31FD5A69}"/>
              </a:ext>
            </a:extLst>
          </p:cNvPr>
          <p:cNvSpPr>
            <a:spLocks noGrp="1"/>
          </p:cNvSpPr>
          <p:nvPr/>
        </p:nvSpPr>
        <p:spPr>
          <a:xfrm>
            <a:off x="5772150" y="5543550"/>
            <a:ext cx="3810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 contract + gates + regression evidence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8330DE7-15CB-47E9-A6B8-7DEDB73F2E19}"/>
              </a:ext>
            </a:extLst>
          </p:cNvPr>
          <p:cNvSpPr>
            <a:spLocks noGrp="1"/>
          </p:cNvSpPr>
          <p:nvPr/>
        </p:nvSpPr>
        <p:spPr>
          <a:xfrm>
            <a:off x="9677400" y="5514975"/>
            <a:ext cx="182880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A880019-4A1A-41EE-A8C9-5868E8430B50}"/>
              </a:ext>
            </a:extLst>
          </p:cNvPr>
          <p:cNvSpPr>
            <a:spLocks noGrp="1"/>
          </p:cNvSpPr>
          <p:nvPr/>
        </p:nvSpPr>
        <p:spPr>
          <a:xfrm>
            <a:off x="9772650" y="5543550"/>
            <a:ext cx="16383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018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B45E514-72D8-497F-A175-E49A30E13CD6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744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12"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Completed: per-die 1687/1838 + stack retarget/VCS. Next: complex die + DWR. ATPG excluded.</a:t>
            </a:r>
          </a:p>
        </p:txBody>
      </p:sp>
      <p:sp>
        <p:nvSpPr>
          <p:cNvPr id="60" name="直線接點 59">
            <a:extLst>
              <a:ext uri="{FF2B5EF4-FFF2-40B4-BE49-F238E27FC236}">
                <a16:creationId xmlns:a16="http://schemas.microsoft.com/office/drawing/2014/main" id="{D0D93796-18A3-4B42-9579-D73F3B4A3585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0B6B9E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CB5609C-C66A-4262-AFF1-A4867C13764F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deliverable is a flow the team can adopt, review, hand off, and extend.</a:t>
            </a:r>
          </a:p>
        </p:txBody>
      </p:sp>
      <p:sp>
        <p:nvSpPr>
          <p:cNvPr id="62" name="直線接點 61">
            <a:extLst>
              <a:ext uri="{FF2B5EF4-FFF2-40B4-BE49-F238E27FC236}">
                <a16:creationId xmlns:a16="http://schemas.microsoft.com/office/drawing/2014/main" id="{E7303386-C5FC-43F1-9E7A-8F7409C3F3F9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C39A1E1-B25E-4302-942B-6ABCA6CB8C2A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940595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>
            <a:extLst>
              <a:ext uri="{FF2B5EF4-FFF2-40B4-BE49-F238E27FC236}">
                <a16:creationId xmlns:a16="http://schemas.microsoft.com/office/drawing/2014/main" id="{1C5A3202-6328-496C-B179-87224571D7DC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FILE CONTRACT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EA5DC9-DC92-4C18-832C-63E29DD7F9CD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3E2DB515-A5DF-4AEC-861B-2B528B217D23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Each artifact has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one defined purpose.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9C291EC-F481-4852-A702-336B34F37A66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847206-957D-4F3F-8E6F-E2B7DA97749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781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CORE FILE FAMILIES · INPUT → TOOL STATE → ICL + PDL → RETARGETED PROOF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8D4F39-C817-488B-91C8-B7469DE55157}"/>
              </a:ext>
            </a:extLst>
          </p:cNvPr>
          <p:cNvSpPr>
            <a:spLocks noGrp="1"/>
          </p:cNvSpPr>
          <p:nvPr/>
        </p:nvSpPr>
        <p:spPr>
          <a:xfrm>
            <a:off x="609600" y="1933575"/>
            <a:ext cx="112395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E323F2-5344-4B1F-9758-433B0E633FCD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EBF90F-058A-40A0-A16D-1D70A3776067}"/>
              </a:ext>
            </a:extLst>
          </p:cNvPr>
          <p:cNvSpPr>
            <a:spLocks noGrp="1"/>
          </p:cNvSpPr>
          <p:nvPr/>
        </p:nvSpPr>
        <p:spPr>
          <a:xfrm>
            <a:off x="1733550" y="1933575"/>
            <a:ext cx="234315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586BA3-9CB6-4256-B5BC-326A38F5DCE5}"/>
              </a:ext>
            </a:extLst>
          </p:cNvPr>
          <p:cNvSpPr>
            <a:spLocks noGrp="1"/>
          </p:cNvSpPr>
          <p:nvPr/>
        </p:nvSpPr>
        <p:spPr>
          <a:xfrm>
            <a:off x="1828800" y="19621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 / ORIGIN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5256FC-113E-4924-A63F-DEE408A4E540}"/>
              </a:ext>
            </a:extLst>
          </p:cNvPr>
          <p:cNvSpPr>
            <a:spLocks noGrp="1"/>
          </p:cNvSpPr>
          <p:nvPr/>
        </p:nvSpPr>
        <p:spPr>
          <a:xfrm>
            <a:off x="4076700" y="1933575"/>
            <a:ext cx="207645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5CBC1B-1D20-42ED-BEB4-F2997A636B1D}"/>
              </a:ext>
            </a:extLst>
          </p:cNvPr>
          <p:cNvSpPr>
            <a:spLocks noGrp="1"/>
          </p:cNvSpPr>
          <p:nvPr/>
        </p:nvSpPr>
        <p:spPr>
          <a:xfrm>
            <a:off x="4171950" y="196215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CONTAINS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7D4B5A-ADC1-4E58-B429-FA8ED1DE4AF0}"/>
              </a:ext>
            </a:extLst>
          </p:cNvPr>
          <p:cNvSpPr>
            <a:spLocks noGrp="1"/>
          </p:cNvSpPr>
          <p:nvPr/>
        </p:nvSpPr>
        <p:spPr>
          <a:xfrm>
            <a:off x="6153150" y="1933575"/>
            <a:ext cx="262890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6261FC-D1A1-4FC7-AB57-B6A76921A4E5}"/>
              </a:ext>
            </a:extLst>
          </p:cNvPr>
          <p:cNvSpPr>
            <a:spLocks noGrp="1"/>
          </p:cNvSpPr>
          <p:nvPr/>
        </p:nvSpPr>
        <p:spPr>
          <a:xfrm>
            <a:off x="6248400" y="196215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ROLE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50A05D-1616-454A-BD86-65BBB58DD700}"/>
              </a:ext>
            </a:extLst>
          </p:cNvPr>
          <p:cNvSpPr>
            <a:spLocks noGrp="1"/>
          </p:cNvSpPr>
          <p:nvPr/>
        </p:nvSpPr>
        <p:spPr>
          <a:xfrm>
            <a:off x="8782050" y="1933575"/>
            <a:ext cx="272415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1C0F54-9295-4CFA-9D0A-576BE1165F5A}"/>
              </a:ext>
            </a:extLst>
          </p:cNvPr>
          <p:cNvSpPr>
            <a:spLocks noGrp="1"/>
          </p:cNvSpPr>
          <p:nvPr/>
        </p:nvSpPr>
        <p:spPr>
          <a:xfrm>
            <a:off x="8877300" y="196215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TYPE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54A04A-0E59-4EB3-9F8A-E7E4EA93B93E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11239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ADC0C0-A4D0-4794-953E-42D2B6B185BB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01 RTL / LIB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B2D024-C44E-4926-83BC-AC34966090FD}"/>
              </a:ext>
            </a:extLst>
          </p:cNvPr>
          <p:cNvSpPr>
            <a:spLocks noGrp="1"/>
          </p:cNvSpPr>
          <p:nvPr/>
        </p:nvSpPr>
        <p:spPr>
          <a:xfrm>
            <a:off x="1733550" y="2276475"/>
            <a:ext cx="2343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938B90-A56B-4EBA-BA4A-90C9C1355DA5}"/>
              </a:ext>
            </a:extLst>
          </p:cNvPr>
          <p:cNvSpPr>
            <a:spLocks noGrp="1"/>
          </p:cNvSpPr>
          <p:nvPr/>
        </p:nvSpPr>
        <p:spPr>
          <a:xfrm>
            <a:off x="1828800" y="230505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User design package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111C27-F67B-443F-A5C8-A77E1082EFCA}"/>
              </a:ext>
            </a:extLst>
          </p:cNvPr>
          <p:cNvSpPr>
            <a:spLocks noGrp="1"/>
          </p:cNvSpPr>
          <p:nvPr/>
        </p:nvSpPr>
        <p:spPr>
          <a:xfrm>
            <a:off x="4076700" y="2276475"/>
            <a:ext cx="20764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917A0D-A10B-46FD-A42B-C62A99D81FDC}"/>
              </a:ext>
            </a:extLst>
          </p:cNvPr>
          <p:cNvSpPr>
            <a:spLocks noGrp="1"/>
          </p:cNvSpPr>
          <p:nvPr/>
        </p:nvSpPr>
        <p:spPr>
          <a:xfrm>
            <a:off x="4171950" y="23050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+ filelist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cell / library models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00E69E-BC73-4777-A9C1-28EB8D631599}"/>
              </a:ext>
            </a:extLst>
          </p:cNvPr>
          <p:cNvSpPr>
            <a:spLocks noGrp="1"/>
          </p:cNvSpPr>
          <p:nvPr/>
        </p:nvSpPr>
        <p:spPr>
          <a:xfrm>
            <a:off x="6153150" y="2276475"/>
            <a:ext cx="262890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07B605-0BAE-4F4E-B0D2-1B24B49685D2}"/>
              </a:ext>
            </a:extLst>
          </p:cNvPr>
          <p:cNvSpPr>
            <a:spLocks noGrp="1"/>
          </p:cNvSpPr>
          <p:nvPr/>
        </p:nvSpPr>
        <p:spPr>
          <a:xfrm>
            <a:off x="6248400" y="230505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Read and elaborate the golden design.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480D77-F195-4320-B003-085A7F80B798}"/>
              </a:ext>
            </a:extLst>
          </p:cNvPr>
          <p:cNvSpPr>
            <a:spLocks noGrp="1"/>
          </p:cNvSpPr>
          <p:nvPr/>
        </p:nvSpPr>
        <p:spPr>
          <a:xfrm>
            <a:off x="8782050" y="2276475"/>
            <a:ext cx="2724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3CDC4B-82B9-4A4D-88C9-F73186CB0DA2}"/>
              </a:ext>
            </a:extLst>
          </p:cNvPr>
          <p:cNvSpPr>
            <a:spLocks noGrp="1"/>
          </p:cNvSpPr>
          <p:nvPr/>
        </p:nvSpPr>
        <p:spPr>
          <a:xfrm>
            <a:off x="8877300" y="23050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2F2EF0-3A63-4D12-B8D0-4CCAAA786DE2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11239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C998E4F-BACA-4CEA-A948-20415AE15AA1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41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02 MANIFEST / TCL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91E37E-F52A-439D-9BC0-CAF80451183E}"/>
              </a:ext>
            </a:extLst>
          </p:cNvPr>
          <p:cNvSpPr>
            <a:spLocks noGrp="1"/>
          </p:cNvSpPr>
          <p:nvPr/>
        </p:nvSpPr>
        <p:spPr>
          <a:xfrm>
            <a:off x="1733550" y="2828925"/>
            <a:ext cx="2343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379639A-5F8F-4F23-A864-933CFB5B2F61}"/>
              </a:ext>
            </a:extLst>
          </p:cNvPr>
          <p:cNvSpPr>
            <a:spLocks noGrp="1"/>
          </p:cNvSpPr>
          <p:nvPr/>
        </p:nvSpPr>
        <p:spPr>
          <a:xfrm>
            <a:off x="1828800" y="28575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User data → automation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CCED0D-8EFD-4745-91B1-A0A261765BA7}"/>
              </a:ext>
            </a:extLst>
          </p:cNvPr>
          <p:cNvSpPr>
            <a:spLocks noGrp="1"/>
          </p:cNvSpPr>
          <p:nvPr/>
        </p:nvSpPr>
        <p:spPr>
          <a:xfrm>
            <a:off x="4076700" y="2828925"/>
            <a:ext cx="20764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7B2B563-D891-47EF-9B7B-0F33D3188D0F}"/>
              </a:ext>
            </a:extLst>
          </p:cNvPr>
          <p:cNvSpPr>
            <a:spLocks noGrp="1"/>
          </p:cNvSpPr>
          <p:nvPr/>
        </p:nvSpPr>
        <p:spPr>
          <a:xfrm>
            <a:off x="4171950" y="285750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role + ports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resolved commands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49903E-6807-40CE-A6E5-BDF59C5F311F}"/>
              </a:ext>
            </a:extLst>
          </p:cNvPr>
          <p:cNvSpPr>
            <a:spLocks noGrp="1"/>
          </p:cNvSpPr>
          <p:nvPr/>
        </p:nvSpPr>
        <p:spPr>
          <a:xfrm>
            <a:off x="6153150" y="2828925"/>
            <a:ext cx="262890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9B6EA73-4029-4C72-B414-23AC5022531B}"/>
              </a:ext>
            </a:extLst>
          </p:cNvPr>
          <p:cNvSpPr>
            <a:spLocks noGrp="1"/>
          </p:cNvSpPr>
          <p:nvPr/>
        </p:nvSpPr>
        <p:spPr>
          <a:xfrm>
            <a:off x="6248400" y="28575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Configure insertion without core-Tcl edits.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3FC466E-2AC0-4BEC-98BD-32095AD4DFD2}"/>
              </a:ext>
            </a:extLst>
          </p:cNvPr>
          <p:cNvSpPr>
            <a:spLocks noGrp="1"/>
          </p:cNvSpPr>
          <p:nvPr/>
        </p:nvSpPr>
        <p:spPr>
          <a:xfrm>
            <a:off x="8782050" y="2828925"/>
            <a:ext cx="2724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7F14503-C84A-4851-992E-8C79B232EB39}"/>
              </a:ext>
            </a:extLst>
          </p:cNvPr>
          <p:cNvSpPr>
            <a:spLocks noGrp="1"/>
          </p:cNvSpPr>
          <p:nvPr/>
        </p:nvSpPr>
        <p:spPr>
          <a:xfrm>
            <a:off x="8877300" y="28575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7923ABF-367C-4BA4-A587-2CE39C566554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1239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CCC8EB2-3DF0-41FF-96D3-352B773AC991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897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03 POST-DFT / TSDB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F7F2D41-ECAF-4FE9-8399-A15482B4C941}"/>
              </a:ext>
            </a:extLst>
          </p:cNvPr>
          <p:cNvSpPr>
            <a:spLocks noGrp="1"/>
          </p:cNvSpPr>
          <p:nvPr/>
        </p:nvSpPr>
        <p:spPr>
          <a:xfrm>
            <a:off x="1733550" y="3381375"/>
            <a:ext cx="2343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FC9108B-3684-40E1-B197-EDBD81398821}"/>
              </a:ext>
            </a:extLst>
          </p:cNvPr>
          <p:cNvSpPr>
            <a:spLocks noGrp="1"/>
          </p:cNvSpPr>
          <p:nvPr/>
        </p:nvSpPr>
        <p:spPr>
          <a:xfrm>
            <a:off x="1828800" y="340995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 insertion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27831CC-3A27-4326-979B-2ABF41964636}"/>
              </a:ext>
            </a:extLst>
          </p:cNvPr>
          <p:cNvSpPr>
            <a:spLocks noGrp="1"/>
          </p:cNvSpPr>
          <p:nvPr/>
        </p:nvSpPr>
        <p:spPr>
          <a:xfrm>
            <a:off x="4076700" y="3381375"/>
            <a:ext cx="20764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0A469FF-48F4-4C9B-864B-088E2C5CFC2B}"/>
              </a:ext>
            </a:extLst>
          </p:cNvPr>
          <p:cNvSpPr>
            <a:spLocks noGrp="1"/>
          </p:cNvSpPr>
          <p:nvPr/>
        </p:nvSpPr>
        <p:spPr>
          <a:xfrm>
            <a:off x="4171950" y="34099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inserted RTL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saved design views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57EFC2-5FEF-4EA9-9CED-5F7310480E4C}"/>
              </a:ext>
            </a:extLst>
          </p:cNvPr>
          <p:cNvSpPr>
            <a:spLocks noGrp="1"/>
          </p:cNvSpPr>
          <p:nvPr/>
        </p:nvSpPr>
        <p:spPr>
          <a:xfrm>
            <a:off x="6153150" y="3381375"/>
            <a:ext cx="262890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80F4B4B-2DEA-4F68-8070-246DC59E25CF}"/>
              </a:ext>
            </a:extLst>
          </p:cNvPr>
          <p:cNvSpPr>
            <a:spLocks noGrp="1"/>
          </p:cNvSpPr>
          <p:nvPr/>
        </p:nvSpPr>
        <p:spPr>
          <a:xfrm>
            <a:off x="6248400" y="340995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Hand off INSERT → EXTRACT / RETARGET.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B7276E5-45D7-4362-9195-4F8B67024AB3}"/>
              </a:ext>
            </a:extLst>
          </p:cNvPr>
          <p:cNvSpPr>
            <a:spLocks noGrp="1"/>
          </p:cNvSpPr>
          <p:nvPr/>
        </p:nvSpPr>
        <p:spPr>
          <a:xfrm>
            <a:off x="8782050" y="3381375"/>
            <a:ext cx="2724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9ACF25-97BD-4B24-8F7F-E159FFF1C062}"/>
              </a:ext>
            </a:extLst>
          </p:cNvPr>
          <p:cNvSpPr>
            <a:spLocks noGrp="1"/>
          </p:cNvSpPr>
          <p:nvPr/>
        </p:nvSpPr>
        <p:spPr>
          <a:xfrm>
            <a:off x="8877300" y="34099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WORKING DATA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8885078-40D7-45C5-96A7-E00FD8DBBF18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11239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AAFC9B0-C3BC-4AC2-8A36-0B3F4C2ED43A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04 ICL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9D47A95-4B63-4621-850F-8790DC53844B}"/>
              </a:ext>
            </a:extLst>
          </p:cNvPr>
          <p:cNvSpPr>
            <a:spLocks noGrp="1"/>
          </p:cNvSpPr>
          <p:nvPr/>
        </p:nvSpPr>
        <p:spPr>
          <a:xfrm>
            <a:off x="1733550" y="3933825"/>
            <a:ext cx="2343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D928AAB-8483-4FA0-A92A-938209058A9F}"/>
              </a:ext>
            </a:extLst>
          </p:cNvPr>
          <p:cNvSpPr>
            <a:spLocks noGrp="1"/>
          </p:cNvSpPr>
          <p:nvPr/>
        </p:nvSpPr>
        <p:spPr>
          <a:xfrm>
            <a:off x="1828800" y="39624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IP or Tessent extraction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BFEBDA-2189-48F2-BF98-2D0D3F1831DF}"/>
              </a:ext>
            </a:extLst>
          </p:cNvPr>
          <p:cNvSpPr>
            <a:spLocks noGrp="1"/>
          </p:cNvSpPr>
          <p:nvPr/>
        </p:nvSpPr>
        <p:spPr>
          <a:xfrm>
            <a:off x="4076700" y="3933825"/>
            <a:ext cx="20764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EB20B83-0376-49DC-A8B4-9CD24037E79E}"/>
              </a:ext>
            </a:extLst>
          </p:cNvPr>
          <p:cNvSpPr>
            <a:spLocks noGrp="1"/>
          </p:cNvSpPr>
          <p:nvPr/>
        </p:nvSpPr>
        <p:spPr>
          <a:xfrm>
            <a:off x="4171950" y="396240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modules + ports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 / SIB / TDR links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F1FDC63-95FF-4564-979A-DB4352D567AF}"/>
              </a:ext>
            </a:extLst>
          </p:cNvPr>
          <p:cNvSpPr>
            <a:spLocks noGrp="1"/>
          </p:cNvSpPr>
          <p:nvPr/>
        </p:nvSpPr>
        <p:spPr>
          <a:xfrm>
            <a:off x="6153150" y="3933825"/>
            <a:ext cx="262890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FBAA86C-D5DF-4C36-9EB8-D86C89628B63}"/>
              </a:ext>
            </a:extLst>
          </p:cNvPr>
          <p:cNvSpPr>
            <a:spLocks noGrp="1"/>
          </p:cNvSpPr>
          <p:nvPr/>
        </p:nvSpPr>
        <p:spPr>
          <a:xfrm>
            <a:off x="6248400" y="39624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Describe and resolve the access path.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8CB9290-3DFC-49A0-B945-8917C61E5D03}"/>
              </a:ext>
            </a:extLst>
          </p:cNvPr>
          <p:cNvSpPr>
            <a:spLocks noGrp="1"/>
          </p:cNvSpPr>
          <p:nvPr/>
        </p:nvSpPr>
        <p:spPr>
          <a:xfrm>
            <a:off x="8782050" y="3933825"/>
            <a:ext cx="2724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FCD10C3-0B67-45CB-87A1-B3872B763459}"/>
              </a:ext>
            </a:extLst>
          </p:cNvPr>
          <p:cNvSpPr>
            <a:spLocks noGrp="1"/>
          </p:cNvSpPr>
          <p:nvPr/>
        </p:nvSpPr>
        <p:spPr>
          <a:xfrm>
            <a:off x="8877300" y="39624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ACCESS MODEL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30734E8-52FE-402D-AFD1-6C0C738722FD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11239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8099BD0-AA25-4A8E-8FA8-9FCDD4B1038D}"/>
              </a:ext>
            </a:extLst>
          </p:cNvPr>
          <p:cNvSpPr>
            <a:spLocks noGrp="1"/>
          </p:cNvSpPr>
          <p:nvPr/>
        </p:nvSpPr>
        <p:spPr>
          <a:xfrm>
            <a:off x="704850" y="451485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05 PDL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FA24F7E-E024-4ADE-8D3F-E7298D214DA2}"/>
              </a:ext>
            </a:extLst>
          </p:cNvPr>
          <p:cNvSpPr>
            <a:spLocks noGrp="1"/>
          </p:cNvSpPr>
          <p:nvPr/>
        </p:nvSpPr>
        <p:spPr>
          <a:xfrm>
            <a:off x="1733550" y="4486275"/>
            <a:ext cx="2343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BEC478A-2A95-4CAC-88CE-B2F76B22411C}"/>
              </a:ext>
            </a:extLst>
          </p:cNvPr>
          <p:cNvSpPr>
            <a:spLocks noGrp="1"/>
          </p:cNvSpPr>
          <p:nvPr/>
        </p:nvSpPr>
        <p:spPr>
          <a:xfrm>
            <a:off x="1828800" y="451485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IP / user procedure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C84EC63-74CC-49D8-8223-8995682AD75A}"/>
              </a:ext>
            </a:extLst>
          </p:cNvPr>
          <p:cNvSpPr>
            <a:spLocks noGrp="1"/>
          </p:cNvSpPr>
          <p:nvPr/>
        </p:nvSpPr>
        <p:spPr>
          <a:xfrm>
            <a:off x="4076700" y="4486275"/>
            <a:ext cx="20764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1314801-F500-469D-BBDF-2A4F90681906}"/>
              </a:ext>
            </a:extLst>
          </p:cNvPr>
          <p:cNvSpPr>
            <a:spLocks noGrp="1"/>
          </p:cNvSpPr>
          <p:nvPr/>
        </p:nvSpPr>
        <p:spPr>
          <a:xfrm>
            <a:off x="4171950" y="45148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iWrite / iRead / iApply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operations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04D3D0B-AA11-450E-B165-219D9C0E97D2}"/>
              </a:ext>
            </a:extLst>
          </p:cNvPr>
          <p:cNvSpPr>
            <a:spLocks noGrp="1"/>
          </p:cNvSpPr>
          <p:nvPr/>
        </p:nvSpPr>
        <p:spPr>
          <a:xfrm>
            <a:off x="6153150" y="4486275"/>
            <a:ext cx="262890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C478D1C-BF25-497D-AFAF-28A6B18CE248}"/>
              </a:ext>
            </a:extLst>
          </p:cNvPr>
          <p:cNvSpPr>
            <a:spLocks noGrp="1"/>
          </p:cNvSpPr>
          <p:nvPr/>
        </p:nvSpPr>
        <p:spPr>
          <a:xfrm>
            <a:off x="6248400" y="451485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 the procedure through ICL.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AD7A9D9-1A71-418C-9D67-6DF6C367143F}"/>
              </a:ext>
            </a:extLst>
          </p:cNvPr>
          <p:cNvSpPr>
            <a:spLocks noGrp="1"/>
          </p:cNvSpPr>
          <p:nvPr/>
        </p:nvSpPr>
        <p:spPr>
          <a:xfrm>
            <a:off x="8782050" y="4486275"/>
            <a:ext cx="2724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9EE6CC7-D3E2-4FDB-A240-94114DFD93E0}"/>
              </a:ext>
            </a:extLst>
          </p:cNvPr>
          <p:cNvSpPr>
            <a:spLocks noGrp="1"/>
          </p:cNvSpPr>
          <p:nvPr/>
        </p:nvSpPr>
        <p:spPr>
          <a:xfrm>
            <a:off x="8877300" y="45148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PORTABLE INTENT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60ED005-2408-4E53-A047-48AE8E3DDA9E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1239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5791FFA-964D-4BA8-BC54-2E09CB76CADE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06 PATTERN / LOG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5D2468D-8524-41D7-B239-9CBE392452BF}"/>
              </a:ext>
            </a:extLst>
          </p:cNvPr>
          <p:cNvSpPr>
            <a:spLocks noGrp="1"/>
          </p:cNvSpPr>
          <p:nvPr/>
        </p:nvSpPr>
        <p:spPr>
          <a:xfrm>
            <a:off x="1733550" y="5038725"/>
            <a:ext cx="2343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613D53D-B780-4CCC-8365-AEE4169DF3EB}"/>
              </a:ext>
            </a:extLst>
          </p:cNvPr>
          <p:cNvSpPr>
            <a:spLocks noGrp="1"/>
          </p:cNvSpPr>
          <p:nvPr/>
        </p:nvSpPr>
        <p:spPr>
          <a:xfrm>
            <a:off x="1828800" y="50673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 + checker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86DB08F-8B90-4C61-9197-710A80A33D4C}"/>
              </a:ext>
            </a:extLst>
          </p:cNvPr>
          <p:cNvSpPr>
            <a:spLocks noGrp="1"/>
          </p:cNvSpPr>
          <p:nvPr/>
        </p:nvSpPr>
        <p:spPr>
          <a:xfrm>
            <a:off x="4076700" y="5038725"/>
            <a:ext cx="20764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7F9CBB8-1C82-4AFA-AC56-870BFE497905}"/>
              </a:ext>
            </a:extLst>
          </p:cNvPr>
          <p:cNvSpPr>
            <a:spLocks noGrp="1"/>
          </p:cNvSpPr>
          <p:nvPr/>
        </p:nvSpPr>
        <p:spPr>
          <a:xfrm>
            <a:off x="4171950" y="506730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top-level stimulus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expected / observed data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7704616-3590-4ECE-AAD3-625AB4771F33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262890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F38097A-7CEA-4792-BCCD-1E6F82964F9D}"/>
              </a:ext>
            </a:extLst>
          </p:cNvPr>
          <p:cNvSpPr>
            <a:spLocks noGrp="1"/>
          </p:cNvSpPr>
          <p:nvPr/>
        </p:nvSpPr>
        <p:spPr>
          <a:xfrm>
            <a:off x="6248400" y="50673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Run VCS and report PASS / FAIL.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6618E38-DF20-427D-8BE7-5AE2275D08D1}"/>
              </a:ext>
            </a:extLst>
          </p:cNvPr>
          <p:cNvSpPr>
            <a:spLocks noGrp="1"/>
          </p:cNvSpPr>
          <p:nvPr/>
        </p:nvSpPr>
        <p:spPr>
          <a:xfrm>
            <a:off x="8782050" y="5038725"/>
            <a:ext cx="2724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78F91CA-070C-4100-8A9D-1E702B5E1083}"/>
              </a:ext>
            </a:extLst>
          </p:cNvPr>
          <p:cNvSpPr>
            <a:spLocks noGrp="1"/>
          </p:cNvSpPr>
          <p:nvPr/>
        </p:nvSpPr>
        <p:spPr>
          <a:xfrm>
            <a:off x="8877300" y="50673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ED784A0-DC83-4AEB-A28E-3695C0BC8881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DESIGN + CONTROL INPUTS</a:t>
            </a:r>
          </a:p>
        </p:txBody>
      </p:sp>
      <p:sp>
        <p:nvSpPr>
          <p:cNvPr id="77" name="直線接點 76">
            <a:extLst>
              <a:ext uri="{FF2B5EF4-FFF2-40B4-BE49-F238E27FC236}">
                <a16:creationId xmlns:a16="http://schemas.microsoft.com/office/drawing/2014/main" id="{E59CAF26-EFC0-4C8E-8B37-B5C555D39A54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4095750" cy="0"/>
          </a:xfrm>
          <a:prstGeom prst="line">
            <a:avLst/>
          </a:prstGeom>
          <a:noFill/>
          <a:ln w="38100">
            <a:solidFill>
              <a:srgbClr val="B7C5CD"/>
            </a:solidFill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554208B-F902-4DDC-B835-AC2ABC648C61}"/>
              </a:ext>
            </a:extLst>
          </p:cNvPr>
          <p:cNvSpPr>
            <a:spLocks noGrp="1"/>
          </p:cNvSpPr>
          <p:nvPr/>
        </p:nvSpPr>
        <p:spPr>
          <a:xfrm>
            <a:off x="7791450" y="565785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STANDARD ACCESS + GENERATED PROOF</a:t>
            </a:r>
          </a:p>
        </p:txBody>
      </p:sp>
      <p:sp>
        <p:nvSpPr>
          <p:cNvPr id="79" name="直線接點 78">
            <a:extLst>
              <a:ext uri="{FF2B5EF4-FFF2-40B4-BE49-F238E27FC236}">
                <a16:creationId xmlns:a16="http://schemas.microsoft.com/office/drawing/2014/main" id="{6236FD1F-7F91-444F-B05D-D1408B724633}"/>
              </a:ext>
            </a:extLst>
          </p:cNvPr>
          <p:cNvSpPr>
            <a:spLocks noGrp="1"/>
          </p:cNvSpPr>
          <p:nvPr/>
        </p:nvSpPr>
        <p:spPr>
          <a:xfrm>
            <a:off x="4705350" y="5886450"/>
            <a:ext cx="6800850" cy="0"/>
          </a:xfrm>
          <a:prstGeom prst="line">
            <a:avLst/>
          </a:prstGeom>
          <a:noFill/>
          <a:ln w="38100">
            <a:solidFill>
              <a:srgbClr val="1F7B72"/>
            </a:solidFill>
            <a:prstDash val="solid"/>
          </a:ln>
        </p:spPr>
      </p:sp>
      <p:sp>
        <p:nvSpPr>
          <p:cNvPr id="80" name="直線接點 79">
            <a:extLst>
              <a:ext uri="{FF2B5EF4-FFF2-40B4-BE49-F238E27FC236}">
                <a16:creationId xmlns:a16="http://schemas.microsoft.com/office/drawing/2014/main" id="{86D164F0-7CD7-4EE8-B677-A3D8405E1CDE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D96B30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CE7CE74-A95F-4011-8CD2-E15596BBC0AE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answers HOW TO REACH; PDL answers WHAT TO DO; retargeting combines both into a top-level pattern.</a:t>
            </a:r>
          </a:p>
        </p:txBody>
      </p:sp>
      <p:sp>
        <p:nvSpPr>
          <p:cNvPr id="82" name="直線接點 81">
            <a:extLst>
              <a:ext uri="{FF2B5EF4-FFF2-40B4-BE49-F238E27FC236}">
                <a16:creationId xmlns:a16="http://schemas.microsoft.com/office/drawing/2014/main" id="{5FB0D15D-10B6-415F-9752-F3EFA1A7179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3E923D2-E4FF-4654-8EE9-92ECEF76B2B4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986669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矩形 126">
            <a:extLst>
              <a:ext uri="{FF2B5EF4-FFF2-40B4-BE49-F238E27FC236}">
                <a16:creationId xmlns:a16="http://schemas.microsoft.com/office/drawing/2014/main" id="{2031CD8C-38DD-4633-910E-5928A69A0D7B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CIRCUIT ARCHITECTURE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DB7BF6-BEEC-4EEE-9295-6BAED7FD811B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slide-6-title">
            <a:extLst>
              <a:ext uri="{FF2B5EF4-FFF2-40B4-BE49-F238E27FC236}">
                <a16:creationId xmlns:a16="http://schemas.microsoft.com/office/drawing/2014/main" id="{D2A072A8-3299-4D53-9AED-1547DE65A039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4099" lnSpcReduction="2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Base, Middle, and Top roles map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three access scopes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onto one stack.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74949F92-E0E3-42F1-AB33-C45D39CEAC3E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358CD9-13E6-477A-8B02-6C65F532C877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7209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THREE ACCESS SCOPES · ROLE-AWARE STACK MODEL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AC9C6A2-C9E3-4D90-805A-D4E373166ACC}"/>
              </a:ext>
            </a:extLst>
          </p:cNvPr>
          <p:cNvSpPr>
            <a:spLocks noGrp="1"/>
          </p:cNvSpPr>
          <p:nvPr/>
        </p:nvSpPr>
        <p:spPr>
          <a:xfrm>
            <a:off x="1219200" y="2057400"/>
            <a:ext cx="32385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9682D9E-A6D5-4909-A90B-C98F2E69B912}"/>
              </a:ext>
            </a:extLst>
          </p:cNvPr>
          <p:cNvSpPr>
            <a:spLocks noGrp="1"/>
          </p:cNvSpPr>
          <p:nvPr/>
        </p:nvSpPr>
        <p:spPr>
          <a:xfrm>
            <a:off x="1143000" y="1981200"/>
            <a:ext cx="3238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3A91B3"/>
            </a:solidFill>
            <a:prstDash val="solid"/>
          </a:ln>
        </p:spPr>
      </p:sp>
      <p:sp>
        <p:nvSpPr>
          <p:cNvPr id="8" name="直線接點 7">
            <a:extLst>
              <a:ext uri="{FF2B5EF4-FFF2-40B4-BE49-F238E27FC236}">
                <a16:creationId xmlns:a16="http://schemas.microsoft.com/office/drawing/2014/main" id="{776B952C-AD8B-4BA9-93C6-75F11DAFD5B9}"/>
              </a:ext>
            </a:extLst>
          </p:cNvPr>
          <p:cNvSpPr>
            <a:spLocks noGrp="1"/>
          </p:cNvSpPr>
          <p:nvPr/>
        </p:nvSpPr>
        <p:spPr>
          <a:xfrm>
            <a:off x="1295400" y="2428875"/>
            <a:ext cx="2933700" cy="0"/>
          </a:xfrm>
          <a:prstGeom prst="line">
            <a:avLst/>
          </a:prstGeom>
          <a:noFill/>
          <a:ln w="11430">
            <a:solidFill>
              <a:srgbClr val="3A91B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EEBCEF-BA5E-4503-AB97-D3D9804DB8D3}"/>
              </a:ext>
            </a:extLst>
          </p:cNvPr>
          <p:cNvSpPr>
            <a:spLocks noGrp="1"/>
          </p:cNvSpPr>
          <p:nvPr/>
        </p:nvSpPr>
        <p:spPr>
          <a:xfrm>
            <a:off x="1314450" y="209550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TOP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95503A7-77AA-4613-91A9-ED7527635785}"/>
              </a:ext>
            </a:extLst>
          </p:cNvPr>
          <p:cNvSpPr>
            <a:spLocks noGrp="1"/>
          </p:cNvSpPr>
          <p:nvPr/>
        </p:nvSpPr>
        <p:spPr>
          <a:xfrm>
            <a:off x="1314450" y="2438400"/>
            <a:ext cx="2895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12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LEVEL 1 · IEEE 1687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14146656-55C8-4341-9D23-44E84A39B37C}"/>
              </a:ext>
            </a:extLst>
          </p:cNvPr>
          <p:cNvSpPr>
            <a:spLocks noGrp="1"/>
          </p:cNvSpPr>
          <p:nvPr/>
        </p:nvSpPr>
        <p:spPr>
          <a:xfrm>
            <a:off x="1323975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C965C64-22D9-4560-80ED-51569D67CC05}"/>
              </a:ext>
            </a:extLst>
          </p:cNvPr>
          <p:cNvSpPr>
            <a:spLocks noGrp="1"/>
          </p:cNvSpPr>
          <p:nvPr/>
        </p:nvSpPr>
        <p:spPr>
          <a:xfrm>
            <a:off x="1637242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272B55C-D23A-4010-A0D1-08EC7B9E4279}"/>
              </a:ext>
            </a:extLst>
          </p:cNvPr>
          <p:cNvSpPr>
            <a:spLocks noGrp="1"/>
          </p:cNvSpPr>
          <p:nvPr/>
        </p:nvSpPr>
        <p:spPr>
          <a:xfrm>
            <a:off x="1950508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A5652A85-F546-4048-8086-57BF2FB5E3AD}"/>
              </a:ext>
            </a:extLst>
          </p:cNvPr>
          <p:cNvSpPr>
            <a:spLocks noGrp="1"/>
          </p:cNvSpPr>
          <p:nvPr/>
        </p:nvSpPr>
        <p:spPr>
          <a:xfrm>
            <a:off x="2263775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2F4B1B93-E3A9-43F0-8DB7-F080B633D502}"/>
              </a:ext>
            </a:extLst>
          </p:cNvPr>
          <p:cNvSpPr>
            <a:spLocks noGrp="1"/>
          </p:cNvSpPr>
          <p:nvPr/>
        </p:nvSpPr>
        <p:spPr>
          <a:xfrm>
            <a:off x="2577042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A1A5340-AC2C-4D28-B14A-842F074F5212}"/>
              </a:ext>
            </a:extLst>
          </p:cNvPr>
          <p:cNvSpPr>
            <a:spLocks noGrp="1"/>
          </p:cNvSpPr>
          <p:nvPr/>
        </p:nvSpPr>
        <p:spPr>
          <a:xfrm>
            <a:off x="2890308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A3005FB6-4E08-4FB4-AECC-878A05B0E86D}"/>
              </a:ext>
            </a:extLst>
          </p:cNvPr>
          <p:cNvSpPr>
            <a:spLocks noGrp="1"/>
          </p:cNvSpPr>
          <p:nvPr/>
        </p:nvSpPr>
        <p:spPr>
          <a:xfrm>
            <a:off x="3203575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B0F4DDDE-9F7B-4E78-A34F-9A540A4CDE53}"/>
              </a:ext>
            </a:extLst>
          </p:cNvPr>
          <p:cNvSpPr>
            <a:spLocks noGrp="1"/>
          </p:cNvSpPr>
          <p:nvPr/>
        </p:nvSpPr>
        <p:spPr>
          <a:xfrm>
            <a:off x="3516842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796B5C02-795F-47F1-B071-00460D4C60AD}"/>
              </a:ext>
            </a:extLst>
          </p:cNvPr>
          <p:cNvSpPr>
            <a:spLocks noGrp="1"/>
          </p:cNvSpPr>
          <p:nvPr/>
        </p:nvSpPr>
        <p:spPr>
          <a:xfrm>
            <a:off x="3830108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6B6DD797-81E6-4475-A94A-E6BEC03361FD}"/>
              </a:ext>
            </a:extLst>
          </p:cNvPr>
          <p:cNvSpPr>
            <a:spLocks noGrp="1"/>
          </p:cNvSpPr>
          <p:nvPr/>
        </p:nvSpPr>
        <p:spPr>
          <a:xfrm>
            <a:off x="4143375" y="27051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FF4A59-CE3A-4661-977A-5590C6E7EA49}"/>
              </a:ext>
            </a:extLst>
          </p:cNvPr>
          <p:cNvSpPr>
            <a:spLocks noGrp="1"/>
          </p:cNvSpPr>
          <p:nvPr/>
        </p:nvSpPr>
        <p:spPr>
          <a:xfrm>
            <a:off x="1009650" y="3181350"/>
            <a:ext cx="32385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AAB2951-5D7F-42D9-82DC-652220F9077B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3238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</p:sp>
      <p:sp>
        <p:nvSpPr>
          <p:cNvPr id="23" name="直線接點 22">
            <a:extLst>
              <a:ext uri="{FF2B5EF4-FFF2-40B4-BE49-F238E27FC236}">
                <a16:creationId xmlns:a16="http://schemas.microsoft.com/office/drawing/2014/main" id="{99873108-A06A-4397-9716-828024E6B22B}"/>
              </a:ext>
            </a:extLst>
          </p:cNvPr>
          <p:cNvSpPr>
            <a:spLocks noGrp="1"/>
          </p:cNvSpPr>
          <p:nvPr/>
        </p:nvSpPr>
        <p:spPr>
          <a:xfrm>
            <a:off x="1085850" y="3552825"/>
            <a:ext cx="2933700" cy="0"/>
          </a:xfrm>
          <a:prstGeom prst="line">
            <a:avLst/>
          </a:prstGeom>
          <a:noFill/>
          <a:ln w="11430">
            <a:solidFill>
              <a:srgbClr val="1F7B7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D3227D7-6573-4E87-88ED-D02C5D2A250B}"/>
              </a:ext>
            </a:extLst>
          </p:cNvPr>
          <p:cNvSpPr>
            <a:spLocks noGrp="1"/>
          </p:cNvSpPr>
          <p:nvPr/>
        </p:nvSpPr>
        <p:spPr>
          <a:xfrm>
            <a:off x="1104900" y="321945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MIDDLE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8636607-4852-42B1-8074-B97FC986C0FA}"/>
              </a:ext>
            </a:extLst>
          </p:cNvPr>
          <p:cNvSpPr>
            <a:spLocks noGrp="1"/>
          </p:cNvSpPr>
          <p:nvPr/>
        </p:nvSpPr>
        <p:spPr>
          <a:xfrm>
            <a:off x="1104900" y="3562350"/>
            <a:ext cx="2895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12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LEVEL 2 · 1687 + 1838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D19755FD-86DC-470E-BD70-539B0D58E3E5}"/>
              </a:ext>
            </a:extLst>
          </p:cNvPr>
          <p:cNvSpPr>
            <a:spLocks noGrp="1"/>
          </p:cNvSpPr>
          <p:nvPr/>
        </p:nvSpPr>
        <p:spPr>
          <a:xfrm>
            <a:off x="1114425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6A40CDBD-3D36-4E47-A351-D4E4BE5A20DC}"/>
              </a:ext>
            </a:extLst>
          </p:cNvPr>
          <p:cNvSpPr>
            <a:spLocks noGrp="1"/>
          </p:cNvSpPr>
          <p:nvPr/>
        </p:nvSpPr>
        <p:spPr>
          <a:xfrm>
            <a:off x="1427692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F66731F1-1DCD-4C8D-9B17-27DD5EDE752E}"/>
              </a:ext>
            </a:extLst>
          </p:cNvPr>
          <p:cNvSpPr>
            <a:spLocks noGrp="1"/>
          </p:cNvSpPr>
          <p:nvPr/>
        </p:nvSpPr>
        <p:spPr>
          <a:xfrm>
            <a:off x="1740958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69F5AF88-7CC1-4FBB-A2FE-2347FF0BE0C3}"/>
              </a:ext>
            </a:extLst>
          </p:cNvPr>
          <p:cNvSpPr>
            <a:spLocks noGrp="1"/>
          </p:cNvSpPr>
          <p:nvPr/>
        </p:nvSpPr>
        <p:spPr>
          <a:xfrm>
            <a:off x="2054225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688922BA-2BFA-48F8-9390-BD88D8B30A25}"/>
              </a:ext>
            </a:extLst>
          </p:cNvPr>
          <p:cNvSpPr>
            <a:spLocks noGrp="1"/>
          </p:cNvSpPr>
          <p:nvPr/>
        </p:nvSpPr>
        <p:spPr>
          <a:xfrm>
            <a:off x="2367492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12CBEB2D-D889-45F3-95F4-68DD694BCBCA}"/>
              </a:ext>
            </a:extLst>
          </p:cNvPr>
          <p:cNvSpPr>
            <a:spLocks noGrp="1"/>
          </p:cNvSpPr>
          <p:nvPr/>
        </p:nvSpPr>
        <p:spPr>
          <a:xfrm>
            <a:off x="2680758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00AFBD11-6B59-42A6-97C9-300B1FB164ED}"/>
              </a:ext>
            </a:extLst>
          </p:cNvPr>
          <p:cNvSpPr>
            <a:spLocks noGrp="1"/>
          </p:cNvSpPr>
          <p:nvPr/>
        </p:nvSpPr>
        <p:spPr>
          <a:xfrm>
            <a:off x="2994025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6DEEA704-E66B-4817-AC21-8C3BDEB40B43}"/>
              </a:ext>
            </a:extLst>
          </p:cNvPr>
          <p:cNvSpPr>
            <a:spLocks noGrp="1"/>
          </p:cNvSpPr>
          <p:nvPr/>
        </p:nvSpPr>
        <p:spPr>
          <a:xfrm>
            <a:off x="3307292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ABB66689-DB7C-46C5-8F0D-48C12B75880D}"/>
              </a:ext>
            </a:extLst>
          </p:cNvPr>
          <p:cNvSpPr>
            <a:spLocks noGrp="1"/>
          </p:cNvSpPr>
          <p:nvPr/>
        </p:nvSpPr>
        <p:spPr>
          <a:xfrm>
            <a:off x="3620558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548EF31B-9566-4EC3-8700-A414A0EEB745}"/>
              </a:ext>
            </a:extLst>
          </p:cNvPr>
          <p:cNvSpPr>
            <a:spLocks noGrp="1"/>
          </p:cNvSpPr>
          <p:nvPr/>
        </p:nvSpPr>
        <p:spPr>
          <a:xfrm>
            <a:off x="3933825" y="382905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3AEA7A3-ABB3-4A00-9A35-688498ABDEBC}"/>
              </a:ext>
            </a:extLst>
          </p:cNvPr>
          <p:cNvSpPr>
            <a:spLocks noGrp="1"/>
          </p:cNvSpPr>
          <p:nvPr/>
        </p:nvSpPr>
        <p:spPr>
          <a:xfrm>
            <a:off x="800100" y="4305300"/>
            <a:ext cx="32385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ED0404F2-E4FA-4F5C-BD65-5812F0961856}"/>
              </a:ext>
            </a:extLst>
          </p:cNvPr>
          <p:cNvSpPr>
            <a:spLocks noGrp="1"/>
          </p:cNvSpPr>
          <p:nvPr/>
        </p:nvSpPr>
        <p:spPr>
          <a:xfrm>
            <a:off x="723900" y="4229100"/>
            <a:ext cx="3238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0B6B9E"/>
            </a:solidFill>
            <a:prstDash val="solid"/>
          </a:ln>
        </p:spPr>
      </p:sp>
      <p:sp>
        <p:nvSpPr>
          <p:cNvPr id="38" name="直線接點 37">
            <a:extLst>
              <a:ext uri="{FF2B5EF4-FFF2-40B4-BE49-F238E27FC236}">
                <a16:creationId xmlns:a16="http://schemas.microsoft.com/office/drawing/2014/main" id="{0953CED4-1B45-44CD-8175-9DE04118E4F0}"/>
              </a:ext>
            </a:extLst>
          </p:cNvPr>
          <p:cNvSpPr>
            <a:spLocks noGrp="1"/>
          </p:cNvSpPr>
          <p:nvPr/>
        </p:nvSpPr>
        <p:spPr>
          <a:xfrm>
            <a:off x="876300" y="4676775"/>
            <a:ext cx="2933700" cy="0"/>
          </a:xfrm>
          <a:prstGeom prst="line">
            <a:avLst/>
          </a:prstGeom>
          <a:noFill/>
          <a:ln w="11430">
            <a:solidFill>
              <a:srgbClr val="0B6B9E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FFCD5E2-467E-4823-A21B-0B1EFAC2B5F4}"/>
              </a:ext>
            </a:extLst>
          </p:cNvPr>
          <p:cNvSpPr>
            <a:spLocks noGrp="1"/>
          </p:cNvSpPr>
          <p:nvPr/>
        </p:nvSpPr>
        <p:spPr>
          <a:xfrm>
            <a:off x="895350" y="4343400"/>
            <a:ext cx="2895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4E499FE-7BE4-4A39-BEDB-6B2BA41EBD8F}"/>
              </a:ext>
            </a:extLst>
          </p:cNvPr>
          <p:cNvSpPr>
            <a:spLocks noGrp="1"/>
          </p:cNvSpPr>
          <p:nvPr/>
        </p:nvSpPr>
        <p:spPr>
          <a:xfrm>
            <a:off x="895350" y="4686300"/>
            <a:ext cx="2895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12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LEVEL 3 · STACK ENTRY</a:t>
            </a:r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C0DCB34-88F4-46F1-ADA3-48C0E0A13524}"/>
              </a:ext>
            </a:extLst>
          </p:cNvPr>
          <p:cNvSpPr>
            <a:spLocks noGrp="1"/>
          </p:cNvSpPr>
          <p:nvPr/>
        </p:nvSpPr>
        <p:spPr>
          <a:xfrm>
            <a:off x="904875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06C18B4C-FD29-44D0-9B44-8154EAA317EC}"/>
              </a:ext>
            </a:extLst>
          </p:cNvPr>
          <p:cNvSpPr>
            <a:spLocks noGrp="1"/>
          </p:cNvSpPr>
          <p:nvPr/>
        </p:nvSpPr>
        <p:spPr>
          <a:xfrm>
            <a:off x="1218142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3" name="橢圓 42">
            <a:extLst>
              <a:ext uri="{FF2B5EF4-FFF2-40B4-BE49-F238E27FC236}">
                <a16:creationId xmlns:a16="http://schemas.microsoft.com/office/drawing/2014/main" id="{7CD03EE0-7F75-4125-A5B7-7B69E652517B}"/>
              </a:ext>
            </a:extLst>
          </p:cNvPr>
          <p:cNvSpPr>
            <a:spLocks noGrp="1"/>
          </p:cNvSpPr>
          <p:nvPr/>
        </p:nvSpPr>
        <p:spPr>
          <a:xfrm>
            <a:off x="1531408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08FC3FDE-19D6-4D4D-923A-E816F86EC0E9}"/>
              </a:ext>
            </a:extLst>
          </p:cNvPr>
          <p:cNvSpPr>
            <a:spLocks noGrp="1"/>
          </p:cNvSpPr>
          <p:nvPr/>
        </p:nvSpPr>
        <p:spPr>
          <a:xfrm>
            <a:off x="1844675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F878673A-5D65-4CDC-BDC8-B0293ABCAF92}"/>
              </a:ext>
            </a:extLst>
          </p:cNvPr>
          <p:cNvSpPr>
            <a:spLocks noGrp="1"/>
          </p:cNvSpPr>
          <p:nvPr/>
        </p:nvSpPr>
        <p:spPr>
          <a:xfrm>
            <a:off x="2157942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C729B3B6-B302-470D-BFB5-D6E64402FFD2}"/>
              </a:ext>
            </a:extLst>
          </p:cNvPr>
          <p:cNvSpPr>
            <a:spLocks noGrp="1"/>
          </p:cNvSpPr>
          <p:nvPr/>
        </p:nvSpPr>
        <p:spPr>
          <a:xfrm>
            <a:off x="2471208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D0A44244-7874-4D14-BBAC-D074489A4834}"/>
              </a:ext>
            </a:extLst>
          </p:cNvPr>
          <p:cNvSpPr>
            <a:spLocks noGrp="1"/>
          </p:cNvSpPr>
          <p:nvPr/>
        </p:nvSpPr>
        <p:spPr>
          <a:xfrm>
            <a:off x="2784475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5EC73BE9-53D4-4B4F-897A-52CF3A93E9DC}"/>
              </a:ext>
            </a:extLst>
          </p:cNvPr>
          <p:cNvSpPr>
            <a:spLocks noGrp="1"/>
          </p:cNvSpPr>
          <p:nvPr/>
        </p:nvSpPr>
        <p:spPr>
          <a:xfrm>
            <a:off x="3097742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8D505307-EBBB-4CC6-B482-D1E68E40AFC8}"/>
              </a:ext>
            </a:extLst>
          </p:cNvPr>
          <p:cNvSpPr>
            <a:spLocks noGrp="1"/>
          </p:cNvSpPr>
          <p:nvPr/>
        </p:nvSpPr>
        <p:spPr>
          <a:xfrm>
            <a:off x="3411008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573F6292-1984-4EEA-A9FC-E3FAF8E88CBD}"/>
              </a:ext>
            </a:extLst>
          </p:cNvPr>
          <p:cNvSpPr>
            <a:spLocks noGrp="1"/>
          </p:cNvSpPr>
          <p:nvPr/>
        </p:nvSpPr>
        <p:spPr>
          <a:xfrm>
            <a:off x="3724275" y="49530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1" name="直線接點 50">
            <a:extLst>
              <a:ext uri="{FF2B5EF4-FFF2-40B4-BE49-F238E27FC236}">
                <a16:creationId xmlns:a16="http://schemas.microsoft.com/office/drawing/2014/main" id="{B3AFB3A4-F98A-43EE-AD32-896B6E40F071}"/>
              </a:ext>
            </a:extLst>
          </p:cNvPr>
          <p:cNvSpPr>
            <a:spLocks noGrp="1"/>
          </p:cNvSpPr>
          <p:nvPr/>
        </p:nvSpPr>
        <p:spPr>
          <a:xfrm>
            <a:off x="2314575" y="4705350"/>
            <a:ext cx="0" cy="0"/>
          </a:xfrm>
          <a:prstGeom prst="line">
            <a:avLst/>
          </a:prstGeom>
          <a:noFill/>
          <a:ln w="28575">
            <a:solidFill>
              <a:srgbClr val="D96B30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9DBD6F6-3D3F-4174-9E19-714EB3251D09}"/>
              </a:ext>
            </a:extLst>
          </p:cNvPr>
          <p:cNvSpPr>
            <a:spLocks noGrp="1"/>
          </p:cNvSpPr>
          <p:nvPr/>
        </p:nvSpPr>
        <p:spPr>
          <a:xfrm>
            <a:off x="2628900" y="27241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SERIAL ACCESS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22CBB666-3ADD-4653-A68D-47B1B0A9343A}"/>
              </a:ext>
            </a:extLst>
          </p:cNvPr>
          <p:cNvSpPr>
            <a:spLocks noGrp="1"/>
          </p:cNvSpPr>
          <p:nvPr/>
        </p:nvSpPr>
        <p:spPr>
          <a:xfrm>
            <a:off x="628650" y="5048250"/>
            <a:ext cx="819150" cy="361950"/>
          </a:xfrm>
          <a:prstGeom prst="roundRect">
            <a:avLst>
              <a:gd name="adj" fmla="val 15789"/>
            </a:avLst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  <p:txBody>
          <a:bodyPr wrap="square" lIns="114300" tIns="76200" rIns="114300" bIns="76200" anchor="ctr">
            <a:normAutofit fontScale="96278"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PTAP</a:t>
            </a:r>
          </a:p>
        </p:txBody>
      </p:sp>
      <p:sp>
        <p:nvSpPr>
          <p:cNvPr id="54" name="直線接點 53">
            <a:extLst>
              <a:ext uri="{FF2B5EF4-FFF2-40B4-BE49-F238E27FC236}">
                <a16:creationId xmlns:a16="http://schemas.microsoft.com/office/drawing/2014/main" id="{A4A28D17-B874-4838-B0A1-F111571835AB}"/>
              </a:ext>
            </a:extLst>
          </p:cNvPr>
          <p:cNvSpPr>
            <a:spLocks noGrp="1"/>
          </p:cNvSpPr>
          <p:nvPr/>
        </p:nvSpPr>
        <p:spPr>
          <a:xfrm>
            <a:off x="1447800" y="5229225"/>
            <a:ext cx="400050" cy="0"/>
          </a:xfrm>
          <a:prstGeom prst="line">
            <a:avLst/>
          </a:prstGeom>
          <a:noFill/>
          <a:ln w="19050">
            <a:solidFill>
              <a:srgbClr val="173A59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6F98762-1EAA-4EE6-982A-4A36B4BBB8A2}"/>
              </a:ext>
            </a:extLst>
          </p:cNvPr>
          <p:cNvSpPr>
            <a:spLocks noGrp="1"/>
          </p:cNvSpPr>
          <p:nvPr/>
        </p:nvSpPr>
        <p:spPr>
          <a:xfrm>
            <a:off x="5095875" y="15716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COMMON PROCEDURE + ROLE-DEPENDENT CONFIGURATION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3C4BA64-DDFB-487E-9599-0BBB53BFED2B}"/>
              </a:ext>
            </a:extLst>
          </p:cNvPr>
          <p:cNvSpPr>
            <a:spLocks noGrp="1"/>
          </p:cNvSpPr>
          <p:nvPr/>
        </p:nvSpPr>
        <p:spPr>
          <a:xfrm>
            <a:off x="5095875" y="2019300"/>
            <a:ext cx="1790700" cy="4191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0C6805A-5521-48C7-930C-6B52B30631C3}"/>
              </a:ext>
            </a:extLst>
          </p:cNvPr>
          <p:cNvSpPr>
            <a:spLocks noGrp="1"/>
          </p:cNvSpPr>
          <p:nvPr/>
        </p:nvSpPr>
        <p:spPr>
          <a:xfrm>
            <a:off x="5191125" y="2047875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Configuration item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2747A3F-7850-4FDB-AA04-F106A8E37039}"/>
              </a:ext>
            </a:extLst>
          </p:cNvPr>
          <p:cNvSpPr>
            <a:spLocks noGrp="1"/>
          </p:cNvSpPr>
          <p:nvPr/>
        </p:nvSpPr>
        <p:spPr>
          <a:xfrm>
            <a:off x="6886575" y="2019300"/>
            <a:ext cx="1524000" cy="4191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BEB05C6-D26B-4700-AE0B-4392051A8AF8}"/>
              </a:ext>
            </a:extLst>
          </p:cNvPr>
          <p:cNvSpPr>
            <a:spLocks noGrp="1"/>
          </p:cNvSpPr>
          <p:nvPr/>
        </p:nvSpPr>
        <p:spPr>
          <a:xfrm>
            <a:off x="6981825" y="20478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6353DE4-67BE-42F8-B326-04BC838584F5}"/>
              </a:ext>
            </a:extLst>
          </p:cNvPr>
          <p:cNvSpPr>
            <a:spLocks noGrp="1"/>
          </p:cNvSpPr>
          <p:nvPr/>
        </p:nvSpPr>
        <p:spPr>
          <a:xfrm>
            <a:off x="8410575" y="2019300"/>
            <a:ext cx="1524000" cy="4191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C3AAFC4-CFE1-4DA6-A37E-4A9ACB414D46}"/>
              </a:ext>
            </a:extLst>
          </p:cNvPr>
          <p:cNvSpPr>
            <a:spLocks noGrp="1"/>
          </p:cNvSpPr>
          <p:nvPr/>
        </p:nvSpPr>
        <p:spPr>
          <a:xfrm>
            <a:off x="8505825" y="20478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Middle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26310CB-2D14-4F0C-A488-7DD6849A18E9}"/>
              </a:ext>
            </a:extLst>
          </p:cNvPr>
          <p:cNvSpPr>
            <a:spLocks noGrp="1"/>
          </p:cNvSpPr>
          <p:nvPr/>
        </p:nvSpPr>
        <p:spPr>
          <a:xfrm>
            <a:off x="9934575" y="2019300"/>
            <a:ext cx="1524000" cy="4191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89CF72C-5650-402E-9014-2758F77E232C}"/>
              </a:ext>
            </a:extLst>
          </p:cNvPr>
          <p:cNvSpPr>
            <a:spLocks noGrp="1"/>
          </p:cNvSpPr>
          <p:nvPr/>
        </p:nvSpPr>
        <p:spPr>
          <a:xfrm>
            <a:off x="10029825" y="20478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Top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357DC86-5DF2-4CF5-9B7F-19AF5666C4FD}"/>
              </a:ext>
            </a:extLst>
          </p:cNvPr>
          <p:cNvSpPr>
            <a:spLocks noGrp="1"/>
          </p:cNvSpPr>
          <p:nvPr/>
        </p:nvSpPr>
        <p:spPr>
          <a:xfrm>
            <a:off x="5095875" y="2438400"/>
            <a:ext cx="17907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1578A83A-0660-4220-87CB-4B296EE56801}"/>
              </a:ext>
            </a:extLst>
          </p:cNvPr>
          <p:cNvSpPr>
            <a:spLocks noGrp="1"/>
          </p:cNvSpPr>
          <p:nvPr/>
        </p:nvSpPr>
        <p:spPr>
          <a:xfrm>
            <a:off x="5191125" y="2466975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Serial-path role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BB4E0D0-B968-4079-9F75-1CD590C7C9DF}"/>
              </a:ext>
            </a:extLst>
          </p:cNvPr>
          <p:cNvSpPr>
            <a:spLocks noGrp="1"/>
          </p:cNvSpPr>
          <p:nvPr/>
        </p:nvSpPr>
        <p:spPr>
          <a:xfrm>
            <a:off x="6886575" y="24384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4D6301F-47AA-4B8E-A51E-86394E810E71}"/>
              </a:ext>
            </a:extLst>
          </p:cNvPr>
          <p:cNvSpPr>
            <a:spLocks noGrp="1"/>
          </p:cNvSpPr>
          <p:nvPr/>
        </p:nvSpPr>
        <p:spPr>
          <a:xfrm>
            <a:off x="6981825" y="24669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Entry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FBCBEA2-1074-4856-8472-164C0E6CC076}"/>
              </a:ext>
            </a:extLst>
          </p:cNvPr>
          <p:cNvSpPr>
            <a:spLocks noGrp="1"/>
          </p:cNvSpPr>
          <p:nvPr/>
        </p:nvSpPr>
        <p:spPr>
          <a:xfrm>
            <a:off x="8410575" y="24384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87DC0F34-086E-4941-A838-5A903A06D481}"/>
              </a:ext>
            </a:extLst>
          </p:cNvPr>
          <p:cNvSpPr>
            <a:spLocks noGrp="1"/>
          </p:cNvSpPr>
          <p:nvPr/>
        </p:nvSpPr>
        <p:spPr>
          <a:xfrm>
            <a:off x="8505825" y="24669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Relay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63A59FE-0B10-47E3-AC46-F74C48393006}"/>
              </a:ext>
            </a:extLst>
          </p:cNvPr>
          <p:cNvSpPr>
            <a:spLocks noGrp="1"/>
          </p:cNvSpPr>
          <p:nvPr/>
        </p:nvSpPr>
        <p:spPr>
          <a:xfrm>
            <a:off x="9934575" y="24384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4785D873-E713-407D-8C61-3F217884732A}"/>
              </a:ext>
            </a:extLst>
          </p:cNvPr>
          <p:cNvSpPr>
            <a:spLocks noGrp="1"/>
          </p:cNvSpPr>
          <p:nvPr/>
        </p:nvSpPr>
        <p:spPr>
          <a:xfrm>
            <a:off x="10029825" y="24669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Terminus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6376F28-1798-4B0A-8A5D-BF04AB799D60}"/>
              </a:ext>
            </a:extLst>
          </p:cNvPr>
          <p:cNvSpPr>
            <a:spLocks noGrp="1"/>
          </p:cNvSpPr>
          <p:nvPr/>
        </p:nvSpPr>
        <p:spPr>
          <a:xfrm>
            <a:off x="5095875" y="2857500"/>
            <a:ext cx="17907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27E1033-1782-4538-A4BF-916CF0BECA0B}"/>
              </a:ext>
            </a:extLst>
          </p:cNvPr>
          <p:cNvSpPr>
            <a:spLocks noGrp="1"/>
          </p:cNvSpPr>
          <p:nvPr/>
        </p:nvSpPr>
        <p:spPr>
          <a:xfrm>
            <a:off x="5191125" y="2886075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IJTAG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6EBB333-6B6D-49B9-A833-ED73F43D476A}"/>
              </a:ext>
            </a:extLst>
          </p:cNvPr>
          <p:cNvSpPr>
            <a:spLocks noGrp="1"/>
          </p:cNvSpPr>
          <p:nvPr/>
        </p:nvSpPr>
        <p:spPr>
          <a:xfrm>
            <a:off x="6886575" y="28575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534130E-FA5F-4C2E-93DA-F85CF41A48DD}"/>
              </a:ext>
            </a:extLst>
          </p:cNvPr>
          <p:cNvSpPr>
            <a:spLocks noGrp="1"/>
          </p:cNvSpPr>
          <p:nvPr/>
        </p:nvSpPr>
        <p:spPr>
          <a:xfrm>
            <a:off x="6981825" y="28860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986D5821-7575-415D-9D3E-57016717EE2E}"/>
              </a:ext>
            </a:extLst>
          </p:cNvPr>
          <p:cNvSpPr>
            <a:spLocks noGrp="1"/>
          </p:cNvSpPr>
          <p:nvPr/>
        </p:nvSpPr>
        <p:spPr>
          <a:xfrm>
            <a:off x="8410575" y="28575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1958CBFD-3128-4D19-81AB-D7381A3D1E4F}"/>
              </a:ext>
            </a:extLst>
          </p:cNvPr>
          <p:cNvSpPr>
            <a:spLocks noGrp="1"/>
          </p:cNvSpPr>
          <p:nvPr/>
        </p:nvSpPr>
        <p:spPr>
          <a:xfrm>
            <a:off x="8505825" y="28860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7DC6FC72-48D8-4E5B-9D8E-ABA6C731139C}"/>
              </a:ext>
            </a:extLst>
          </p:cNvPr>
          <p:cNvSpPr>
            <a:spLocks noGrp="1"/>
          </p:cNvSpPr>
          <p:nvPr/>
        </p:nvSpPr>
        <p:spPr>
          <a:xfrm>
            <a:off x="9934575" y="28575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F8F2D7B-43D2-4D4E-8F18-62E899670025}"/>
              </a:ext>
            </a:extLst>
          </p:cNvPr>
          <p:cNvSpPr>
            <a:spLocks noGrp="1"/>
          </p:cNvSpPr>
          <p:nvPr/>
        </p:nvSpPr>
        <p:spPr>
          <a:xfrm>
            <a:off x="10029825" y="28860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Required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5BF75C6-7B5A-494E-98EE-ECEA89039026}"/>
              </a:ext>
            </a:extLst>
          </p:cNvPr>
          <p:cNvSpPr>
            <a:spLocks noGrp="1"/>
          </p:cNvSpPr>
          <p:nvPr/>
        </p:nvSpPr>
        <p:spPr>
          <a:xfrm>
            <a:off x="5095875" y="3276600"/>
            <a:ext cx="17907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9AE7DB3-6AB6-4E34-BF27-F02451C3888B}"/>
              </a:ext>
            </a:extLst>
          </p:cNvPr>
          <p:cNvSpPr>
            <a:spLocks noGrp="1"/>
          </p:cNvSpPr>
          <p:nvPr/>
        </p:nvSpPr>
        <p:spPr>
          <a:xfrm>
            <a:off x="5191125" y="3305175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 definition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A870D7D7-A561-43E3-87B4-A7F9F06A1159}"/>
              </a:ext>
            </a:extLst>
          </p:cNvPr>
          <p:cNvSpPr>
            <a:spLocks noGrp="1"/>
          </p:cNvSpPr>
          <p:nvPr/>
        </p:nvSpPr>
        <p:spPr>
          <a:xfrm>
            <a:off x="6886575" y="32766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B76E367-9B60-4C0A-A26B-AF01D35831BF}"/>
              </a:ext>
            </a:extLst>
          </p:cNvPr>
          <p:cNvSpPr>
            <a:spLocks noGrp="1"/>
          </p:cNvSpPr>
          <p:nvPr/>
        </p:nvSpPr>
        <p:spPr>
          <a:xfrm>
            <a:off x="6981825" y="33051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IJTAG + STAP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2B1CA07-AEAC-4673-ACB3-B7F875A99D34}"/>
              </a:ext>
            </a:extLst>
          </p:cNvPr>
          <p:cNvSpPr>
            <a:spLocks noGrp="1"/>
          </p:cNvSpPr>
          <p:nvPr/>
        </p:nvSpPr>
        <p:spPr>
          <a:xfrm>
            <a:off x="8410575" y="32766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6C213A8-6C88-4E83-8BE6-3ADDC34144C3}"/>
              </a:ext>
            </a:extLst>
          </p:cNvPr>
          <p:cNvSpPr>
            <a:spLocks noGrp="1"/>
          </p:cNvSpPr>
          <p:nvPr/>
        </p:nvSpPr>
        <p:spPr>
          <a:xfrm>
            <a:off x="8505825" y="33051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IJTAG + STAP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B1B2440-B056-47CF-8B66-8807B00FA215}"/>
              </a:ext>
            </a:extLst>
          </p:cNvPr>
          <p:cNvSpPr>
            <a:spLocks noGrp="1"/>
          </p:cNvSpPr>
          <p:nvPr/>
        </p:nvSpPr>
        <p:spPr>
          <a:xfrm>
            <a:off x="9934575" y="32766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3D7A8032-DFB5-4CE1-BA55-3CE5F3AB9960}"/>
              </a:ext>
            </a:extLst>
          </p:cNvPr>
          <p:cNvSpPr>
            <a:spLocks noGrp="1"/>
          </p:cNvSpPr>
          <p:nvPr/>
        </p:nvSpPr>
        <p:spPr>
          <a:xfrm>
            <a:off x="10029825" y="33051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IJTAG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A02740D-615D-46BA-93A7-A84AD8E79590}"/>
              </a:ext>
            </a:extLst>
          </p:cNvPr>
          <p:cNvSpPr>
            <a:spLocks noGrp="1"/>
          </p:cNvSpPr>
          <p:nvPr/>
        </p:nvSpPr>
        <p:spPr>
          <a:xfrm>
            <a:off x="5095875" y="3695700"/>
            <a:ext cx="17907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C48D0BB-8769-4206-BB9B-2AAC67B0BA4A}"/>
              </a:ext>
            </a:extLst>
          </p:cNvPr>
          <p:cNvSpPr>
            <a:spLocks noGrp="1"/>
          </p:cNvSpPr>
          <p:nvPr/>
        </p:nvSpPr>
        <p:spPr>
          <a:xfrm>
            <a:off x="5191125" y="3724275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Downstream STAP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E2497DA-3BF2-4D84-9D26-598C635B5EBA}"/>
              </a:ext>
            </a:extLst>
          </p:cNvPr>
          <p:cNvSpPr>
            <a:spLocks noGrp="1"/>
          </p:cNvSpPr>
          <p:nvPr/>
        </p:nvSpPr>
        <p:spPr>
          <a:xfrm>
            <a:off x="6886575" y="36957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C5BFE1D-30F9-4EA4-8B82-96E5DFE6E21C}"/>
              </a:ext>
            </a:extLst>
          </p:cNvPr>
          <p:cNvSpPr>
            <a:spLocks noGrp="1"/>
          </p:cNvSpPr>
          <p:nvPr/>
        </p:nvSpPr>
        <p:spPr>
          <a:xfrm>
            <a:off x="6981825" y="37242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206160F5-44C4-4BB7-BE9F-C2074A1481CE}"/>
              </a:ext>
            </a:extLst>
          </p:cNvPr>
          <p:cNvSpPr>
            <a:spLocks noGrp="1"/>
          </p:cNvSpPr>
          <p:nvPr/>
        </p:nvSpPr>
        <p:spPr>
          <a:xfrm>
            <a:off x="8410575" y="36957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0EC25854-5F39-4059-BD3C-2465B15E6B43}"/>
              </a:ext>
            </a:extLst>
          </p:cNvPr>
          <p:cNvSpPr>
            <a:spLocks noGrp="1"/>
          </p:cNvSpPr>
          <p:nvPr/>
        </p:nvSpPr>
        <p:spPr>
          <a:xfrm>
            <a:off x="8505825" y="37242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5D376F8-E107-4E26-B8D5-71CA77D5EBDA}"/>
              </a:ext>
            </a:extLst>
          </p:cNvPr>
          <p:cNvSpPr>
            <a:spLocks noGrp="1"/>
          </p:cNvSpPr>
          <p:nvPr/>
        </p:nvSpPr>
        <p:spPr>
          <a:xfrm>
            <a:off x="9934575" y="36957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4B39BFD6-D573-43FA-A149-88AF1D45A659}"/>
              </a:ext>
            </a:extLst>
          </p:cNvPr>
          <p:cNvSpPr>
            <a:spLocks noGrp="1"/>
          </p:cNvSpPr>
          <p:nvPr/>
        </p:nvSpPr>
        <p:spPr>
          <a:xfrm>
            <a:off x="10029825" y="37242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8C109BFC-84F2-4D5C-8335-7A23B0D90D04}"/>
              </a:ext>
            </a:extLst>
          </p:cNvPr>
          <p:cNvSpPr>
            <a:spLocks noGrp="1"/>
          </p:cNvSpPr>
          <p:nvPr/>
        </p:nvSpPr>
        <p:spPr>
          <a:xfrm>
            <a:off x="5095875" y="4114800"/>
            <a:ext cx="17907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56F4BCDB-3010-4532-A937-F07DFE353224}"/>
              </a:ext>
            </a:extLst>
          </p:cNvPr>
          <p:cNvSpPr>
            <a:spLocks noGrp="1"/>
          </p:cNvSpPr>
          <p:nvPr/>
        </p:nvSpPr>
        <p:spPr>
          <a:xfrm>
            <a:off x="5191125" y="4143375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interface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189D75FB-7797-41DF-9839-10E45F749FF6}"/>
              </a:ext>
            </a:extLst>
          </p:cNvPr>
          <p:cNvSpPr>
            <a:spLocks noGrp="1"/>
          </p:cNvSpPr>
          <p:nvPr/>
        </p:nvSpPr>
        <p:spPr>
          <a:xfrm>
            <a:off x="6886575" y="41148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F330249-1849-44A0-B6A3-E535FD0148E5}"/>
              </a:ext>
            </a:extLst>
          </p:cNvPr>
          <p:cNvSpPr>
            <a:spLocks noGrp="1"/>
          </p:cNvSpPr>
          <p:nvPr/>
        </p:nvSpPr>
        <p:spPr>
          <a:xfrm>
            <a:off x="6981825" y="41433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PTAP + upper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A52A0B74-AF11-4E7D-A079-131978ADD26B}"/>
              </a:ext>
            </a:extLst>
          </p:cNvPr>
          <p:cNvSpPr>
            <a:spLocks noGrp="1"/>
          </p:cNvSpPr>
          <p:nvPr/>
        </p:nvSpPr>
        <p:spPr>
          <a:xfrm>
            <a:off x="8410575" y="41148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70BC6AE7-176E-49F5-A272-D96418BBA45B}"/>
              </a:ext>
            </a:extLst>
          </p:cNvPr>
          <p:cNvSpPr>
            <a:spLocks noGrp="1"/>
          </p:cNvSpPr>
          <p:nvPr/>
        </p:nvSpPr>
        <p:spPr>
          <a:xfrm>
            <a:off x="8505825" y="41433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lower + upper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F6460E8-844D-40DB-B331-19C47CFF59D7}"/>
              </a:ext>
            </a:extLst>
          </p:cNvPr>
          <p:cNvSpPr>
            <a:spLocks noGrp="1"/>
          </p:cNvSpPr>
          <p:nvPr/>
        </p:nvSpPr>
        <p:spPr>
          <a:xfrm>
            <a:off x="9934575" y="41148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EF74B86E-8808-4E12-8A70-E21443F93EB3}"/>
              </a:ext>
            </a:extLst>
          </p:cNvPr>
          <p:cNvSpPr>
            <a:spLocks noGrp="1"/>
          </p:cNvSpPr>
          <p:nvPr/>
        </p:nvSpPr>
        <p:spPr>
          <a:xfrm>
            <a:off x="10029825" y="41433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lower endpoint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B5840CAB-CA14-428F-A046-292C415BB428}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17907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7259CBC-68A7-415A-B96E-74F833D5D2D0}"/>
              </a:ext>
            </a:extLst>
          </p:cNvPr>
          <p:cNvSpPr>
            <a:spLocks noGrp="1"/>
          </p:cNvSpPr>
          <p:nvPr/>
        </p:nvSpPr>
        <p:spPr>
          <a:xfrm>
            <a:off x="5191125" y="4562475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Generated output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E9BDF95-9570-4EDE-9ADB-E129C91749FA}"/>
              </a:ext>
            </a:extLst>
          </p:cNvPr>
          <p:cNvSpPr>
            <a:spLocks noGrp="1"/>
          </p:cNvSpPr>
          <p:nvPr/>
        </p:nvSpPr>
        <p:spPr>
          <a:xfrm>
            <a:off x="6886575" y="45339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85C9E28B-55D1-4643-A3F7-06559F7E90F9}"/>
              </a:ext>
            </a:extLst>
          </p:cNvPr>
          <p:cNvSpPr>
            <a:spLocks noGrp="1"/>
          </p:cNvSpPr>
          <p:nvPr/>
        </p:nvSpPr>
        <p:spPr>
          <a:xfrm>
            <a:off x="6981825" y="45624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B6B9E"/>
                </a:solidFill>
                <a:latin typeface="Arial"/>
                <a:ea typeface="Arial"/>
                <a:cs typeface="Arial"/>
              </a:rPr>
              <a:t>RTL + ICL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70B1944-2D4B-4E5A-9F1D-963E38C71ED8}"/>
              </a:ext>
            </a:extLst>
          </p:cNvPr>
          <p:cNvSpPr>
            <a:spLocks noGrp="1"/>
          </p:cNvSpPr>
          <p:nvPr/>
        </p:nvSpPr>
        <p:spPr>
          <a:xfrm>
            <a:off x="8410575" y="45339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935CACCB-35FD-459B-8088-0AD4BD0ED3AF}"/>
              </a:ext>
            </a:extLst>
          </p:cNvPr>
          <p:cNvSpPr>
            <a:spLocks noGrp="1"/>
          </p:cNvSpPr>
          <p:nvPr/>
        </p:nvSpPr>
        <p:spPr>
          <a:xfrm>
            <a:off x="8505825" y="45624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7B72"/>
                </a:solidFill>
                <a:latin typeface="Arial"/>
                <a:ea typeface="Arial"/>
                <a:cs typeface="Arial"/>
              </a:rPr>
              <a:t>RTL + ICL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FD140F9-FF26-4BAC-969B-34F4B09052A9}"/>
              </a:ext>
            </a:extLst>
          </p:cNvPr>
          <p:cNvSpPr>
            <a:spLocks noGrp="1"/>
          </p:cNvSpPr>
          <p:nvPr/>
        </p:nvSpPr>
        <p:spPr>
          <a:xfrm>
            <a:off x="9934575" y="4533900"/>
            <a:ext cx="1524000" cy="4191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6A56084D-62A8-49E2-AE8E-A8E86DE5F100}"/>
              </a:ext>
            </a:extLst>
          </p:cNvPr>
          <p:cNvSpPr>
            <a:spLocks noGrp="1"/>
          </p:cNvSpPr>
          <p:nvPr/>
        </p:nvSpPr>
        <p:spPr>
          <a:xfrm>
            <a:off x="10029825" y="45624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A91B3"/>
                </a:solidFill>
                <a:latin typeface="Arial"/>
                <a:ea typeface="Arial"/>
                <a:cs typeface="Arial"/>
              </a:rPr>
              <a:t>RTL + ICL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30872767-FFC2-434D-8E96-6864A9D85F74}"/>
              </a:ext>
            </a:extLst>
          </p:cNvPr>
          <p:cNvSpPr>
            <a:spLocks noGrp="1"/>
          </p:cNvSpPr>
          <p:nvPr/>
        </p:nvSpPr>
        <p:spPr>
          <a:xfrm>
            <a:off x="5095875" y="4953000"/>
            <a:ext cx="17907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6674371-D777-4608-AB22-C912E1804B82}"/>
              </a:ext>
            </a:extLst>
          </p:cNvPr>
          <p:cNvSpPr>
            <a:spLocks noGrp="1"/>
          </p:cNvSpPr>
          <p:nvPr/>
        </p:nvSpPr>
        <p:spPr>
          <a:xfrm>
            <a:off x="5191125" y="4981575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Core Tcl rewrite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5AEFBAA-A424-4A26-909F-A1E329B3E708}"/>
              </a:ext>
            </a:extLst>
          </p:cNvPr>
          <p:cNvSpPr>
            <a:spLocks noGrp="1"/>
          </p:cNvSpPr>
          <p:nvPr/>
        </p:nvSpPr>
        <p:spPr>
          <a:xfrm>
            <a:off x="6886575" y="49530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450459A-9F12-44FB-9C6C-8E5BBE8C154D}"/>
              </a:ext>
            </a:extLst>
          </p:cNvPr>
          <p:cNvSpPr>
            <a:spLocks noGrp="1"/>
          </p:cNvSpPr>
          <p:nvPr/>
        </p:nvSpPr>
        <p:spPr>
          <a:xfrm>
            <a:off x="6981825" y="49815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A7B23D14-45F0-4211-A7CE-DFE376D8AC39}"/>
              </a:ext>
            </a:extLst>
          </p:cNvPr>
          <p:cNvSpPr>
            <a:spLocks noGrp="1"/>
          </p:cNvSpPr>
          <p:nvPr/>
        </p:nvSpPr>
        <p:spPr>
          <a:xfrm>
            <a:off x="8410575" y="49530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A649503F-3F59-43F5-9A80-3B80F7BE16CC}"/>
              </a:ext>
            </a:extLst>
          </p:cNvPr>
          <p:cNvSpPr>
            <a:spLocks noGrp="1"/>
          </p:cNvSpPr>
          <p:nvPr/>
        </p:nvSpPr>
        <p:spPr>
          <a:xfrm>
            <a:off x="8505825" y="49815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7860526-DE22-41C7-9B68-5ED7FBF90BE6}"/>
              </a:ext>
            </a:extLst>
          </p:cNvPr>
          <p:cNvSpPr>
            <a:spLocks noGrp="1"/>
          </p:cNvSpPr>
          <p:nvPr/>
        </p:nvSpPr>
        <p:spPr>
          <a:xfrm>
            <a:off x="9934575" y="4953000"/>
            <a:ext cx="1524000" cy="4191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609FF40-91EC-48A7-AC00-806731255B74}"/>
              </a:ext>
            </a:extLst>
          </p:cNvPr>
          <p:cNvSpPr>
            <a:spLocks noGrp="1"/>
          </p:cNvSpPr>
          <p:nvPr/>
        </p:nvSpPr>
        <p:spPr>
          <a:xfrm>
            <a:off x="10029825" y="4981575"/>
            <a:ext cx="133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20" name="直線接點 119">
            <a:extLst>
              <a:ext uri="{FF2B5EF4-FFF2-40B4-BE49-F238E27FC236}">
                <a16:creationId xmlns:a16="http://schemas.microsoft.com/office/drawing/2014/main" id="{27870E02-E6E7-42BB-B329-6E243BD32DE8}"/>
              </a:ext>
            </a:extLst>
          </p:cNvPr>
          <p:cNvSpPr>
            <a:spLocks noGrp="1"/>
          </p:cNvSpPr>
          <p:nvPr/>
        </p:nvSpPr>
        <p:spPr>
          <a:xfrm>
            <a:off x="5095875" y="5753100"/>
            <a:ext cx="1409700" cy="0"/>
          </a:xfrm>
          <a:prstGeom prst="line">
            <a:avLst/>
          </a:prstGeom>
          <a:noFill/>
          <a:ln w="38100">
            <a:solidFill>
              <a:srgbClr val="0B6B9E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B95FDCD-239C-40B5-96CD-0A4CA54A7D7F}"/>
              </a:ext>
            </a:extLst>
          </p:cNvPr>
          <p:cNvSpPr>
            <a:spLocks noGrp="1"/>
          </p:cNvSpPr>
          <p:nvPr/>
        </p:nvSpPr>
        <p:spPr>
          <a:xfrm>
            <a:off x="5095875" y="5543550"/>
            <a:ext cx="1409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ROLE = DATA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6857040-4F07-4E88-A832-4555800CAAFA}"/>
              </a:ext>
            </a:extLst>
          </p:cNvPr>
          <p:cNvSpPr>
            <a:spLocks noGrp="1"/>
          </p:cNvSpPr>
          <p:nvPr/>
        </p:nvSpPr>
        <p:spPr>
          <a:xfrm>
            <a:off x="6705600" y="5410200"/>
            <a:ext cx="4514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092"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same engine emits different host topology, ports, and artifacts from one role field.</a:t>
            </a:r>
          </a:p>
        </p:txBody>
      </p:sp>
      <p:sp>
        <p:nvSpPr>
          <p:cNvPr id="123" name="直線接點 122">
            <a:extLst>
              <a:ext uri="{FF2B5EF4-FFF2-40B4-BE49-F238E27FC236}">
                <a16:creationId xmlns:a16="http://schemas.microsoft.com/office/drawing/2014/main" id="{17AA8543-3E0B-402A-97BD-D790435AFA96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1F7B72"/>
            </a:solidFill>
            <a:prstDash val="solid"/>
          </a:ln>
        </p:spPr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D63DA791-F750-4D34-B355-A4A13ED986A1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Shared procedure plus role data supports every die position without rewriting core Tcl.</a:t>
            </a:r>
          </a:p>
        </p:txBody>
      </p:sp>
      <p:sp>
        <p:nvSpPr>
          <p:cNvPr id="125" name="直線接點 124">
            <a:extLst>
              <a:ext uri="{FF2B5EF4-FFF2-40B4-BE49-F238E27FC236}">
                <a16:creationId xmlns:a16="http://schemas.microsoft.com/office/drawing/2014/main" id="{18BE12A0-E816-4495-81EC-DFB327397E2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872FF93-C8DF-462C-A228-5BE1BFD8BA00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312612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83">
            <a:extLst>
              <a:ext uri="{FF2B5EF4-FFF2-40B4-BE49-F238E27FC236}">
                <a16:creationId xmlns:a16="http://schemas.microsoft.com/office/drawing/2014/main" id="{1C5A3202-6328-496C-B179-87224571D7DC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CURRENT PROGRESS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6EA5DC9-DC92-4C18-832C-63E29DD7F9CD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slide-7-title">
            <a:extLst>
              <a:ext uri="{FF2B5EF4-FFF2-40B4-BE49-F238E27FC236}">
                <a16:creationId xmlns:a16="http://schemas.microsoft.com/office/drawing/2014/main" id="{3E2DB515-A5DF-4AEC-861B-2B528B217D23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access is verified across </a:t>
            </a: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all three scopes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9C291EC-F481-4852-A702-336B34F37A66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847206-957D-4F3F-8E6F-E2B7DA97749B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781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CURRENT RTL PROOF · IEEE 1687, IEEE 1687 + 1838, AND STACK_TOP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8D4F39-C817-488B-91C8-B7469DE55157}"/>
              </a:ext>
            </a:extLst>
          </p:cNvPr>
          <p:cNvSpPr>
            <a:spLocks noGrp="1"/>
          </p:cNvSpPr>
          <p:nvPr/>
        </p:nvSpPr>
        <p:spPr>
          <a:xfrm>
            <a:off x="609600" y="1933575"/>
            <a:ext cx="112395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E323F2-5344-4B1F-9758-433B0E633FCD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933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EBF90F-058A-40A0-A16D-1D70A3776067}"/>
              </a:ext>
            </a:extLst>
          </p:cNvPr>
          <p:cNvSpPr>
            <a:spLocks noGrp="1"/>
          </p:cNvSpPr>
          <p:nvPr/>
        </p:nvSpPr>
        <p:spPr>
          <a:xfrm>
            <a:off x="1733550" y="1933575"/>
            <a:ext cx="234315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586BA3-9CB6-4256-B5BC-326A38F5DCE5}"/>
              </a:ext>
            </a:extLst>
          </p:cNvPr>
          <p:cNvSpPr>
            <a:spLocks noGrp="1"/>
          </p:cNvSpPr>
          <p:nvPr/>
        </p:nvSpPr>
        <p:spPr>
          <a:xfrm>
            <a:off x="1828800" y="1962150"/>
            <a:ext cx="2152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IMPLEMENTED PATH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5256FC-113E-4924-A63F-DEE408A4E540}"/>
              </a:ext>
            </a:extLst>
          </p:cNvPr>
          <p:cNvSpPr>
            <a:spLocks noGrp="1"/>
          </p:cNvSpPr>
          <p:nvPr/>
        </p:nvSpPr>
        <p:spPr>
          <a:xfrm>
            <a:off x="4076700" y="1933575"/>
            <a:ext cx="207645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5CBC1B-1D20-42ED-BEB4-F2997A636B1D}"/>
              </a:ext>
            </a:extLst>
          </p:cNvPr>
          <p:cNvSpPr>
            <a:spLocks noGrp="1"/>
          </p:cNvSpPr>
          <p:nvPr/>
        </p:nvSpPr>
        <p:spPr>
          <a:xfrm>
            <a:off x="4171950" y="1962150"/>
            <a:ext cx="1885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DELIVERABLES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7D4B5A-ADC1-4E58-B429-FA8ED1DE4AF0}"/>
              </a:ext>
            </a:extLst>
          </p:cNvPr>
          <p:cNvSpPr>
            <a:spLocks noGrp="1"/>
          </p:cNvSpPr>
          <p:nvPr/>
        </p:nvSpPr>
        <p:spPr>
          <a:xfrm>
            <a:off x="6153150" y="1933575"/>
            <a:ext cx="262890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6261FC-D1A1-4FC7-AB57-B6A76921A4E5}"/>
              </a:ext>
            </a:extLst>
          </p:cNvPr>
          <p:cNvSpPr>
            <a:spLocks noGrp="1"/>
          </p:cNvSpPr>
          <p:nvPr/>
        </p:nvSpPr>
        <p:spPr>
          <a:xfrm>
            <a:off x="6248400" y="1962150"/>
            <a:ext cx="243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A50A05D-1616-454A-BD86-65BBB58DD700}"/>
              </a:ext>
            </a:extLst>
          </p:cNvPr>
          <p:cNvSpPr>
            <a:spLocks noGrp="1"/>
          </p:cNvSpPr>
          <p:nvPr/>
        </p:nvSpPr>
        <p:spPr>
          <a:xfrm>
            <a:off x="8782050" y="1933575"/>
            <a:ext cx="2724150" cy="3429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A1C0F54-9295-4CFA-9D0A-576BE1165F5A}"/>
              </a:ext>
            </a:extLst>
          </p:cNvPr>
          <p:cNvSpPr>
            <a:spLocks noGrp="1"/>
          </p:cNvSpPr>
          <p:nvPr/>
        </p:nvSpPr>
        <p:spPr>
          <a:xfrm>
            <a:off x="8877300" y="1962150"/>
            <a:ext cx="2533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54A04A-0E59-4EB3-9F8A-E7E4EA93B93E}"/>
              </a:ext>
            </a:extLst>
          </p:cNvPr>
          <p:cNvSpPr>
            <a:spLocks noGrp="1"/>
          </p:cNvSpPr>
          <p:nvPr/>
        </p:nvSpPr>
        <p:spPr>
          <a:xfrm>
            <a:off x="609600" y="2276475"/>
            <a:ext cx="11239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1ADC0C0-A4D0-4794-953E-42D2B6B185BB}"/>
              </a:ext>
            </a:extLst>
          </p:cNvPr>
          <p:cNvSpPr>
            <a:spLocks noGrp="1"/>
          </p:cNvSpPr>
          <p:nvPr/>
        </p:nvSpPr>
        <p:spPr>
          <a:xfrm>
            <a:off x="704850" y="230505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01 IEEE 1687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B2D024-C44E-4926-83BC-AC34966090FD}"/>
              </a:ext>
            </a:extLst>
          </p:cNvPr>
          <p:cNvSpPr>
            <a:spLocks noGrp="1"/>
          </p:cNvSpPr>
          <p:nvPr/>
        </p:nvSpPr>
        <p:spPr>
          <a:xfrm>
            <a:off x="1733550" y="2276475"/>
            <a:ext cx="2343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E938B90-A56B-4EBA-BA4A-90C9C1355DA5}"/>
              </a:ext>
            </a:extLst>
          </p:cNvPr>
          <p:cNvSpPr>
            <a:spLocks noGrp="1"/>
          </p:cNvSpPr>
          <p:nvPr/>
        </p:nvSpPr>
        <p:spPr>
          <a:xfrm>
            <a:off x="1828800" y="230505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TAP → SIB → TDR → instrument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B111C27-F67B-443F-A5C8-A77E1082EFCA}"/>
              </a:ext>
            </a:extLst>
          </p:cNvPr>
          <p:cNvSpPr>
            <a:spLocks noGrp="1"/>
          </p:cNvSpPr>
          <p:nvPr/>
        </p:nvSpPr>
        <p:spPr>
          <a:xfrm>
            <a:off x="4076700" y="2276475"/>
            <a:ext cx="20764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917A0D-A10B-46FD-A42B-C62A99D81FDC}"/>
              </a:ext>
            </a:extLst>
          </p:cNvPr>
          <p:cNvSpPr>
            <a:spLocks noGrp="1"/>
          </p:cNvSpPr>
          <p:nvPr/>
        </p:nvSpPr>
        <p:spPr>
          <a:xfrm>
            <a:off x="4171950" y="23050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inserted RTL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+ PDL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B00E69E-BC73-4777-A9C1-28EB8D631599}"/>
              </a:ext>
            </a:extLst>
          </p:cNvPr>
          <p:cNvSpPr>
            <a:spLocks noGrp="1"/>
          </p:cNvSpPr>
          <p:nvPr/>
        </p:nvSpPr>
        <p:spPr>
          <a:xfrm>
            <a:off x="6153150" y="2276475"/>
            <a:ext cx="262890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107B605-0BAE-4F4E-B0D2-1B24B49685D2}"/>
              </a:ext>
            </a:extLst>
          </p:cNvPr>
          <p:cNvSpPr>
            <a:spLocks noGrp="1"/>
          </p:cNvSpPr>
          <p:nvPr/>
        </p:nvSpPr>
        <p:spPr>
          <a:xfrm>
            <a:off x="6248400" y="230505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access and instrument response confirmed.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9480D77-F195-4320-B003-085A7F80B798}"/>
              </a:ext>
            </a:extLst>
          </p:cNvPr>
          <p:cNvSpPr>
            <a:spLocks noGrp="1"/>
          </p:cNvSpPr>
          <p:nvPr/>
        </p:nvSpPr>
        <p:spPr>
          <a:xfrm>
            <a:off x="8782050" y="2276475"/>
            <a:ext cx="2724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3CDC4B-82B9-4A4D-88C9-F73186CB0DA2}"/>
              </a:ext>
            </a:extLst>
          </p:cNvPr>
          <p:cNvSpPr>
            <a:spLocks noGrp="1"/>
          </p:cNvSpPr>
          <p:nvPr/>
        </p:nvSpPr>
        <p:spPr>
          <a:xfrm>
            <a:off x="8877300" y="23050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2F2EF0-3A63-4D12-B8D0-4CCAAA786DE2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11239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C998E4F-BACA-4CEA-A948-20415AE15AA1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02 1687 + 1838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791E37E-F52A-439D-9BC0-CAF80451183E}"/>
              </a:ext>
            </a:extLst>
          </p:cNvPr>
          <p:cNvSpPr>
            <a:spLocks noGrp="1"/>
          </p:cNvSpPr>
          <p:nvPr/>
        </p:nvSpPr>
        <p:spPr>
          <a:xfrm>
            <a:off x="1733550" y="2828925"/>
            <a:ext cx="2343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379639A-5F8F-4F23-A864-933CFB5B2F61}"/>
              </a:ext>
            </a:extLst>
          </p:cNvPr>
          <p:cNvSpPr>
            <a:spLocks noGrp="1"/>
          </p:cNvSpPr>
          <p:nvPr/>
        </p:nvSpPr>
        <p:spPr>
          <a:xfrm>
            <a:off x="1828800" y="28575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PTAP → 3DCR / STAP → local IJTAG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CCED0D-8EFD-4745-91B1-A0A261765BA7}"/>
              </a:ext>
            </a:extLst>
          </p:cNvPr>
          <p:cNvSpPr>
            <a:spLocks noGrp="1"/>
          </p:cNvSpPr>
          <p:nvPr/>
        </p:nvSpPr>
        <p:spPr>
          <a:xfrm>
            <a:off x="4076700" y="2828925"/>
            <a:ext cx="20764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7B2B563-D891-47EF-9B7B-0F33D3188D0F}"/>
              </a:ext>
            </a:extLst>
          </p:cNvPr>
          <p:cNvSpPr>
            <a:spLocks noGrp="1"/>
          </p:cNvSpPr>
          <p:nvPr/>
        </p:nvSpPr>
        <p:spPr>
          <a:xfrm>
            <a:off x="4171950" y="285750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post-DFT RTL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+ TSDB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49903E-6807-40CE-A6E5-BDF59C5F311F}"/>
              </a:ext>
            </a:extLst>
          </p:cNvPr>
          <p:cNvSpPr>
            <a:spLocks noGrp="1"/>
          </p:cNvSpPr>
          <p:nvPr/>
        </p:nvSpPr>
        <p:spPr>
          <a:xfrm>
            <a:off x="6153150" y="2828925"/>
            <a:ext cx="262890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9B6EA73-4029-4C72-B414-23AC5022531B}"/>
              </a:ext>
            </a:extLst>
          </p:cNvPr>
          <p:cNvSpPr>
            <a:spLocks noGrp="1"/>
          </p:cNvSpPr>
          <p:nvPr/>
        </p:nvSpPr>
        <p:spPr>
          <a:xfrm>
            <a:off x="6248400" y="28575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Wrapper control and local TDR reachability confirmed.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3FC466E-2AC0-4BEC-98BD-32095AD4DFD2}"/>
              </a:ext>
            </a:extLst>
          </p:cNvPr>
          <p:cNvSpPr>
            <a:spLocks noGrp="1"/>
          </p:cNvSpPr>
          <p:nvPr/>
        </p:nvSpPr>
        <p:spPr>
          <a:xfrm>
            <a:off x="8782050" y="2828925"/>
            <a:ext cx="2724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7F14503-C84A-4851-992E-8C79B232EB39}"/>
              </a:ext>
            </a:extLst>
          </p:cNvPr>
          <p:cNvSpPr>
            <a:spLocks noGrp="1"/>
          </p:cNvSpPr>
          <p:nvPr/>
        </p:nvSpPr>
        <p:spPr>
          <a:xfrm>
            <a:off x="8877300" y="28575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7923ABF-367C-4BA4-A587-2CE39C566554}"/>
              </a:ext>
            </a:extLst>
          </p:cNvPr>
          <p:cNvSpPr>
            <a:spLocks noGrp="1"/>
          </p:cNvSpPr>
          <p:nvPr/>
        </p:nvSpPr>
        <p:spPr>
          <a:xfrm>
            <a:off x="609600" y="3381375"/>
            <a:ext cx="11239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CCC8EB2-3DF0-41FF-96D3-352B773AC991}"/>
              </a:ext>
            </a:extLst>
          </p:cNvPr>
          <p:cNvSpPr>
            <a:spLocks noGrp="1"/>
          </p:cNvSpPr>
          <p:nvPr/>
        </p:nvSpPr>
        <p:spPr>
          <a:xfrm>
            <a:off x="704850" y="340995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03 STACK_TOP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F7F2D41-ECAF-4FE9-8399-A15482B4C941}"/>
              </a:ext>
            </a:extLst>
          </p:cNvPr>
          <p:cNvSpPr>
            <a:spLocks noGrp="1"/>
          </p:cNvSpPr>
          <p:nvPr/>
        </p:nvSpPr>
        <p:spPr>
          <a:xfrm>
            <a:off x="1733550" y="3381375"/>
            <a:ext cx="2343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FC9108B-3684-40E1-B197-EDBD81398821}"/>
              </a:ext>
            </a:extLst>
          </p:cNvPr>
          <p:cNvSpPr>
            <a:spLocks noGrp="1"/>
          </p:cNvSpPr>
          <p:nvPr/>
        </p:nvSpPr>
        <p:spPr>
          <a:xfrm>
            <a:off x="1828800" y="340995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Package → STAP chain → SIB / TDR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27831CC-3A27-4326-979B-2ABF41964636}"/>
              </a:ext>
            </a:extLst>
          </p:cNvPr>
          <p:cNvSpPr>
            <a:spLocks noGrp="1"/>
          </p:cNvSpPr>
          <p:nvPr/>
        </p:nvSpPr>
        <p:spPr>
          <a:xfrm>
            <a:off x="4076700" y="3381375"/>
            <a:ext cx="20764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0A469FF-48F4-4C9B-864B-088E2C5CFC2B}"/>
              </a:ext>
            </a:extLst>
          </p:cNvPr>
          <p:cNvSpPr>
            <a:spLocks noGrp="1"/>
          </p:cNvSpPr>
          <p:nvPr/>
        </p:nvSpPr>
        <p:spPr>
          <a:xfrm>
            <a:off x="4171950" y="34099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stack_top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ICL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57EFC2-5FEF-4EA9-9CED-5F7310480E4C}"/>
              </a:ext>
            </a:extLst>
          </p:cNvPr>
          <p:cNvSpPr>
            <a:spLocks noGrp="1"/>
          </p:cNvSpPr>
          <p:nvPr/>
        </p:nvSpPr>
        <p:spPr>
          <a:xfrm>
            <a:off x="6153150" y="3381375"/>
            <a:ext cx="262890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80F4B4B-2DEA-4F68-8070-246DC59E25CF}"/>
              </a:ext>
            </a:extLst>
          </p:cNvPr>
          <p:cNvSpPr>
            <a:spLocks noGrp="1"/>
          </p:cNvSpPr>
          <p:nvPr/>
        </p:nvSpPr>
        <p:spPr>
          <a:xfrm>
            <a:off x="6248400" y="340995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Multi-die access path and return confirmed.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B7276E5-45D7-4362-9195-4F8B67024AB3}"/>
              </a:ext>
            </a:extLst>
          </p:cNvPr>
          <p:cNvSpPr>
            <a:spLocks noGrp="1"/>
          </p:cNvSpPr>
          <p:nvPr/>
        </p:nvSpPr>
        <p:spPr>
          <a:xfrm>
            <a:off x="8782050" y="3381375"/>
            <a:ext cx="2724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9ACF25-97BD-4B24-8F7F-E159FFF1C062}"/>
              </a:ext>
            </a:extLst>
          </p:cNvPr>
          <p:cNvSpPr>
            <a:spLocks noGrp="1"/>
          </p:cNvSpPr>
          <p:nvPr/>
        </p:nvSpPr>
        <p:spPr>
          <a:xfrm>
            <a:off x="8877300" y="34099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8885078-40D7-45C5-96A7-E00FD8DBBF18}"/>
              </a:ext>
            </a:extLst>
          </p:cNvPr>
          <p:cNvSpPr>
            <a:spLocks noGrp="1"/>
          </p:cNvSpPr>
          <p:nvPr/>
        </p:nvSpPr>
        <p:spPr>
          <a:xfrm>
            <a:off x="609600" y="3933825"/>
            <a:ext cx="11239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AAFC9B0-C3BC-4AC2-8A36-0B3F4C2ED43A}"/>
              </a:ext>
            </a:extLst>
          </p:cNvPr>
          <p:cNvSpPr>
            <a:spLocks noGrp="1"/>
          </p:cNvSpPr>
          <p:nvPr/>
        </p:nvSpPr>
        <p:spPr>
          <a:xfrm>
            <a:off x="704850" y="39624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04 RETARGET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9D47A95-4B63-4621-850F-8790DC53844B}"/>
              </a:ext>
            </a:extLst>
          </p:cNvPr>
          <p:cNvSpPr>
            <a:spLocks noGrp="1"/>
          </p:cNvSpPr>
          <p:nvPr/>
        </p:nvSpPr>
        <p:spPr>
          <a:xfrm>
            <a:off x="1733550" y="3933825"/>
            <a:ext cx="2343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D928AAB-8483-4FA0-A92A-938209058A9F}"/>
              </a:ext>
            </a:extLst>
          </p:cNvPr>
          <p:cNvSpPr>
            <a:spLocks noGrp="1"/>
          </p:cNvSpPr>
          <p:nvPr/>
        </p:nvSpPr>
        <p:spPr>
          <a:xfrm>
            <a:off x="1828800" y="39624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PDL → package / stack path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6BFEBDA-2189-48F2-BF98-2D0D3F1831DF}"/>
              </a:ext>
            </a:extLst>
          </p:cNvPr>
          <p:cNvSpPr>
            <a:spLocks noGrp="1"/>
          </p:cNvSpPr>
          <p:nvPr/>
        </p:nvSpPr>
        <p:spPr>
          <a:xfrm>
            <a:off x="4076700" y="3933825"/>
            <a:ext cx="20764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EB20B83-0376-49DC-A8B4-9CD24037E79E}"/>
              </a:ext>
            </a:extLst>
          </p:cNvPr>
          <p:cNvSpPr>
            <a:spLocks noGrp="1"/>
          </p:cNvSpPr>
          <p:nvPr/>
        </p:nvSpPr>
        <p:spPr>
          <a:xfrm>
            <a:off x="4171950" y="396240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reachable-target list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F1FDC63-95FF-4564-979A-DB4352D567AF}"/>
              </a:ext>
            </a:extLst>
          </p:cNvPr>
          <p:cNvSpPr>
            <a:spLocks noGrp="1"/>
          </p:cNvSpPr>
          <p:nvPr/>
        </p:nvSpPr>
        <p:spPr>
          <a:xfrm>
            <a:off x="6153150" y="3933825"/>
            <a:ext cx="262890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FBAA86C-D5DF-4C36-9EB8-D86C89628B63}"/>
              </a:ext>
            </a:extLst>
          </p:cNvPr>
          <p:cNvSpPr>
            <a:spLocks noGrp="1"/>
          </p:cNvSpPr>
          <p:nvPr/>
        </p:nvSpPr>
        <p:spPr>
          <a:xfrm>
            <a:off x="6248400" y="39624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 unresolved path; declared targets are reachable.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8CB9290-3DFC-49A0-B945-8917C61E5D03}"/>
              </a:ext>
            </a:extLst>
          </p:cNvPr>
          <p:cNvSpPr>
            <a:spLocks noGrp="1"/>
          </p:cNvSpPr>
          <p:nvPr/>
        </p:nvSpPr>
        <p:spPr>
          <a:xfrm>
            <a:off x="8782050" y="3933825"/>
            <a:ext cx="2724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FCD10C3-0B67-45CB-87A1-B3872B763459}"/>
              </a:ext>
            </a:extLst>
          </p:cNvPr>
          <p:cNvSpPr>
            <a:spLocks noGrp="1"/>
          </p:cNvSpPr>
          <p:nvPr/>
        </p:nvSpPr>
        <p:spPr>
          <a:xfrm>
            <a:off x="8877300" y="39624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30734E8-52FE-402D-AFD1-6C0C738722FD}"/>
              </a:ext>
            </a:extLst>
          </p:cNvPr>
          <p:cNvSpPr>
            <a:spLocks noGrp="1"/>
          </p:cNvSpPr>
          <p:nvPr/>
        </p:nvSpPr>
        <p:spPr>
          <a:xfrm>
            <a:off x="609600" y="4486275"/>
            <a:ext cx="11239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8099BD0-AA25-4A8E-8FA8-9FCDD4B1038D}"/>
              </a:ext>
            </a:extLst>
          </p:cNvPr>
          <p:cNvSpPr>
            <a:spLocks noGrp="1"/>
          </p:cNvSpPr>
          <p:nvPr/>
        </p:nvSpPr>
        <p:spPr>
          <a:xfrm>
            <a:off x="704850" y="451485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05 RTL SIM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FA24F7E-E024-4ADE-8D3F-E7298D214DA2}"/>
              </a:ext>
            </a:extLst>
          </p:cNvPr>
          <p:cNvSpPr>
            <a:spLocks noGrp="1"/>
          </p:cNvSpPr>
          <p:nvPr/>
        </p:nvSpPr>
        <p:spPr>
          <a:xfrm>
            <a:off x="1733550" y="4486275"/>
            <a:ext cx="2343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BEC478A-2A95-4CAC-88CE-B2F76B22411C}"/>
              </a:ext>
            </a:extLst>
          </p:cNvPr>
          <p:cNvSpPr>
            <a:spLocks noGrp="1"/>
          </p:cNvSpPr>
          <p:nvPr/>
        </p:nvSpPr>
        <p:spPr>
          <a:xfrm>
            <a:off x="1828800" y="451485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Generated pattern → VCS checker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C84EC63-74CC-49D8-8223-8995682AD75A}"/>
              </a:ext>
            </a:extLst>
          </p:cNvPr>
          <p:cNvSpPr>
            <a:spLocks noGrp="1"/>
          </p:cNvSpPr>
          <p:nvPr/>
        </p:nvSpPr>
        <p:spPr>
          <a:xfrm>
            <a:off x="4076700" y="4486275"/>
            <a:ext cx="20764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1314801-F500-469D-BBDF-2A4F90681906}"/>
              </a:ext>
            </a:extLst>
          </p:cNvPr>
          <p:cNvSpPr>
            <a:spLocks noGrp="1"/>
          </p:cNvSpPr>
          <p:nvPr/>
        </p:nvSpPr>
        <p:spPr>
          <a:xfrm>
            <a:off x="4171950" y="451485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waveform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compare log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04D3D0B-AA11-450E-B165-219D9C0E97D2}"/>
              </a:ext>
            </a:extLst>
          </p:cNvPr>
          <p:cNvSpPr>
            <a:spLocks noGrp="1"/>
          </p:cNvSpPr>
          <p:nvPr/>
        </p:nvSpPr>
        <p:spPr>
          <a:xfrm>
            <a:off x="6153150" y="4486275"/>
            <a:ext cx="262890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AC478D1C-BF25-497D-AFAF-28A6B18CE248}"/>
              </a:ext>
            </a:extLst>
          </p:cNvPr>
          <p:cNvSpPr>
            <a:spLocks noGrp="1"/>
          </p:cNvSpPr>
          <p:nvPr/>
        </p:nvSpPr>
        <p:spPr>
          <a:xfrm>
            <a:off x="6248400" y="451485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Care-bit mismatch = 0; expected TDR value observed.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AD7A9D9-1A71-418C-9D67-6DF6C367143F}"/>
              </a:ext>
            </a:extLst>
          </p:cNvPr>
          <p:cNvSpPr>
            <a:spLocks noGrp="1"/>
          </p:cNvSpPr>
          <p:nvPr/>
        </p:nvSpPr>
        <p:spPr>
          <a:xfrm>
            <a:off x="8782050" y="4486275"/>
            <a:ext cx="2724150" cy="5524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9EE6CC7-D3E2-4FDB-A240-94114DFD93E0}"/>
              </a:ext>
            </a:extLst>
          </p:cNvPr>
          <p:cNvSpPr>
            <a:spLocks noGrp="1"/>
          </p:cNvSpPr>
          <p:nvPr/>
        </p:nvSpPr>
        <p:spPr>
          <a:xfrm>
            <a:off x="8877300" y="451485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60ED005-2408-4E53-A047-48AE8E3DDA9E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11239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5791FFA-964D-4BA8-BC54-2E09CB76CADE}"/>
              </a:ext>
            </a:extLst>
          </p:cNvPr>
          <p:cNvSpPr>
            <a:spLocks noGrp="1"/>
          </p:cNvSpPr>
          <p:nvPr/>
        </p:nvSpPr>
        <p:spPr>
          <a:xfrm>
            <a:off x="704850" y="5067300"/>
            <a:ext cx="9334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428" lnSpcReduction="1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06 AUTOMATION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25D2468D-8524-41D7-B239-9CBE392452BF}"/>
              </a:ext>
            </a:extLst>
          </p:cNvPr>
          <p:cNvSpPr>
            <a:spLocks noGrp="1"/>
          </p:cNvSpPr>
          <p:nvPr/>
        </p:nvSpPr>
        <p:spPr>
          <a:xfrm>
            <a:off x="1733550" y="5038725"/>
            <a:ext cx="2343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613D53D-B780-4CCC-8365-AEE4169DF3EB}"/>
              </a:ext>
            </a:extLst>
          </p:cNvPr>
          <p:cNvSpPr>
            <a:spLocks noGrp="1"/>
          </p:cNvSpPr>
          <p:nvPr/>
        </p:nvSpPr>
        <p:spPr>
          <a:xfrm>
            <a:off x="1828800" y="50673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CSV → Python / Tcl → Tessent / VCS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C86DB08F-8B90-4C61-9197-710A80A33D4C}"/>
              </a:ext>
            </a:extLst>
          </p:cNvPr>
          <p:cNvSpPr>
            <a:spLocks noGrp="1"/>
          </p:cNvSpPr>
          <p:nvPr/>
        </p:nvSpPr>
        <p:spPr>
          <a:xfrm>
            <a:off x="4076700" y="5038725"/>
            <a:ext cx="20764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7F9CBB8-1C82-4AFA-AC56-870BFE497905}"/>
              </a:ext>
            </a:extLst>
          </p:cNvPr>
          <p:cNvSpPr>
            <a:spLocks noGrp="1"/>
          </p:cNvSpPr>
          <p:nvPr/>
        </p:nvSpPr>
        <p:spPr>
          <a:xfrm>
            <a:off x="4171950" y="5067300"/>
            <a:ext cx="1885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generated handoffs</a:t>
            </a:r>
          </a:p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run evidence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7704616-3590-4ECE-AAD3-625AB4771F33}"/>
              </a:ext>
            </a:extLst>
          </p:cNvPr>
          <p:cNvSpPr>
            <a:spLocks noGrp="1"/>
          </p:cNvSpPr>
          <p:nvPr/>
        </p:nvSpPr>
        <p:spPr>
          <a:xfrm>
            <a:off x="6153150" y="5038725"/>
            <a:ext cx="262890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F38097A-7CEA-4792-BCCD-1E6F82964F9D}"/>
              </a:ext>
            </a:extLst>
          </p:cNvPr>
          <p:cNvSpPr>
            <a:spLocks noGrp="1"/>
          </p:cNvSpPr>
          <p:nvPr/>
        </p:nvSpPr>
        <p:spPr>
          <a:xfrm>
            <a:off x="6248400" y="5067300"/>
            <a:ext cx="243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One design input reproduces the complete RTL access run.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6618E38-DF20-427D-8BE7-5AE2275D08D1}"/>
              </a:ext>
            </a:extLst>
          </p:cNvPr>
          <p:cNvSpPr>
            <a:spLocks noGrp="1"/>
          </p:cNvSpPr>
          <p:nvPr/>
        </p:nvSpPr>
        <p:spPr>
          <a:xfrm>
            <a:off x="8782050" y="5038725"/>
            <a:ext cx="2724150" cy="5524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78F91CA-070C-4100-8A9D-1E702B5E1083}"/>
              </a:ext>
            </a:extLst>
          </p:cNvPr>
          <p:cNvSpPr>
            <a:spLocks noGrp="1"/>
          </p:cNvSpPr>
          <p:nvPr/>
        </p:nvSpPr>
        <p:spPr>
          <a:xfrm>
            <a:off x="8877300" y="5067300"/>
            <a:ext cx="2533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5ED784A0-DC83-4AEB-A28E-3695C0BC8881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251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9959D"/>
                </a:solidFill>
                <a:latin typeface="Arial"/>
                <a:ea typeface="Arial"/>
                <a:cs typeface="Arial"/>
              </a:rPr>
              <a:t>CURRENT RTL BASELINE</a:t>
            </a:r>
          </a:p>
        </p:txBody>
      </p:sp>
      <p:sp>
        <p:nvSpPr>
          <p:cNvPr id="77" name="直線接點 76">
            <a:extLst>
              <a:ext uri="{FF2B5EF4-FFF2-40B4-BE49-F238E27FC236}">
                <a16:creationId xmlns:a16="http://schemas.microsoft.com/office/drawing/2014/main" id="{E59CAF26-EFC0-4C8E-8B37-B5C555D39A54}"/>
              </a:ext>
            </a:extLst>
          </p:cNvPr>
          <p:cNvSpPr>
            <a:spLocks noGrp="1"/>
          </p:cNvSpPr>
          <p:nvPr/>
        </p:nvSpPr>
        <p:spPr>
          <a:xfrm>
            <a:off x="609600" y="5886450"/>
            <a:ext cx="4095750" cy="0"/>
          </a:xfrm>
          <a:prstGeom prst="line">
            <a:avLst/>
          </a:prstGeom>
          <a:noFill/>
          <a:ln w="38100">
            <a:solidFill>
              <a:srgbClr val="B7C5CD"/>
            </a:solidFill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554208B-F902-4DDC-B835-AC2ABC648C61}"/>
              </a:ext>
            </a:extLst>
          </p:cNvPr>
          <p:cNvSpPr>
            <a:spLocks noGrp="1"/>
          </p:cNvSpPr>
          <p:nvPr/>
        </p:nvSpPr>
        <p:spPr>
          <a:xfrm>
            <a:off x="7791450" y="565785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DWR / COMPLEX DIE = NEXT STEPS</a:t>
            </a:r>
          </a:p>
        </p:txBody>
      </p:sp>
      <p:sp>
        <p:nvSpPr>
          <p:cNvPr id="79" name="直線接點 78">
            <a:extLst>
              <a:ext uri="{FF2B5EF4-FFF2-40B4-BE49-F238E27FC236}">
                <a16:creationId xmlns:a16="http://schemas.microsoft.com/office/drawing/2014/main" id="{6236FD1F-7F91-444F-B05D-D1408B724633}"/>
              </a:ext>
            </a:extLst>
          </p:cNvPr>
          <p:cNvSpPr>
            <a:spLocks noGrp="1"/>
          </p:cNvSpPr>
          <p:nvPr/>
        </p:nvSpPr>
        <p:spPr>
          <a:xfrm>
            <a:off x="4705350" y="5886450"/>
            <a:ext cx="6800850" cy="0"/>
          </a:xfrm>
          <a:prstGeom prst="line">
            <a:avLst/>
          </a:prstGeom>
          <a:noFill/>
          <a:ln w="38100">
            <a:solidFill>
              <a:srgbClr val="1F7B72"/>
            </a:solidFill>
            <a:prstDash val="solid"/>
          </a:ln>
        </p:spPr>
      </p:sp>
      <p:sp>
        <p:nvSpPr>
          <p:cNvPr id="80" name="直線接點 79">
            <a:extLst>
              <a:ext uri="{FF2B5EF4-FFF2-40B4-BE49-F238E27FC236}">
                <a16:creationId xmlns:a16="http://schemas.microsoft.com/office/drawing/2014/main" id="{86D164F0-7CD7-4EE8-B677-A3D8405E1CDE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D96B30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CE7CE74-A95F-4011-8CD2-E15596BBC0AE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All current claims are supported by RTL, ICL/PDL, retargeting, and VCS evidence.</a:t>
            </a:r>
          </a:p>
        </p:txBody>
      </p:sp>
      <p:sp>
        <p:nvSpPr>
          <p:cNvPr id="82" name="直線接點 81">
            <a:extLst>
              <a:ext uri="{FF2B5EF4-FFF2-40B4-BE49-F238E27FC236}">
                <a16:creationId xmlns:a16="http://schemas.microsoft.com/office/drawing/2014/main" id="{5FB0D15D-10B6-415F-9752-F3EFA1A71793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3E923D2-E4FF-4654-8EE9-92ECEF76B2B4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098666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A4C1847-72A6-4564-981C-4123D164DA6C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DWR IMPLEMENTATION PLAN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9950D1-D749-470B-81F3-2ABDF4CC2D70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slide-9-title">
            <a:extLst>
              <a:ext uri="{FF2B5EF4-FFF2-40B4-BE49-F238E27FC236}">
                <a16:creationId xmlns:a16="http://schemas.microsoft.com/office/drawing/2014/main" id="{A3A44610-3605-4C88-A856-3BFA6EE3ACF1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601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Planned DWR wrappers</a:t>
            </a: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 control and observe die-to-die links.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1C392A36-4FFD-4D56-966D-1164EC659F55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74DCE4C-4DB4-4C03-9F6F-E2147E15BCF6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LINK-LEVEL HARDWARE VIEW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6E29535-ABC4-449B-9ADF-9C51A577050C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6286500" cy="2686050"/>
          </a:xfrm>
          <a:prstGeom prst="roundRect">
            <a:avLst>
              <a:gd name="adj" fmla="val 3546"/>
            </a:avLst>
          </a:prstGeom>
          <a:solidFill>
            <a:srgbClr val="F6F8F9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2408D9E-CCC1-4764-9CE2-FB9EA8F9F2B8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16764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1430">
            <a:solidFill>
              <a:srgbClr val="0B6B9E"/>
            </a:solidFill>
            <a:prstDash val="solid"/>
          </a:ln>
        </p:spPr>
        <p:txBody>
          <a:bodyPr wrap="square" lIns="114300" tIns="76200" rIns="114300" bIns="76200" anchor="ctr">
            <a:normAutofit fontScale="95082"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SOURCE DIE</a:t>
            </a:r>
          </a:p>
          <a:p>
            <a:pPr algn="ctr">
              <a:lnSpc>
                <a:spcPct val="100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functional logic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D2547B9-6EB2-43B8-9727-1C20A0AC3641}"/>
              </a:ext>
            </a:extLst>
          </p:cNvPr>
          <p:cNvSpPr>
            <a:spLocks noGrp="1"/>
          </p:cNvSpPr>
          <p:nvPr/>
        </p:nvSpPr>
        <p:spPr>
          <a:xfrm>
            <a:off x="2914650" y="2333625"/>
            <a:ext cx="1562100" cy="723900"/>
          </a:xfrm>
          <a:prstGeom prst="roundRect">
            <a:avLst>
              <a:gd name="adj" fmla="val 15789"/>
            </a:avLst>
          </a:prstGeom>
          <a:solidFill>
            <a:srgbClr val="EDF5F8"/>
          </a:solidFill>
          <a:ln w="11430">
            <a:solidFill>
              <a:srgbClr val="3A91B3"/>
            </a:solidFill>
            <a:prstDash val="solid"/>
          </a:ln>
        </p:spPr>
        <p:txBody>
          <a:bodyPr wrap="square" lIns="114300" tIns="76200" rIns="114300" bIns="76200" anchor="ctr">
            <a:normAutofit fontScale="94054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CAPTURE / DRIVE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79E17B8-4A5E-4EA5-A701-B640843D9288}"/>
              </a:ext>
            </a:extLst>
          </p:cNvPr>
          <p:cNvSpPr>
            <a:spLocks noGrp="1"/>
          </p:cNvSpPr>
          <p:nvPr/>
        </p:nvSpPr>
        <p:spPr>
          <a:xfrm>
            <a:off x="4857750" y="2333625"/>
            <a:ext cx="1562100" cy="723900"/>
          </a:xfrm>
          <a:prstGeom prst="roundRect">
            <a:avLst>
              <a:gd name="adj" fmla="val 15789"/>
            </a:avLst>
          </a:prstGeom>
          <a:solidFill>
            <a:srgbClr val="EEF6F0"/>
          </a:solidFill>
          <a:ln w="11430">
            <a:solidFill>
              <a:srgbClr val="1F7B72"/>
            </a:solidFill>
            <a:prstDash val="solid"/>
          </a:ln>
        </p:spPr>
        <p:txBody>
          <a:bodyPr wrap="square" lIns="114300" tIns="76200" rIns="114300" bIns="76200" anchor="ctr">
            <a:normAutofit fontScale="94054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CAPTURE / DRIVE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6AAD5BD-94D3-48E3-AC3A-33226D5D4956}"/>
              </a:ext>
            </a:extLst>
          </p:cNvPr>
          <p:cNvSpPr>
            <a:spLocks noGrp="1"/>
          </p:cNvSpPr>
          <p:nvPr/>
        </p:nvSpPr>
        <p:spPr>
          <a:xfrm>
            <a:off x="4857750" y="3571875"/>
            <a:ext cx="15621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  <p:txBody>
          <a:bodyPr wrap="square" lIns="114300" tIns="76200" rIns="114300" bIns="76200" anchor="ctr">
            <a:normAutofit fontScale="94054" lnSpcReduction="10000"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DESTINATION DIE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functional logic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0592274-5F90-4B81-9EB5-5FC3133505FA}"/>
              </a:ext>
            </a:extLst>
          </p:cNvPr>
          <p:cNvSpPr>
            <a:spLocks noGrp="1"/>
          </p:cNvSpPr>
          <p:nvPr/>
        </p:nvSpPr>
        <p:spPr>
          <a:xfrm>
            <a:off x="2571750" y="250507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9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A8189B3-3525-4062-8AC9-DEE783CCBAA8}"/>
              </a:ext>
            </a:extLst>
          </p:cNvPr>
          <p:cNvSpPr>
            <a:spLocks noGrp="1"/>
          </p:cNvSpPr>
          <p:nvPr/>
        </p:nvSpPr>
        <p:spPr>
          <a:xfrm>
            <a:off x="4495800" y="2505075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95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B114B8-80F8-4515-A205-B921E379E66F}"/>
              </a:ext>
            </a:extLst>
          </p:cNvPr>
          <p:cNvSpPr>
            <a:spLocks noGrp="1"/>
          </p:cNvSpPr>
          <p:nvPr/>
        </p:nvSpPr>
        <p:spPr>
          <a:xfrm>
            <a:off x="6038850" y="3133725"/>
            <a:ext cx="34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95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cxnSp>
        <p:nvCxnSpPr>
          <p:cNvPr id="919" name="直線單箭頭接點 918"/>
          <p:cNvCxnSpPr>
            <a:stCxn id="7" idx="3"/>
            <a:endCxn id="8" idx="1"/>
          </p:cNvCxnSpPr>
          <p:nvPr/>
        </p:nvCxnSpPr>
        <p:spPr>
          <a:xfrm>
            <a:off x="2552700" y="2695575"/>
            <a:ext cx="361950" cy="0"/>
          </a:xfrm>
          <a:prstGeom prst="straightConnector1">
            <a:avLst/>
          </a:prstGeom>
          <a:ln w="19050">
            <a:solidFill>
              <a:srgbClr val="0B6B9E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0" name="直線單箭頭接點 919"/>
          <p:cNvCxnSpPr>
            <a:stCxn id="8" idx="3"/>
            <a:endCxn id="9" idx="1"/>
          </p:cNvCxnSpPr>
          <p:nvPr/>
        </p:nvCxnSpPr>
        <p:spPr>
          <a:xfrm>
            <a:off x="4476750" y="2695575"/>
            <a:ext cx="381000" cy="0"/>
          </a:xfrm>
          <a:prstGeom prst="straightConnector1">
            <a:avLst/>
          </a:prstGeom>
          <a:ln w="28575">
            <a:solidFill>
              <a:srgbClr val="D96B3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1" name="直線單箭頭接點 920"/>
          <p:cNvCxnSpPr>
            <a:stCxn id="9" idx="2"/>
            <a:endCxn id="10" idx="0"/>
          </p:cNvCxnSpPr>
          <p:nvPr/>
        </p:nvCxnSpPr>
        <p:spPr>
          <a:xfrm>
            <a:off x="5638800" y="3057525"/>
            <a:ext cx="0" cy="514350"/>
          </a:xfrm>
          <a:prstGeom prst="straightConnector1">
            <a:avLst/>
          </a:prstGeom>
          <a:ln w="19050">
            <a:solidFill>
              <a:srgbClr val="1F7B72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C5B77C28-903A-48F8-A775-2F315BB58CA0}"/>
              </a:ext>
            </a:extLst>
          </p:cNvPr>
          <p:cNvSpPr>
            <a:spLocks noGrp="1"/>
          </p:cNvSpPr>
          <p:nvPr/>
        </p:nvSpPr>
        <p:spPr>
          <a:xfrm>
            <a:off x="3248025" y="3209925"/>
            <a:ext cx="2876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DIE-TO-DIE INTERCONNECT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269531-F7FB-4E4E-89B0-B251A480A6CF}"/>
              </a:ext>
            </a:extLst>
          </p:cNvPr>
          <p:cNvSpPr>
            <a:spLocks noGrp="1"/>
          </p:cNvSpPr>
          <p:nvPr/>
        </p:nvSpPr>
        <p:spPr>
          <a:xfrm>
            <a:off x="819150" y="4333875"/>
            <a:ext cx="581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75" b="0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E6D78"/>
                </a:solidFill>
                <a:latin typeface="Arial"/>
                <a:ea typeface="Arial"/>
                <a:cs typeface="Arial"/>
              </a:rPr>
              <a:t>control / observe at the die boundary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5B143A-AA05-43AE-8BEF-17998F972EFD}"/>
              </a:ext>
            </a:extLst>
          </p:cNvPr>
          <p:cNvSpPr>
            <a:spLocks noGrp="1"/>
          </p:cNvSpPr>
          <p:nvPr/>
        </p:nvSpPr>
        <p:spPr>
          <a:xfrm>
            <a:off x="7353300" y="1571625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TARGET DWR PORT INVENTORY (TBD)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29654B4-4A98-437E-A54D-961B2CF4BED8}"/>
              </a:ext>
            </a:extLst>
          </p:cNvPr>
          <p:cNvSpPr>
            <a:spLocks noGrp="1"/>
          </p:cNvSpPr>
          <p:nvPr/>
        </p:nvSpPr>
        <p:spPr>
          <a:xfrm>
            <a:off x="7353300" y="1943100"/>
            <a:ext cx="685800" cy="4762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8F92FD-6EE9-4972-83ED-41DCD0795A03}"/>
              </a:ext>
            </a:extLst>
          </p:cNvPr>
          <p:cNvSpPr>
            <a:spLocks noGrp="1"/>
          </p:cNvSpPr>
          <p:nvPr/>
        </p:nvSpPr>
        <p:spPr>
          <a:xfrm>
            <a:off x="7448550" y="1971675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F82F92-DA3E-49BF-96CA-F10E7CB3A7E5}"/>
              </a:ext>
            </a:extLst>
          </p:cNvPr>
          <p:cNvSpPr>
            <a:spLocks noGrp="1"/>
          </p:cNvSpPr>
          <p:nvPr/>
        </p:nvSpPr>
        <p:spPr>
          <a:xfrm>
            <a:off x="8039100" y="1943100"/>
            <a:ext cx="419100" cy="4762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488C06-E5E2-45F9-B7E3-821AB198208C}"/>
              </a:ext>
            </a:extLst>
          </p:cNvPr>
          <p:cNvSpPr>
            <a:spLocks noGrp="1"/>
          </p:cNvSpPr>
          <p:nvPr/>
        </p:nvSpPr>
        <p:spPr>
          <a:xfrm>
            <a:off x="8134350" y="1971675"/>
            <a:ext cx="228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965F453-81F0-423A-832C-339BCF6CF489}"/>
              </a:ext>
            </a:extLst>
          </p:cNvPr>
          <p:cNvSpPr>
            <a:spLocks noGrp="1"/>
          </p:cNvSpPr>
          <p:nvPr/>
        </p:nvSpPr>
        <p:spPr>
          <a:xfrm>
            <a:off x="8458200" y="1943100"/>
            <a:ext cx="990600" cy="4762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1B15FA4-D2F7-4524-A6D2-5DBDE8F3DC06}"/>
              </a:ext>
            </a:extLst>
          </p:cNvPr>
          <p:cNvSpPr>
            <a:spLocks noGrp="1"/>
          </p:cNvSpPr>
          <p:nvPr/>
        </p:nvSpPr>
        <p:spPr>
          <a:xfrm>
            <a:off x="8553450" y="197167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33B757F-06E6-4C3A-93B6-7C75FB816142}"/>
              </a:ext>
            </a:extLst>
          </p:cNvPr>
          <p:cNvSpPr>
            <a:spLocks noGrp="1"/>
          </p:cNvSpPr>
          <p:nvPr/>
        </p:nvSpPr>
        <p:spPr>
          <a:xfrm>
            <a:off x="9448800" y="1943100"/>
            <a:ext cx="990600" cy="4762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C69E2D5-36E0-49CB-9E14-9542D33E89A1}"/>
              </a:ext>
            </a:extLst>
          </p:cNvPr>
          <p:cNvSpPr>
            <a:spLocks noGrp="1"/>
          </p:cNvSpPr>
          <p:nvPr/>
        </p:nvSpPr>
        <p:spPr>
          <a:xfrm>
            <a:off x="9544050" y="197167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DEST.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9F54051-E8A0-42BC-BC7A-EAB356B6A2B1}"/>
              </a:ext>
            </a:extLst>
          </p:cNvPr>
          <p:cNvSpPr>
            <a:spLocks noGrp="1"/>
          </p:cNvSpPr>
          <p:nvPr/>
        </p:nvSpPr>
        <p:spPr>
          <a:xfrm>
            <a:off x="10439400" y="1943100"/>
            <a:ext cx="400050" cy="4762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0D71AA-D1BD-4A0A-9825-4B14E133A256}"/>
              </a:ext>
            </a:extLst>
          </p:cNvPr>
          <p:cNvSpPr>
            <a:spLocks noGrp="1"/>
          </p:cNvSpPr>
          <p:nvPr/>
        </p:nvSpPr>
        <p:spPr>
          <a:xfrm>
            <a:off x="10534650" y="1971675"/>
            <a:ext cx="20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F97E37-6F6A-4CAC-876B-0B3543D8B36E}"/>
              </a:ext>
            </a:extLst>
          </p:cNvPr>
          <p:cNvSpPr>
            <a:spLocks noGrp="1"/>
          </p:cNvSpPr>
          <p:nvPr/>
        </p:nvSpPr>
        <p:spPr>
          <a:xfrm>
            <a:off x="10839450" y="1943100"/>
            <a:ext cx="838200" cy="4762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2D33AC0-0A5F-4EFF-8FBE-3271778B4A84}"/>
              </a:ext>
            </a:extLst>
          </p:cNvPr>
          <p:cNvSpPr>
            <a:spLocks noGrp="1"/>
          </p:cNvSpPr>
          <p:nvPr/>
        </p:nvSpPr>
        <p:spPr>
          <a:xfrm>
            <a:off x="10934700" y="1971675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CLOCK / MODE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0F585D9-5ACC-4CC8-B50F-7020EBB53769}"/>
              </a:ext>
            </a:extLst>
          </p:cNvPr>
          <p:cNvSpPr>
            <a:spLocks noGrp="1"/>
          </p:cNvSpPr>
          <p:nvPr/>
        </p:nvSpPr>
        <p:spPr>
          <a:xfrm>
            <a:off x="7353300" y="2419350"/>
            <a:ext cx="6858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1CAD8FF-FADF-4F8B-9E25-7E4EF7AEC83A}"/>
              </a:ext>
            </a:extLst>
          </p:cNvPr>
          <p:cNvSpPr>
            <a:spLocks noGrp="1"/>
          </p:cNvSpPr>
          <p:nvPr/>
        </p:nvSpPr>
        <p:spPr>
          <a:xfrm>
            <a:off x="7448550" y="2447925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7631159-6C9B-435D-9271-E7860C2EBD06}"/>
              </a:ext>
            </a:extLst>
          </p:cNvPr>
          <p:cNvSpPr>
            <a:spLocks noGrp="1"/>
          </p:cNvSpPr>
          <p:nvPr/>
        </p:nvSpPr>
        <p:spPr>
          <a:xfrm>
            <a:off x="8039100" y="2419350"/>
            <a:ext cx="4191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D89126C-0171-4E24-AA8B-9F5283AD3DF6}"/>
              </a:ext>
            </a:extLst>
          </p:cNvPr>
          <p:cNvSpPr>
            <a:spLocks noGrp="1"/>
          </p:cNvSpPr>
          <p:nvPr/>
        </p:nvSpPr>
        <p:spPr>
          <a:xfrm>
            <a:off x="8134350" y="2447925"/>
            <a:ext cx="228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UP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9BFF220-33E2-4F85-B7B3-73B73554A2DA}"/>
              </a:ext>
            </a:extLst>
          </p:cNvPr>
          <p:cNvSpPr>
            <a:spLocks noGrp="1"/>
          </p:cNvSpPr>
          <p:nvPr/>
        </p:nvSpPr>
        <p:spPr>
          <a:xfrm>
            <a:off x="8458200" y="2419350"/>
            <a:ext cx="9906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B447883-7B96-4AD7-B1D7-0A41708EB19F}"/>
              </a:ext>
            </a:extLst>
          </p:cNvPr>
          <p:cNvSpPr>
            <a:spLocks noGrp="1"/>
          </p:cNvSpPr>
          <p:nvPr/>
        </p:nvSpPr>
        <p:spPr>
          <a:xfrm>
            <a:off x="8553450" y="24479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8721BC1-FE54-4095-AE0A-60128395AD34}"/>
              </a:ext>
            </a:extLst>
          </p:cNvPr>
          <p:cNvSpPr>
            <a:spLocks noGrp="1"/>
          </p:cNvSpPr>
          <p:nvPr/>
        </p:nvSpPr>
        <p:spPr>
          <a:xfrm>
            <a:off x="9448800" y="2419350"/>
            <a:ext cx="9906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AB44B4-9D27-4E43-BDB4-69A9D66A39D9}"/>
              </a:ext>
            </a:extLst>
          </p:cNvPr>
          <p:cNvSpPr>
            <a:spLocks noGrp="1"/>
          </p:cNvSpPr>
          <p:nvPr/>
        </p:nvSpPr>
        <p:spPr>
          <a:xfrm>
            <a:off x="9544050" y="24479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9A787D9-73EF-4CD2-8D92-A665D458019F}"/>
              </a:ext>
            </a:extLst>
          </p:cNvPr>
          <p:cNvSpPr>
            <a:spLocks noGrp="1"/>
          </p:cNvSpPr>
          <p:nvPr/>
        </p:nvSpPr>
        <p:spPr>
          <a:xfrm>
            <a:off x="10439400" y="2419350"/>
            <a:ext cx="4000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8F2E5D5-9DDE-4F93-B75D-4281E70FCC31}"/>
              </a:ext>
            </a:extLst>
          </p:cNvPr>
          <p:cNvSpPr>
            <a:spLocks noGrp="1"/>
          </p:cNvSpPr>
          <p:nvPr/>
        </p:nvSpPr>
        <p:spPr>
          <a:xfrm>
            <a:off x="10534650" y="2447925"/>
            <a:ext cx="20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ED0094D-16B3-4392-A6A5-54E94466740C}"/>
              </a:ext>
            </a:extLst>
          </p:cNvPr>
          <p:cNvSpPr>
            <a:spLocks noGrp="1"/>
          </p:cNvSpPr>
          <p:nvPr/>
        </p:nvSpPr>
        <p:spPr>
          <a:xfrm>
            <a:off x="10839450" y="2419350"/>
            <a:ext cx="8382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F5E7395-4E00-4BD6-81EE-DA487819E434}"/>
              </a:ext>
            </a:extLst>
          </p:cNvPr>
          <p:cNvSpPr>
            <a:spLocks noGrp="1"/>
          </p:cNvSpPr>
          <p:nvPr/>
        </p:nvSpPr>
        <p:spPr>
          <a:xfrm>
            <a:off x="10934700" y="2447925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 / extest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A9634FE-7EDE-4F04-96DB-37F6D78BB455}"/>
              </a:ext>
            </a:extLst>
          </p:cNvPr>
          <p:cNvSpPr>
            <a:spLocks noGrp="1"/>
          </p:cNvSpPr>
          <p:nvPr/>
        </p:nvSpPr>
        <p:spPr>
          <a:xfrm>
            <a:off x="7353300" y="2895600"/>
            <a:ext cx="685800" cy="4762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73EFC83-4AC0-4079-B8AB-318C4CD47BE8}"/>
              </a:ext>
            </a:extLst>
          </p:cNvPr>
          <p:cNvSpPr>
            <a:spLocks noGrp="1"/>
          </p:cNvSpPr>
          <p:nvPr/>
        </p:nvSpPr>
        <p:spPr>
          <a:xfrm>
            <a:off x="7448550" y="2924175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CFG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21E19E9-28BF-47AD-8671-289CFEC0FCDB}"/>
              </a:ext>
            </a:extLst>
          </p:cNvPr>
          <p:cNvSpPr>
            <a:spLocks noGrp="1"/>
          </p:cNvSpPr>
          <p:nvPr/>
        </p:nvSpPr>
        <p:spPr>
          <a:xfrm>
            <a:off x="8039100" y="2895600"/>
            <a:ext cx="419100" cy="4762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23EF8E9-B5E6-412B-A419-83C1B661237A}"/>
              </a:ext>
            </a:extLst>
          </p:cNvPr>
          <p:cNvSpPr>
            <a:spLocks noGrp="1"/>
          </p:cNvSpPr>
          <p:nvPr/>
        </p:nvSpPr>
        <p:spPr>
          <a:xfrm>
            <a:off x="8134350" y="2924175"/>
            <a:ext cx="228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B151966-844E-4DB6-84B2-FF149017CB1D}"/>
              </a:ext>
            </a:extLst>
          </p:cNvPr>
          <p:cNvSpPr>
            <a:spLocks noGrp="1"/>
          </p:cNvSpPr>
          <p:nvPr/>
        </p:nvSpPr>
        <p:spPr>
          <a:xfrm>
            <a:off x="8458200" y="2895600"/>
            <a:ext cx="990600" cy="4762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6764340-E82F-48E1-98B7-C2DB661D49FD}"/>
              </a:ext>
            </a:extLst>
          </p:cNvPr>
          <p:cNvSpPr>
            <a:spLocks noGrp="1"/>
          </p:cNvSpPr>
          <p:nvPr/>
        </p:nvSpPr>
        <p:spPr>
          <a:xfrm>
            <a:off x="8553450" y="292417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DF63D90-1016-488D-99B1-83A07E05587C}"/>
              </a:ext>
            </a:extLst>
          </p:cNvPr>
          <p:cNvSpPr>
            <a:spLocks noGrp="1"/>
          </p:cNvSpPr>
          <p:nvPr/>
        </p:nvSpPr>
        <p:spPr>
          <a:xfrm>
            <a:off x="9448800" y="2895600"/>
            <a:ext cx="990600" cy="4762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9A249F5-4998-492C-B707-84A39A51C671}"/>
              </a:ext>
            </a:extLst>
          </p:cNvPr>
          <p:cNvSpPr>
            <a:spLocks noGrp="1"/>
          </p:cNvSpPr>
          <p:nvPr/>
        </p:nvSpPr>
        <p:spPr>
          <a:xfrm>
            <a:off x="9544050" y="292417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17615DF-5949-40B7-A810-6ED1A12D6090}"/>
              </a:ext>
            </a:extLst>
          </p:cNvPr>
          <p:cNvSpPr>
            <a:spLocks noGrp="1"/>
          </p:cNvSpPr>
          <p:nvPr/>
        </p:nvSpPr>
        <p:spPr>
          <a:xfrm>
            <a:off x="10439400" y="2895600"/>
            <a:ext cx="400050" cy="4762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035C669-6056-4C6A-93BA-08E094733A9D}"/>
              </a:ext>
            </a:extLst>
          </p:cNvPr>
          <p:cNvSpPr>
            <a:spLocks noGrp="1"/>
          </p:cNvSpPr>
          <p:nvPr/>
        </p:nvSpPr>
        <p:spPr>
          <a:xfrm>
            <a:off x="10534650" y="2924175"/>
            <a:ext cx="20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5841A28-FF2F-42DA-92C7-281099526B45}"/>
              </a:ext>
            </a:extLst>
          </p:cNvPr>
          <p:cNvSpPr>
            <a:spLocks noGrp="1"/>
          </p:cNvSpPr>
          <p:nvPr/>
        </p:nvSpPr>
        <p:spPr>
          <a:xfrm>
            <a:off x="10839450" y="2895600"/>
            <a:ext cx="838200" cy="4762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220D200-A462-49D6-B321-943E9BBF81FE}"/>
              </a:ext>
            </a:extLst>
          </p:cNvPr>
          <p:cNvSpPr>
            <a:spLocks noGrp="1"/>
          </p:cNvSpPr>
          <p:nvPr/>
        </p:nvSpPr>
        <p:spPr>
          <a:xfrm>
            <a:off x="10934700" y="2924175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 / extest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2235AB5-87C8-47A4-A6C2-73F26B8F440A}"/>
              </a:ext>
            </a:extLst>
          </p:cNvPr>
          <p:cNvSpPr>
            <a:spLocks noGrp="1"/>
          </p:cNvSpPr>
          <p:nvPr/>
        </p:nvSpPr>
        <p:spPr>
          <a:xfrm>
            <a:off x="7353300" y="3371850"/>
            <a:ext cx="6858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CF5FC9D-47CA-4C9E-ABEF-837F7BD34E4F}"/>
              </a:ext>
            </a:extLst>
          </p:cNvPr>
          <p:cNvSpPr>
            <a:spLocks noGrp="1"/>
          </p:cNvSpPr>
          <p:nvPr/>
        </p:nvSpPr>
        <p:spPr>
          <a:xfrm>
            <a:off x="7448550" y="3400425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IRQ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0E175A5-A01E-471A-BE86-195C8AB439FB}"/>
              </a:ext>
            </a:extLst>
          </p:cNvPr>
          <p:cNvSpPr>
            <a:spLocks noGrp="1"/>
          </p:cNvSpPr>
          <p:nvPr/>
        </p:nvSpPr>
        <p:spPr>
          <a:xfrm>
            <a:off x="8039100" y="3371850"/>
            <a:ext cx="4191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AF644F8-74AC-4AFD-B932-3103B78923E3}"/>
              </a:ext>
            </a:extLst>
          </p:cNvPr>
          <p:cNvSpPr>
            <a:spLocks noGrp="1"/>
          </p:cNvSpPr>
          <p:nvPr/>
        </p:nvSpPr>
        <p:spPr>
          <a:xfrm>
            <a:off x="8134350" y="3400425"/>
            <a:ext cx="228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C6046589-6769-4507-93AD-76BC877F1F9E}"/>
              </a:ext>
            </a:extLst>
          </p:cNvPr>
          <p:cNvSpPr>
            <a:spLocks noGrp="1"/>
          </p:cNvSpPr>
          <p:nvPr/>
        </p:nvSpPr>
        <p:spPr>
          <a:xfrm>
            <a:off x="8458200" y="3371850"/>
            <a:ext cx="9906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4B76DEA-3431-4BAF-839E-C555D98E109B}"/>
              </a:ext>
            </a:extLst>
          </p:cNvPr>
          <p:cNvSpPr>
            <a:spLocks noGrp="1"/>
          </p:cNvSpPr>
          <p:nvPr/>
        </p:nvSpPr>
        <p:spPr>
          <a:xfrm>
            <a:off x="8553450" y="34004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410A4B4-5EB9-47FB-B7F2-765259282556}"/>
              </a:ext>
            </a:extLst>
          </p:cNvPr>
          <p:cNvSpPr>
            <a:spLocks noGrp="1"/>
          </p:cNvSpPr>
          <p:nvPr/>
        </p:nvSpPr>
        <p:spPr>
          <a:xfrm>
            <a:off x="9448800" y="3371850"/>
            <a:ext cx="9906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1F151219-7CA7-4683-9612-851DB88AE3D1}"/>
              </a:ext>
            </a:extLst>
          </p:cNvPr>
          <p:cNvSpPr>
            <a:spLocks noGrp="1"/>
          </p:cNvSpPr>
          <p:nvPr/>
        </p:nvSpPr>
        <p:spPr>
          <a:xfrm>
            <a:off x="9544050" y="3400425"/>
            <a:ext cx="800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27D734A-C244-4C3E-946E-76764355857B}"/>
              </a:ext>
            </a:extLst>
          </p:cNvPr>
          <p:cNvSpPr>
            <a:spLocks noGrp="1"/>
          </p:cNvSpPr>
          <p:nvPr/>
        </p:nvSpPr>
        <p:spPr>
          <a:xfrm>
            <a:off x="10439400" y="3371850"/>
            <a:ext cx="40005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275A2B44-0572-42CA-B5AF-A090DB89BC0F}"/>
              </a:ext>
            </a:extLst>
          </p:cNvPr>
          <p:cNvSpPr>
            <a:spLocks noGrp="1"/>
          </p:cNvSpPr>
          <p:nvPr/>
        </p:nvSpPr>
        <p:spPr>
          <a:xfrm>
            <a:off x="10534650" y="3400425"/>
            <a:ext cx="209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6FB435F-0A28-423F-8C82-FE929506DF0F}"/>
              </a:ext>
            </a:extLst>
          </p:cNvPr>
          <p:cNvSpPr>
            <a:spLocks noGrp="1"/>
          </p:cNvSpPr>
          <p:nvPr/>
        </p:nvSpPr>
        <p:spPr>
          <a:xfrm>
            <a:off x="10839450" y="3371850"/>
            <a:ext cx="838200" cy="476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D76B4C13-A951-4997-BA7C-54E621F0F6ED}"/>
              </a:ext>
            </a:extLst>
          </p:cNvPr>
          <p:cNvSpPr>
            <a:spLocks noGrp="1"/>
          </p:cNvSpPr>
          <p:nvPr/>
        </p:nvSpPr>
        <p:spPr>
          <a:xfrm>
            <a:off x="10934700" y="3400425"/>
            <a:ext cx="647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async / observe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F1C1D57-ABDF-44E3-9E26-693435721EAA}"/>
              </a:ext>
            </a:extLst>
          </p:cNvPr>
          <p:cNvSpPr>
            <a:spLocks noGrp="1"/>
          </p:cNvSpPr>
          <p:nvPr/>
        </p:nvSpPr>
        <p:spPr>
          <a:xfrm>
            <a:off x="7353300" y="4010025"/>
            <a:ext cx="43243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34"/>
          </a:bodyPr>
          <a:lstStyle/>
          <a:p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0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332"/>
                </a:solidFill>
                <a:latin typeface="Arial"/>
                <a:ea typeface="Arial"/>
                <a:cs typeface="Arial"/>
              </a:rPr>
              <a:t>Structural: port, direction, width, and die ownership</a:t>
            </a:r>
          </a:p>
          <a:p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0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Configuration: source-drive / destination-capture mapping</a:t>
            </a:r>
          </a:p>
          <a:p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0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332"/>
                </a:solidFill>
                <a:latin typeface="Arial"/>
                <a:ea typeface="Arial"/>
                <a:cs typeface="Arial"/>
              </a:rPr>
              <a:t>Behavioral: pattern, expected value, waveform, and compare</a:t>
            </a:r>
          </a:p>
          <a:p>
            <a:pPr marL="24" indent="-12" algn="l">
              <a:lnSpc>
                <a:spcPct val="102000"/>
              </a:lnSpc>
              <a:spcAft>
                <a:spcPts val="3"/>
              </a:spcAft>
              <a:buNone/>
              <a:defRPr sz="120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02332"/>
                </a:solidFill>
                <a:latin typeface="Arial"/>
                <a:ea typeface="Arial"/>
                <a:cs typeface="Arial"/>
              </a:rPr>
              <a:t>Coverage: one sign-off row per declared functional link</a:t>
            </a:r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BCD54090-4843-48E1-9DEF-8F45229D586B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1430">
            <a:solidFill>
              <a:srgbClr val="89959D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INVENTORY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9C159455-DE27-4C1B-990E-2146489655C2}"/>
              </a:ext>
            </a:extLst>
          </p:cNvPr>
          <p:cNvSpPr>
            <a:spLocks noGrp="1"/>
          </p:cNvSpPr>
          <p:nvPr/>
        </p:nvSpPr>
        <p:spPr>
          <a:xfrm>
            <a:off x="2895600" y="5095875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EDF5F8"/>
          </a:solidFill>
          <a:ln w="11430">
            <a:solidFill>
              <a:srgbClr val="0B6B9E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186FFC7B-C73E-40DC-AB36-33A95EEF6A36}"/>
              </a:ext>
            </a:extLst>
          </p:cNvPr>
          <p:cNvSpPr>
            <a:spLocks noGrp="1"/>
          </p:cNvSpPr>
          <p:nvPr/>
        </p:nvSpPr>
        <p:spPr>
          <a:xfrm>
            <a:off x="5181600" y="5095875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EEF6F0"/>
          </a:solidFill>
          <a:ln w="11430">
            <a:solidFill>
              <a:srgbClr val="1F7B72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LINK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45376AE4-6534-4005-B4F6-F5A8491726C0}"/>
              </a:ext>
            </a:extLst>
          </p:cNvPr>
          <p:cNvSpPr>
            <a:spLocks noGrp="1"/>
          </p:cNvSpPr>
          <p:nvPr/>
        </p:nvSpPr>
        <p:spPr>
          <a:xfrm>
            <a:off x="7467600" y="5095875"/>
            <a:ext cx="1809750" cy="609600"/>
          </a:xfrm>
          <a:prstGeom prst="roundRect">
            <a:avLst>
              <a:gd name="adj" fmla="val 18750"/>
            </a:avLst>
          </a:prstGeom>
          <a:solidFill>
            <a:srgbClr val="FBF0EA"/>
          </a:solidFill>
          <a:ln w="11430">
            <a:solidFill>
              <a:srgbClr val="D96B30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PASS / FAIL</a:t>
            </a:r>
          </a:p>
          <a:p>
            <a:pPr algn="ctr">
              <a:lnSpc>
                <a:spcPct val="100000"/>
              </a:lnSpc>
              <a:buNone/>
              <a:defRPr sz="127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MATRIX</a:t>
            </a:r>
          </a:p>
        </p:txBody>
      </p:sp>
      <p:cxnSp>
        <p:nvCxnSpPr>
          <p:cNvPr id="978" name="直線單箭頭接點 977"/>
          <p:cNvCxnSpPr>
            <a:stCxn id="69" idx="3"/>
            <a:endCxn id="70" idx="1"/>
          </p:cNvCxnSpPr>
          <p:nvPr/>
        </p:nvCxnSpPr>
        <p:spPr>
          <a:xfrm>
            <a:off x="2419350" y="5400675"/>
            <a:ext cx="476250" cy="0"/>
          </a:xfrm>
          <a:prstGeom prst="straightConnector1">
            <a:avLst/>
          </a:prstGeom>
          <a:ln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79" name="直線單箭頭接點 978"/>
          <p:cNvCxnSpPr>
            <a:stCxn id="70" idx="3"/>
            <a:endCxn id="71" idx="1"/>
          </p:cNvCxnSpPr>
          <p:nvPr/>
        </p:nvCxnSpPr>
        <p:spPr>
          <a:xfrm>
            <a:off x="4705350" y="5400675"/>
            <a:ext cx="476250" cy="0"/>
          </a:xfrm>
          <a:prstGeom prst="straightConnector1">
            <a:avLst/>
          </a:prstGeom>
          <a:ln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80" name="直線單箭頭接點 979"/>
          <p:cNvCxnSpPr>
            <a:stCxn id="71" idx="3"/>
            <a:endCxn id="72" idx="1"/>
          </p:cNvCxnSpPr>
          <p:nvPr/>
        </p:nvCxnSpPr>
        <p:spPr>
          <a:xfrm>
            <a:off x="6991350" y="5400675"/>
            <a:ext cx="476250" cy="0"/>
          </a:xfrm>
          <a:prstGeom prst="straightConnector1">
            <a:avLst/>
          </a:prstGeom>
          <a:ln w="1905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EC71BDC1-6A0C-4B2A-B2D6-49D7E960A145}"/>
              </a:ext>
            </a:extLst>
          </p:cNvPr>
          <p:cNvSpPr>
            <a:spLocks noGrp="1"/>
          </p:cNvSpPr>
          <p:nvPr/>
        </p:nvSpPr>
        <p:spPr>
          <a:xfrm>
            <a:off x="9620250" y="5143500"/>
            <a:ext cx="1752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COVERAGE</a:t>
            </a:r>
          </a:p>
          <a:p>
            <a:pPr algn="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verified / declared</a:t>
            </a:r>
          </a:p>
        </p:txBody>
      </p:sp>
      <p:sp>
        <p:nvSpPr>
          <p:cNvPr id="77" name="直線接點 76">
            <a:extLst>
              <a:ext uri="{FF2B5EF4-FFF2-40B4-BE49-F238E27FC236}">
                <a16:creationId xmlns:a16="http://schemas.microsoft.com/office/drawing/2014/main" id="{C919AC39-CE79-4548-BD3B-1BEF3B815E6D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D96B30"/>
            </a:solidFill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F94A5EB-746B-4437-938E-E718A90140EE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Target contract only; port mapping, patterns, and results follow DWR insertion.</a:t>
            </a:r>
          </a:p>
        </p:txBody>
      </p:sp>
      <p:sp>
        <p:nvSpPr>
          <p:cNvPr id="79" name="直線接點 78">
            <a:extLst>
              <a:ext uri="{FF2B5EF4-FFF2-40B4-BE49-F238E27FC236}">
                <a16:creationId xmlns:a16="http://schemas.microsoft.com/office/drawing/2014/main" id="{6960EE50-EED8-4FEB-92F2-D44BB1D93860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29128CB-32E2-4AD8-8B53-01F9F8C15AC5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370947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矩形 167">
            <a:extLst>
              <a:ext uri="{FF2B5EF4-FFF2-40B4-BE49-F238E27FC236}">
                <a16:creationId xmlns:a16="http://schemas.microsoft.com/office/drawing/2014/main" id="{6B89E4B5-824A-480F-882A-CDF0F64927B8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COMPLEX-DIE PROOF PLAN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E155F4-0DD3-43FD-A45C-FFB36D4B57A4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" name="slide-10-title">
            <a:extLst>
              <a:ext uri="{FF2B5EF4-FFF2-40B4-BE49-F238E27FC236}">
                <a16:creationId xmlns:a16="http://schemas.microsoft.com/office/drawing/2014/main" id="{EFDC8748-70B2-47E6-983D-85A8E03A704B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487" lnSpcReduction="2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team's complex RTL die will prove portability without core-Tcl rewrites.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2554230C-91E1-44D4-ADAE-CB07A42C4D2B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2CC566-4F89-45C7-89FF-F90FA5BC8ED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CURRENT BASELINE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FAF2B3-6B18-4BC8-A57E-093983027982}"/>
              </a:ext>
            </a:extLst>
          </p:cNvPr>
          <p:cNvSpPr>
            <a:spLocks noGrp="1"/>
          </p:cNvSpPr>
          <p:nvPr/>
        </p:nvSpPr>
        <p:spPr>
          <a:xfrm>
            <a:off x="6343650" y="1571625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NEXT TARGET · </a:t>
            </a:r>
            <a:r>
              <a:rPr sz="1200" b="1">
                <a:solidFill>
                  <a:srgbClr val="D96B30"/>
                </a:solidFill>
                <a:highlight>
                  <a:srgbClr val="FFF1A8"/>
                </a:highlight>
                <a:latin typeface="Arial"/>
                <a:ea typeface="Arial"/>
                <a:cs typeface="Arial"/>
              </a:rPr>
              <a:t>NOT IMPLEMENTED</a:t>
            </a:r>
          </a:p>
        </p:txBody>
      </p:sp>
      <p:sp>
        <p:nvSpPr>
          <p:cNvPr id="7" name="直線接點 6">
            <a:extLst>
              <a:ext uri="{FF2B5EF4-FFF2-40B4-BE49-F238E27FC236}">
                <a16:creationId xmlns:a16="http://schemas.microsoft.com/office/drawing/2014/main" id="{964F4081-4794-4739-86F0-0220E095FE19}"/>
              </a:ext>
            </a:extLst>
          </p:cNvPr>
          <p:cNvSpPr>
            <a:spLocks noGrp="1"/>
          </p:cNvSpPr>
          <p:nvPr/>
        </p:nvSpPr>
        <p:spPr>
          <a:xfrm>
            <a:off x="5962650" y="1676400"/>
            <a:ext cx="0" cy="4010025"/>
          </a:xfrm>
          <a:prstGeom prst="line">
            <a:avLst/>
          </a:prstGeom>
          <a:noFill/>
          <a:ln w="13335">
            <a:solidFill>
              <a:srgbClr val="D7E0E5"/>
            </a:solidFill>
            <a:prstDash val="solid"/>
          </a:ln>
        </p:spPr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28912A8-69AC-4763-9F6A-06AAAF3DA913}"/>
              </a:ext>
            </a:extLst>
          </p:cNvPr>
          <p:cNvSpPr>
            <a:spLocks noGrp="1"/>
          </p:cNvSpPr>
          <p:nvPr/>
        </p:nvSpPr>
        <p:spPr>
          <a:xfrm>
            <a:off x="609600" y="1943100"/>
            <a:ext cx="4953000" cy="2381250"/>
          </a:xfrm>
          <a:prstGeom prst="roundRect">
            <a:avLst>
              <a:gd name="adj" fmla="val 4000"/>
            </a:avLst>
          </a:prstGeom>
          <a:solidFill>
            <a:srgbClr val="EDF5F8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FCE5AA-9ED7-46F6-BD0D-5B3FC24139B2}"/>
              </a:ext>
            </a:extLst>
          </p:cNvPr>
          <p:cNvSpPr>
            <a:spLocks noGrp="1"/>
          </p:cNvSpPr>
          <p:nvPr/>
        </p:nvSpPr>
        <p:spPr>
          <a:xfrm>
            <a:off x="1447800" y="2209800"/>
            <a:ext cx="30480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6EF851C-CBC3-411A-B3D7-023B896C4C3E}"/>
              </a:ext>
            </a:extLst>
          </p:cNvPr>
          <p:cNvSpPr>
            <a:spLocks noGrp="1"/>
          </p:cNvSpPr>
          <p:nvPr/>
        </p:nvSpPr>
        <p:spPr>
          <a:xfrm>
            <a:off x="1371600" y="2133600"/>
            <a:ext cx="30480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3A91B3"/>
            </a:solidFill>
            <a:prstDash val="solid"/>
          </a:ln>
        </p:spPr>
      </p:sp>
      <p:sp>
        <p:nvSpPr>
          <p:cNvPr id="11" name="直線接點 10">
            <a:extLst>
              <a:ext uri="{FF2B5EF4-FFF2-40B4-BE49-F238E27FC236}">
                <a16:creationId xmlns:a16="http://schemas.microsoft.com/office/drawing/2014/main" id="{33E29523-AF17-41FD-A9A2-F581E84F3917}"/>
              </a:ext>
            </a:extLst>
          </p:cNvPr>
          <p:cNvSpPr>
            <a:spLocks noGrp="1"/>
          </p:cNvSpPr>
          <p:nvPr/>
        </p:nvSpPr>
        <p:spPr>
          <a:xfrm>
            <a:off x="1524000" y="2581275"/>
            <a:ext cx="2743200" cy="0"/>
          </a:xfrm>
          <a:prstGeom prst="line">
            <a:avLst/>
          </a:prstGeom>
          <a:noFill/>
          <a:ln w="11430">
            <a:solidFill>
              <a:srgbClr val="3A91B3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FF0157-8030-4775-8A1D-D3A818C20F00}"/>
              </a:ext>
            </a:extLst>
          </p:cNvPr>
          <p:cNvSpPr>
            <a:spLocks noGrp="1"/>
          </p:cNvSpPr>
          <p:nvPr/>
        </p:nvSpPr>
        <p:spPr>
          <a:xfrm>
            <a:off x="1543050" y="22479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SENSOR DIE 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E27030-1300-4CBC-ACEB-CC01816E8197}"/>
              </a:ext>
            </a:extLst>
          </p:cNvPr>
          <p:cNvSpPr>
            <a:spLocks noGrp="1"/>
          </p:cNvSpPr>
          <p:nvPr/>
        </p:nvSpPr>
        <p:spPr>
          <a:xfrm>
            <a:off x="1543050" y="2590800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local instrument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DE3DB5C-D337-4144-B0FE-4E9B1697EEF5}"/>
              </a:ext>
            </a:extLst>
          </p:cNvPr>
          <p:cNvSpPr>
            <a:spLocks noGrp="1"/>
          </p:cNvSpPr>
          <p:nvPr/>
        </p:nvSpPr>
        <p:spPr>
          <a:xfrm>
            <a:off x="15525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0878642D-18FE-4229-9470-66905E381557}"/>
              </a:ext>
            </a:extLst>
          </p:cNvPr>
          <p:cNvSpPr>
            <a:spLocks noGrp="1"/>
          </p:cNvSpPr>
          <p:nvPr/>
        </p:nvSpPr>
        <p:spPr>
          <a:xfrm>
            <a:off x="18446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99229B95-61EA-4D84-9015-849E112B4821}"/>
              </a:ext>
            </a:extLst>
          </p:cNvPr>
          <p:cNvSpPr>
            <a:spLocks noGrp="1"/>
          </p:cNvSpPr>
          <p:nvPr/>
        </p:nvSpPr>
        <p:spPr>
          <a:xfrm>
            <a:off x="21367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53737658-3B9A-4C76-BE2A-1580B823198E}"/>
              </a:ext>
            </a:extLst>
          </p:cNvPr>
          <p:cNvSpPr>
            <a:spLocks noGrp="1"/>
          </p:cNvSpPr>
          <p:nvPr/>
        </p:nvSpPr>
        <p:spPr>
          <a:xfrm>
            <a:off x="24288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FAE1D36-9A31-40F8-8CC9-360542BE8C02}"/>
              </a:ext>
            </a:extLst>
          </p:cNvPr>
          <p:cNvSpPr>
            <a:spLocks noGrp="1"/>
          </p:cNvSpPr>
          <p:nvPr/>
        </p:nvSpPr>
        <p:spPr>
          <a:xfrm>
            <a:off x="27209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CCAECD66-9511-41F8-8114-CAF988279414}"/>
              </a:ext>
            </a:extLst>
          </p:cNvPr>
          <p:cNvSpPr>
            <a:spLocks noGrp="1"/>
          </p:cNvSpPr>
          <p:nvPr/>
        </p:nvSpPr>
        <p:spPr>
          <a:xfrm>
            <a:off x="30130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9720C773-5EBD-41E9-AC7C-B04991AEB865}"/>
              </a:ext>
            </a:extLst>
          </p:cNvPr>
          <p:cNvSpPr>
            <a:spLocks noGrp="1"/>
          </p:cNvSpPr>
          <p:nvPr/>
        </p:nvSpPr>
        <p:spPr>
          <a:xfrm>
            <a:off x="33051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0F8B116-5163-40BB-BD3C-A708BDDF9090}"/>
              </a:ext>
            </a:extLst>
          </p:cNvPr>
          <p:cNvSpPr>
            <a:spLocks noGrp="1"/>
          </p:cNvSpPr>
          <p:nvPr/>
        </p:nvSpPr>
        <p:spPr>
          <a:xfrm>
            <a:off x="35972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3BF26802-8136-407A-B381-CA33832ED684}"/>
              </a:ext>
            </a:extLst>
          </p:cNvPr>
          <p:cNvSpPr>
            <a:spLocks noGrp="1"/>
          </p:cNvSpPr>
          <p:nvPr/>
        </p:nvSpPr>
        <p:spPr>
          <a:xfrm>
            <a:off x="38893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5A993B97-5213-432A-8BA7-B08B215F2731}"/>
              </a:ext>
            </a:extLst>
          </p:cNvPr>
          <p:cNvSpPr>
            <a:spLocks noGrp="1"/>
          </p:cNvSpPr>
          <p:nvPr/>
        </p:nvSpPr>
        <p:spPr>
          <a:xfrm>
            <a:off x="41814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597F3E1-7FD7-4821-BB97-D4CDFF9B60C5}"/>
              </a:ext>
            </a:extLst>
          </p:cNvPr>
          <p:cNvSpPr>
            <a:spLocks noGrp="1"/>
          </p:cNvSpPr>
          <p:nvPr/>
        </p:nvSpPr>
        <p:spPr>
          <a:xfrm>
            <a:off x="1276350" y="2971800"/>
            <a:ext cx="30480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CE7FDA5A-4F78-4623-832C-ABD5FF68455A}"/>
              </a:ext>
            </a:extLst>
          </p:cNvPr>
          <p:cNvSpPr>
            <a:spLocks noGrp="1"/>
          </p:cNvSpPr>
          <p:nvPr/>
        </p:nvSpPr>
        <p:spPr>
          <a:xfrm>
            <a:off x="1200150" y="2895600"/>
            <a:ext cx="30480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</p:sp>
      <p:sp>
        <p:nvSpPr>
          <p:cNvPr id="26" name="直線接點 25">
            <a:extLst>
              <a:ext uri="{FF2B5EF4-FFF2-40B4-BE49-F238E27FC236}">
                <a16:creationId xmlns:a16="http://schemas.microsoft.com/office/drawing/2014/main" id="{66C65F6C-1D9C-4672-8233-30CE55401B4A}"/>
              </a:ext>
            </a:extLst>
          </p:cNvPr>
          <p:cNvSpPr>
            <a:spLocks noGrp="1"/>
          </p:cNvSpPr>
          <p:nvPr/>
        </p:nvSpPr>
        <p:spPr>
          <a:xfrm>
            <a:off x="1352550" y="3343275"/>
            <a:ext cx="2743200" cy="0"/>
          </a:xfrm>
          <a:prstGeom prst="line">
            <a:avLst/>
          </a:prstGeom>
          <a:noFill/>
          <a:ln w="11430">
            <a:solidFill>
              <a:srgbClr val="1F7B72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66903E0-33A7-42EE-9548-968F70F860E1}"/>
              </a:ext>
            </a:extLst>
          </p:cNvPr>
          <p:cNvSpPr>
            <a:spLocks noGrp="1"/>
          </p:cNvSpPr>
          <p:nvPr/>
        </p:nvSpPr>
        <p:spPr>
          <a:xfrm>
            <a:off x="1371600" y="30099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SENSOR DIE 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BD42E5F-5CBC-446F-BFDF-6D0FEB67650D}"/>
              </a:ext>
            </a:extLst>
          </p:cNvPr>
          <p:cNvSpPr>
            <a:spLocks noGrp="1"/>
          </p:cNvSpPr>
          <p:nvPr/>
        </p:nvSpPr>
        <p:spPr>
          <a:xfrm>
            <a:off x="1371600" y="3352800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local instrument</a:t>
            </a: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F2FFAADC-B063-4E22-A129-B0C72D6B0253}"/>
              </a:ext>
            </a:extLst>
          </p:cNvPr>
          <p:cNvSpPr>
            <a:spLocks noGrp="1"/>
          </p:cNvSpPr>
          <p:nvPr/>
        </p:nvSpPr>
        <p:spPr>
          <a:xfrm>
            <a:off x="13811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1561327A-D328-416E-B02E-8737BE089F8E}"/>
              </a:ext>
            </a:extLst>
          </p:cNvPr>
          <p:cNvSpPr>
            <a:spLocks noGrp="1"/>
          </p:cNvSpPr>
          <p:nvPr/>
        </p:nvSpPr>
        <p:spPr>
          <a:xfrm>
            <a:off x="16732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B631E219-D60B-4641-9ECB-1A20AD74E02C}"/>
              </a:ext>
            </a:extLst>
          </p:cNvPr>
          <p:cNvSpPr>
            <a:spLocks noGrp="1"/>
          </p:cNvSpPr>
          <p:nvPr/>
        </p:nvSpPr>
        <p:spPr>
          <a:xfrm>
            <a:off x="19653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99F8E615-B677-44B3-B604-29D1F0D5FE31}"/>
              </a:ext>
            </a:extLst>
          </p:cNvPr>
          <p:cNvSpPr>
            <a:spLocks noGrp="1"/>
          </p:cNvSpPr>
          <p:nvPr/>
        </p:nvSpPr>
        <p:spPr>
          <a:xfrm>
            <a:off x="22574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2CF89FD6-1288-40FB-A7F5-D4C60463AA35}"/>
              </a:ext>
            </a:extLst>
          </p:cNvPr>
          <p:cNvSpPr>
            <a:spLocks noGrp="1"/>
          </p:cNvSpPr>
          <p:nvPr/>
        </p:nvSpPr>
        <p:spPr>
          <a:xfrm>
            <a:off x="25495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27F2D73F-321B-4F23-BFA4-702DE8BD3AE1}"/>
              </a:ext>
            </a:extLst>
          </p:cNvPr>
          <p:cNvSpPr>
            <a:spLocks noGrp="1"/>
          </p:cNvSpPr>
          <p:nvPr/>
        </p:nvSpPr>
        <p:spPr>
          <a:xfrm>
            <a:off x="28416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20CAA20D-313D-4940-B821-5B998D84F9FD}"/>
              </a:ext>
            </a:extLst>
          </p:cNvPr>
          <p:cNvSpPr>
            <a:spLocks noGrp="1"/>
          </p:cNvSpPr>
          <p:nvPr/>
        </p:nvSpPr>
        <p:spPr>
          <a:xfrm>
            <a:off x="31337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A9FEC539-D7F5-4F9E-9748-553558A8EB7B}"/>
              </a:ext>
            </a:extLst>
          </p:cNvPr>
          <p:cNvSpPr>
            <a:spLocks noGrp="1"/>
          </p:cNvSpPr>
          <p:nvPr/>
        </p:nvSpPr>
        <p:spPr>
          <a:xfrm>
            <a:off x="34258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88DC6B76-86EE-495A-A21D-76FF40FFBE31}"/>
              </a:ext>
            </a:extLst>
          </p:cNvPr>
          <p:cNvSpPr>
            <a:spLocks noGrp="1"/>
          </p:cNvSpPr>
          <p:nvPr/>
        </p:nvSpPr>
        <p:spPr>
          <a:xfrm>
            <a:off x="37179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4AF74FF5-4892-4640-9E25-307E1F0F0542}"/>
              </a:ext>
            </a:extLst>
          </p:cNvPr>
          <p:cNvSpPr>
            <a:spLocks noGrp="1"/>
          </p:cNvSpPr>
          <p:nvPr/>
        </p:nvSpPr>
        <p:spPr>
          <a:xfrm>
            <a:off x="40100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4EC77E-F8A4-4EF7-8707-84156A08C178}"/>
              </a:ext>
            </a:extLst>
          </p:cNvPr>
          <p:cNvSpPr>
            <a:spLocks noGrp="1"/>
          </p:cNvSpPr>
          <p:nvPr/>
        </p:nvSpPr>
        <p:spPr>
          <a:xfrm>
            <a:off x="1104900" y="3733800"/>
            <a:ext cx="304800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844C04BC-8AD8-4457-8A54-486D39670552}"/>
              </a:ext>
            </a:extLst>
          </p:cNvPr>
          <p:cNvSpPr>
            <a:spLocks noGrp="1"/>
          </p:cNvSpPr>
          <p:nvPr/>
        </p:nvSpPr>
        <p:spPr>
          <a:xfrm>
            <a:off x="1028700" y="3657600"/>
            <a:ext cx="30480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0B6B9E"/>
            </a:solidFill>
            <a:prstDash val="solid"/>
          </a:ln>
        </p:spPr>
      </p:sp>
      <p:sp>
        <p:nvSpPr>
          <p:cNvPr id="41" name="直線接點 40">
            <a:extLst>
              <a:ext uri="{FF2B5EF4-FFF2-40B4-BE49-F238E27FC236}">
                <a16:creationId xmlns:a16="http://schemas.microsoft.com/office/drawing/2014/main" id="{4B90D23D-EF1A-49BF-8D25-68CCE9D7DF14}"/>
              </a:ext>
            </a:extLst>
          </p:cNvPr>
          <p:cNvSpPr>
            <a:spLocks noGrp="1"/>
          </p:cNvSpPr>
          <p:nvPr/>
        </p:nvSpPr>
        <p:spPr>
          <a:xfrm>
            <a:off x="1181100" y="4105275"/>
            <a:ext cx="2743200" cy="0"/>
          </a:xfrm>
          <a:prstGeom prst="line">
            <a:avLst/>
          </a:prstGeom>
          <a:noFill/>
          <a:ln w="11430">
            <a:solidFill>
              <a:srgbClr val="0B6B9E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0065B46-4D95-4FE6-81CC-7FFA9A157712}"/>
              </a:ext>
            </a:extLst>
          </p:cNvPr>
          <p:cNvSpPr>
            <a:spLocks noGrp="1"/>
          </p:cNvSpPr>
          <p:nvPr/>
        </p:nvSpPr>
        <p:spPr>
          <a:xfrm>
            <a:off x="1200150" y="3771900"/>
            <a:ext cx="2705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ALU BASE DIE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73648E1-A9EC-4BD7-A3A1-52CAB0DA2291}"/>
              </a:ext>
            </a:extLst>
          </p:cNvPr>
          <p:cNvSpPr>
            <a:spLocks noGrp="1"/>
          </p:cNvSpPr>
          <p:nvPr/>
        </p:nvSpPr>
        <p:spPr>
          <a:xfrm>
            <a:off x="1200150" y="4114800"/>
            <a:ext cx="2705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PTAP · local instrument</a:t>
            </a: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B504291C-E159-4B1F-AA77-6C3963CBDF8A}"/>
              </a:ext>
            </a:extLst>
          </p:cNvPr>
          <p:cNvSpPr>
            <a:spLocks noGrp="1"/>
          </p:cNvSpPr>
          <p:nvPr/>
        </p:nvSpPr>
        <p:spPr>
          <a:xfrm>
            <a:off x="12096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BFEC7D73-4B4D-4BA1-AA89-7464E5578DAE}"/>
              </a:ext>
            </a:extLst>
          </p:cNvPr>
          <p:cNvSpPr>
            <a:spLocks noGrp="1"/>
          </p:cNvSpPr>
          <p:nvPr/>
        </p:nvSpPr>
        <p:spPr>
          <a:xfrm>
            <a:off x="15017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6" name="橢圓 45">
            <a:extLst>
              <a:ext uri="{FF2B5EF4-FFF2-40B4-BE49-F238E27FC236}">
                <a16:creationId xmlns:a16="http://schemas.microsoft.com/office/drawing/2014/main" id="{8412317B-D6C8-41BD-AB34-38FF981E03E0}"/>
              </a:ext>
            </a:extLst>
          </p:cNvPr>
          <p:cNvSpPr>
            <a:spLocks noGrp="1"/>
          </p:cNvSpPr>
          <p:nvPr/>
        </p:nvSpPr>
        <p:spPr>
          <a:xfrm>
            <a:off x="17938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BD053C24-A6E0-4066-9501-2FC5E9CB1C10}"/>
              </a:ext>
            </a:extLst>
          </p:cNvPr>
          <p:cNvSpPr>
            <a:spLocks noGrp="1"/>
          </p:cNvSpPr>
          <p:nvPr/>
        </p:nvSpPr>
        <p:spPr>
          <a:xfrm>
            <a:off x="20859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2B1CAD01-AB3D-4F83-B934-D31755A69605}"/>
              </a:ext>
            </a:extLst>
          </p:cNvPr>
          <p:cNvSpPr>
            <a:spLocks noGrp="1"/>
          </p:cNvSpPr>
          <p:nvPr/>
        </p:nvSpPr>
        <p:spPr>
          <a:xfrm>
            <a:off x="23780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8769F413-D180-4A17-8AC1-D47834D30DAB}"/>
              </a:ext>
            </a:extLst>
          </p:cNvPr>
          <p:cNvSpPr>
            <a:spLocks noGrp="1"/>
          </p:cNvSpPr>
          <p:nvPr/>
        </p:nvSpPr>
        <p:spPr>
          <a:xfrm>
            <a:off x="26701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B003FF21-B733-433E-BDE2-263B3C5A714A}"/>
              </a:ext>
            </a:extLst>
          </p:cNvPr>
          <p:cNvSpPr>
            <a:spLocks noGrp="1"/>
          </p:cNvSpPr>
          <p:nvPr/>
        </p:nvSpPr>
        <p:spPr>
          <a:xfrm>
            <a:off x="29622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766FBB97-1BC9-481E-9569-1CED4CFD97DC}"/>
              </a:ext>
            </a:extLst>
          </p:cNvPr>
          <p:cNvSpPr>
            <a:spLocks noGrp="1"/>
          </p:cNvSpPr>
          <p:nvPr/>
        </p:nvSpPr>
        <p:spPr>
          <a:xfrm>
            <a:off x="32543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34F6A405-F196-4D54-B4CA-260E803CC3F8}"/>
              </a:ext>
            </a:extLst>
          </p:cNvPr>
          <p:cNvSpPr>
            <a:spLocks noGrp="1"/>
          </p:cNvSpPr>
          <p:nvPr/>
        </p:nvSpPr>
        <p:spPr>
          <a:xfrm>
            <a:off x="35464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3B6CE308-B970-46EF-8F68-409B325AA794}"/>
              </a:ext>
            </a:extLst>
          </p:cNvPr>
          <p:cNvSpPr>
            <a:spLocks noGrp="1"/>
          </p:cNvSpPr>
          <p:nvPr/>
        </p:nvSpPr>
        <p:spPr>
          <a:xfrm>
            <a:off x="38385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B0329E6B-F794-4E48-82E4-DE6E2D93AB33}"/>
              </a:ext>
            </a:extLst>
          </p:cNvPr>
          <p:cNvSpPr>
            <a:spLocks noGrp="1"/>
          </p:cNvSpPr>
          <p:nvPr/>
        </p:nvSpPr>
        <p:spPr>
          <a:xfrm>
            <a:off x="6343650" y="1943100"/>
            <a:ext cx="5162550" cy="2381250"/>
          </a:xfrm>
          <a:prstGeom prst="roundRect">
            <a:avLst>
              <a:gd name="adj" fmla="val 4000"/>
            </a:avLst>
          </a:prstGeom>
          <a:solidFill>
            <a:srgbClr val="FBF0EA"/>
          </a:solidFill>
          <a:ln w="11430">
            <a:solidFill>
              <a:srgbClr val="B7C5CD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C77B021-13C8-4A23-8250-E8F30B6A0774}"/>
              </a:ext>
            </a:extLst>
          </p:cNvPr>
          <p:cNvSpPr>
            <a:spLocks noGrp="1"/>
          </p:cNvSpPr>
          <p:nvPr/>
        </p:nvSpPr>
        <p:spPr>
          <a:xfrm>
            <a:off x="7391400" y="2209800"/>
            <a:ext cx="310515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2BA57D4A-C8E1-40BE-8B00-DF38A18A91E4}"/>
              </a:ext>
            </a:extLst>
          </p:cNvPr>
          <p:cNvSpPr>
            <a:spLocks noGrp="1"/>
          </p:cNvSpPr>
          <p:nvPr/>
        </p:nvSpPr>
        <p:spPr>
          <a:xfrm>
            <a:off x="7315200" y="2133600"/>
            <a:ext cx="31051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D96B30"/>
            </a:solidFill>
            <a:prstDash val="solid"/>
          </a:ln>
        </p:spPr>
      </p:sp>
      <p:sp>
        <p:nvSpPr>
          <p:cNvPr id="57" name="直線接點 56">
            <a:extLst>
              <a:ext uri="{FF2B5EF4-FFF2-40B4-BE49-F238E27FC236}">
                <a16:creationId xmlns:a16="http://schemas.microsoft.com/office/drawing/2014/main" id="{257EA92C-B868-4E6A-A058-213F992DC81F}"/>
              </a:ext>
            </a:extLst>
          </p:cNvPr>
          <p:cNvSpPr>
            <a:spLocks noGrp="1"/>
          </p:cNvSpPr>
          <p:nvPr/>
        </p:nvSpPr>
        <p:spPr>
          <a:xfrm>
            <a:off x="7467600" y="2581275"/>
            <a:ext cx="2800350" cy="0"/>
          </a:xfrm>
          <a:prstGeom prst="line">
            <a:avLst/>
          </a:prstGeom>
          <a:noFill/>
          <a:ln w="11430">
            <a:solidFill>
              <a:srgbClr val="D96B30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50DECF8-D7B6-400C-A98C-15ABB05F294D}"/>
              </a:ext>
            </a:extLst>
          </p:cNvPr>
          <p:cNvSpPr>
            <a:spLocks noGrp="1"/>
          </p:cNvSpPr>
          <p:nvPr/>
        </p:nvSpPr>
        <p:spPr>
          <a:xfrm>
            <a:off x="7486650" y="22479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TEAM COMPLEX RTL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539A8C7-B2C6-4C14-82B2-C13B6FE1289B}"/>
              </a:ext>
            </a:extLst>
          </p:cNvPr>
          <p:cNvSpPr>
            <a:spLocks noGrp="1"/>
          </p:cNvSpPr>
          <p:nvPr/>
        </p:nvSpPr>
        <p:spPr>
          <a:xfrm>
            <a:off x="7486650" y="2590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12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functional ports</a:t>
            </a: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2C7DC6F8-81A1-4E7D-84DF-5859405098FD}"/>
              </a:ext>
            </a:extLst>
          </p:cNvPr>
          <p:cNvSpPr>
            <a:spLocks noGrp="1"/>
          </p:cNvSpPr>
          <p:nvPr/>
        </p:nvSpPr>
        <p:spPr>
          <a:xfrm>
            <a:off x="74961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BD60272C-6191-4C90-960B-26DF1DE591A4}"/>
              </a:ext>
            </a:extLst>
          </p:cNvPr>
          <p:cNvSpPr>
            <a:spLocks noGrp="1"/>
          </p:cNvSpPr>
          <p:nvPr/>
        </p:nvSpPr>
        <p:spPr>
          <a:xfrm>
            <a:off x="779462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D4D1763D-90FB-4291-9495-FA826B66C7BB}"/>
              </a:ext>
            </a:extLst>
          </p:cNvPr>
          <p:cNvSpPr>
            <a:spLocks noGrp="1"/>
          </p:cNvSpPr>
          <p:nvPr/>
        </p:nvSpPr>
        <p:spPr>
          <a:xfrm>
            <a:off x="80930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9F227124-B1BD-46B0-A420-412E000D5343}"/>
              </a:ext>
            </a:extLst>
          </p:cNvPr>
          <p:cNvSpPr>
            <a:spLocks noGrp="1"/>
          </p:cNvSpPr>
          <p:nvPr/>
        </p:nvSpPr>
        <p:spPr>
          <a:xfrm>
            <a:off x="839152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844B589A-4607-4ED0-BA57-BD8B24B7F3FD}"/>
              </a:ext>
            </a:extLst>
          </p:cNvPr>
          <p:cNvSpPr>
            <a:spLocks noGrp="1"/>
          </p:cNvSpPr>
          <p:nvPr/>
        </p:nvSpPr>
        <p:spPr>
          <a:xfrm>
            <a:off x="86899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5" name="橢圓 64">
            <a:extLst>
              <a:ext uri="{FF2B5EF4-FFF2-40B4-BE49-F238E27FC236}">
                <a16:creationId xmlns:a16="http://schemas.microsoft.com/office/drawing/2014/main" id="{FCE15B19-54B8-447F-9CDC-48BEAD4611B4}"/>
              </a:ext>
            </a:extLst>
          </p:cNvPr>
          <p:cNvSpPr>
            <a:spLocks noGrp="1"/>
          </p:cNvSpPr>
          <p:nvPr/>
        </p:nvSpPr>
        <p:spPr>
          <a:xfrm>
            <a:off x="898842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1A670F8D-02ED-4932-B41D-681AE89F942C}"/>
              </a:ext>
            </a:extLst>
          </p:cNvPr>
          <p:cNvSpPr>
            <a:spLocks noGrp="1"/>
          </p:cNvSpPr>
          <p:nvPr/>
        </p:nvSpPr>
        <p:spPr>
          <a:xfrm>
            <a:off x="92868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E8783F58-3DCF-4B5A-89DD-78079B3D6F59}"/>
              </a:ext>
            </a:extLst>
          </p:cNvPr>
          <p:cNvSpPr>
            <a:spLocks noGrp="1"/>
          </p:cNvSpPr>
          <p:nvPr/>
        </p:nvSpPr>
        <p:spPr>
          <a:xfrm>
            <a:off x="958532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8" name="橢圓 67">
            <a:extLst>
              <a:ext uri="{FF2B5EF4-FFF2-40B4-BE49-F238E27FC236}">
                <a16:creationId xmlns:a16="http://schemas.microsoft.com/office/drawing/2014/main" id="{44D95A4D-91CB-4457-B0F5-0C43D75A34B8}"/>
              </a:ext>
            </a:extLst>
          </p:cNvPr>
          <p:cNvSpPr>
            <a:spLocks noGrp="1"/>
          </p:cNvSpPr>
          <p:nvPr/>
        </p:nvSpPr>
        <p:spPr>
          <a:xfrm>
            <a:off x="988377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69" name="橢圓 68">
            <a:extLst>
              <a:ext uri="{FF2B5EF4-FFF2-40B4-BE49-F238E27FC236}">
                <a16:creationId xmlns:a16="http://schemas.microsoft.com/office/drawing/2014/main" id="{D7AECD5E-BFB2-4CD0-9927-E2016829BB48}"/>
              </a:ext>
            </a:extLst>
          </p:cNvPr>
          <p:cNvSpPr>
            <a:spLocks noGrp="1"/>
          </p:cNvSpPr>
          <p:nvPr/>
        </p:nvSpPr>
        <p:spPr>
          <a:xfrm>
            <a:off x="10182225" y="2857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1F546D7-0B7A-4BE6-B65C-9CC95544441E}"/>
              </a:ext>
            </a:extLst>
          </p:cNvPr>
          <p:cNvSpPr>
            <a:spLocks noGrp="1"/>
          </p:cNvSpPr>
          <p:nvPr/>
        </p:nvSpPr>
        <p:spPr>
          <a:xfrm>
            <a:off x="7219950" y="2971800"/>
            <a:ext cx="310515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71F3CB65-8AC9-4CAC-9B90-A999F35445E2}"/>
              </a:ext>
            </a:extLst>
          </p:cNvPr>
          <p:cNvSpPr>
            <a:spLocks noGrp="1"/>
          </p:cNvSpPr>
          <p:nvPr/>
        </p:nvSpPr>
        <p:spPr>
          <a:xfrm>
            <a:off x="7143750" y="2895600"/>
            <a:ext cx="31051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</p:sp>
      <p:sp>
        <p:nvSpPr>
          <p:cNvPr id="72" name="直線接點 71">
            <a:extLst>
              <a:ext uri="{FF2B5EF4-FFF2-40B4-BE49-F238E27FC236}">
                <a16:creationId xmlns:a16="http://schemas.microsoft.com/office/drawing/2014/main" id="{AF0EADE2-6C13-4D98-BF44-FC0C125E9D41}"/>
              </a:ext>
            </a:extLst>
          </p:cNvPr>
          <p:cNvSpPr>
            <a:spLocks noGrp="1"/>
          </p:cNvSpPr>
          <p:nvPr/>
        </p:nvSpPr>
        <p:spPr>
          <a:xfrm>
            <a:off x="7296150" y="3343275"/>
            <a:ext cx="2800350" cy="0"/>
          </a:xfrm>
          <a:prstGeom prst="line">
            <a:avLst/>
          </a:prstGeom>
          <a:noFill/>
          <a:ln w="11430">
            <a:solidFill>
              <a:srgbClr val="1F7B72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905FEDA-E727-482E-8FD7-31A1A0798393}"/>
              </a:ext>
            </a:extLst>
          </p:cNvPr>
          <p:cNvSpPr>
            <a:spLocks noGrp="1"/>
          </p:cNvSpPr>
          <p:nvPr/>
        </p:nvSpPr>
        <p:spPr>
          <a:xfrm>
            <a:off x="7315200" y="30099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DWR-ENABLED DIE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382A280E-764B-4F3C-AEEA-A19464A879F1}"/>
              </a:ext>
            </a:extLst>
          </p:cNvPr>
          <p:cNvSpPr>
            <a:spLocks noGrp="1"/>
          </p:cNvSpPr>
          <p:nvPr/>
        </p:nvSpPr>
        <p:spPr>
          <a:xfrm>
            <a:off x="7315200" y="3352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12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capture / drive</a:t>
            </a: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63461FCB-6BCF-4524-B22B-D3D49FD88BD1}"/>
              </a:ext>
            </a:extLst>
          </p:cNvPr>
          <p:cNvSpPr>
            <a:spLocks noGrp="1"/>
          </p:cNvSpPr>
          <p:nvPr/>
        </p:nvSpPr>
        <p:spPr>
          <a:xfrm>
            <a:off x="73247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AC81ADD9-22E4-479D-A9CF-A2AB20C6024E}"/>
              </a:ext>
            </a:extLst>
          </p:cNvPr>
          <p:cNvSpPr>
            <a:spLocks noGrp="1"/>
          </p:cNvSpPr>
          <p:nvPr/>
        </p:nvSpPr>
        <p:spPr>
          <a:xfrm>
            <a:off x="762317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247EBDCC-346D-437F-9E90-08E8B1C3CCE8}"/>
              </a:ext>
            </a:extLst>
          </p:cNvPr>
          <p:cNvSpPr>
            <a:spLocks noGrp="1"/>
          </p:cNvSpPr>
          <p:nvPr/>
        </p:nvSpPr>
        <p:spPr>
          <a:xfrm>
            <a:off x="79216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9B8E7193-1D11-4A86-81B8-904E6AA85F15}"/>
              </a:ext>
            </a:extLst>
          </p:cNvPr>
          <p:cNvSpPr>
            <a:spLocks noGrp="1"/>
          </p:cNvSpPr>
          <p:nvPr/>
        </p:nvSpPr>
        <p:spPr>
          <a:xfrm>
            <a:off x="822007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711AF124-ECCF-4D6A-8FB5-E1833AD6E562}"/>
              </a:ext>
            </a:extLst>
          </p:cNvPr>
          <p:cNvSpPr>
            <a:spLocks noGrp="1"/>
          </p:cNvSpPr>
          <p:nvPr/>
        </p:nvSpPr>
        <p:spPr>
          <a:xfrm>
            <a:off x="85185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6CC36942-1E79-4241-85DD-59711A741279}"/>
              </a:ext>
            </a:extLst>
          </p:cNvPr>
          <p:cNvSpPr>
            <a:spLocks noGrp="1"/>
          </p:cNvSpPr>
          <p:nvPr/>
        </p:nvSpPr>
        <p:spPr>
          <a:xfrm>
            <a:off x="881697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15A410D1-E4EB-45E9-A333-7D9654416F65}"/>
              </a:ext>
            </a:extLst>
          </p:cNvPr>
          <p:cNvSpPr>
            <a:spLocks noGrp="1"/>
          </p:cNvSpPr>
          <p:nvPr/>
        </p:nvSpPr>
        <p:spPr>
          <a:xfrm>
            <a:off x="91154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D648041C-49EF-40C8-ACFB-32304AE94EBC}"/>
              </a:ext>
            </a:extLst>
          </p:cNvPr>
          <p:cNvSpPr>
            <a:spLocks noGrp="1"/>
          </p:cNvSpPr>
          <p:nvPr/>
        </p:nvSpPr>
        <p:spPr>
          <a:xfrm>
            <a:off x="941387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84C93654-0D56-4656-8229-40518C1F4AA0}"/>
              </a:ext>
            </a:extLst>
          </p:cNvPr>
          <p:cNvSpPr>
            <a:spLocks noGrp="1"/>
          </p:cNvSpPr>
          <p:nvPr/>
        </p:nvSpPr>
        <p:spPr>
          <a:xfrm>
            <a:off x="971232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BE3D69E4-B994-4422-90AA-655E9AC28337}"/>
              </a:ext>
            </a:extLst>
          </p:cNvPr>
          <p:cNvSpPr>
            <a:spLocks noGrp="1"/>
          </p:cNvSpPr>
          <p:nvPr/>
        </p:nvSpPr>
        <p:spPr>
          <a:xfrm>
            <a:off x="10010775" y="3619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770AE7A-8EC3-4603-8223-885D18F2534E}"/>
              </a:ext>
            </a:extLst>
          </p:cNvPr>
          <p:cNvSpPr>
            <a:spLocks noGrp="1"/>
          </p:cNvSpPr>
          <p:nvPr/>
        </p:nvSpPr>
        <p:spPr>
          <a:xfrm>
            <a:off x="7048500" y="3733800"/>
            <a:ext cx="3105150" cy="685800"/>
          </a:xfrm>
          <a:prstGeom prst="rect">
            <a:avLst/>
          </a:prstGeom>
          <a:solidFill>
            <a:srgbClr val="D8E1E6"/>
          </a:solidFill>
          <a:ln w="0">
            <a:noFill/>
            <a:prstDash val="solid"/>
          </a:ln>
        </p:spPr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C7C6E077-6E05-47F4-B831-1A35CA2477F4}"/>
              </a:ext>
            </a:extLst>
          </p:cNvPr>
          <p:cNvSpPr>
            <a:spLocks noGrp="1"/>
          </p:cNvSpPr>
          <p:nvPr/>
        </p:nvSpPr>
        <p:spPr>
          <a:xfrm>
            <a:off x="6972300" y="3657600"/>
            <a:ext cx="310515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1430">
            <a:solidFill>
              <a:srgbClr val="0B6B9E"/>
            </a:solidFill>
            <a:prstDash val="solid"/>
          </a:ln>
        </p:spPr>
      </p:sp>
      <p:sp>
        <p:nvSpPr>
          <p:cNvPr id="87" name="直線接點 86">
            <a:extLst>
              <a:ext uri="{FF2B5EF4-FFF2-40B4-BE49-F238E27FC236}">
                <a16:creationId xmlns:a16="http://schemas.microsoft.com/office/drawing/2014/main" id="{0C15FE4B-BA17-4D01-B137-A6A682833D63}"/>
              </a:ext>
            </a:extLst>
          </p:cNvPr>
          <p:cNvSpPr>
            <a:spLocks noGrp="1"/>
          </p:cNvSpPr>
          <p:nvPr/>
        </p:nvSpPr>
        <p:spPr>
          <a:xfrm>
            <a:off x="7124700" y="4105275"/>
            <a:ext cx="2800350" cy="0"/>
          </a:xfrm>
          <a:prstGeom prst="line">
            <a:avLst/>
          </a:prstGeom>
          <a:noFill/>
          <a:ln w="11430">
            <a:solidFill>
              <a:srgbClr val="0B6B9E"/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D4D574A-6260-4D4E-9D83-2D87B25B828C}"/>
              </a:ext>
            </a:extLst>
          </p:cNvPr>
          <p:cNvSpPr>
            <a:spLocks noGrp="1"/>
          </p:cNvSpPr>
          <p:nvPr/>
        </p:nvSpPr>
        <p:spPr>
          <a:xfrm>
            <a:off x="7143750" y="37719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60"/>
          </a:bodyPr>
          <a:lstStyle/>
          <a:p>
            <a:pPr algn="l">
              <a:lnSpc>
                <a:spcPct val="102000"/>
              </a:lnSpc>
              <a:buNone/>
              <a:defRPr sz="17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BASE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658428F-742F-4C46-8D61-9BEB4A5E0217}"/>
              </a:ext>
            </a:extLst>
          </p:cNvPr>
          <p:cNvSpPr>
            <a:spLocks noGrp="1"/>
          </p:cNvSpPr>
          <p:nvPr/>
        </p:nvSpPr>
        <p:spPr>
          <a:xfrm>
            <a:off x="7143750" y="411480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12"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PTAP · stack access</a:t>
            </a: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CBF62384-C7B5-478B-9108-EF789CCAA340}"/>
              </a:ext>
            </a:extLst>
          </p:cNvPr>
          <p:cNvSpPr>
            <a:spLocks noGrp="1"/>
          </p:cNvSpPr>
          <p:nvPr/>
        </p:nvSpPr>
        <p:spPr>
          <a:xfrm>
            <a:off x="71532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1" name="橢圓 90">
            <a:extLst>
              <a:ext uri="{FF2B5EF4-FFF2-40B4-BE49-F238E27FC236}">
                <a16:creationId xmlns:a16="http://schemas.microsoft.com/office/drawing/2014/main" id="{90F30702-1C96-41EC-A716-A783DF1B9767}"/>
              </a:ext>
            </a:extLst>
          </p:cNvPr>
          <p:cNvSpPr>
            <a:spLocks noGrp="1"/>
          </p:cNvSpPr>
          <p:nvPr/>
        </p:nvSpPr>
        <p:spPr>
          <a:xfrm>
            <a:off x="745172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2" name="橢圓 91">
            <a:extLst>
              <a:ext uri="{FF2B5EF4-FFF2-40B4-BE49-F238E27FC236}">
                <a16:creationId xmlns:a16="http://schemas.microsoft.com/office/drawing/2014/main" id="{6AB38D66-798A-4C36-A333-AA2717B8A4EA}"/>
              </a:ext>
            </a:extLst>
          </p:cNvPr>
          <p:cNvSpPr>
            <a:spLocks noGrp="1"/>
          </p:cNvSpPr>
          <p:nvPr/>
        </p:nvSpPr>
        <p:spPr>
          <a:xfrm>
            <a:off x="77501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3" name="橢圓 92">
            <a:extLst>
              <a:ext uri="{FF2B5EF4-FFF2-40B4-BE49-F238E27FC236}">
                <a16:creationId xmlns:a16="http://schemas.microsoft.com/office/drawing/2014/main" id="{B0F50743-7D41-48CB-A03F-FF39486AFBF0}"/>
              </a:ext>
            </a:extLst>
          </p:cNvPr>
          <p:cNvSpPr>
            <a:spLocks noGrp="1"/>
          </p:cNvSpPr>
          <p:nvPr/>
        </p:nvSpPr>
        <p:spPr>
          <a:xfrm>
            <a:off x="804862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4" name="橢圓 93">
            <a:extLst>
              <a:ext uri="{FF2B5EF4-FFF2-40B4-BE49-F238E27FC236}">
                <a16:creationId xmlns:a16="http://schemas.microsoft.com/office/drawing/2014/main" id="{CE260E7E-6405-4A7B-A776-C47FDFC83CEA}"/>
              </a:ext>
            </a:extLst>
          </p:cNvPr>
          <p:cNvSpPr>
            <a:spLocks noGrp="1"/>
          </p:cNvSpPr>
          <p:nvPr/>
        </p:nvSpPr>
        <p:spPr>
          <a:xfrm>
            <a:off x="83470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5" name="橢圓 94">
            <a:extLst>
              <a:ext uri="{FF2B5EF4-FFF2-40B4-BE49-F238E27FC236}">
                <a16:creationId xmlns:a16="http://schemas.microsoft.com/office/drawing/2014/main" id="{81875B1E-96E1-43F2-A6C7-866421ADDD5E}"/>
              </a:ext>
            </a:extLst>
          </p:cNvPr>
          <p:cNvSpPr>
            <a:spLocks noGrp="1"/>
          </p:cNvSpPr>
          <p:nvPr/>
        </p:nvSpPr>
        <p:spPr>
          <a:xfrm>
            <a:off x="864552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6" name="橢圓 95">
            <a:extLst>
              <a:ext uri="{FF2B5EF4-FFF2-40B4-BE49-F238E27FC236}">
                <a16:creationId xmlns:a16="http://schemas.microsoft.com/office/drawing/2014/main" id="{FF1AE318-F44C-4C7C-881B-9248FF3E8B19}"/>
              </a:ext>
            </a:extLst>
          </p:cNvPr>
          <p:cNvSpPr>
            <a:spLocks noGrp="1"/>
          </p:cNvSpPr>
          <p:nvPr/>
        </p:nvSpPr>
        <p:spPr>
          <a:xfrm>
            <a:off x="89439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7" name="橢圓 96">
            <a:extLst>
              <a:ext uri="{FF2B5EF4-FFF2-40B4-BE49-F238E27FC236}">
                <a16:creationId xmlns:a16="http://schemas.microsoft.com/office/drawing/2014/main" id="{2CB58388-BC61-4B8D-B6F7-E6D72EAFB61C}"/>
              </a:ext>
            </a:extLst>
          </p:cNvPr>
          <p:cNvSpPr>
            <a:spLocks noGrp="1"/>
          </p:cNvSpPr>
          <p:nvPr/>
        </p:nvSpPr>
        <p:spPr>
          <a:xfrm>
            <a:off x="924242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8" name="橢圓 97">
            <a:extLst>
              <a:ext uri="{FF2B5EF4-FFF2-40B4-BE49-F238E27FC236}">
                <a16:creationId xmlns:a16="http://schemas.microsoft.com/office/drawing/2014/main" id="{826D759D-CDA6-43B2-BB83-C2ADED2D7FEB}"/>
              </a:ext>
            </a:extLst>
          </p:cNvPr>
          <p:cNvSpPr>
            <a:spLocks noGrp="1"/>
          </p:cNvSpPr>
          <p:nvPr/>
        </p:nvSpPr>
        <p:spPr>
          <a:xfrm>
            <a:off x="954087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99" name="橢圓 98">
            <a:extLst>
              <a:ext uri="{FF2B5EF4-FFF2-40B4-BE49-F238E27FC236}">
                <a16:creationId xmlns:a16="http://schemas.microsoft.com/office/drawing/2014/main" id="{72767354-D079-47B7-B621-E3AAC888AAEB}"/>
              </a:ext>
            </a:extLst>
          </p:cNvPr>
          <p:cNvSpPr>
            <a:spLocks noGrp="1"/>
          </p:cNvSpPr>
          <p:nvPr/>
        </p:nvSpPr>
        <p:spPr>
          <a:xfrm>
            <a:off x="9839325" y="4381500"/>
            <a:ext cx="57150" cy="57150"/>
          </a:xfrm>
          <a:prstGeom prst="ellipse">
            <a:avLst/>
          </a:prstGeom>
          <a:solidFill>
            <a:srgbClr val="89959D"/>
          </a:solidFill>
          <a:ln w="0">
            <a:noFill/>
            <a:prstDash val="solid"/>
          </a:ln>
        </p:spPr>
      </p:sp>
      <p:sp>
        <p:nvSpPr>
          <p:cNvPr id="100" name="直線接點 99">
            <a:extLst>
              <a:ext uri="{FF2B5EF4-FFF2-40B4-BE49-F238E27FC236}">
                <a16:creationId xmlns:a16="http://schemas.microsoft.com/office/drawing/2014/main" id="{5D2354D8-F884-448D-81FE-ADDCE556D701}"/>
              </a:ext>
            </a:extLst>
          </p:cNvPr>
          <p:cNvSpPr>
            <a:spLocks noGrp="1"/>
          </p:cNvSpPr>
          <p:nvPr/>
        </p:nvSpPr>
        <p:spPr>
          <a:xfrm>
            <a:off x="10620375" y="2324100"/>
            <a:ext cx="0" cy="1790700"/>
          </a:xfrm>
          <a:prstGeom prst="line">
            <a:avLst/>
          </a:prstGeom>
          <a:noFill/>
          <a:ln w="28575">
            <a:solidFill>
              <a:srgbClr val="D96B30"/>
            </a:solidFill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C8287FB-668D-4E3A-A47F-538858B8012A}"/>
              </a:ext>
            </a:extLst>
          </p:cNvPr>
          <p:cNvSpPr>
            <a:spLocks noGrp="1"/>
          </p:cNvSpPr>
          <p:nvPr/>
        </p:nvSpPr>
        <p:spPr>
          <a:xfrm>
            <a:off x="10725150" y="2714625"/>
            <a:ext cx="6477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D2D</a:t>
            </a:r>
          </a:p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LINKS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1A2004F9-E42F-47B6-931E-C2F752DF0C9F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10896600" cy="2857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BEEA58D1-69D4-4CBB-97DD-F8427B187481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904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534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PORTABILITY ACCEPTANCE MATRIX · VALUES BELOW ARE DEMONSTRATION TARGETS, NOT COMPLETED RESULTS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299C4CB6-D3D4-426C-B489-12ACD935CD9C}"/>
              </a:ext>
            </a:extLst>
          </p:cNvPr>
          <p:cNvSpPr>
            <a:spLocks noGrp="1"/>
          </p:cNvSpPr>
          <p:nvPr/>
        </p:nvSpPr>
        <p:spPr>
          <a:xfrm>
            <a:off x="609600" y="4667250"/>
            <a:ext cx="146685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5819A1B-39CC-4453-98FF-22EFB53DC724}"/>
              </a:ext>
            </a:extLst>
          </p:cNvPr>
          <p:cNvSpPr>
            <a:spLocks noGrp="1"/>
          </p:cNvSpPr>
          <p:nvPr/>
        </p:nvSpPr>
        <p:spPr>
          <a:xfrm>
            <a:off x="704850" y="4695825"/>
            <a:ext cx="1276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4C27C808-A9A4-47B6-9A5B-C54BE9BB9C6A}"/>
              </a:ext>
            </a:extLst>
          </p:cNvPr>
          <p:cNvSpPr>
            <a:spLocks noGrp="1"/>
          </p:cNvSpPr>
          <p:nvPr/>
        </p:nvSpPr>
        <p:spPr>
          <a:xfrm>
            <a:off x="2076450" y="4667250"/>
            <a:ext cx="234315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2C23F2AE-6696-4ED8-8289-67F27B250738}"/>
              </a:ext>
            </a:extLst>
          </p:cNvPr>
          <p:cNvSpPr>
            <a:spLocks noGrp="1"/>
          </p:cNvSpPr>
          <p:nvPr/>
        </p:nvSpPr>
        <p:spPr>
          <a:xfrm>
            <a:off x="2171700" y="46958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STACK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BEDAC9A4-3A33-46E6-972E-5B012E3E4E5D}"/>
              </a:ext>
            </a:extLst>
          </p:cNvPr>
          <p:cNvSpPr>
            <a:spLocks noGrp="1"/>
          </p:cNvSpPr>
          <p:nvPr/>
        </p:nvSpPr>
        <p:spPr>
          <a:xfrm>
            <a:off x="4419600" y="4667250"/>
            <a:ext cx="260985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077182B-7E84-433B-B338-64449AD7EDEA}"/>
              </a:ext>
            </a:extLst>
          </p:cNvPr>
          <p:cNvSpPr>
            <a:spLocks noGrp="1"/>
          </p:cNvSpPr>
          <p:nvPr/>
        </p:nvSpPr>
        <p:spPr>
          <a:xfrm>
            <a:off x="4514850" y="4695825"/>
            <a:ext cx="2419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COMPLEX TARGET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DDC41E62-3BD4-4AB3-8BCA-D76BAC0133BC}"/>
              </a:ext>
            </a:extLst>
          </p:cNvPr>
          <p:cNvSpPr>
            <a:spLocks noGrp="1"/>
          </p:cNvSpPr>
          <p:nvPr/>
        </p:nvSpPr>
        <p:spPr>
          <a:xfrm>
            <a:off x="7029450" y="4667250"/>
            <a:ext cx="234315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4DDC477-79FC-49B7-ABC6-74AA1ED5505B}"/>
              </a:ext>
            </a:extLst>
          </p:cNvPr>
          <p:cNvSpPr>
            <a:spLocks noGrp="1"/>
          </p:cNvSpPr>
          <p:nvPr/>
        </p:nvSpPr>
        <p:spPr>
          <a:xfrm>
            <a:off x="7124700" y="46958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DATA EDIT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13D612F0-E576-41F6-B961-3F4777C38FAF}"/>
              </a:ext>
            </a:extLst>
          </p:cNvPr>
          <p:cNvSpPr>
            <a:spLocks noGrp="1"/>
          </p:cNvSpPr>
          <p:nvPr/>
        </p:nvSpPr>
        <p:spPr>
          <a:xfrm>
            <a:off x="9372600" y="4667250"/>
            <a:ext cx="2133600" cy="2476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3891B5F7-8A9F-4DC0-8FD2-5954FBC5970B}"/>
              </a:ext>
            </a:extLst>
          </p:cNvPr>
          <p:cNvSpPr>
            <a:spLocks noGrp="1"/>
          </p:cNvSpPr>
          <p:nvPr/>
        </p:nvSpPr>
        <p:spPr>
          <a:xfrm>
            <a:off x="9467850" y="4695825"/>
            <a:ext cx="19431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PROCEDURE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A2D97912-ABB4-4DC5-B889-20E67CD94113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14668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08D08316-2C8D-47D1-B7E0-D73A1400176A}"/>
              </a:ext>
            </a:extLst>
          </p:cNvPr>
          <p:cNvSpPr>
            <a:spLocks noGrp="1"/>
          </p:cNvSpPr>
          <p:nvPr/>
        </p:nvSpPr>
        <p:spPr>
          <a:xfrm>
            <a:off x="704850" y="494347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roles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1E4F542-5C67-4F14-9972-6927CD75BFAA}"/>
              </a:ext>
            </a:extLst>
          </p:cNvPr>
          <p:cNvSpPr>
            <a:spLocks noGrp="1"/>
          </p:cNvSpPr>
          <p:nvPr/>
        </p:nvSpPr>
        <p:spPr>
          <a:xfrm>
            <a:off x="2076450" y="4914900"/>
            <a:ext cx="23431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A79AB0CB-6D7C-49E5-914A-F1C3156481E0}"/>
              </a:ext>
            </a:extLst>
          </p:cNvPr>
          <p:cNvSpPr>
            <a:spLocks noGrp="1"/>
          </p:cNvSpPr>
          <p:nvPr/>
        </p:nvSpPr>
        <p:spPr>
          <a:xfrm>
            <a:off x="2171700" y="494347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Base + 2 sensor endpoints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9794A714-7ACC-4FBC-ABC5-BF6857BD5954}"/>
              </a:ext>
            </a:extLst>
          </p:cNvPr>
          <p:cNvSpPr>
            <a:spLocks noGrp="1"/>
          </p:cNvSpPr>
          <p:nvPr/>
        </p:nvSpPr>
        <p:spPr>
          <a:xfrm>
            <a:off x="4419600" y="4914900"/>
            <a:ext cx="26098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51274A88-E4D8-4B81-BAA8-98EBB496C699}"/>
              </a:ext>
            </a:extLst>
          </p:cNvPr>
          <p:cNvSpPr>
            <a:spLocks noGrp="1"/>
          </p:cNvSpPr>
          <p:nvPr/>
        </p:nvSpPr>
        <p:spPr>
          <a:xfrm>
            <a:off x="4514850" y="4943475"/>
            <a:ext cx="2419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199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existing stack + new die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17DDD206-EAD1-4D07-9BA8-F6E4A6C722FB}"/>
              </a:ext>
            </a:extLst>
          </p:cNvPr>
          <p:cNvSpPr>
            <a:spLocks noGrp="1"/>
          </p:cNvSpPr>
          <p:nvPr/>
        </p:nvSpPr>
        <p:spPr>
          <a:xfrm>
            <a:off x="7029450" y="4914900"/>
            <a:ext cx="23431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159CAF31-73F5-42A7-BDB8-8216D6A648FD}"/>
              </a:ext>
            </a:extLst>
          </p:cNvPr>
          <p:cNvSpPr>
            <a:spLocks noGrp="1"/>
          </p:cNvSpPr>
          <p:nvPr/>
        </p:nvSpPr>
        <p:spPr>
          <a:xfrm>
            <a:off x="7124700" y="494347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dft_manifest.yaml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C9486FEC-AF13-442B-A551-6D9A46AF4BE6}"/>
              </a:ext>
            </a:extLst>
          </p:cNvPr>
          <p:cNvSpPr>
            <a:spLocks noGrp="1"/>
          </p:cNvSpPr>
          <p:nvPr/>
        </p:nvSpPr>
        <p:spPr>
          <a:xfrm>
            <a:off x="9372600" y="4914900"/>
            <a:ext cx="213360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EEAC474-6AF4-47C6-9B9A-1B95C86637FB}"/>
              </a:ext>
            </a:extLst>
          </p:cNvPr>
          <p:cNvSpPr>
            <a:spLocks noGrp="1"/>
          </p:cNvSpPr>
          <p:nvPr/>
        </p:nvSpPr>
        <p:spPr>
          <a:xfrm>
            <a:off x="9467850" y="4943475"/>
            <a:ext cx="1943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8ACDEE82-523A-4D8B-944D-E9F86B44432C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146685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EAF215A1-30CB-49E7-AF92-6CAA0C490253}"/>
              </a:ext>
            </a:extLst>
          </p:cNvPr>
          <p:cNvSpPr>
            <a:spLocks noGrp="1"/>
          </p:cNvSpPr>
          <p:nvPr/>
        </p:nvSpPr>
        <p:spPr>
          <a:xfrm>
            <a:off x="704850" y="515302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access</a:t>
            </a: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C8E74C78-8353-4039-A7DB-9EEE3B5257D5}"/>
              </a:ext>
            </a:extLst>
          </p:cNvPr>
          <p:cNvSpPr>
            <a:spLocks noGrp="1"/>
          </p:cNvSpPr>
          <p:nvPr/>
        </p:nvSpPr>
        <p:spPr>
          <a:xfrm>
            <a:off x="2076450" y="5124450"/>
            <a:ext cx="234315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7BB26AE4-82A6-4B22-8BC6-972733704EA1}"/>
              </a:ext>
            </a:extLst>
          </p:cNvPr>
          <p:cNvSpPr>
            <a:spLocks noGrp="1"/>
          </p:cNvSpPr>
          <p:nvPr/>
        </p:nvSpPr>
        <p:spPr>
          <a:xfrm>
            <a:off x="2171700" y="515302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3 local instruments</a:t>
            </a:r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9130241B-DFDA-41FB-B067-AD6CE91EE892}"/>
              </a:ext>
            </a:extLst>
          </p:cNvPr>
          <p:cNvSpPr>
            <a:spLocks noGrp="1"/>
          </p:cNvSpPr>
          <p:nvPr/>
        </p:nvSpPr>
        <p:spPr>
          <a:xfrm>
            <a:off x="4419600" y="5124450"/>
            <a:ext cx="260985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8678F80E-CE0C-46C7-9580-425F2ADE3B0C}"/>
              </a:ext>
            </a:extLst>
          </p:cNvPr>
          <p:cNvSpPr>
            <a:spLocks noGrp="1"/>
          </p:cNvSpPr>
          <p:nvPr/>
        </p:nvSpPr>
        <p:spPr>
          <a:xfrm>
            <a:off x="4514850" y="5153025"/>
            <a:ext cx="2419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199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local IJTAG + new-die ports</a:t>
            </a:r>
          </a:p>
        </p:txBody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B9BE35C5-9411-4727-8595-EBC1434FE8EE}"/>
              </a:ext>
            </a:extLst>
          </p:cNvPr>
          <p:cNvSpPr>
            <a:spLocks noGrp="1"/>
          </p:cNvSpPr>
          <p:nvPr/>
        </p:nvSpPr>
        <p:spPr>
          <a:xfrm>
            <a:off x="7029450" y="5124450"/>
            <a:ext cx="234315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366CBEE2-CA8C-4EE6-B10B-C454B406FA15}"/>
              </a:ext>
            </a:extLst>
          </p:cNvPr>
          <p:cNvSpPr>
            <a:spLocks noGrp="1"/>
          </p:cNvSpPr>
          <p:nvPr/>
        </p:nvSpPr>
        <p:spPr>
          <a:xfrm>
            <a:off x="7124700" y="515302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list</a:t>
            </a: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B47117EE-7B5D-4A5D-8981-E881A7D6ED5F}"/>
              </a:ext>
            </a:extLst>
          </p:cNvPr>
          <p:cNvSpPr>
            <a:spLocks noGrp="1"/>
          </p:cNvSpPr>
          <p:nvPr/>
        </p:nvSpPr>
        <p:spPr>
          <a:xfrm>
            <a:off x="9372600" y="5124450"/>
            <a:ext cx="213360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10FE994C-6DB6-4D19-81FD-2EC20207D55E}"/>
              </a:ext>
            </a:extLst>
          </p:cNvPr>
          <p:cNvSpPr>
            <a:spLocks noGrp="1"/>
          </p:cNvSpPr>
          <p:nvPr/>
        </p:nvSpPr>
        <p:spPr>
          <a:xfrm>
            <a:off x="9467850" y="5153025"/>
            <a:ext cx="1943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110C9909-602F-4F12-91BD-DAF79BD23616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14668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EA933399-EFDC-41F2-A1AB-59218558E44D}"/>
              </a:ext>
            </a:extLst>
          </p:cNvPr>
          <p:cNvSpPr>
            <a:spLocks noGrp="1"/>
          </p:cNvSpPr>
          <p:nvPr/>
        </p:nvSpPr>
        <p:spPr>
          <a:xfrm>
            <a:off x="704850" y="536257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Functional links</a:t>
            </a: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662EFE10-9333-4780-9BFE-B7DDB858FC93}"/>
              </a:ext>
            </a:extLst>
          </p:cNvPr>
          <p:cNvSpPr>
            <a:spLocks noGrp="1"/>
          </p:cNvSpPr>
          <p:nvPr/>
        </p:nvSpPr>
        <p:spPr>
          <a:xfrm>
            <a:off x="2076450" y="5334000"/>
            <a:ext cx="23431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C9CBF7D9-D929-4B3C-AB44-57E3EBC0C15C}"/>
              </a:ext>
            </a:extLst>
          </p:cNvPr>
          <p:cNvSpPr>
            <a:spLocks noGrp="1"/>
          </p:cNvSpPr>
          <p:nvPr/>
        </p:nvSpPr>
        <p:spPr>
          <a:xfrm>
            <a:off x="2171700" y="536257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none required</a:t>
            </a:r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411DFD59-0EEA-4ED6-944E-E91F397C3E24}"/>
              </a:ext>
            </a:extLst>
          </p:cNvPr>
          <p:cNvSpPr>
            <a:spLocks noGrp="1"/>
          </p:cNvSpPr>
          <p:nvPr/>
        </p:nvSpPr>
        <p:spPr>
          <a:xfrm>
            <a:off x="4419600" y="5334000"/>
            <a:ext cx="26098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9E8E365F-11DF-4C12-AE0F-8D12D7C4625B}"/>
              </a:ext>
            </a:extLst>
          </p:cNvPr>
          <p:cNvSpPr>
            <a:spLocks noGrp="1"/>
          </p:cNvSpPr>
          <p:nvPr/>
        </p:nvSpPr>
        <p:spPr>
          <a:xfrm>
            <a:off x="4514850" y="5362575"/>
            <a:ext cx="2419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199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actual team link inventory</a:t>
            </a:r>
          </a:p>
        </p:txBody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AF6A93B0-6C3E-4CCE-BA3E-6F85CB1A8169}"/>
              </a:ext>
            </a:extLst>
          </p:cNvPr>
          <p:cNvSpPr>
            <a:spLocks noGrp="1"/>
          </p:cNvSpPr>
          <p:nvPr/>
        </p:nvSpPr>
        <p:spPr>
          <a:xfrm>
            <a:off x="7029450" y="5334000"/>
            <a:ext cx="23431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C18F80D5-87F9-4CD2-B75A-48B7898ACCD4}"/>
              </a:ext>
            </a:extLst>
          </p:cNvPr>
          <p:cNvSpPr>
            <a:spLocks noGrp="1"/>
          </p:cNvSpPr>
          <p:nvPr/>
        </p:nvSpPr>
        <p:spPr>
          <a:xfrm>
            <a:off x="7124700" y="536257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dwr_ports.csv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8111737C-1361-459D-8DE6-F9393074C367}"/>
              </a:ext>
            </a:extLst>
          </p:cNvPr>
          <p:cNvSpPr>
            <a:spLocks noGrp="1"/>
          </p:cNvSpPr>
          <p:nvPr/>
        </p:nvSpPr>
        <p:spPr>
          <a:xfrm>
            <a:off x="9372600" y="5334000"/>
            <a:ext cx="213360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88EA245B-554D-41DB-AE83-994D8CF27F98}"/>
              </a:ext>
            </a:extLst>
          </p:cNvPr>
          <p:cNvSpPr>
            <a:spLocks noGrp="1"/>
          </p:cNvSpPr>
          <p:nvPr/>
        </p:nvSpPr>
        <p:spPr>
          <a:xfrm>
            <a:off x="9467850" y="5362575"/>
            <a:ext cx="1943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5852F357-E81C-4920-9D6A-CA985A350D91}"/>
              </a:ext>
            </a:extLst>
          </p:cNvPr>
          <p:cNvSpPr>
            <a:spLocks noGrp="1"/>
          </p:cNvSpPr>
          <p:nvPr/>
        </p:nvSpPr>
        <p:spPr>
          <a:xfrm>
            <a:off x="609600" y="5543550"/>
            <a:ext cx="146685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84393C32-D856-4634-BB01-A89224B9F3F0}"/>
              </a:ext>
            </a:extLst>
          </p:cNvPr>
          <p:cNvSpPr>
            <a:spLocks noGrp="1"/>
          </p:cNvSpPr>
          <p:nvPr/>
        </p:nvSpPr>
        <p:spPr>
          <a:xfrm>
            <a:off x="704850" y="557212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Required proof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D906C6FD-DCDE-49D3-AC4C-592632ECD51D}"/>
              </a:ext>
            </a:extLst>
          </p:cNvPr>
          <p:cNvSpPr>
            <a:spLocks noGrp="1"/>
          </p:cNvSpPr>
          <p:nvPr/>
        </p:nvSpPr>
        <p:spPr>
          <a:xfrm>
            <a:off x="2076450" y="5543550"/>
            <a:ext cx="234315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AD57F742-8248-4F2D-9463-F6E2EB72460A}"/>
              </a:ext>
            </a:extLst>
          </p:cNvPr>
          <p:cNvSpPr>
            <a:spLocks noGrp="1"/>
          </p:cNvSpPr>
          <p:nvPr/>
        </p:nvSpPr>
        <p:spPr>
          <a:xfrm>
            <a:off x="2171700" y="557212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PTAP → every local TDR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336E1DD8-EF18-4F49-9E96-772CE78FAB67}"/>
              </a:ext>
            </a:extLst>
          </p:cNvPr>
          <p:cNvSpPr>
            <a:spLocks noGrp="1"/>
          </p:cNvSpPr>
          <p:nvPr/>
        </p:nvSpPr>
        <p:spPr>
          <a:xfrm>
            <a:off x="4419600" y="5543550"/>
            <a:ext cx="260985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37BC74E0-B5F7-458D-82E5-42A54A8DF42D}"/>
              </a:ext>
            </a:extLst>
          </p:cNvPr>
          <p:cNvSpPr>
            <a:spLocks noGrp="1"/>
          </p:cNvSpPr>
          <p:nvPr/>
        </p:nvSpPr>
        <p:spPr>
          <a:xfrm>
            <a:off x="4514850" y="5572125"/>
            <a:ext cx="2419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PTAP access + every DWR link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361E727A-89EE-4ECB-B180-ADD9248CF6B2}"/>
              </a:ext>
            </a:extLst>
          </p:cNvPr>
          <p:cNvSpPr>
            <a:spLocks noGrp="1"/>
          </p:cNvSpPr>
          <p:nvPr/>
        </p:nvSpPr>
        <p:spPr>
          <a:xfrm>
            <a:off x="7029450" y="5543550"/>
            <a:ext cx="234315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37018F0C-919D-4483-9960-2454439F3AA1}"/>
              </a:ext>
            </a:extLst>
          </p:cNvPr>
          <p:cNvSpPr>
            <a:spLocks noGrp="1"/>
          </p:cNvSpPr>
          <p:nvPr/>
        </p:nvSpPr>
        <p:spPr>
          <a:xfrm>
            <a:off x="7124700" y="557212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expected-results file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DF43655A-0944-4631-B0E4-3307A1C38FAA}"/>
              </a:ext>
            </a:extLst>
          </p:cNvPr>
          <p:cNvSpPr>
            <a:spLocks noGrp="1"/>
          </p:cNvSpPr>
          <p:nvPr/>
        </p:nvSpPr>
        <p:spPr>
          <a:xfrm>
            <a:off x="9372600" y="5543550"/>
            <a:ext cx="2133600" cy="20955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95B3090C-A309-4448-ABAD-2D40A8ACA654}"/>
              </a:ext>
            </a:extLst>
          </p:cNvPr>
          <p:cNvSpPr>
            <a:spLocks noGrp="1"/>
          </p:cNvSpPr>
          <p:nvPr/>
        </p:nvSpPr>
        <p:spPr>
          <a:xfrm>
            <a:off x="9467850" y="5572125"/>
            <a:ext cx="1943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unchanged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0BE905E3-FBB6-4B64-8548-521B61286BC7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14668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FF5BC376-D9AD-4639-9073-3F63CFCFE862}"/>
              </a:ext>
            </a:extLst>
          </p:cNvPr>
          <p:cNvSpPr>
            <a:spLocks noGrp="1"/>
          </p:cNvSpPr>
          <p:nvPr/>
        </p:nvSpPr>
        <p:spPr>
          <a:xfrm>
            <a:off x="704850" y="5781675"/>
            <a:ext cx="1276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Sign-off KPI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422AFB37-FB06-474B-AD66-8CEB4A129A22}"/>
              </a:ext>
            </a:extLst>
          </p:cNvPr>
          <p:cNvSpPr>
            <a:spLocks noGrp="1"/>
          </p:cNvSpPr>
          <p:nvPr/>
        </p:nvSpPr>
        <p:spPr>
          <a:xfrm>
            <a:off x="2076450" y="5753100"/>
            <a:ext cx="23431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9735A0F1-7B35-4FE6-87B5-58098DD6E35A}"/>
              </a:ext>
            </a:extLst>
          </p:cNvPr>
          <p:cNvSpPr>
            <a:spLocks noGrp="1"/>
          </p:cNvSpPr>
          <p:nvPr/>
        </p:nvSpPr>
        <p:spPr>
          <a:xfrm>
            <a:off x="2171700" y="578167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100% reachable; 0 mismatch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8E5AD237-358F-4B4C-A933-69FABD394663}"/>
              </a:ext>
            </a:extLst>
          </p:cNvPr>
          <p:cNvSpPr>
            <a:spLocks noGrp="1"/>
          </p:cNvSpPr>
          <p:nvPr/>
        </p:nvSpPr>
        <p:spPr>
          <a:xfrm>
            <a:off x="4419600" y="5753100"/>
            <a:ext cx="26098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76A2D00A-E064-4DA0-AFB0-C517B48176DF}"/>
              </a:ext>
            </a:extLst>
          </p:cNvPr>
          <p:cNvSpPr>
            <a:spLocks noGrp="1"/>
          </p:cNvSpPr>
          <p:nvPr/>
        </p:nvSpPr>
        <p:spPr>
          <a:xfrm>
            <a:off x="4514850" y="5781675"/>
            <a:ext cx="24193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100% reachable; all links pass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D3141FE-5FBE-49EE-8CA8-51CE951B9190}"/>
              </a:ext>
            </a:extLst>
          </p:cNvPr>
          <p:cNvSpPr>
            <a:spLocks noGrp="1"/>
          </p:cNvSpPr>
          <p:nvPr/>
        </p:nvSpPr>
        <p:spPr>
          <a:xfrm>
            <a:off x="7029450" y="5753100"/>
            <a:ext cx="234315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BD589C80-5247-4109-85F4-D1EBDE3AEDF8}"/>
              </a:ext>
            </a:extLst>
          </p:cNvPr>
          <p:cNvSpPr>
            <a:spLocks noGrp="1"/>
          </p:cNvSpPr>
          <p:nvPr/>
        </p:nvSpPr>
        <p:spPr>
          <a:xfrm>
            <a:off x="7124700" y="5781675"/>
            <a:ext cx="2152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generated reports</a:t>
            </a: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5923021E-E070-49B2-9758-6F852AB1C431}"/>
              </a:ext>
            </a:extLst>
          </p:cNvPr>
          <p:cNvSpPr>
            <a:spLocks noGrp="1"/>
          </p:cNvSpPr>
          <p:nvPr/>
        </p:nvSpPr>
        <p:spPr>
          <a:xfrm>
            <a:off x="9372600" y="5753100"/>
            <a:ext cx="2133600" cy="20955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601F23EB-551A-4545-AC47-FF0B0C44774B}"/>
              </a:ext>
            </a:extLst>
          </p:cNvPr>
          <p:cNvSpPr>
            <a:spLocks noGrp="1"/>
          </p:cNvSpPr>
          <p:nvPr/>
        </p:nvSpPr>
        <p:spPr>
          <a:xfrm>
            <a:off x="9467850" y="5781675"/>
            <a:ext cx="19431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0 Tcl rewrites</a:t>
            </a:r>
          </a:p>
        </p:txBody>
      </p:sp>
      <p:sp>
        <p:nvSpPr>
          <p:cNvPr id="164" name="直線接點 163">
            <a:extLst>
              <a:ext uri="{FF2B5EF4-FFF2-40B4-BE49-F238E27FC236}">
                <a16:creationId xmlns:a16="http://schemas.microsoft.com/office/drawing/2014/main" id="{CDD49C14-C8C6-4A96-BC92-83B0EF80FAC9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D96B30"/>
            </a:solidFill>
            <a:prstDash val="solid"/>
          </a:ln>
        </p:spPr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C4F5A9B2-82CF-4FB1-9E1D-4B6E8276A3F6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Success means the second design requires new design data, not a rewritten Tessent flow.</a:t>
            </a:r>
          </a:p>
        </p:txBody>
      </p:sp>
      <p:sp>
        <p:nvSpPr>
          <p:cNvPr id="166" name="直線接點 165">
            <a:extLst>
              <a:ext uri="{FF2B5EF4-FFF2-40B4-BE49-F238E27FC236}">
                <a16:creationId xmlns:a16="http://schemas.microsoft.com/office/drawing/2014/main" id="{85058F3D-547C-4752-B0B2-B8149C9A016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C4A736A1-30C6-4243-B645-766C59030180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888406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 75">
            <a:extLst>
              <a:ext uri="{FF2B5EF4-FFF2-40B4-BE49-F238E27FC236}">
                <a16:creationId xmlns:a16="http://schemas.microsoft.com/office/drawing/2014/main" id="{9B4378CA-0E7F-4BF1-822E-E6B0E1FE15AB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MANIFEST CONTRACT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7EAFED-238C-40A3-80C2-DB1DFF7AA701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slide-12-title">
            <a:extLst>
              <a:ext uri="{FF2B5EF4-FFF2-40B4-BE49-F238E27FC236}">
                <a16:creationId xmlns:a16="http://schemas.microsoft.com/office/drawing/2014/main" id="{8D251B8A-8E68-418C-96C3-07892DD3BF62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8058" lnSpcReduction="2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A manifest separates design intent from reusable DFT implementation.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530B049-236C-448E-89BA-B4836DF4F64E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AA90BE-70F3-4ADC-85FA-EF839B129AA3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DESIGNER WORKSPACE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2E6CF65-8757-44FE-81FC-D0C2EB777FE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2857500" cy="3638550"/>
          </a:xfrm>
          <a:prstGeom prst="roundRect">
            <a:avLst>
              <a:gd name="adj" fmla="val 2667"/>
            </a:avLst>
          </a:prstGeom>
          <a:solidFill>
            <a:srgbClr val="20313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905D174-2E14-4961-9E0C-13CAC2A3C4D5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514600" cy="3352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project/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rtl/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base_top.sv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blocks/*.sv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filelist.f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libraries.tcl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dft_manifest.yaml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instruments.yaml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stack_connections.csv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dwr_ports.csv</a:t>
            </a:r>
          </a:p>
          <a:p>
            <a:pPr algn="l">
              <a:lnSpc>
                <a:spcPct val="105000"/>
              </a:lnSpc>
              <a:buNone/>
              <a:defRPr sz="1275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└─ expected_results.yaml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53D04CA-ED5C-4822-B3A3-9C75BB9C54CA}"/>
              </a:ext>
            </a:extLst>
          </p:cNvPr>
          <p:cNvSpPr>
            <a:spLocks noGrp="1"/>
          </p:cNvSpPr>
          <p:nvPr/>
        </p:nvSpPr>
        <p:spPr>
          <a:xfrm>
            <a:off x="3771900" y="157162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EXAMPLE MANIFEST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AA781B8-1CA5-4430-8960-7A242E75534B}"/>
              </a:ext>
            </a:extLst>
          </p:cNvPr>
          <p:cNvSpPr>
            <a:spLocks noGrp="1"/>
          </p:cNvSpPr>
          <p:nvPr/>
        </p:nvSpPr>
        <p:spPr>
          <a:xfrm>
            <a:off x="3771900" y="1857375"/>
            <a:ext cx="3714750" cy="3638550"/>
          </a:xfrm>
          <a:prstGeom prst="roundRect">
            <a:avLst>
              <a:gd name="adj" fmla="val 2094"/>
            </a:avLst>
          </a:prstGeom>
          <a:solidFill>
            <a:srgbClr val="173A59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1EF9DF-9C1F-4B4C-9AA3-7186BA0F25CD}"/>
              </a:ext>
            </a:extLst>
          </p:cNvPr>
          <p:cNvSpPr>
            <a:spLocks noGrp="1"/>
          </p:cNvSpPr>
          <p:nvPr/>
        </p:nvSpPr>
        <p:spPr>
          <a:xfrm>
            <a:off x="3943350" y="2000250"/>
            <a:ext cx="3371850" cy="3352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project: sensor_stack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top: middle_die_top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die_role: middle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clock: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port: tck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edge: rising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reset: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port: trst_n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active: low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ijtag: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host: main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instruments: instruments.yaml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stack: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downstream: top_die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dwr: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  inventory: dwr_ports.csv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A6EFEC-E7B9-44B9-A653-522E7E657F2C}"/>
              </a:ext>
            </a:extLst>
          </p:cNvPr>
          <p:cNvSpPr>
            <a:spLocks noGrp="1"/>
          </p:cNvSpPr>
          <p:nvPr/>
        </p:nvSpPr>
        <p:spPr>
          <a:xfrm>
            <a:off x="7791450" y="1571625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FIELD OWNERSHIP AND VALIDATION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6BCA4F-9A2D-419D-94CD-D62DCD0132C0}"/>
              </a:ext>
            </a:extLst>
          </p:cNvPr>
          <p:cNvSpPr>
            <a:spLocks noGrp="1"/>
          </p:cNvSpPr>
          <p:nvPr/>
        </p:nvSpPr>
        <p:spPr>
          <a:xfrm>
            <a:off x="7791450" y="1857375"/>
            <a:ext cx="123825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66B29-16DE-469D-BC61-168FC9590741}"/>
              </a:ext>
            </a:extLst>
          </p:cNvPr>
          <p:cNvSpPr>
            <a:spLocks noGrp="1"/>
          </p:cNvSpPr>
          <p:nvPr/>
        </p:nvSpPr>
        <p:spPr>
          <a:xfrm>
            <a:off x="7886700" y="188595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BB6D80-7C17-4B6A-94DE-44D1909B0D4F}"/>
              </a:ext>
            </a:extLst>
          </p:cNvPr>
          <p:cNvSpPr>
            <a:spLocks noGrp="1"/>
          </p:cNvSpPr>
          <p:nvPr/>
        </p:nvSpPr>
        <p:spPr>
          <a:xfrm>
            <a:off x="9029700" y="1857375"/>
            <a:ext cx="120015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C54705-7FBF-4FAA-80C9-3DD099D17D80}"/>
              </a:ext>
            </a:extLst>
          </p:cNvPr>
          <p:cNvSpPr>
            <a:spLocks noGrp="1"/>
          </p:cNvSpPr>
          <p:nvPr/>
        </p:nvSpPr>
        <p:spPr>
          <a:xfrm>
            <a:off x="9124950" y="1885950"/>
            <a:ext cx="1009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5B7D39-8D9B-4ABD-B158-5C3C28AAB3B1}"/>
              </a:ext>
            </a:extLst>
          </p:cNvPr>
          <p:cNvSpPr>
            <a:spLocks noGrp="1"/>
          </p:cNvSpPr>
          <p:nvPr/>
        </p:nvSpPr>
        <p:spPr>
          <a:xfrm>
            <a:off x="10229850" y="1857375"/>
            <a:ext cx="127635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244416-8089-41B8-8086-D45362C46647}"/>
              </a:ext>
            </a:extLst>
          </p:cNvPr>
          <p:cNvSpPr>
            <a:spLocks noGrp="1"/>
          </p:cNvSpPr>
          <p:nvPr/>
        </p:nvSpPr>
        <p:spPr>
          <a:xfrm>
            <a:off x="10325100" y="1885950"/>
            <a:ext cx="108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REJECT WHEN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162131-6D6F-440B-BD1B-B41C62198847}"/>
              </a:ext>
            </a:extLst>
          </p:cNvPr>
          <p:cNvSpPr>
            <a:spLocks noGrp="1"/>
          </p:cNvSpPr>
          <p:nvPr/>
        </p:nvSpPr>
        <p:spPr>
          <a:xfrm>
            <a:off x="7791450" y="2181225"/>
            <a:ext cx="12382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6973DC-BC5B-4712-B087-8D068A467C31}"/>
              </a:ext>
            </a:extLst>
          </p:cNvPr>
          <p:cNvSpPr>
            <a:spLocks noGrp="1"/>
          </p:cNvSpPr>
          <p:nvPr/>
        </p:nvSpPr>
        <p:spPr>
          <a:xfrm>
            <a:off x="7886700" y="2209800"/>
            <a:ext cx="104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top / filelist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4892D9-BAC2-43F5-805B-A848E4952407}"/>
              </a:ext>
            </a:extLst>
          </p:cNvPr>
          <p:cNvSpPr>
            <a:spLocks noGrp="1"/>
          </p:cNvSpPr>
          <p:nvPr/>
        </p:nvSpPr>
        <p:spPr>
          <a:xfrm>
            <a:off x="9029700" y="2181225"/>
            <a:ext cx="12001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4E25E3-E46F-486B-9152-2D2DBFE17120}"/>
              </a:ext>
            </a:extLst>
          </p:cNvPr>
          <p:cNvSpPr>
            <a:spLocks noGrp="1"/>
          </p:cNvSpPr>
          <p:nvPr/>
        </p:nvSpPr>
        <p:spPr>
          <a:xfrm>
            <a:off x="9124950" y="2209800"/>
            <a:ext cx="100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reader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F39959-CA44-40ED-AF9E-BBD0DB143E58}"/>
              </a:ext>
            </a:extLst>
          </p:cNvPr>
          <p:cNvSpPr>
            <a:spLocks noGrp="1"/>
          </p:cNvSpPr>
          <p:nvPr/>
        </p:nvSpPr>
        <p:spPr>
          <a:xfrm>
            <a:off x="10229850" y="2181225"/>
            <a:ext cx="12763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378147-7E63-4521-AEAE-7FA6A27BFA04}"/>
              </a:ext>
            </a:extLst>
          </p:cNvPr>
          <p:cNvSpPr>
            <a:spLocks noGrp="1"/>
          </p:cNvSpPr>
          <p:nvPr/>
        </p:nvSpPr>
        <p:spPr>
          <a:xfrm>
            <a:off x="10325100" y="2209800"/>
            <a:ext cx="1085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unresolved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D5262F-AC95-49EB-AA46-A44855AB4173}"/>
              </a:ext>
            </a:extLst>
          </p:cNvPr>
          <p:cNvSpPr>
            <a:spLocks noGrp="1"/>
          </p:cNvSpPr>
          <p:nvPr/>
        </p:nvSpPr>
        <p:spPr>
          <a:xfrm>
            <a:off x="7791450" y="2590800"/>
            <a:ext cx="12382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6AD754-E655-472F-A30A-400496557776}"/>
              </a:ext>
            </a:extLst>
          </p:cNvPr>
          <p:cNvSpPr>
            <a:spLocks noGrp="1"/>
          </p:cNvSpPr>
          <p:nvPr/>
        </p:nvSpPr>
        <p:spPr>
          <a:xfrm>
            <a:off x="7886700" y="2619375"/>
            <a:ext cx="104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die_role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9CB309-7E4C-4467-8509-26D1338762A6}"/>
              </a:ext>
            </a:extLst>
          </p:cNvPr>
          <p:cNvSpPr>
            <a:spLocks noGrp="1"/>
          </p:cNvSpPr>
          <p:nvPr/>
        </p:nvSpPr>
        <p:spPr>
          <a:xfrm>
            <a:off x="9029700" y="2590800"/>
            <a:ext cx="12001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8A37763-8D77-47CC-ABA7-AD1111C4D21B}"/>
              </a:ext>
            </a:extLst>
          </p:cNvPr>
          <p:cNvSpPr>
            <a:spLocks noGrp="1"/>
          </p:cNvSpPr>
          <p:nvPr/>
        </p:nvSpPr>
        <p:spPr>
          <a:xfrm>
            <a:off x="9124950" y="2619375"/>
            <a:ext cx="100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resolver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15FEB9-17AA-442C-AE3C-1F0DD9D87614}"/>
              </a:ext>
            </a:extLst>
          </p:cNvPr>
          <p:cNvSpPr>
            <a:spLocks noGrp="1"/>
          </p:cNvSpPr>
          <p:nvPr/>
        </p:nvSpPr>
        <p:spPr>
          <a:xfrm>
            <a:off x="10229850" y="2590800"/>
            <a:ext cx="12763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82295A-0911-451F-BF36-C9B1831A3560}"/>
              </a:ext>
            </a:extLst>
          </p:cNvPr>
          <p:cNvSpPr>
            <a:spLocks noGrp="1"/>
          </p:cNvSpPr>
          <p:nvPr/>
        </p:nvSpPr>
        <p:spPr>
          <a:xfrm>
            <a:off x="10325100" y="2619375"/>
            <a:ext cx="1085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illegal role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F2589C-8CF7-4062-A4C7-C0D5ABB4D08E}"/>
              </a:ext>
            </a:extLst>
          </p:cNvPr>
          <p:cNvSpPr>
            <a:spLocks noGrp="1"/>
          </p:cNvSpPr>
          <p:nvPr/>
        </p:nvSpPr>
        <p:spPr>
          <a:xfrm>
            <a:off x="7791450" y="3000375"/>
            <a:ext cx="12382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4F3E282-8222-49BB-996F-5A9D88D57B8C}"/>
              </a:ext>
            </a:extLst>
          </p:cNvPr>
          <p:cNvSpPr>
            <a:spLocks noGrp="1"/>
          </p:cNvSpPr>
          <p:nvPr/>
        </p:nvSpPr>
        <p:spPr>
          <a:xfrm>
            <a:off x="7886700" y="3028950"/>
            <a:ext cx="104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clock / reset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300A85-34DB-4AB8-B12B-7F39BA75C8FB}"/>
              </a:ext>
            </a:extLst>
          </p:cNvPr>
          <p:cNvSpPr>
            <a:spLocks noGrp="1"/>
          </p:cNvSpPr>
          <p:nvPr/>
        </p:nvSpPr>
        <p:spPr>
          <a:xfrm>
            <a:off x="9029700" y="3000375"/>
            <a:ext cx="12001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7CC53B-F239-4F9D-BB90-47790BEE3136}"/>
              </a:ext>
            </a:extLst>
          </p:cNvPr>
          <p:cNvSpPr>
            <a:spLocks noGrp="1"/>
          </p:cNvSpPr>
          <p:nvPr/>
        </p:nvSpPr>
        <p:spPr>
          <a:xfrm>
            <a:off x="9124950" y="3028950"/>
            <a:ext cx="100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config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2630905-3CB2-496C-8168-5B10F7243513}"/>
              </a:ext>
            </a:extLst>
          </p:cNvPr>
          <p:cNvSpPr>
            <a:spLocks noGrp="1"/>
          </p:cNvSpPr>
          <p:nvPr/>
        </p:nvSpPr>
        <p:spPr>
          <a:xfrm>
            <a:off x="10229850" y="3000375"/>
            <a:ext cx="12763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889C29E-A54A-4B58-AFC9-DF5CE8017894}"/>
              </a:ext>
            </a:extLst>
          </p:cNvPr>
          <p:cNvSpPr>
            <a:spLocks noGrp="1"/>
          </p:cNvSpPr>
          <p:nvPr/>
        </p:nvSpPr>
        <p:spPr>
          <a:xfrm>
            <a:off x="10325100" y="3028950"/>
            <a:ext cx="1085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missing port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33A7E6-3996-4FAF-8CD7-666C4EF3F615}"/>
              </a:ext>
            </a:extLst>
          </p:cNvPr>
          <p:cNvSpPr>
            <a:spLocks noGrp="1"/>
          </p:cNvSpPr>
          <p:nvPr/>
        </p:nvSpPr>
        <p:spPr>
          <a:xfrm>
            <a:off x="7791450" y="3409950"/>
            <a:ext cx="12382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70DE08A-1152-4EFE-B21B-46BE616B25F4}"/>
              </a:ext>
            </a:extLst>
          </p:cNvPr>
          <p:cNvSpPr>
            <a:spLocks noGrp="1"/>
          </p:cNvSpPr>
          <p:nvPr/>
        </p:nvSpPr>
        <p:spPr>
          <a:xfrm>
            <a:off x="7886700" y="3438525"/>
            <a:ext cx="104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ijtag.host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F85AEC-C716-4C9D-8A00-1F878665D085}"/>
              </a:ext>
            </a:extLst>
          </p:cNvPr>
          <p:cNvSpPr>
            <a:spLocks noGrp="1"/>
          </p:cNvSpPr>
          <p:nvPr/>
        </p:nvSpPr>
        <p:spPr>
          <a:xfrm>
            <a:off x="9029700" y="3409950"/>
            <a:ext cx="12001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642EDE-9C94-4BF1-BECA-8CB5124CF143}"/>
              </a:ext>
            </a:extLst>
          </p:cNvPr>
          <p:cNvSpPr>
            <a:spLocks noGrp="1"/>
          </p:cNvSpPr>
          <p:nvPr/>
        </p:nvSpPr>
        <p:spPr>
          <a:xfrm>
            <a:off x="9124950" y="3438525"/>
            <a:ext cx="100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 builder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5C2C5D3-856F-4785-BEF1-68D02220470A}"/>
              </a:ext>
            </a:extLst>
          </p:cNvPr>
          <p:cNvSpPr>
            <a:spLocks noGrp="1"/>
          </p:cNvSpPr>
          <p:nvPr/>
        </p:nvSpPr>
        <p:spPr>
          <a:xfrm>
            <a:off x="10229850" y="3409950"/>
            <a:ext cx="12763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EABE1C8-33AA-4FC4-8088-9CC6B8642D9E}"/>
              </a:ext>
            </a:extLst>
          </p:cNvPr>
          <p:cNvSpPr>
            <a:spLocks noGrp="1"/>
          </p:cNvSpPr>
          <p:nvPr/>
        </p:nvSpPr>
        <p:spPr>
          <a:xfrm>
            <a:off x="10325100" y="3438525"/>
            <a:ext cx="1085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conflict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518134F-2206-4B09-9C2D-EFF890F674AE}"/>
              </a:ext>
            </a:extLst>
          </p:cNvPr>
          <p:cNvSpPr>
            <a:spLocks noGrp="1"/>
          </p:cNvSpPr>
          <p:nvPr/>
        </p:nvSpPr>
        <p:spPr>
          <a:xfrm>
            <a:off x="7791450" y="3819525"/>
            <a:ext cx="12382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B0C0FB8-3703-48E3-8E26-A753FCB7DBDB}"/>
              </a:ext>
            </a:extLst>
          </p:cNvPr>
          <p:cNvSpPr>
            <a:spLocks noGrp="1"/>
          </p:cNvSpPr>
          <p:nvPr/>
        </p:nvSpPr>
        <p:spPr>
          <a:xfrm>
            <a:off x="7886700" y="3848100"/>
            <a:ext cx="104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instruments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530B345-A0CB-49DC-89BB-0FB4BC684D89}"/>
              </a:ext>
            </a:extLst>
          </p:cNvPr>
          <p:cNvSpPr>
            <a:spLocks noGrp="1"/>
          </p:cNvSpPr>
          <p:nvPr/>
        </p:nvSpPr>
        <p:spPr>
          <a:xfrm>
            <a:off x="9029700" y="3819525"/>
            <a:ext cx="12001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93CA2B5-DDD6-4EEE-B933-2B5848B6C717}"/>
              </a:ext>
            </a:extLst>
          </p:cNvPr>
          <p:cNvSpPr>
            <a:spLocks noGrp="1"/>
          </p:cNvSpPr>
          <p:nvPr/>
        </p:nvSpPr>
        <p:spPr>
          <a:xfrm>
            <a:off x="9124950" y="3848100"/>
            <a:ext cx="100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TDR / SIB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37B2AB6-97F9-412D-98A6-2A894B1EC963}"/>
              </a:ext>
            </a:extLst>
          </p:cNvPr>
          <p:cNvSpPr>
            <a:spLocks noGrp="1"/>
          </p:cNvSpPr>
          <p:nvPr/>
        </p:nvSpPr>
        <p:spPr>
          <a:xfrm>
            <a:off x="10229850" y="3819525"/>
            <a:ext cx="12763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4B17A46-AC7A-4C96-A9A6-1AB569B370DF}"/>
              </a:ext>
            </a:extLst>
          </p:cNvPr>
          <p:cNvSpPr>
            <a:spLocks noGrp="1"/>
          </p:cNvSpPr>
          <p:nvPr/>
        </p:nvSpPr>
        <p:spPr>
          <a:xfrm>
            <a:off x="10325100" y="3848100"/>
            <a:ext cx="1085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bad width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4BC8C25-FDBA-4165-A363-86C667A2B8E6}"/>
              </a:ext>
            </a:extLst>
          </p:cNvPr>
          <p:cNvSpPr>
            <a:spLocks noGrp="1"/>
          </p:cNvSpPr>
          <p:nvPr/>
        </p:nvSpPr>
        <p:spPr>
          <a:xfrm>
            <a:off x="7791450" y="4229100"/>
            <a:ext cx="12382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8C8F77B-286C-48A8-8EFD-BC54C33AD80C}"/>
              </a:ext>
            </a:extLst>
          </p:cNvPr>
          <p:cNvSpPr>
            <a:spLocks noGrp="1"/>
          </p:cNvSpPr>
          <p:nvPr/>
        </p:nvSpPr>
        <p:spPr>
          <a:xfrm>
            <a:off x="7886700" y="4257675"/>
            <a:ext cx="104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stack link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CAD40A4-F06B-46A6-ACC4-616F0E683B14}"/>
              </a:ext>
            </a:extLst>
          </p:cNvPr>
          <p:cNvSpPr>
            <a:spLocks noGrp="1"/>
          </p:cNvSpPr>
          <p:nvPr/>
        </p:nvSpPr>
        <p:spPr>
          <a:xfrm>
            <a:off x="9029700" y="4229100"/>
            <a:ext cx="12001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7A84345-AD7F-42B0-BDD8-22227FFB73B7}"/>
              </a:ext>
            </a:extLst>
          </p:cNvPr>
          <p:cNvSpPr>
            <a:spLocks noGrp="1"/>
          </p:cNvSpPr>
          <p:nvPr/>
        </p:nvSpPr>
        <p:spPr>
          <a:xfrm>
            <a:off x="9124950" y="4257675"/>
            <a:ext cx="100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composer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346C968-E3C1-4472-8660-8DC09B1FD01E}"/>
              </a:ext>
            </a:extLst>
          </p:cNvPr>
          <p:cNvSpPr>
            <a:spLocks noGrp="1"/>
          </p:cNvSpPr>
          <p:nvPr/>
        </p:nvSpPr>
        <p:spPr>
          <a:xfrm>
            <a:off x="10229850" y="4229100"/>
            <a:ext cx="12763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6CF7C1C-186C-4F9F-A0B3-4DCD2B9C22C9}"/>
              </a:ext>
            </a:extLst>
          </p:cNvPr>
          <p:cNvSpPr>
            <a:spLocks noGrp="1"/>
          </p:cNvSpPr>
          <p:nvPr/>
        </p:nvSpPr>
        <p:spPr>
          <a:xfrm>
            <a:off x="10325100" y="4257675"/>
            <a:ext cx="1085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unmapped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05230D6-E94B-4621-A87E-0E7CF3768714}"/>
              </a:ext>
            </a:extLst>
          </p:cNvPr>
          <p:cNvSpPr>
            <a:spLocks noGrp="1"/>
          </p:cNvSpPr>
          <p:nvPr/>
        </p:nvSpPr>
        <p:spPr>
          <a:xfrm>
            <a:off x="7791450" y="4638675"/>
            <a:ext cx="12382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E92A14E-CF98-4254-A4D1-B69112FC4871}"/>
              </a:ext>
            </a:extLst>
          </p:cNvPr>
          <p:cNvSpPr>
            <a:spLocks noGrp="1"/>
          </p:cNvSpPr>
          <p:nvPr/>
        </p:nvSpPr>
        <p:spPr>
          <a:xfrm>
            <a:off x="7886700" y="4667250"/>
            <a:ext cx="104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dwr.inventory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5E7D744-B8A6-43FF-AB99-82144D5539CB}"/>
              </a:ext>
            </a:extLst>
          </p:cNvPr>
          <p:cNvSpPr>
            <a:spLocks noGrp="1"/>
          </p:cNvSpPr>
          <p:nvPr/>
        </p:nvSpPr>
        <p:spPr>
          <a:xfrm>
            <a:off x="9029700" y="4638675"/>
            <a:ext cx="12001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48E5552-725D-45FA-BF42-1319A55FF275}"/>
              </a:ext>
            </a:extLst>
          </p:cNvPr>
          <p:cNvSpPr>
            <a:spLocks noGrp="1"/>
          </p:cNvSpPr>
          <p:nvPr/>
        </p:nvSpPr>
        <p:spPr>
          <a:xfrm>
            <a:off x="9124950" y="4667250"/>
            <a:ext cx="100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65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planned DWR stage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1EDA0B3-401C-420E-838E-9821E711C9BE}"/>
              </a:ext>
            </a:extLst>
          </p:cNvPr>
          <p:cNvSpPr>
            <a:spLocks noGrp="1"/>
          </p:cNvSpPr>
          <p:nvPr/>
        </p:nvSpPr>
        <p:spPr>
          <a:xfrm>
            <a:off x="10229850" y="4638675"/>
            <a:ext cx="12763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652EE18-9C7A-421C-AF34-D4ADA2094F75}"/>
              </a:ext>
            </a:extLst>
          </p:cNvPr>
          <p:cNvSpPr>
            <a:spLocks noGrp="1"/>
          </p:cNvSpPr>
          <p:nvPr/>
        </p:nvSpPr>
        <p:spPr>
          <a:xfrm>
            <a:off x="10325100" y="4667250"/>
            <a:ext cx="1085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65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not enabled / dir-width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66E0C7D-105A-4EA1-ABA0-6A95128CD344}"/>
              </a:ext>
            </a:extLst>
          </p:cNvPr>
          <p:cNvSpPr>
            <a:spLocks noGrp="1"/>
          </p:cNvSpPr>
          <p:nvPr/>
        </p:nvSpPr>
        <p:spPr>
          <a:xfrm>
            <a:off x="7791450" y="5048250"/>
            <a:ext cx="12382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B442FE2-0F9A-44B3-9560-804D2C33C6FB}"/>
              </a:ext>
            </a:extLst>
          </p:cNvPr>
          <p:cNvSpPr>
            <a:spLocks noGrp="1"/>
          </p:cNvSpPr>
          <p:nvPr/>
        </p:nvSpPr>
        <p:spPr>
          <a:xfrm>
            <a:off x="7886700" y="5076825"/>
            <a:ext cx="104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expected data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9AF9D5B-C204-46FC-BFE3-DFB484669D48}"/>
              </a:ext>
            </a:extLst>
          </p:cNvPr>
          <p:cNvSpPr>
            <a:spLocks noGrp="1"/>
          </p:cNvSpPr>
          <p:nvPr/>
        </p:nvSpPr>
        <p:spPr>
          <a:xfrm>
            <a:off x="9029700" y="5048250"/>
            <a:ext cx="12001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643AB95-4278-4AC3-8647-695BA25833C5}"/>
              </a:ext>
            </a:extLst>
          </p:cNvPr>
          <p:cNvSpPr>
            <a:spLocks noGrp="1"/>
          </p:cNvSpPr>
          <p:nvPr/>
        </p:nvSpPr>
        <p:spPr>
          <a:xfrm>
            <a:off x="9124950" y="5076825"/>
            <a:ext cx="10096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sim checker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211584E-0CC9-4EF4-856D-9CE89C17F7D7}"/>
              </a:ext>
            </a:extLst>
          </p:cNvPr>
          <p:cNvSpPr>
            <a:spLocks noGrp="1"/>
          </p:cNvSpPr>
          <p:nvPr/>
        </p:nvSpPr>
        <p:spPr>
          <a:xfrm>
            <a:off x="10229850" y="5048250"/>
            <a:ext cx="12763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AF5818F-10AF-45A0-9AF8-D2C6D4A59101}"/>
              </a:ext>
            </a:extLst>
          </p:cNvPr>
          <p:cNvSpPr>
            <a:spLocks noGrp="1"/>
          </p:cNvSpPr>
          <p:nvPr/>
        </p:nvSpPr>
        <p:spPr>
          <a:xfrm>
            <a:off x="10325100" y="5076825"/>
            <a:ext cx="10858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missing value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FFF7C33-560A-4D7A-9A0A-2ED3A4E055DA}"/>
              </a:ext>
            </a:extLst>
          </p:cNvPr>
          <p:cNvSpPr>
            <a:spLocks noGrp="1"/>
          </p:cNvSpPr>
          <p:nvPr/>
        </p:nvSpPr>
        <p:spPr>
          <a:xfrm>
            <a:off x="609600" y="5676900"/>
            <a:ext cx="1447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DESIGN DATA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35A2D54-E4C8-4CB1-816B-251A1800B14B}"/>
              </a:ext>
            </a:extLst>
          </p:cNvPr>
          <p:cNvSpPr>
            <a:spLocks noGrp="1"/>
          </p:cNvSpPr>
          <p:nvPr/>
        </p:nvSpPr>
        <p:spPr>
          <a:xfrm>
            <a:off x="2076450" y="56388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B7C5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C5C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B483B45-7180-4A5E-BDEE-D9515E510FD1}"/>
              </a:ext>
            </a:extLst>
          </p:cNvPr>
          <p:cNvSpPr>
            <a:spLocks noGrp="1"/>
          </p:cNvSpPr>
          <p:nvPr/>
        </p:nvSpPr>
        <p:spPr>
          <a:xfrm>
            <a:off x="2381250" y="5676900"/>
            <a:ext cx="17335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VALIDATED SCHEMA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C80D09A-DA6E-4DF1-86A1-B06DAF109926}"/>
              </a:ext>
            </a:extLst>
          </p:cNvPr>
          <p:cNvSpPr>
            <a:spLocks noGrp="1"/>
          </p:cNvSpPr>
          <p:nvPr/>
        </p:nvSpPr>
        <p:spPr>
          <a:xfrm>
            <a:off x="4133850" y="56388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B7C5C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C5C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3E0B458-A6E1-4AE2-80B2-DAE4D171B306}"/>
              </a:ext>
            </a:extLst>
          </p:cNvPr>
          <p:cNvSpPr>
            <a:spLocks noGrp="1"/>
          </p:cNvSpPr>
          <p:nvPr/>
        </p:nvSpPr>
        <p:spPr>
          <a:xfrm>
            <a:off x="4438650" y="5676900"/>
            <a:ext cx="2038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GENERATED TOOL PLAN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30EFE7E-3887-4BE0-B2BC-C0DCC0BC41BD}"/>
              </a:ext>
            </a:extLst>
          </p:cNvPr>
          <p:cNvSpPr>
            <a:spLocks noGrp="1"/>
          </p:cNvSpPr>
          <p:nvPr/>
        </p:nvSpPr>
        <p:spPr>
          <a:xfrm>
            <a:off x="6819900" y="5638800"/>
            <a:ext cx="468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671"/>
          </a:bodyPr>
          <a:lstStyle/>
          <a:p>
            <a:pPr algn="r">
              <a:lnSpc>
                <a:spcPct val="102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Core Tcl never changes for a new legal value set.</a:t>
            </a:r>
          </a:p>
        </p:txBody>
      </p:sp>
      <p:sp>
        <p:nvSpPr>
          <p:cNvPr id="72" name="直線接點 71">
            <a:extLst>
              <a:ext uri="{FF2B5EF4-FFF2-40B4-BE49-F238E27FC236}">
                <a16:creationId xmlns:a16="http://schemas.microsoft.com/office/drawing/2014/main" id="{5DF30898-9730-4507-BFF0-AAEB38C38C46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0B6B9E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B336A5C-EE91-405F-8090-586ABE10F18A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312"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integration boundary is explicit: designers own intent; automation owns translation and validation.</a:t>
            </a:r>
          </a:p>
        </p:txBody>
      </p:sp>
      <p:sp>
        <p:nvSpPr>
          <p:cNvPr id="74" name="直線接點 73">
            <a:extLst>
              <a:ext uri="{FF2B5EF4-FFF2-40B4-BE49-F238E27FC236}">
                <a16:creationId xmlns:a16="http://schemas.microsoft.com/office/drawing/2014/main" id="{79553EAC-78DB-446C-BF7A-B9964818069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D8053A1-891F-4E91-BC0D-E23C8525C183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755403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B4378CA-0E7F-4BF1-822E-E6B0E1FE15AB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MANIFEST VALIDATION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7EAFED-238C-40A3-80C2-DB1DFF7AA701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slide-12-title">
            <a:extLst>
              <a:ext uri="{FF2B5EF4-FFF2-40B4-BE49-F238E27FC236}">
                <a16:creationId xmlns:a16="http://schemas.microsoft.com/office/drawing/2014/main" id="{8D251B8A-8E68-418C-96C3-07892DD3BF62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058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Field ownership makes manifest errors fail fast.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530B049-236C-448E-89BA-B4836DF4F64E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6A6EFEC-E7B9-44B9-A653-522E7E657F2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10896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FIELD OWNERSHIP AND VALIDATION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6BCA4F-9A2D-419D-94CD-D62DCD0132C0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363220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66B29-16DE-469D-BC61-168FC9590741}"/>
              </a:ext>
            </a:extLst>
          </p:cNvPr>
          <p:cNvSpPr>
            <a:spLocks noGrp="1"/>
          </p:cNvSpPr>
          <p:nvPr/>
        </p:nvSpPr>
        <p:spPr>
          <a:xfrm>
            <a:off x="889000" y="1885950"/>
            <a:ext cx="3073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FIELD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6BB6D80-7C17-4B6A-94DE-44D1909B0D4F}"/>
              </a:ext>
            </a:extLst>
          </p:cNvPr>
          <p:cNvSpPr>
            <a:spLocks noGrp="1"/>
          </p:cNvSpPr>
          <p:nvPr/>
        </p:nvSpPr>
        <p:spPr>
          <a:xfrm>
            <a:off x="4241800" y="1857375"/>
            <a:ext cx="352044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C54705-7FBF-4FAA-80C9-3DD099D17D80}"/>
              </a:ext>
            </a:extLst>
          </p:cNvPr>
          <p:cNvSpPr>
            <a:spLocks noGrp="1"/>
          </p:cNvSpPr>
          <p:nvPr/>
        </p:nvSpPr>
        <p:spPr>
          <a:xfrm>
            <a:off x="4521200" y="1885950"/>
            <a:ext cx="29616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CONSUMER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5B7D39-8D9B-4ABD-B158-5C3C28AAB3B1}"/>
              </a:ext>
            </a:extLst>
          </p:cNvPr>
          <p:cNvSpPr>
            <a:spLocks noGrp="1"/>
          </p:cNvSpPr>
          <p:nvPr/>
        </p:nvSpPr>
        <p:spPr>
          <a:xfrm>
            <a:off x="7762240" y="1857375"/>
            <a:ext cx="374396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2244416-8089-41B8-8086-D45362C46647}"/>
              </a:ext>
            </a:extLst>
          </p:cNvPr>
          <p:cNvSpPr>
            <a:spLocks noGrp="1"/>
          </p:cNvSpPr>
          <p:nvPr/>
        </p:nvSpPr>
        <p:spPr>
          <a:xfrm>
            <a:off x="8041640" y="1885950"/>
            <a:ext cx="318516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REJECT WHEN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8162131-6D6F-440B-BD1B-B41C62198847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36322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46973DC-BC5B-4712-B087-8D068A467C31}"/>
              </a:ext>
            </a:extLst>
          </p:cNvPr>
          <p:cNvSpPr>
            <a:spLocks noGrp="1"/>
          </p:cNvSpPr>
          <p:nvPr/>
        </p:nvSpPr>
        <p:spPr>
          <a:xfrm>
            <a:off x="889000" y="2209800"/>
            <a:ext cx="307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top / filelist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4892D9-BAC2-43F5-805B-A848E4952407}"/>
              </a:ext>
            </a:extLst>
          </p:cNvPr>
          <p:cNvSpPr>
            <a:spLocks noGrp="1"/>
          </p:cNvSpPr>
          <p:nvPr/>
        </p:nvSpPr>
        <p:spPr>
          <a:xfrm>
            <a:off x="4241800" y="2181225"/>
            <a:ext cx="352044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4E25E3-E46F-486B-9152-2D2DBFE17120}"/>
              </a:ext>
            </a:extLst>
          </p:cNvPr>
          <p:cNvSpPr>
            <a:spLocks noGrp="1"/>
          </p:cNvSpPr>
          <p:nvPr/>
        </p:nvSpPr>
        <p:spPr>
          <a:xfrm>
            <a:off x="4521200" y="2209800"/>
            <a:ext cx="296164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reader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F39959-CA44-40ED-AF9E-BBD0DB143E58}"/>
              </a:ext>
            </a:extLst>
          </p:cNvPr>
          <p:cNvSpPr>
            <a:spLocks noGrp="1"/>
          </p:cNvSpPr>
          <p:nvPr/>
        </p:nvSpPr>
        <p:spPr>
          <a:xfrm>
            <a:off x="7762240" y="2181225"/>
            <a:ext cx="374396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2378147-7E63-4521-AEAE-7FA6A27BFA04}"/>
              </a:ext>
            </a:extLst>
          </p:cNvPr>
          <p:cNvSpPr>
            <a:spLocks noGrp="1"/>
          </p:cNvSpPr>
          <p:nvPr/>
        </p:nvSpPr>
        <p:spPr>
          <a:xfrm>
            <a:off x="8041640" y="2209800"/>
            <a:ext cx="318516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module or file unresolved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D5262F-AC95-49EB-AA46-A44855AB4173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36322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56AD754-E655-472F-A30A-400496557776}"/>
              </a:ext>
            </a:extLst>
          </p:cNvPr>
          <p:cNvSpPr>
            <a:spLocks noGrp="1"/>
          </p:cNvSpPr>
          <p:nvPr/>
        </p:nvSpPr>
        <p:spPr>
          <a:xfrm>
            <a:off x="889000" y="2619375"/>
            <a:ext cx="307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die_role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9CB309-7E4C-4467-8509-26D1338762A6}"/>
              </a:ext>
            </a:extLst>
          </p:cNvPr>
          <p:cNvSpPr>
            <a:spLocks noGrp="1"/>
          </p:cNvSpPr>
          <p:nvPr/>
        </p:nvSpPr>
        <p:spPr>
          <a:xfrm>
            <a:off x="4241800" y="2590800"/>
            <a:ext cx="352044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8A37763-8D77-47CC-ABA7-AD1111C4D21B}"/>
              </a:ext>
            </a:extLst>
          </p:cNvPr>
          <p:cNvSpPr>
            <a:spLocks noGrp="1"/>
          </p:cNvSpPr>
          <p:nvPr/>
        </p:nvSpPr>
        <p:spPr>
          <a:xfrm>
            <a:off x="4521200" y="2619375"/>
            <a:ext cx="296164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resolver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15FEB9-17AA-442C-AE3C-1F0DD9D87614}"/>
              </a:ext>
            </a:extLst>
          </p:cNvPr>
          <p:cNvSpPr>
            <a:spLocks noGrp="1"/>
          </p:cNvSpPr>
          <p:nvPr/>
        </p:nvSpPr>
        <p:spPr>
          <a:xfrm>
            <a:off x="7762240" y="2590800"/>
            <a:ext cx="374396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82295A-0911-451F-BF36-C9B1831A3560}"/>
              </a:ext>
            </a:extLst>
          </p:cNvPr>
          <p:cNvSpPr>
            <a:spLocks noGrp="1"/>
          </p:cNvSpPr>
          <p:nvPr/>
        </p:nvSpPr>
        <p:spPr>
          <a:xfrm>
            <a:off x="8041640" y="2619375"/>
            <a:ext cx="318516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not base / middle / top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F2589C-8CF7-4062-A4C7-C0D5ABB4D08E}"/>
              </a:ext>
            </a:extLst>
          </p:cNvPr>
          <p:cNvSpPr>
            <a:spLocks noGrp="1"/>
          </p:cNvSpPr>
          <p:nvPr/>
        </p:nvSpPr>
        <p:spPr>
          <a:xfrm>
            <a:off x="609600" y="3000375"/>
            <a:ext cx="36322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4F3E282-8222-49BB-996F-5A9D88D57B8C}"/>
              </a:ext>
            </a:extLst>
          </p:cNvPr>
          <p:cNvSpPr>
            <a:spLocks noGrp="1"/>
          </p:cNvSpPr>
          <p:nvPr/>
        </p:nvSpPr>
        <p:spPr>
          <a:xfrm>
            <a:off x="889000" y="3028950"/>
            <a:ext cx="307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clock / reset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7300A85-34DB-4AB8-B12B-7F39BA75C8FB}"/>
              </a:ext>
            </a:extLst>
          </p:cNvPr>
          <p:cNvSpPr>
            <a:spLocks noGrp="1"/>
          </p:cNvSpPr>
          <p:nvPr/>
        </p:nvSpPr>
        <p:spPr>
          <a:xfrm>
            <a:off x="4241800" y="3000375"/>
            <a:ext cx="352044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7CC53B-F239-4F9D-BB90-47790BEE3136}"/>
              </a:ext>
            </a:extLst>
          </p:cNvPr>
          <p:cNvSpPr>
            <a:spLocks noGrp="1"/>
          </p:cNvSpPr>
          <p:nvPr/>
        </p:nvSpPr>
        <p:spPr>
          <a:xfrm>
            <a:off x="4521200" y="3028950"/>
            <a:ext cx="296164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config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2630905-3CB2-496C-8168-5B10F7243513}"/>
              </a:ext>
            </a:extLst>
          </p:cNvPr>
          <p:cNvSpPr>
            <a:spLocks noGrp="1"/>
          </p:cNvSpPr>
          <p:nvPr/>
        </p:nvSpPr>
        <p:spPr>
          <a:xfrm>
            <a:off x="7762240" y="3000375"/>
            <a:ext cx="374396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889C29E-A54A-4B58-AFC9-DF5CE8017894}"/>
              </a:ext>
            </a:extLst>
          </p:cNvPr>
          <p:cNvSpPr>
            <a:spLocks noGrp="1"/>
          </p:cNvSpPr>
          <p:nvPr/>
        </p:nvSpPr>
        <p:spPr>
          <a:xfrm>
            <a:off x="8041640" y="3028950"/>
            <a:ext cx="318516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port missing or polarity unknown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33A7E6-3996-4FAF-8CD7-666C4EF3F615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36322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70DE08A-1152-4EFE-B21B-46BE616B25F4}"/>
              </a:ext>
            </a:extLst>
          </p:cNvPr>
          <p:cNvSpPr>
            <a:spLocks noGrp="1"/>
          </p:cNvSpPr>
          <p:nvPr/>
        </p:nvSpPr>
        <p:spPr>
          <a:xfrm>
            <a:off x="889000" y="3438525"/>
            <a:ext cx="307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ijtag.host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F85AEC-C716-4C9D-8A00-1F878665D085}"/>
              </a:ext>
            </a:extLst>
          </p:cNvPr>
          <p:cNvSpPr>
            <a:spLocks noGrp="1"/>
          </p:cNvSpPr>
          <p:nvPr/>
        </p:nvSpPr>
        <p:spPr>
          <a:xfrm>
            <a:off x="4241800" y="3409950"/>
            <a:ext cx="352044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642EDE-9C94-4BF1-BECA-8CB5124CF143}"/>
              </a:ext>
            </a:extLst>
          </p:cNvPr>
          <p:cNvSpPr>
            <a:spLocks noGrp="1"/>
          </p:cNvSpPr>
          <p:nvPr/>
        </p:nvSpPr>
        <p:spPr>
          <a:xfrm>
            <a:off x="4521200" y="3438525"/>
            <a:ext cx="296164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 builder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5C2C5D3-856F-4785-BEF1-68D02220470A}"/>
              </a:ext>
            </a:extLst>
          </p:cNvPr>
          <p:cNvSpPr>
            <a:spLocks noGrp="1"/>
          </p:cNvSpPr>
          <p:nvPr/>
        </p:nvSpPr>
        <p:spPr>
          <a:xfrm>
            <a:off x="7762240" y="3409950"/>
            <a:ext cx="374396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EABE1C8-33AA-4FC4-8088-9CC6B8642D9E}"/>
              </a:ext>
            </a:extLst>
          </p:cNvPr>
          <p:cNvSpPr>
            <a:spLocks noGrp="1"/>
          </p:cNvSpPr>
          <p:nvPr/>
        </p:nvSpPr>
        <p:spPr>
          <a:xfrm>
            <a:off x="8041640" y="3438525"/>
            <a:ext cx="318516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conflicts with role policy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518134F-2206-4B09-9C2D-EFF890F674AE}"/>
              </a:ext>
            </a:extLst>
          </p:cNvPr>
          <p:cNvSpPr>
            <a:spLocks noGrp="1"/>
          </p:cNvSpPr>
          <p:nvPr/>
        </p:nvSpPr>
        <p:spPr>
          <a:xfrm>
            <a:off x="609600" y="3819525"/>
            <a:ext cx="36322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B0C0FB8-3703-48E3-8E26-A753FCB7DBDB}"/>
              </a:ext>
            </a:extLst>
          </p:cNvPr>
          <p:cNvSpPr>
            <a:spLocks noGrp="1"/>
          </p:cNvSpPr>
          <p:nvPr/>
        </p:nvSpPr>
        <p:spPr>
          <a:xfrm>
            <a:off x="889000" y="3848100"/>
            <a:ext cx="307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instruments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530B345-A0CB-49DC-89BB-0FB4BC684D89}"/>
              </a:ext>
            </a:extLst>
          </p:cNvPr>
          <p:cNvSpPr>
            <a:spLocks noGrp="1"/>
          </p:cNvSpPr>
          <p:nvPr/>
        </p:nvSpPr>
        <p:spPr>
          <a:xfrm>
            <a:off x="4241800" y="3819525"/>
            <a:ext cx="352044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93CA2B5-DDD6-4EEE-B933-2B5848B6C717}"/>
              </a:ext>
            </a:extLst>
          </p:cNvPr>
          <p:cNvSpPr>
            <a:spLocks noGrp="1"/>
          </p:cNvSpPr>
          <p:nvPr/>
        </p:nvSpPr>
        <p:spPr>
          <a:xfrm>
            <a:off x="4521200" y="3848100"/>
            <a:ext cx="296164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TDR / SIB builder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37B2AB6-97F9-412D-98A6-2A894B1EC963}"/>
              </a:ext>
            </a:extLst>
          </p:cNvPr>
          <p:cNvSpPr>
            <a:spLocks noGrp="1"/>
          </p:cNvSpPr>
          <p:nvPr/>
        </p:nvSpPr>
        <p:spPr>
          <a:xfrm>
            <a:off x="7762240" y="3819525"/>
            <a:ext cx="374396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4B17A46-AC7A-4C96-A9A6-1AB569B370DF}"/>
              </a:ext>
            </a:extLst>
          </p:cNvPr>
          <p:cNvSpPr>
            <a:spLocks noGrp="1"/>
          </p:cNvSpPr>
          <p:nvPr/>
        </p:nvSpPr>
        <p:spPr>
          <a:xfrm>
            <a:off x="8041640" y="3848100"/>
            <a:ext cx="318516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instance or width invalid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4BC8C25-FDBA-4165-A363-86C667A2B8E6}"/>
              </a:ext>
            </a:extLst>
          </p:cNvPr>
          <p:cNvSpPr>
            <a:spLocks noGrp="1"/>
          </p:cNvSpPr>
          <p:nvPr/>
        </p:nvSpPr>
        <p:spPr>
          <a:xfrm>
            <a:off x="609600" y="4229100"/>
            <a:ext cx="36322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8C8F77B-286C-48A8-8EFD-BC54C33AD80C}"/>
              </a:ext>
            </a:extLst>
          </p:cNvPr>
          <p:cNvSpPr>
            <a:spLocks noGrp="1"/>
          </p:cNvSpPr>
          <p:nvPr/>
        </p:nvSpPr>
        <p:spPr>
          <a:xfrm>
            <a:off x="889000" y="4257675"/>
            <a:ext cx="307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stack link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6CAD40A4-F06B-46A6-ACC4-616F0E683B14}"/>
              </a:ext>
            </a:extLst>
          </p:cNvPr>
          <p:cNvSpPr>
            <a:spLocks noGrp="1"/>
          </p:cNvSpPr>
          <p:nvPr/>
        </p:nvSpPr>
        <p:spPr>
          <a:xfrm>
            <a:off x="4241800" y="4229100"/>
            <a:ext cx="352044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7A84345-AD7F-42B0-BDD8-22227FFB73B7}"/>
              </a:ext>
            </a:extLst>
          </p:cNvPr>
          <p:cNvSpPr>
            <a:spLocks noGrp="1"/>
          </p:cNvSpPr>
          <p:nvPr/>
        </p:nvSpPr>
        <p:spPr>
          <a:xfrm>
            <a:off x="4521200" y="4257675"/>
            <a:ext cx="296164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composer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346C968-E3C1-4472-8660-8DC09B1FD01E}"/>
              </a:ext>
            </a:extLst>
          </p:cNvPr>
          <p:cNvSpPr>
            <a:spLocks noGrp="1"/>
          </p:cNvSpPr>
          <p:nvPr/>
        </p:nvSpPr>
        <p:spPr>
          <a:xfrm>
            <a:off x="7762240" y="4229100"/>
            <a:ext cx="374396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6CF7C1C-186C-4F9F-A0B3-4DCD2B9C22C9}"/>
              </a:ext>
            </a:extLst>
          </p:cNvPr>
          <p:cNvSpPr>
            <a:spLocks noGrp="1"/>
          </p:cNvSpPr>
          <p:nvPr/>
        </p:nvSpPr>
        <p:spPr>
          <a:xfrm>
            <a:off x="8041640" y="4257675"/>
            <a:ext cx="318516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or port mapping missing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05230D6-E94B-4621-A87E-0E7CF3768714}"/>
              </a:ext>
            </a:extLst>
          </p:cNvPr>
          <p:cNvSpPr>
            <a:spLocks noGrp="1"/>
          </p:cNvSpPr>
          <p:nvPr/>
        </p:nvSpPr>
        <p:spPr>
          <a:xfrm>
            <a:off x="609600" y="4638675"/>
            <a:ext cx="36322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E92A14E-CF98-4254-A4D1-B69112FC4871}"/>
              </a:ext>
            </a:extLst>
          </p:cNvPr>
          <p:cNvSpPr>
            <a:spLocks noGrp="1"/>
          </p:cNvSpPr>
          <p:nvPr/>
        </p:nvSpPr>
        <p:spPr>
          <a:xfrm>
            <a:off x="889000" y="4667250"/>
            <a:ext cx="307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dwr.inventory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5E7D744-B8A6-43FF-AB99-82144D5539CB}"/>
              </a:ext>
            </a:extLst>
          </p:cNvPr>
          <p:cNvSpPr>
            <a:spLocks noGrp="1"/>
          </p:cNvSpPr>
          <p:nvPr/>
        </p:nvSpPr>
        <p:spPr>
          <a:xfrm>
            <a:off x="4241800" y="4638675"/>
            <a:ext cx="352044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D48E5552-725D-45FA-BF42-1319A55FF275}"/>
              </a:ext>
            </a:extLst>
          </p:cNvPr>
          <p:cNvSpPr>
            <a:spLocks noGrp="1"/>
          </p:cNvSpPr>
          <p:nvPr/>
        </p:nvSpPr>
        <p:spPr>
          <a:xfrm>
            <a:off x="4521200" y="4667250"/>
            <a:ext cx="296164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planned DWR stage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1EDA0B3-401C-420E-838E-9821E711C9BE}"/>
              </a:ext>
            </a:extLst>
          </p:cNvPr>
          <p:cNvSpPr>
            <a:spLocks noGrp="1"/>
          </p:cNvSpPr>
          <p:nvPr/>
        </p:nvSpPr>
        <p:spPr>
          <a:xfrm>
            <a:off x="7762240" y="4638675"/>
            <a:ext cx="374396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652EE18-9C7A-421C-AF34-D4ADA2094F75}"/>
              </a:ext>
            </a:extLst>
          </p:cNvPr>
          <p:cNvSpPr>
            <a:spLocks noGrp="1"/>
          </p:cNvSpPr>
          <p:nvPr/>
        </p:nvSpPr>
        <p:spPr>
          <a:xfrm>
            <a:off x="8041640" y="4667250"/>
            <a:ext cx="318516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reserved for next step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66E0C7D-105A-4EA1-ABA0-6A95128CD344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36322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B442FE2-0F9A-44B3-9560-804D2C33C6FB}"/>
              </a:ext>
            </a:extLst>
          </p:cNvPr>
          <p:cNvSpPr>
            <a:spLocks noGrp="1"/>
          </p:cNvSpPr>
          <p:nvPr/>
        </p:nvSpPr>
        <p:spPr>
          <a:xfrm>
            <a:off x="889000" y="5076825"/>
            <a:ext cx="3073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expected data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B9AF9D5B-C204-46FC-BFE3-DFB484669D48}"/>
              </a:ext>
            </a:extLst>
          </p:cNvPr>
          <p:cNvSpPr>
            <a:spLocks noGrp="1"/>
          </p:cNvSpPr>
          <p:nvPr/>
        </p:nvSpPr>
        <p:spPr>
          <a:xfrm>
            <a:off x="4241800" y="5048250"/>
            <a:ext cx="352044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F643AB95-4278-4AC3-8647-695BA25833C5}"/>
              </a:ext>
            </a:extLst>
          </p:cNvPr>
          <p:cNvSpPr>
            <a:spLocks noGrp="1"/>
          </p:cNvSpPr>
          <p:nvPr/>
        </p:nvSpPr>
        <p:spPr>
          <a:xfrm>
            <a:off x="4521200" y="5076825"/>
            <a:ext cx="296164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simulation checker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211584E-0CC9-4EF4-856D-9CE89C17F7D7}"/>
              </a:ext>
            </a:extLst>
          </p:cNvPr>
          <p:cNvSpPr>
            <a:spLocks noGrp="1"/>
          </p:cNvSpPr>
          <p:nvPr/>
        </p:nvSpPr>
        <p:spPr>
          <a:xfrm>
            <a:off x="7762240" y="5048250"/>
            <a:ext cx="374396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AF5818F-10AF-45A0-9AF8-D2C6D4A59101}"/>
              </a:ext>
            </a:extLst>
          </p:cNvPr>
          <p:cNvSpPr>
            <a:spLocks noGrp="1"/>
          </p:cNvSpPr>
          <p:nvPr/>
        </p:nvSpPr>
        <p:spPr>
          <a:xfrm>
            <a:off x="8041640" y="5076825"/>
            <a:ext cx="318516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target or compare value absent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F30EFE7E-3887-4BE0-B2BC-C0DCC0BC41BD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89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671"/>
          </a:bodyPr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Core Tcl never changes for a new legal value set.</a:t>
            </a:r>
          </a:p>
        </p:txBody>
      </p:sp>
      <p:sp>
        <p:nvSpPr>
          <p:cNvPr id="72" name="直線接點 71">
            <a:extLst>
              <a:ext uri="{FF2B5EF4-FFF2-40B4-BE49-F238E27FC236}">
                <a16:creationId xmlns:a16="http://schemas.microsoft.com/office/drawing/2014/main" id="{5DF30898-9730-4507-BFF0-AAEB38C38C46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0B6B9E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4B336A5C-EE91-405F-8090-586ABE10F18A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312"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integration boundary is explicit: designers own intent; automation owns translation and validation.</a:t>
            </a:r>
          </a:p>
        </p:txBody>
      </p:sp>
      <p:sp>
        <p:nvSpPr>
          <p:cNvPr id="74" name="直線接點 73">
            <a:extLst>
              <a:ext uri="{FF2B5EF4-FFF2-40B4-BE49-F238E27FC236}">
                <a16:creationId xmlns:a16="http://schemas.microsoft.com/office/drawing/2014/main" id="{79553EAC-78DB-446C-BF7A-B99648180691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DD8053A1-891F-4E91-BC0D-E23C8525C183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755403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矩形 85">
            <a:extLst>
              <a:ext uri="{FF2B5EF4-FFF2-40B4-BE49-F238E27FC236}">
                <a16:creationId xmlns:a16="http://schemas.microsoft.com/office/drawing/2014/main" id="{5E9EEF0F-AE66-45BE-9C59-7D3215BB0A34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EVIDENCE PACKAGE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E67E9C-BEFC-4E67-925E-1F51B324C931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slide-13-title">
            <a:extLst>
              <a:ext uri="{FF2B5EF4-FFF2-40B4-BE49-F238E27FC236}">
                <a16:creationId xmlns:a16="http://schemas.microsoft.com/office/drawing/2014/main" id="{43CB437E-E5A7-43FD-8BDE-776D6C599AAE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653" lnSpcReduction="1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Each run produces a complete, reviewable evidence package.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82976E15-3EEE-457A-9CDB-CE87F52250BC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A9B7A4-B68A-4A86-97CF-1021B6E9B04C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RUN-SCOPED ARTIFACT TREE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AEAD45E-CAF7-4E72-9813-D9845414219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3143250" cy="3943350"/>
          </a:xfrm>
          <a:prstGeom prst="roundRect">
            <a:avLst>
              <a:gd name="adj" fmla="val 2424"/>
            </a:avLst>
          </a:prstGeom>
          <a:solidFill>
            <a:srgbClr val="20313B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4E1803-F482-4031-90DE-D2356EFA2BEE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2800350" cy="3657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run_2026xxxx_xxxx/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00_inputs/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resolved_manifest.yaml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input_audit.json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01_config/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generated_config.tcl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report_config_data.log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02_per_die/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post_dft_rtl/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die.icl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tsdb/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03_stack/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stack_top.*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├─ stack.icl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│  └─ import.tcl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├─ 04_patterns/</a:t>
            </a:r>
          </a:p>
          <a:p>
            <a:pPr algn="l">
              <a:lnSpc>
                <a:spcPct val="105000"/>
              </a:lnSpc>
              <a:buNone/>
              <a:defRPr sz="1200" b="0">
                <a:solidFill>
                  <a:srgbClr val="DCE7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CE7EC"/>
                </a:solidFill>
                <a:latin typeface="Arial"/>
                <a:ea typeface="Arial"/>
                <a:cs typeface="Arial"/>
              </a:rPr>
              <a:t>└─ 05_simulation/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70DC7B-41FA-40AF-9CED-04FE9A6FC95C}"/>
              </a:ext>
            </a:extLst>
          </p:cNvPr>
          <p:cNvSpPr>
            <a:spLocks noGrp="1"/>
          </p:cNvSpPr>
          <p:nvPr/>
        </p:nvSpPr>
        <p:spPr>
          <a:xfrm>
            <a:off x="4057650" y="15716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EVIDENCE MATRIX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F6A71F-8A8C-450D-9EA8-3B20383FF789}"/>
              </a:ext>
            </a:extLst>
          </p:cNvPr>
          <p:cNvSpPr>
            <a:spLocks noGrp="1"/>
          </p:cNvSpPr>
          <p:nvPr/>
        </p:nvSpPr>
        <p:spPr>
          <a:xfrm>
            <a:off x="4057650" y="1857375"/>
            <a:ext cx="142875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7833BCF-AA37-4BF9-A4A8-6F0AAC4330CC}"/>
              </a:ext>
            </a:extLst>
          </p:cNvPr>
          <p:cNvSpPr>
            <a:spLocks noGrp="1"/>
          </p:cNvSpPr>
          <p:nvPr/>
        </p:nvSpPr>
        <p:spPr>
          <a:xfrm>
            <a:off x="4152900" y="1885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FA77A07-D7DA-4CDA-A62F-54E6A8ED7821}"/>
              </a:ext>
            </a:extLst>
          </p:cNvPr>
          <p:cNvSpPr>
            <a:spLocks noGrp="1"/>
          </p:cNvSpPr>
          <p:nvPr/>
        </p:nvSpPr>
        <p:spPr>
          <a:xfrm>
            <a:off x="5486400" y="1857375"/>
            <a:ext cx="142875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3B7790-A666-4BEC-8902-16B68B60251B}"/>
              </a:ext>
            </a:extLst>
          </p:cNvPr>
          <p:cNvSpPr>
            <a:spLocks noGrp="1"/>
          </p:cNvSpPr>
          <p:nvPr/>
        </p:nvSpPr>
        <p:spPr>
          <a:xfrm>
            <a:off x="5581650" y="188595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CREATED BY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CB95A4C-6CE7-4B35-B599-9AC29A271874}"/>
              </a:ext>
            </a:extLst>
          </p:cNvPr>
          <p:cNvSpPr>
            <a:spLocks noGrp="1"/>
          </p:cNvSpPr>
          <p:nvPr/>
        </p:nvSpPr>
        <p:spPr>
          <a:xfrm>
            <a:off x="6915150" y="1857375"/>
            <a:ext cx="222885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54DB10-E8B0-43B1-81C8-8DB1163D223E}"/>
              </a:ext>
            </a:extLst>
          </p:cNvPr>
          <p:cNvSpPr>
            <a:spLocks noGrp="1"/>
          </p:cNvSpPr>
          <p:nvPr/>
        </p:nvSpPr>
        <p:spPr>
          <a:xfrm>
            <a:off x="7010400" y="18859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IT PROVES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06C1A67-13B3-46D1-977B-123501248254}"/>
              </a:ext>
            </a:extLst>
          </p:cNvPr>
          <p:cNvSpPr>
            <a:spLocks noGrp="1"/>
          </p:cNvSpPr>
          <p:nvPr/>
        </p:nvSpPr>
        <p:spPr>
          <a:xfrm>
            <a:off x="9144000" y="1857375"/>
            <a:ext cx="2362200" cy="3238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65003B-0D31-4B7E-9F05-1927C663DB6F}"/>
              </a:ext>
            </a:extLst>
          </p:cNvPr>
          <p:cNvSpPr>
            <a:spLocks noGrp="1"/>
          </p:cNvSpPr>
          <p:nvPr/>
        </p:nvSpPr>
        <p:spPr>
          <a:xfrm>
            <a:off x="9239250" y="1885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CONSUMER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B6C3EB4-0D93-4096-804E-7D585BBC08E2}"/>
              </a:ext>
            </a:extLst>
          </p:cNvPr>
          <p:cNvSpPr>
            <a:spLocks noGrp="1"/>
          </p:cNvSpPr>
          <p:nvPr/>
        </p:nvSpPr>
        <p:spPr>
          <a:xfrm>
            <a:off x="4057650" y="218122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709D5C-C8B5-4700-8CF7-DFBE1B83EBB5}"/>
              </a:ext>
            </a:extLst>
          </p:cNvPr>
          <p:cNvSpPr>
            <a:spLocks noGrp="1"/>
          </p:cNvSpPr>
          <p:nvPr/>
        </p:nvSpPr>
        <p:spPr>
          <a:xfrm>
            <a:off x="4152900" y="2209800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manifest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26CA29E-4C37-4E83-802F-170B95235D6A}"/>
              </a:ext>
            </a:extLst>
          </p:cNvPr>
          <p:cNvSpPr>
            <a:spLocks noGrp="1"/>
          </p:cNvSpPr>
          <p:nvPr/>
        </p:nvSpPr>
        <p:spPr>
          <a:xfrm>
            <a:off x="5486400" y="218122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99BC60D-ABF7-4AA4-BE49-AED1C667C489}"/>
              </a:ext>
            </a:extLst>
          </p:cNvPr>
          <p:cNvSpPr>
            <a:spLocks noGrp="1"/>
          </p:cNvSpPr>
          <p:nvPr/>
        </p:nvSpPr>
        <p:spPr>
          <a:xfrm>
            <a:off x="5581650" y="2209800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Python pre-check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297FBE9-2F12-49F6-96BB-320D2788400F}"/>
              </a:ext>
            </a:extLst>
          </p:cNvPr>
          <p:cNvSpPr>
            <a:spLocks noGrp="1"/>
          </p:cNvSpPr>
          <p:nvPr/>
        </p:nvSpPr>
        <p:spPr>
          <a:xfrm>
            <a:off x="6915150" y="2181225"/>
            <a:ext cx="22288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0F5D51-5452-40B2-9E41-1137E132E608}"/>
              </a:ext>
            </a:extLst>
          </p:cNvPr>
          <p:cNvSpPr>
            <a:spLocks noGrp="1"/>
          </p:cNvSpPr>
          <p:nvPr/>
        </p:nvSpPr>
        <p:spPr>
          <a:xfrm>
            <a:off x="7010400" y="2209800"/>
            <a:ext cx="2038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exact inputs and resolved defaults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F4C3BF6-7B5D-4A26-9D85-261A7DA981F1}"/>
              </a:ext>
            </a:extLst>
          </p:cNvPr>
          <p:cNvSpPr>
            <a:spLocks noGrp="1"/>
          </p:cNvSpPr>
          <p:nvPr/>
        </p:nvSpPr>
        <p:spPr>
          <a:xfrm>
            <a:off x="9144000" y="2181225"/>
            <a:ext cx="236220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840CC4C-AB92-4BC9-BACD-485EA3A8BDF9}"/>
              </a:ext>
            </a:extLst>
          </p:cNvPr>
          <p:cNvSpPr>
            <a:spLocks noGrp="1"/>
          </p:cNvSpPr>
          <p:nvPr/>
        </p:nvSpPr>
        <p:spPr>
          <a:xfrm>
            <a:off x="9239250" y="2209800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flow owner / regression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2E98F62-AA5A-43B3-A131-1F151CE89BF4}"/>
              </a:ext>
            </a:extLst>
          </p:cNvPr>
          <p:cNvSpPr>
            <a:spLocks noGrp="1"/>
          </p:cNvSpPr>
          <p:nvPr/>
        </p:nvSpPr>
        <p:spPr>
          <a:xfrm>
            <a:off x="4057650" y="2609850"/>
            <a:ext cx="14287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E89E39C-D219-462A-84E2-6B1F97E88B1E}"/>
              </a:ext>
            </a:extLst>
          </p:cNvPr>
          <p:cNvSpPr>
            <a:spLocks noGrp="1"/>
          </p:cNvSpPr>
          <p:nvPr/>
        </p:nvSpPr>
        <p:spPr>
          <a:xfrm>
            <a:off x="4152900" y="2638425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config report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1F4964-F863-41EC-B290-EA1ED65D7367}"/>
              </a:ext>
            </a:extLst>
          </p:cNvPr>
          <p:cNvSpPr>
            <a:spLocks noGrp="1"/>
          </p:cNvSpPr>
          <p:nvPr/>
        </p:nvSpPr>
        <p:spPr>
          <a:xfrm>
            <a:off x="5486400" y="2609850"/>
            <a:ext cx="14287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EC4E20-018B-4136-9D43-435D450FE4DC}"/>
              </a:ext>
            </a:extLst>
          </p:cNvPr>
          <p:cNvSpPr>
            <a:spLocks noGrp="1"/>
          </p:cNvSpPr>
          <p:nvPr/>
        </p:nvSpPr>
        <p:spPr>
          <a:xfrm>
            <a:off x="5581650" y="2638425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Tessent configuration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D2C68F-9853-4017-B728-950AA788D61F}"/>
              </a:ext>
            </a:extLst>
          </p:cNvPr>
          <p:cNvSpPr>
            <a:spLocks noGrp="1"/>
          </p:cNvSpPr>
          <p:nvPr/>
        </p:nvSpPr>
        <p:spPr>
          <a:xfrm>
            <a:off x="6915150" y="2609850"/>
            <a:ext cx="22288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5913EFE-E961-4846-8CEC-8409AF66ECD9}"/>
              </a:ext>
            </a:extLst>
          </p:cNvPr>
          <p:cNvSpPr>
            <a:spLocks noGrp="1"/>
          </p:cNvSpPr>
          <p:nvPr/>
        </p:nvSpPr>
        <p:spPr>
          <a:xfrm>
            <a:off x="7010400" y="2638425"/>
            <a:ext cx="2038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host, SIB, TDR, and role intent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55B86C4-5AA2-46C3-95BA-2A7121A809CF}"/>
              </a:ext>
            </a:extLst>
          </p:cNvPr>
          <p:cNvSpPr>
            <a:spLocks noGrp="1"/>
          </p:cNvSpPr>
          <p:nvPr/>
        </p:nvSpPr>
        <p:spPr>
          <a:xfrm>
            <a:off x="9144000" y="2609850"/>
            <a:ext cx="236220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1686F5B-827F-4EF9-BA4E-3DB7567A50A0}"/>
              </a:ext>
            </a:extLst>
          </p:cNvPr>
          <p:cNvSpPr>
            <a:spLocks noGrp="1"/>
          </p:cNvSpPr>
          <p:nvPr/>
        </p:nvSpPr>
        <p:spPr>
          <a:xfrm>
            <a:off x="9239250" y="2638425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DFT reviewer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203511-AEF4-4992-8921-10BB9F733376}"/>
              </a:ext>
            </a:extLst>
          </p:cNvPr>
          <p:cNvSpPr>
            <a:spLocks noGrp="1"/>
          </p:cNvSpPr>
          <p:nvPr/>
        </p:nvSpPr>
        <p:spPr>
          <a:xfrm>
            <a:off x="4057650" y="303847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9306E5B-6848-47A1-BB0A-050DE0171AE8}"/>
              </a:ext>
            </a:extLst>
          </p:cNvPr>
          <p:cNvSpPr>
            <a:spLocks noGrp="1"/>
          </p:cNvSpPr>
          <p:nvPr/>
        </p:nvSpPr>
        <p:spPr>
          <a:xfrm>
            <a:off x="4152900" y="3067050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post-DFT RTL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2046D4-0A96-4519-AF0F-9F6768CA7A47}"/>
              </a:ext>
            </a:extLst>
          </p:cNvPr>
          <p:cNvSpPr>
            <a:spLocks noGrp="1"/>
          </p:cNvSpPr>
          <p:nvPr/>
        </p:nvSpPr>
        <p:spPr>
          <a:xfrm>
            <a:off x="5486400" y="303847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AB598F3-D8F2-4765-9B53-D06BFECDB90D}"/>
              </a:ext>
            </a:extLst>
          </p:cNvPr>
          <p:cNvSpPr>
            <a:spLocks noGrp="1"/>
          </p:cNvSpPr>
          <p:nvPr/>
        </p:nvSpPr>
        <p:spPr>
          <a:xfrm>
            <a:off x="5581650" y="3067050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per-die insertion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3F8475E-770A-4915-804D-0A5F5C6E6E0D}"/>
              </a:ext>
            </a:extLst>
          </p:cNvPr>
          <p:cNvSpPr>
            <a:spLocks noGrp="1"/>
          </p:cNvSpPr>
          <p:nvPr/>
        </p:nvSpPr>
        <p:spPr>
          <a:xfrm>
            <a:off x="6915150" y="3038475"/>
            <a:ext cx="22288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E4D5D12-95A7-458F-906A-548CE151E4A1}"/>
              </a:ext>
            </a:extLst>
          </p:cNvPr>
          <p:cNvSpPr>
            <a:spLocks noGrp="1"/>
          </p:cNvSpPr>
          <p:nvPr/>
        </p:nvSpPr>
        <p:spPr>
          <a:xfrm>
            <a:off x="7010400" y="3067050"/>
            <a:ext cx="2038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implemented test hardware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4CBC201-20C7-4DB9-A025-6158885FC6ED}"/>
              </a:ext>
            </a:extLst>
          </p:cNvPr>
          <p:cNvSpPr>
            <a:spLocks noGrp="1"/>
          </p:cNvSpPr>
          <p:nvPr/>
        </p:nvSpPr>
        <p:spPr>
          <a:xfrm>
            <a:off x="9144000" y="3038475"/>
            <a:ext cx="236220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E1EFF8A-2112-4D44-BF91-39D31652B366}"/>
              </a:ext>
            </a:extLst>
          </p:cNvPr>
          <p:cNvSpPr>
            <a:spLocks noGrp="1"/>
          </p:cNvSpPr>
          <p:nvPr/>
        </p:nvSpPr>
        <p:spPr>
          <a:xfrm>
            <a:off x="9239250" y="3067050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RTL / integration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423A489-28AF-42F6-9FD0-E051D80EBDBD}"/>
              </a:ext>
            </a:extLst>
          </p:cNvPr>
          <p:cNvSpPr>
            <a:spLocks noGrp="1"/>
          </p:cNvSpPr>
          <p:nvPr/>
        </p:nvSpPr>
        <p:spPr>
          <a:xfrm>
            <a:off x="4057650" y="3467100"/>
            <a:ext cx="14287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081ED5C-ECFD-4C17-B7C6-A889FED1977D}"/>
              </a:ext>
            </a:extLst>
          </p:cNvPr>
          <p:cNvSpPr>
            <a:spLocks noGrp="1"/>
          </p:cNvSpPr>
          <p:nvPr/>
        </p:nvSpPr>
        <p:spPr>
          <a:xfrm>
            <a:off x="4152900" y="3495675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per-die ICL + TSDB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9CBA64A-DD9E-46E0-988B-46D7AFA0FC81}"/>
              </a:ext>
            </a:extLst>
          </p:cNvPr>
          <p:cNvSpPr>
            <a:spLocks noGrp="1"/>
          </p:cNvSpPr>
          <p:nvPr/>
        </p:nvSpPr>
        <p:spPr>
          <a:xfrm>
            <a:off x="5486400" y="3467100"/>
            <a:ext cx="14287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9D231F5-79F4-461B-9400-0834B1C218FB}"/>
              </a:ext>
            </a:extLst>
          </p:cNvPr>
          <p:cNvSpPr>
            <a:spLocks noGrp="1"/>
          </p:cNvSpPr>
          <p:nvPr/>
        </p:nvSpPr>
        <p:spPr>
          <a:xfrm>
            <a:off x="5581650" y="3495675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extract phase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1CA319B-EDA1-4D72-B5CC-3321A4F32047}"/>
              </a:ext>
            </a:extLst>
          </p:cNvPr>
          <p:cNvSpPr>
            <a:spLocks noGrp="1"/>
          </p:cNvSpPr>
          <p:nvPr/>
        </p:nvSpPr>
        <p:spPr>
          <a:xfrm>
            <a:off x="6915150" y="3467100"/>
            <a:ext cx="22288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C7DC1D2-5E3F-45D6-BB0F-23B83803260C}"/>
              </a:ext>
            </a:extLst>
          </p:cNvPr>
          <p:cNvSpPr>
            <a:spLocks noGrp="1"/>
          </p:cNvSpPr>
          <p:nvPr/>
        </p:nvSpPr>
        <p:spPr>
          <a:xfrm>
            <a:off x="7010400" y="3495675"/>
            <a:ext cx="2038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hardware access description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31D928-2CE8-493E-999D-041FB6C71EA5}"/>
              </a:ext>
            </a:extLst>
          </p:cNvPr>
          <p:cNvSpPr>
            <a:spLocks noGrp="1"/>
          </p:cNvSpPr>
          <p:nvPr/>
        </p:nvSpPr>
        <p:spPr>
          <a:xfrm>
            <a:off x="9144000" y="3467100"/>
            <a:ext cx="236220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7A94813-C3DB-4FC3-8957-E93103C70343}"/>
              </a:ext>
            </a:extLst>
          </p:cNvPr>
          <p:cNvSpPr>
            <a:spLocks noGrp="1"/>
          </p:cNvSpPr>
          <p:nvPr/>
        </p:nvSpPr>
        <p:spPr>
          <a:xfrm>
            <a:off x="9239250" y="3495675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composer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438894F0-33DA-4C5F-A7A6-436D09EF0279}"/>
              </a:ext>
            </a:extLst>
          </p:cNvPr>
          <p:cNvSpPr>
            <a:spLocks noGrp="1"/>
          </p:cNvSpPr>
          <p:nvPr/>
        </p:nvSpPr>
        <p:spPr>
          <a:xfrm>
            <a:off x="4057650" y="389572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BE1943B-87A9-4073-83EB-8A456976DF8B}"/>
              </a:ext>
            </a:extLst>
          </p:cNvPr>
          <p:cNvSpPr>
            <a:spLocks noGrp="1"/>
          </p:cNvSpPr>
          <p:nvPr/>
        </p:nvSpPr>
        <p:spPr>
          <a:xfrm>
            <a:off x="4152900" y="3924300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stack_top + stack ICL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C7381DB-06D2-43AD-A4AC-ED0F40514F14}"/>
              </a:ext>
            </a:extLst>
          </p:cNvPr>
          <p:cNvSpPr>
            <a:spLocks noGrp="1"/>
          </p:cNvSpPr>
          <p:nvPr/>
        </p:nvSpPr>
        <p:spPr>
          <a:xfrm>
            <a:off x="5486400" y="389572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7355F00-737F-40B6-85E2-35F315599856}"/>
              </a:ext>
            </a:extLst>
          </p:cNvPr>
          <p:cNvSpPr>
            <a:spLocks noGrp="1"/>
          </p:cNvSpPr>
          <p:nvPr/>
        </p:nvSpPr>
        <p:spPr>
          <a:xfrm>
            <a:off x="5581650" y="3924300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phase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90316D4-85C2-42B4-B718-3C808DC7857F}"/>
              </a:ext>
            </a:extLst>
          </p:cNvPr>
          <p:cNvSpPr>
            <a:spLocks noGrp="1"/>
          </p:cNvSpPr>
          <p:nvPr/>
        </p:nvSpPr>
        <p:spPr>
          <a:xfrm>
            <a:off x="6915150" y="3895725"/>
            <a:ext cx="22288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76B5E5A-663A-4374-B25F-9A18A2366B47}"/>
              </a:ext>
            </a:extLst>
          </p:cNvPr>
          <p:cNvSpPr>
            <a:spLocks noGrp="1"/>
          </p:cNvSpPr>
          <p:nvPr/>
        </p:nvSpPr>
        <p:spPr>
          <a:xfrm>
            <a:off x="7010400" y="3924300"/>
            <a:ext cx="2038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die order and serial connectivity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252FE62-2C4C-4E3C-B148-F41E90DF4870}"/>
              </a:ext>
            </a:extLst>
          </p:cNvPr>
          <p:cNvSpPr>
            <a:spLocks noGrp="1"/>
          </p:cNvSpPr>
          <p:nvPr/>
        </p:nvSpPr>
        <p:spPr>
          <a:xfrm>
            <a:off x="9144000" y="3895725"/>
            <a:ext cx="236220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5319E6-D764-4E8D-B8F9-52C157EACC22}"/>
              </a:ext>
            </a:extLst>
          </p:cNvPr>
          <p:cNvSpPr>
            <a:spLocks noGrp="1"/>
          </p:cNvSpPr>
          <p:nvPr/>
        </p:nvSpPr>
        <p:spPr>
          <a:xfrm>
            <a:off x="9239250" y="3924300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 engine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2E6A1B8-551E-4AAC-B56B-8582090D44E6}"/>
              </a:ext>
            </a:extLst>
          </p:cNvPr>
          <p:cNvSpPr>
            <a:spLocks noGrp="1"/>
          </p:cNvSpPr>
          <p:nvPr/>
        </p:nvSpPr>
        <p:spPr>
          <a:xfrm>
            <a:off x="4057650" y="4324350"/>
            <a:ext cx="14287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BF4C8AF-FC5B-43F6-BD02-159C273938B8}"/>
              </a:ext>
            </a:extLst>
          </p:cNvPr>
          <p:cNvSpPr>
            <a:spLocks noGrp="1"/>
          </p:cNvSpPr>
          <p:nvPr/>
        </p:nvSpPr>
        <p:spPr>
          <a:xfrm>
            <a:off x="4152900" y="4352925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import / retarget Tcl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77F1465-2E13-4CF1-826F-EBFC0F8874B5}"/>
              </a:ext>
            </a:extLst>
          </p:cNvPr>
          <p:cNvSpPr>
            <a:spLocks noGrp="1"/>
          </p:cNvSpPr>
          <p:nvPr/>
        </p:nvSpPr>
        <p:spPr>
          <a:xfrm>
            <a:off x="5486400" y="4324350"/>
            <a:ext cx="14287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7B346620-1CEC-49E0-896D-42DECA406300}"/>
              </a:ext>
            </a:extLst>
          </p:cNvPr>
          <p:cNvSpPr>
            <a:spLocks noGrp="1"/>
          </p:cNvSpPr>
          <p:nvPr/>
        </p:nvSpPr>
        <p:spPr>
          <a:xfrm>
            <a:off x="5581650" y="4352925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stack generator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39974CD-28C0-43F4-AE5B-C916C1BA14B9}"/>
              </a:ext>
            </a:extLst>
          </p:cNvPr>
          <p:cNvSpPr>
            <a:spLocks noGrp="1"/>
          </p:cNvSpPr>
          <p:nvPr/>
        </p:nvSpPr>
        <p:spPr>
          <a:xfrm>
            <a:off x="6915150" y="4324350"/>
            <a:ext cx="22288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B9BE48A-C437-406C-B9FA-0FEC61BDC1A8}"/>
              </a:ext>
            </a:extLst>
          </p:cNvPr>
          <p:cNvSpPr>
            <a:spLocks noGrp="1"/>
          </p:cNvSpPr>
          <p:nvPr/>
        </p:nvSpPr>
        <p:spPr>
          <a:xfrm>
            <a:off x="7010400" y="4352925"/>
            <a:ext cx="2038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reproducible target selection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0956423-09F0-48B4-AFCA-6FA9F8D1CED1}"/>
              </a:ext>
            </a:extLst>
          </p:cNvPr>
          <p:cNvSpPr>
            <a:spLocks noGrp="1"/>
          </p:cNvSpPr>
          <p:nvPr/>
        </p:nvSpPr>
        <p:spPr>
          <a:xfrm>
            <a:off x="9144000" y="4324350"/>
            <a:ext cx="236220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D51D9DAC-EF41-48F8-84D0-5EF2373A1D8D}"/>
              </a:ext>
            </a:extLst>
          </p:cNvPr>
          <p:cNvSpPr>
            <a:spLocks noGrp="1"/>
          </p:cNvSpPr>
          <p:nvPr/>
        </p:nvSpPr>
        <p:spPr>
          <a:xfrm>
            <a:off x="9239250" y="4352925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 generation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E9311126-B243-4603-9A46-C45C07BF11BF}"/>
              </a:ext>
            </a:extLst>
          </p:cNvPr>
          <p:cNvSpPr>
            <a:spLocks noGrp="1"/>
          </p:cNvSpPr>
          <p:nvPr/>
        </p:nvSpPr>
        <p:spPr>
          <a:xfrm>
            <a:off x="4057650" y="475297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544FA83-5815-4CAB-AC42-0F044B6A694D}"/>
              </a:ext>
            </a:extLst>
          </p:cNvPr>
          <p:cNvSpPr>
            <a:spLocks noGrp="1"/>
          </p:cNvSpPr>
          <p:nvPr/>
        </p:nvSpPr>
        <p:spPr>
          <a:xfrm>
            <a:off x="4152900" y="4781550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pattern + expected data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AC80ADC-399E-446C-878B-7C2B50738D89}"/>
              </a:ext>
            </a:extLst>
          </p:cNvPr>
          <p:cNvSpPr>
            <a:spLocks noGrp="1"/>
          </p:cNvSpPr>
          <p:nvPr/>
        </p:nvSpPr>
        <p:spPr>
          <a:xfrm>
            <a:off x="5486400" y="4752975"/>
            <a:ext cx="14287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86263D5-8589-4F99-8F0A-CDB6001E8D1B}"/>
              </a:ext>
            </a:extLst>
          </p:cNvPr>
          <p:cNvSpPr>
            <a:spLocks noGrp="1"/>
          </p:cNvSpPr>
          <p:nvPr/>
        </p:nvSpPr>
        <p:spPr>
          <a:xfrm>
            <a:off x="5581650" y="4781550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5D73239-2678-4472-800F-D6C9C8AD8C1A}"/>
              </a:ext>
            </a:extLst>
          </p:cNvPr>
          <p:cNvSpPr>
            <a:spLocks noGrp="1"/>
          </p:cNvSpPr>
          <p:nvPr/>
        </p:nvSpPr>
        <p:spPr>
          <a:xfrm>
            <a:off x="6915150" y="4752975"/>
            <a:ext cx="222885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D4E1D6E-008F-4601-8BBC-E90ED1C83590}"/>
              </a:ext>
            </a:extLst>
          </p:cNvPr>
          <p:cNvSpPr>
            <a:spLocks noGrp="1"/>
          </p:cNvSpPr>
          <p:nvPr/>
        </p:nvSpPr>
        <p:spPr>
          <a:xfrm>
            <a:off x="7010400" y="4781550"/>
            <a:ext cx="2038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intended control and observation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547B804E-65F8-4FE9-AAD5-CB9C005847E4}"/>
              </a:ext>
            </a:extLst>
          </p:cNvPr>
          <p:cNvSpPr>
            <a:spLocks noGrp="1"/>
          </p:cNvSpPr>
          <p:nvPr/>
        </p:nvSpPr>
        <p:spPr>
          <a:xfrm>
            <a:off x="9144000" y="4752975"/>
            <a:ext cx="2362200" cy="4286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92D95E4-DFD0-4EE3-B3BB-6DBFFB2F05EF}"/>
              </a:ext>
            </a:extLst>
          </p:cNvPr>
          <p:cNvSpPr>
            <a:spLocks noGrp="1"/>
          </p:cNvSpPr>
          <p:nvPr/>
        </p:nvSpPr>
        <p:spPr>
          <a:xfrm>
            <a:off x="9239250" y="4781550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simulation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039D5D9F-77FD-49E8-9563-28168663E12C}"/>
              </a:ext>
            </a:extLst>
          </p:cNvPr>
          <p:cNvSpPr>
            <a:spLocks noGrp="1"/>
          </p:cNvSpPr>
          <p:nvPr/>
        </p:nvSpPr>
        <p:spPr>
          <a:xfrm>
            <a:off x="4057650" y="5181600"/>
            <a:ext cx="14287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CEAD991-68F3-4BE2-86A4-4EDED4E4AEB9}"/>
              </a:ext>
            </a:extLst>
          </p:cNvPr>
          <p:cNvSpPr>
            <a:spLocks noGrp="1"/>
          </p:cNvSpPr>
          <p:nvPr/>
        </p:nvSpPr>
        <p:spPr>
          <a:xfrm>
            <a:off x="4152900" y="5210175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571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simulation report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FB13C831-29B0-4866-B39D-D93CAFB914DE}"/>
              </a:ext>
            </a:extLst>
          </p:cNvPr>
          <p:cNvSpPr>
            <a:spLocks noGrp="1"/>
          </p:cNvSpPr>
          <p:nvPr/>
        </p:nvSpPr>
        <p:spPr>
          <a:xfrm>
            <a:off x="5486400" y="5181600"/>
            <a:ext cx="14287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DDEB869-9E17-4B15-BC96-D5A9AADA4B13}"/>
              </a:ext>
            </a:extLst>
          </p:cNvPr>
          <p:cNvSpPr>
            <a:spLocks noGrp="1"/>
          </p:cNvSpPr>
          <p:nvPr/>
        </p:nvSpPr>
        <p:spPr>
          <a:xfrm>
            <a:off x="5581650" y="5210175"/>
            <a:ext cx="1238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checker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5092EE1D-618F-424B-B26E-B4CD98573018}"/>
              </a:ext>
            </a:extLst>
          </p:cNvPr>
          <p:cNvSpPr>
            <a:spLocks noGrp="1"/>
          </p:cNvSpPr>
          <p:nvPr/>
        </p:nvSpPr>
        <p:spPr>
          <a:xfrm>
            <a:off x="6915150" y="5181600"/>
            <a:ext cx="222885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2332589-2F7C-4C0F-867D-600F711AB92E}"/>
              </a:ext>
            </a:extLst>
          </p:cNvPr>
          <p:cNvSpPr>
            <a:spLocks noGrp="1"/>
          </p:cNvSpPr>
          <p:nvPr/>
        </p:nvSpPr>
        <p:spPr>
          <a:xfrm>
            <a:off x="7010400" y="5210175"/>
            <a:ext cx="20383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behavioral pass / fail evidence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CC77B5D-42F6-424C-9EE6-1E4145367415}"/>
              </a:ext>
            </a:extLst>
          </p:cNvPr>
          <p:cNvSpPr>
            <a:spLocks noGrp="1"/>
          </p:cNvSpPr>
          <p:nvPr/>
        </p:nvSpPr>
        <p:spPr>
          <a:xfrm>
            <a:off x="9144000" y="5181600"/>
            <a:ext cx="2362200" cy="4286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CE6EAC9-9F66-44B4-BF4F-8B232E6FD6D3}"/>
              </a:ext>
            </a:extLst>
          </p:cNvPr>
          <p:cNvSpPr>
            <a:spLocks noGrp="1"/>
          </p:cNvSpPr>
          <p:nvPr/>
        </p:nvSpPr>
        <p:spPr>
          <a:xfrm>
            <a:off x="9239250" y="5210175"/>
            <a:ext cx="21717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sign-off / handoff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80F07B4-08F6-47E2-A98E-A86F1DF154A4}"/>
              </a:ext>
            </a:extLst>
          </p:cNvPr>
          <p:cNvSpPr>
            <a:spLocks noGrp="1"/>
          </p:cNvSpPr>
          <p:nvPr/>
        </p:nvSpPr>
        <p:spPr>
          <a:xfrm>
            <a:off x="4057650" y="5600700"/>
            <a:ext cx="7448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597"/>
          </a:bodyPr>
          <a:lstStyle/>
          <a:p>
            <a:pPr algn="ctr">
              <a:lnSpc>
                <a:spcPct val="102000"/>
              </a:lnSpc>
              <a:buNone/>
              <a:defRPr sz="1425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A run is promotable only when the artifact set is complete and internally consistent.</a:t>
            </a:r>
          </a:p>
        </p:txBody>
      </p:sp>
      <p:sp>
        <p:nvSpPr>
          <p:cNvPr id="82" name="直線接點 81">
            <a:extLst>
              <a:ext uri="{FF2B5EF4-FFF2-40B4-BE49-F238E27FC236}">
                <a16:creationId xmlns:a16="http://schemas.microsoft.com/office/drawing/2014/main" id="{63010D3C-E5BA-4C96-B8AA-AC3676C17180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1F7B72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167DBE6E-38E4-4CB1-A8A0-8A194814BB56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222"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evidence package makes results reproducible, debuggable, reviewable, and transferable to another engineer.</a:t>
            </a:r>
          </a:p>
        </p:txBody>
      </p:sp>
      <p:sp>
        <p:nvSpPr>
          <p:cNvPr id="84" name="直線接點 83">
            <a:extLst>
              <a:ext uri="{FF2B5EF4-FFF2-40B4-BE49-F238E27FC236}">
                <a16:creationId xmlns:a16="http://schemas.microsoft.com/office/drawing/2014/main" id="{FB3F471B-1BB8-4D03-BFE3-ED8BE825CF57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E1408130-AAF7-467E-AA5E-3BF3480A37B5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752080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448A08B-3AC2-4E41-95CA-AC4F09306243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FAILURE OWNERSHIP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9C07B2-E507-4B2A-A165-E87273982A16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slide-14-title">
            <a:extLst>
              <a:ext uri="{FF2B5EF4-FFF2-40B4-BE49-F238E27FC236}">
                <a16:creationId xmlns:a16="http://schemas.microsoft.com/office/drawing/2014/main" id="{EE5FE763-4958-47CB-A609-0B78694537C4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428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Each failure maps to one owning stage and next action.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5A24FC4F-878E-48BC-A4B2-118B8BC89019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0A3038-FB96-4BC7-9683-B83EDB67F4A5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DETERMINISTIC STOP BOUNDARY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426FB12-3B0F-452E-B896-C01D4F17740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200150" cy="419100"/>
          </a:xfrm>
          <a:prstGeom prst="roundRect">
            <a:avLst>
              <a:gd name="adj" fmla="val 13636"/>
            </a:avLst>
          </a:prstGeom>
          <a:solidFill>
            <a:srgbClr val="F6F8F9"/>
          </a:solidFill>
          <a:ln w="11430">
            <a:solidFill>
              <a:srgbClr val="5E6D78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9871316-20D8-42AE-9920-CAE0B2BC61EF}"/>
              </a:ext>
            </a:extLst>
          </p:cNvPr>
          <p:cNvSpPr>
            <a:spLocks noGrp="1"/>
          </p:cNvSpPr>
          <p:nvPr/>
        </p:nvSpPr>
        <p:spPr>
          <a:xfrm>
            <a:off x="2171700" y="1809750"/>
            <a:ext cx="12001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0B6B9E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cxnSp>
        <p:nvCxnSpPr>
          <p:cNvPr id="309" name="直線單箭頭接點 308"/>
          <p:cNvCxnSpPr>
            <a:stCxn id="6" idx="3"/>
            <a:endCxn id="7" idx="1"/>
          </p:cNvCxnSpPr>
          <p:nvPr/>
        </p:nvCxnSpPr>
        <p:spPr>
          <a:xfrm>
            <a:off x="1809750" y="2019300"/>
            <a:ext cx="361950" cy="0"/>
          </a:xfrm>
          <a:prstGeom prst="straightConnector1">
            <a:avLst/>
          </a:prstGeom>
          <a:ln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8BB36CA-40B3-43A5-8E72-4FBE36F40653}"/>
              </a:ext>
            </a:extLst>
          </p:cNvPr>
          <p:cNvSpPr>
            <a:spLocks noGrp="1"/>
          </p:cNvSpPr>
          <p:nvPr/>
        </p:nvSpPr>
        <p:spPr>
          <a:xfrm>
            <a:off x="3733800" y="1809750"/>
            <a:ext cx="1200150" cy="419100"/>
          </a:xfrm>
          <a:prstGeom prst="roundRect">
            <a:avLst>
              <a:gd name="adj" fmla="val 13636"/>
            </a:avLst>
          </a:prstGeom>
          <a:solidFill>
            <a:srgbClr val="F6F8F9"/>
          </a:solidFill>
          <a:ln w="11430">
            <a:solidFill>
              <a:srgbClr val="3A91B3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cxnSp>
        <p:nvCxnSpPr>
          <p:cNvPr id="311" name="直線單箭頭接點 310"/>
          <p:cNvCxnSpPr>
            <a:stCxn id="7" idx="3"/>
            <a:endCxn id="9" idx="1"/>
          </p:cNvCxnSpPr>
          <p:nvPr/>
        </p:nvCxnSpPr>
        <p:spPr>
          <a:xfrm>
            <a:off x="3371850" y="2019300"/>
            <a:ext cx="361950" cy="0"/>
          </a:xfrm>
          <a:prstGeom prst="straightConnector1">
            <a:avLst/>
          </a:prstGeom>
          <a:ln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89B5709-A1C3-4199-9FB6-18334855F4D0}"/>
              </a:ext>
            </a:extLst>
          </p:cNvPr>
          <p:cNvSpPr>
            <a:spLocks noGrp="1"/>
          </p:cNvSpPr>
          <p:nvPr/>
        </p:nvSpPr>
        <p:spPr>
          <a:xfrm>
            <a:off x="5295900" y="1809750"/>
            <a:ext cx="12001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cxnSp>
        <p:nvCxnSpPr>
          <p:cNvPr id="313" name="直線單箭頭接點 312"/>
          <p:cNvCxnSpPr>
            <a:stCxn id="9" idx="3"/>
            <a:endCxn id="11" idx="1"/>
          </p:cNvCxnSpPr>
          <p:nvPr/>
        </p:nvCxnSpPr>
        <p:spPr>
          <a:xfrm>
            <a:off x="4933950" y="2019300"/>
            <a:ext cx="361950" cy="0"/>
          </a:xfrm>
          <a:prstGeom prst="straightConnector1">
            <a:avLst/>
          </a:prstGeom>
          <a:ln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51E4031-222A-43BB-8DAE-EC2279BFA584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1200150" cy="419100"/>
          </a:xfrm>
          <a:prstGeom prst="roundRect">
            <a:avLst>
              <a:gd name="adj" fmla="val 13636"/>
            </a:avLst>
          </a:prstGeom>
          <a:solidFill>
            <a:srgbClr val="F6F8F9"/>
          </a:solidFill>
          <a:ln w="11430">
            <a:solidFill>
              <a:srgbClr val="3F7B4B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cxnSp>
        <p:nvCxnSpPr>
          <p:cNvPr id="315" name="直線單箭頭接點 314"/>
          <p:cNvCxnSpPr>
            <a:stCxn id="11" idx="3"/>
            <a:endCxn id="13" idx="1"/>
          </p:cNvCxnSpPr>
          <p:nvPr/>
        </p:nvCxnSpPr>
        <p:spPr>
          <a:xfrm>
            <a:off x="6496050" y="2019300"/>
            <a:ext cx="361950" cy="0"/>
          </a:xfrm>
          <a:prstGeom prst="straightConnector1">
            <a:avLst/>
          </a:prstGeom>
          <a:ln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606BF08-B75C-4BEC-94ED-B86CB37D2348}"/>
              </a:ext>
            </a:extLst>
          </p:cNvPr>
          <p:cNvSpPr>
            <a:spLocks noGrp="1"/>
          </p:cNvSpPr>
          <p:nvPr/>
        </p:nvSpPr>
        <p:spPr>
          <a:xfrm>
            <a:off x="8420100" y="1809750"/>
            <a:ext cx="12001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D96B30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cxnSp>
        <p:nvCxnSpPr>
          <p:cNvPr id="317" name="直線單箭頭接點 316"/>
          <p:cNvCxnSpPr>
            <a:stCxn id="13" idx="3"/>
            <a:endCxn id="15" idx="1"/>
          </p:cNvCxnSpPr>
          <p:nvPr/>
        </p:nvCxnSpPr>
        <p:spPr>
          <a:xfrm>
            <a:off x="8058150" y="2019300"/>
            <a:ext cx="361950" cy="0"/>
          </a:xfrm>
          <a:prstGeom prst="straightConnector1">
            <a:avLst/>
          </a:prstGeom>
          <a:ln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30602E8D-A089-4202-84FA-50EA750AF925}"/>
              </a:ext>
            </a:extLst>
          </p:cNvPr>
          <p:cNvSpPr>
            <a:spLocks noGrp="1"/>
          </p:cNvSpPr>
          <p:nvPr/>
        </p:nvSpPr>
        <p:spPr>
          <a:xfrm>
            <a:off x="9982200" y="1809750"/>
            <a:ext cx="1200150" cy="419100"/>
          </a:xfrm>
          <a:prstGeom prst="roundRect">
            <a:avLst>
              <a:gd name="adj" fmla="val 13636"/>
            </a:avLst>
          </a:prstGeom>
          <a:solidFill>
            <a:srgbClr val="F6F8F9"/>
          </a:solidFill>
          <a:ln w="11430">
            <a:solidFill>
              <a:srgbClr val="B94A48"/>
            </a:solidFill>
            <a:prstDash val="solid"/>
          </a:ln>
        </p:spPr>
        <p:txBody>
          <a:bodyPr wrap="square" lIns="114300" tIns="76200" rIns="114300" bIns="7620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cxnSp>
        <p:nvCxnSpPr>
          <p:cNvPr id="319" name="直線單箭頭接點 318"/>
          <p:cNvCxnSpPr>
            <a:stCxn id="15" idx="3"/>
            <a:endCxn id="17" idx="1"/>
          </p:cNvCxnSpPr>
          <p:nvPr/>
        </p:nvCxnSpPr>
        <p:spPr>
          <a:xfrm>
            <a:off x="9620250" y="2019300"/>
            <a:ext cx="361950" cy="0"/>
          </a:xfrm>
          <a:prstGeom prst="straightConnector1">
            <a:avLst/>
          </a:prstGeom>
          <a:ln w="14288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56A411C-4994-4931-B308-6955380EE861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SYMPTOM-TO-OWNER MATRIX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6753D7B-A38E-43D5-9F16-985DA32581A7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226695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1987AA3-BFEB-4D15-BF51-DEE7332A88B4}"/>
              </a:ext>
            </a:extLst>
          </p:cNvPr>
          <p:cNvSpPr>
            <a:spLocks noGrp="1"/>
          </p:cNvSpPr>
          <p:nvPr/>
        </p:nvSpPr>
        <p:spPr>
          <a:xfrm>
            <a:off x="704850" y="2771775"/>
            <a:ext cx="2076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SYMPTOM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4F2EF9-3FEC-4B93-A314-E323EEA2E1FE}"/>
              </a:ext>
            </a:extLst>
          </p:cNvPr>
          <p:cNvSpPr>
            <a:spLocks noGrp="1"/>
          </p:cNvSpPr>
          <p:nvPr/>
        </p:nvSpPr>
        <p:spPr>
          <a:xfrm>
            <a:off x="2876550" y="2743200"/>
            <a:ext cx="106680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A606D3-B669-4B34-9BD0-1DDED87B8D7E}"/>
              </a:ext>
            </a:extLst>
          </p:cNvPr>
          <p:cNvSpPr>
            <a:spLocks noGrp="1"/>
          </p:cNvSpPr>
          <p:nvPr/>
        </p:nvSpPr>
        <p:spPr>
          <a:xfrm>
            <a:off x="2971800" y="2771775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FD2E13A-4C6A-4236-8368-C4E8FA3FC49F}"/>
              </a:ext>
            </a:extLst>
          </p:cNvPr>
          <p:cNvSpPr>
            <a:spLocks noGrp="1"/>
          </p:cNvSpPr>
          <p:nvPr/>
        </p:nvSpPr>
        <p:spPr>
          <a:xfrm>
            <a:off x="3943350" y="2743200"/>
            <a:ext cx="224790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41405D-425D-45B1-9CED-A79817671075}"/>
              </a:ext>
            </a:extLst>
          </p:cNvPr>
          <p:cNvSpPr>
            <a:spLocks noGrp="1"/>
          </p:cNvSpPr>
          <p:nvPr/>
        </p:nvSpPr>
        <p:spPr>
          <a:xfrm>
            <a:off x="4038600" y="2771775"/>
            <a:ext cx="205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FIRST EVIDENCE TO OPEN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FED8A0-926B-4D03-8724-EB5B7E5D6865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281940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A25DCC-7809-4F3C-B5FB-F226B2BA1770}"/>
              </a:ext>
            </a:extLst>
          </p:cNvPr>
          <p:cNvSpPr>
            <a:spLocks noGrp="1"/>
          </p:cNvSpPr>
          <p:nvPr/>
        </p:nvSpPr>
        <p:spPr>
          <a:xfrm>
            <a:off x="6286500" y="2771775"/>
            <a:ext cx="2628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LIKELY ROOT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BA49AFD-46C4-437B-8AA5-C4F4534E55B8}"/>
              </a:ext>
            </a:extLst>
          </p:cNvPr>
          <p:cNvSpPr>
            <a:spLocks noGrp="1"/>
          </p:cNvSpPr>
          <p:nvPr/>
        </p:nvSpPr>
        <p:spPr>
          <a:xfrm>
            <a:off x="9010650" y="2743200"/>
            <a:ext cx="249555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5D7B5DF-4A86-4895-8F7D-84986A500824}"/>
              </a:ext>
            </a:extLst>
          </p:cNvPr>
          <p:cNvSpPr>
            <a:spLocks noGrp="1"/>
          </p:cNvSpPr>
          <p:nvPr/>
        </p:nvSpPr>
        <p:spPr>
          <a:xfrm>
            <a:off x="9105900" y="2771775"/>
            <a:ext cx="2305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7BB38B8-0630-4B03-AA40-C0758B45727B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22669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2999B10-307F-4E02-ADE6-94A9BCD854D0}"/>
              </a:ext>
            </a:extLst>
          </p:cNvPr>
          <p:cNvSpPr>
            <a:spLocks noGrp="1"/>
          </p:cNvSpPr>
          <p:nvPr/>
        </p:nvSpPr>
        <p:spPr>
          <a:xfrm>
            <a:off x="704850" y="3076575"/>
            <a:ext cx="2076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Top module / port not found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C14E3BD-3062-40E6-B5FD-881BBDEE72FE}"/>
              </a:ext>
            </a:extLst>
          </p:cNvPr>
          <p:cNvSpPr>
            <a:spLocks noGrp="1"/>
          </p:cNvSpPr>
          <p:nvPr/>
        </p:nvSpPr>
        <p:spPr>
          <a:xfrm>
            <a:off x="2876550" y="3048000"/>
            <a:ext cx="10668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52F4902-30ED-4E64-9A15-C08919CD7752}"/>
              </a:ext>
            </a:extLst>
          </p:cNvPr>
          <p:cNvSpPr>
            <a:spLocks noGrp="1"/>
          </p:cNvSpPr>
          <p:nvPr/>
        </p:nvSpPr>
        <p:spPr>
          <a:xfrm>
            <a:off x="2971800" y="3076575"/>
            <a:ext cx="8763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6ABB1EF-2211-4E97-A310-C36EFC2F5441}"/>
              </a:ext>
            </a:extLst>
          </p:cNvPr>
          <p:cNvSpPr>
            <a:spLocks noGrp="1"/>
          </p:cNvSpPr>
          <p:nvPr/>
        </p:nvSpPr>
        <p:spPr>
          <a:xfrm>
            <a:off x="3943350" y="3048000"/>
            <a:ext cx="22479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A2E8A3D-EEA4-44B6-A9E1-F63A7FEA44B7}"/>
              </a:ext>
            </a:extLst>
          </p:cNvPr>
          <p:cNvSpPr>
            <a:spLocks noGrp="1"/>
          </p:cNvSpPr>
          <p:nvPr/>
        </p:nvSpPr>
        <p:spPr>
          <a:xfrm>
            <a:off x="4038600" y="3076575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input_audit.json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22E22DE-00AE-4688-B847-17F16DAC7774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28194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5C7932A-A533-4AEF-A8A0-53553B08BB39}"/>
              </a:ext>
            </a:extLst>
          </p:cNvPr>
          <p:cNvSpPr>
            <a:spLocks noGrp="1"/>
          </p:cNvSpPr>
          <p:nvPr/>
        </p:nvSpPr>
        <p:spPr>
          <a:xfrm>
            <a:off x="6286500" y="3076575"/>
            <a:ext cx="2628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filelist or manifest mismatch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260BC14-FFB7-4CF6-9D75-B0AC828834D2}"/>
              </a:ext>
            </a:extLst>
          </p:cNvPr>
          <p:cNvSpPr>
            <a:spLocks noGrp="1"/>
          </p:cNvSpPr>
          <p:nvPr/>
        </p:nvSpPr>
        <p:spPr>
          <a:xfrm>
            <a:off x="9010650" y="3048000"/>
            <a:ext cx="24955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E180D75-E6D4-4973-AE8C-95E6C3DA32C7}"/>
              </a:ext>
            </a:extLst>
          </p:cNvPr>
          <p:cNvSpPr>
            <a:spLocks noGrp="1"/>
          </p:cNvSpPr>
          <p:nvPr/>
        </p:nvSpPr>
        <p:spPr>
          <a:xfrm>
            <a:off x="9105900" y="3076575"/>
            <a:ext cx="2305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correct input; restart from clean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9F4A15E9-F173-4F7C-A2C3-FBB170DA8A9D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22669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725A7E7-048F-407F-BD4A-DF656F9AC0CE}"/>
              </a:ext>
            </a:extLst>
          </p:cNvPr>
          <p:cNvSpPr>
            <a:spLocks noGrp="1"/>
          </p:cNvSpPr>
          <p:nvPr/>
        </p:nvSpPr>
        <p:spPr>
          <a:xfrm>
            <a:off x="704850" y="3486150"/>
            <a:ext cx="2076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Illegal host or role conflict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4FF2614-E20A-4C1E-A442-6AD010DA29C1}"/>
              </a:ext>
            </a:extLst>
          </p:cNvPr>
          <p:cNvSpPr>
            <a:spLocks noGrp="1"/>
          </p:cNvSpPr>
          <p:nvPr/>
        </p:nvSpPr>
        <p:spPr>
          <a:xfrm>
            <a:off x="2876550" y="3457575"/>
            <a:ext cx="10668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29F7001-D98A-46F3-9388-22EA1FB42C04}"/>
              </a:ext>
            </a:extLst>
          </p:cNvPr>
          <p:cNvSpPr>
            <a:spLocks noGrp="1"/>
          </p:cNvSpPr>
          <p:nvPr/>
        </p:nvSpPr>
        <p:spPr>
          <a:xfrm>
            <a:off x="2971800" y="3486150"/>
            <a:ext cx="8763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CONFIG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E2A2FB4-1602-4F00-A47E-99A4626C4C65}"/>
              </a:ext>
            </a:extLst>
          </p:cNvPr>
          <p:cNvSpPr>
            <a:spLocks noGrp="1"/>
          </p:cNvSpPr>
          <p:nvPr/>
        </p:nvSpPr>
        <p:spPr>
          <a:xfrm>
            <a:off x="3943350" y="3457575"/>
            <a:ext cx="22479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9506C48-992E-4B12-A9F9-8EA7D9EB49E1}"/>
              </a:ext>
            </a:extLst>
          </p:cNvPr>
          <p:cNvSpPr>
            <a:spLocks noGrp="1"/>
          </p:cNvSpPr>
          <p:nvPr/>
        </p:nvSpPr>
        <p:spPr>
          <a:xfrm>
            <a:off x="4038600" y="3486150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report_config_data.log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0E79996A-474A-46F1-8D35-1052AF648010}"/>
              </a:ext>
            </a:extLst>
          </p:cNvPr>
          <p:cNvSpPr>
            <a:spLocks noGrp="1"/>
          </p:cNvSpPr>
          <p:nvPr/>
        </p:nvSpPr>
        <p:spPr>
          <a:xfrm>
            <a:off x="6191250" y="3457575"/>
            <a:ext cx="28194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1523BDC-6B87-4A0B-BC8E-89967A305EDF}"/>
              </a:ext>
            </a:extLst>
          </p:cNvPr>
          <p:cNvSpPr>
            <a:spLocks noGrp="1"/>
          </p:cNvSpPr>
          <p:nvPr/>
        </p:nvSpPr>
        <p:spPr>
          <a:xfrm>
            <a:off x="6286500" y="3486150"/>
            <a:ext cx="2628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role policy or duplicate host root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6DC1840-CD4A-48DA-AFA9-325CE5D195E4}"/>
              </a:ext>
            </a:extLst>
          </p:cNvPr>
          <p:cNvSpPr>
            <a:spLocks noGrp="1"/>
          </p:cNvSpPr>
          <p:nvPr/>
        </p:nvSpPr>
        <p:spPr>
          <a:xfrm>
            <a:off x="9010650" y="3457575"/>
            <a:ext cx="24955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C6B410C2-CD02-4AB8-95CB-FF2170A64077}"/>
              </a:ext>
            </a:extLst>
          </p:cNvPr>
          <p:cNvSpPr>
            <a:spLocks noGrp="1"/>
          </p:cNvSpPr>
          <p:nvPr/>
        </p:nvSpPr>
        <p:spPr>
          <a:xfrm>
            <a:off x="9105900" y="3486150"/>
            <a:ext cx="2305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fix role / host mapping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CE2853C-090C-49FD-B2BF-D04E21F569F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22669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5612177-28B2-4D19-B036-3E2EEB8A1F11}"/>
              </a:ext>
            </a:extLst>
          </p:cNvPr>
          <p:cNvSpPr>
            <a:spLocks noGrp="1"/>
          </p:cNvSpPr>
          <p:nvPr/>
        </p:nvSpPr>
        <p:spPr>
          <a:xfrm>
            <a:off x="704850" y="3895725"/>
            <a:ext cx="2076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Insertion DRC failure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5FE3948F-3E15-45AD-983B-A2D7538FEA5A}"/>
              </a:ext>
            </a:extLst>
          </p:cNvPr>
          <p:cNvSpPr>
            <a:spLocks noGrp="1"/>
          </p:cNvSpPr>
          <p:nvPr/>
        </p:nvSpPr>
        <p:spPr>
          <a:xfrm>
            <a:off x="2876550" y="3867150"/>
            <a:ext cx="10668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461A292-BC1C-4254-852B-BC587223AA96}"/>
              </a:ext>
            </a:extLst>
          </p:cNvPr>
          <p:cNvSpPr>
            <a:spLocks noGrp="1"/>
          </p:cNvSpPr>
          <p:nvPr/>
        </p:nvSpPr>
        <p:spPr>
          <a:xfrm>
            <a:off x="2971800" y="3895725"/>
            <a:ext cx="8763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EFD2A62-A68C-40FF-95E9-5A161761AE0D}"/>
              </a:ext>
            </a:extLst>
          </p:cNvPr>
          <p:cNvSpPr>
            <a:spLocks noGrp="1"/>
          </p:cNvSpPr>
          <p:nvPr/>
        </p:nvSpPr>
        <p:spPr>
          <a:xfrm>
            <a:off x="3943350" y="3867150"/>
            <a:ext cx="22479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62B7E8E-0698-49E8-A9EE-37F02B2CFEB6}"/>
              </a:ext>
            </a:extLst>
          </p:cNvPr>
          <p:cNvSpPr>
            <a:spLocks noGrp="1"/>
          </p:cNvSpPr>
          <p:nvPr/>
        </p:nvSpPr>
        <p:spPr>
          <a:xfrm>
            <a:off x="4038600" y="3895725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insert log + post-DFT hierarchy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BA18ACD-FBED-4E5D-A1DB-1265D41DA871}"/>
              </a:ext>
            </a:extLst>
          </p:cNvPr>
          <p:cNvSpPr>
            <a:spLocks noGrp="1"/>
          </p:cNvSpPr>
          <p:nvPr/>
        </p:nvSpPr>
        <p:spPr>
          <a:xfrm>
            <a:off x="6191250" y="3867150"/>
            <a:ext cx="28194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B73F2EB-2EB1-411A-855D-24EAE3CEB79B}"/>
              </a:ext>
            </a:extLst>
          </p:cNvPr>
          <p:cNvSpPr>
            <a:spLocks noGrp="1"/>
          </p:cNvSpPr>
          <p:nvPr/>
        </p:nvSpPr>
        <p:spPr>
          <a:xfrm>
            <a:off x="6286500" y="3895725"/>
            <a:ext cx="2628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clock, reset, or unsupported connectivity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A4CE9D24-51AF-42CC-AF94-9E424220B103}"/>
              </a:ext>
            </a:extLst>
          </p:cNvPr>
          <p:cNvSpPr>
            <a:spLocks noGrp="1"/>
          </p:cNvSpPr>
          <p:nvPr/>
        </p:nvSpPr>
        <p:spPr>
          <a:xfrm>
            <a:off x="9010650" y="3867150"/>
            <a:ext cx="24955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92D34E1-2459-4D7F-9AF1-A9621DFE0570}"/>
              </a:ext>
            </a:extLst>
          </p:cNvPr>
          <p:cNvSpPr>
            <a:spLocks noGrp="1"/>
          </p:cNvSpPr>
          <p:nvPr/>
        </p:nvSpPr>
        <p:spPr>
          <a:xfrm>
            <a:off x="9105900" y="3895725"/>
            <a:ext cx="2305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fix DFT config; reinsert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91E30A6-CAD7-4195-BCB9-218DCE165AF5}"/>
              </a:ext>
            </a:extLst>
          </p:cNvPr>
          <p:cNvSpPr>
            <a:spLocks noGrp="1"/>
          </p:cNvSpPr>
          <p:nvPr/>
        </p:nvSpPr>
        <p:spPr>
          <a:xfrm>
            <a:off x="609600" y="4276725"/>
            <a:ext cx="22669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5EAC450-8536-49C5-BFBB-8B575DB991BD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2076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no source / no destination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EC265A5-0248-442E-AC37-0C4C536A8DC6}"/>
              </a:ext>
            </a:extLst>
          </p:cNvPr>
          <p:cNvSpPr>
            <a:spLocks noGrp="1"/>
          </p:cNvSpPr>
          <p:nvPr/>
        </p:nvSpPr>
        <p:spPr>
          <a:xfrm>
            <a:off x="2876550" y="4276725"/>
            <a:ext cx="10668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BD0435A-39A0-4A65-A435-402C3E1E5D8A}"/>
              </a:ext>
            </a:extLst>
          </p:cNvPr>
          <p:cNvSpPr>
            <a:spLocks noGrp="1"/>
          </p:cNvSpPr>
          <p:nvPr/>
        </p:nvSpPr>
        <p:spPr>
          <a:xfrm>
            <a:off x="2971800" y="4305300"/>
            <a:ext cx="8763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87C9C68-7480-47E7-9BF1-EC7A104CF0D7}"/>
              </a:ext>
            </a:extLst>
          </p:cNvPr>
          <p:cNvSpPr>
            <a:spLocks noGrp="1"/>
          </p:cNvSpPr>
          <p:nvPr/>
        </p:nvSpPr>
        <p:spPr>
          <a:xfrm>
            <a:off x="3943350" y="4276725"/>
            <a:ext cx="22479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DA7F01F-2250-4EF8-8833-6970098882B5}"/>
              </a:ext>
            </a:extLst>
          </p:cNvPr>
          <p:cNvSpPr>
            <a:spLocks noGrp="1"/>
          </p:cNvSpPr>
          <p:nvPr/>
        </p:nvSpPr>
        <p:spPr>
          <a:xfrm>
            <a:off x="4038600" y="4305300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ICL port path + extraction log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10A68EE-8AE6-4997-8A8D-6D7161CE19BB}"/>
              </a:ext>
            </a:extLst>
          </p:cNvPr>
          <p:cNvSpPr>
            <a:spLocks noGrp="1"/>
          </p:cNvSpPr>
          <p:nvPr/>
        </p:nvSpPr>
        <p:spPr>
          <a:xfrm>
            <a:off x="6191250" y="4276725"/>
            <a:ext cx="28194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7142226-39B3-4F5F-B89A-C76BF1E730D8}"/>
              </a:ext>
            </a:extLst>
          </p:cNvPr>
          <p:cNvSpPr>
            <a:spLocks noGrp="1"/>
          </p:cNvSpPr>
          <p:nvPr/>
        </p:nvSpPr>
        <p:spPr>
          <a:xfrm>
            <a:off x="6286500" y="4305300"/>
            <a:ext cx="2628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floating or unmapped stack endpoint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3D1E7E8-2CBE-4FAC-9813-A1EBBB8480A4}"/>
              </a:ext>
            </a:extLst>
          </p:cNvPr>
          <p:cNvSpPr>
            <a:spLocks noGrp="1"/>
          </p:cNvSpPr>
          <p:nvPr/>
        </p:nvSpPr>
        <p:spPr>
          <a:xfrm>
            <a:off x="9010650" y="4276725"/>
            <a:ext cx="24955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412F013-9009-4DC5-B8AA-BEC4F9B741DE}"/>
              </a:ext>
            </a:extLst>
          </p:cNvPr>
          <p:cNvSpPr>
            <a:spLocks noGrp="1"/>
          </p:cNvSpPr>
          <p:nvPr/>
        </p:nvSpPr>
        <p:spPr>
          <a:xfrm>
            <a:off x="9105900" y="4305300"/>
            <a:ext cx="2305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repair RTL / stack connection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490D1C7-3CE9-4899-9AF2-D5BB4BA14CB0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22669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E3CCC31-DE3C-495D-BD48-6D9E3ABDDF23}"/>
              </a:ext>
            </a:extLst>
          </p:cNvPr>
          <p:cNvSpPr>
            <a:spLocks noGrp="1"/>
          </p:cNvSpPr>
          <p:nvPr/>
        </p:nvSpPr>
        <p:spPr>
          <a:xfrm>
            <a:off x="704850" y="4714875"/>
            <a:ext cx="2076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Instrument visible but inaccessible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EFE638B9-A6ED-4655-8FA0-4DD60125D319}"/>
              </a:ext>
            </a:extLst>
          </p:cNvPr>
          <p:cNvSpPr>
            <a:spLocks noGrp="1"/>
          </p:cNvSpPr>
          <p:nvPr/>
        </p:nvSpPr>
        <p:spPr>
          <a:xfrm>
            <a:off x="2876550" y="4686300"/>
            <a:ext cx="10668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E2A5758-41C6-449B-B3E5-EE81F797731A}"/>
              </a:ext>
            </a:extLst>
          </p:cNvPr>
          <p:cNvSpPr>
            <a:spLocks noGrp="1"/>
          </p:cNvSpPr>
          <p:nvPr/>
        </p:nvSpPr>
        <p:spPr>
          <a:xfrm>
            <a:off x="2971800" y="4714875"/>
            <a:ext cx="8763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3F7B4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F7B4B"/>
                </a:solidFill>
                <a:latin typeface="Arial"/>
                <a:ea typeface="Arial"/>
                <a:cs typeface="Arial"/>
              </a:rPr>
              <a:t>RETARGET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E3ECD94-6B4D-42A7-B675-9A4CF01C5E17}"/>
              </a:ext>
            </a:extLst>
          </p:cNvPr>
          <p:cNvSpPr>
            <a:spLocks noGrp="1"/>
          </p:cNvSpPr>
          <p:nvPr/>
        </p:nvSpPr>
        <p:spPr>
          <a:xfrm>
            <a:off x="3943350" y="4686300"/>
            <a:ext cx="22479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266A78B-A0FA-4AB9-813E-6D93D2472EDA}"/>
              </a:ext>
            </a:extLst>
          </p:cNvPr>
          <p:cNvSpPr>
            <a:spLocks noGrp="1"/>
          </p:cNvSpPr>
          <p:nvPr/>
        </p:nvSpPr>
        <p:spPr>
          <a:xfrm>
            <a:off x="4038600" y="4714875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reachable-target list + ICL route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BF06E90-8E4E-4462-B8A1-8182BD7663E2}"/>
              </a:ext>
            </a:extLst>
          </p:cNvPr>
          <p:cNvSpPr>
            <a:spLocks noGrp="1"/>
          </p:cNvSpPr>
          <p:nvPr/>
        </p:nvSpPr>
        <p:spPr>
          <a:xfrm>
            <a:off x="6191250" y="4686300"/>
            <a:ext cx="28194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CB1E6D75-77DE-4A54-B72A-7073C79A9FF6}"/>
              </a:ext>
            </a:extLst>
          </p:cNvPr>
          <p:cNvSpPr>
            <a:spLocks noGrp="1"/>
          </p:cNvSpPr>
          <p:nvPr/>
        </p:nvSpPr>
        <p:spPr>
          <a:xfrm>
            <a:off x="6286500" y="4714875"/>
            <a:ext cx="2628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wrong access root or closed SIB path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85B152F-80BC-4E70-AB54-D8C9CCE9215A}"/>
              </a:ext>
            </a:extLst>
          </p:cNvPr>
          <p:cNvSpPr>
            <a:spLocks noGrp="1"/>
          </p:cNvSpPr>
          <p:nvPr/>
        </p:nvSpPr>
        <p:spPr>
          <a:xfrm>
            <a:off x="9010650" y="4686300"/>
            <a:ext cx="24955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5F1C6EB-A6BC-45D0-BABB-AACBA005DEA3}"/>
              </a:ext>
            </a:extLst>
          </p:cNvPr>
          <p:cNvSpPr>
            <a:spLocks noGrp="1"/>
          </p:cNvSpPr>
          <p:nvPr/>
        </p:nvSpPr>
        <p:spPr>
          <a:xfrm>
            <a:off x="9105900" y="4714875"/>
            <a:ext cx="2305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trace PTAP → host → SIB → TDR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BF4126C0-EFAB-4A65-81A8-7A0DB6405143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22669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9E90A86-A7FB-4C19-9C3F-93AB6A9EC2F4}"/>
              </a:ext>
            </a:extLst>
          </p:cNvPr>
          <p:cNvSpPr>
            <a:spLocks noGrp="1"/>
          </p:cNvSpPr>
          <p:nvPr/>
        </p:nvSpPr>
        <p:spPr>
          <a:xfrm>
            <a:off x="704850" y="5124450"/>
            <a:ext cx="2076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Care-bit mismatch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C214D182-D144-4061-B8FC-3A8F2CC0C75E}"/>
              </a:ext>
            </a:extLst>
          </p:cNvPr>
          <p:cNvSpPr>
            <a:spLocks noGrp="1"/>
          </p:cNvSpPr>
          <p:nvPr/>
        </p:nvSpPr>
        <p:spPr>
          <a:xfrm>
            <a:off x="2876550" y="5095875"/>
            <a:ext cx="10668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45F9361-63C7-446D-A382-CCC44540B4AE}"/>
              </a:ext>
            </a:extLst>
          </p:cNvPr>
          <p:cNvSpPr>
            <a:spLocks noGrp="1"/>
          </p:cNvSpPr>
          <p:nvPr/>
        </p:nvSpPr>
        <p:spPr>
          <a:xfrm>
            <a:off x="2971800" y="5124450"/>
            <a:ext cx="8763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SIMULATE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5B62492-3DDD-4811-89FB-83A92D1510AA}"/>
              </a:ext>
            </a:extLst>
          </p:cNvPr>
          <p:cNvSpPr>
            <a:spLocks noGrp="1"/>
          </p:cNvSpPr>
          <p:nvPr/>
        </p:nvSpPr>
        <p:spPr>
          <a:xfrm>
            <a:off x="3943350" y="5095875"/>
            <a:ext cx="22479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5C52408-AD26-4D00-B48D-46E4701F3FB4}"/>
              </a:ext>
            </a:extLst>
          </p:cNvPr>
          <p:cNvSpPr>
            <a:spLocks noGrp="1"/>
          </p:cNvSpPr>
          <p:nvPr/>
        </p:nvSpPr>
        <p:spPr>
          <a:xfrm>
            <a:off x="4038600" y="5124450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waveform + compare log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93B1AC4-5DA8-429A-9F00-3F1C83749349}"/>
              </a:ext>
            </a:extLst>
          </p:cNvPr>
          <p:cNvSpPr>
            <a:spLocks noGrp="1"/>
          </p:cNvSpPr>
          <p:nvPr/>
        </p:nvSpPr>
        <p:spPr>
          <a:xfrm>
            <a:off x="6191250" y="5095875"/>
            <a:ext cx="281940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6362373-D883-4C95-A4CC-3D72440689D7}"/>
              </a:ext>
            </a:extLst>
          </p:cNvPr>
          <p:cNvSpPr>
            <a:spLocks noGrp="1"/>
          </p:cNvSpPr>
          <p:nvPr/>
        </p:nvSpPr>
        <p:spPr>
          <a:xfrm>
            <a:off x="6286500" y="5124450"/>
            <a:ext cx="2628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phase, edge, expected value, or TDO timing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BDDCF465-33C9-49B6-86EE-6E3C66BD927E}"/>
              </a:ext>
            </a:extLst>
          </p:cNvPr>
          <p:cNvSpPr>
            <a:spLocks noGrp="1"/>
          </p:cNvSpPr>
          <p:nvPr/>
        </p:nvSpPr>
        <p:spPr>
          <a:xfrm>
            <a:off x="9010650" y="5095875"/>
            <a:ext cx="2495550" cy="40957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C2B2E5CD-FAA1-4701-96A6-F0F44D92C611}"/>
              </a:ext>
            </a:extLst>
          </p:cNvPr>
          <p:cNvSpPr>
            <a:spLocks noGrp="1"/>
          </p:cNvSpPr>
          <p:nvPr/>
        </p:nvSpPr>
        <p:spPr>
          <a:xfrm>
            <a:off x="9105900" y="5124450"/>
            <a:ext cx="2305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trace CE / SE / UE and compare point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5FB10244-7CED-43AF-BAFD-65173C85CB95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22669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AF6605A-90DC-4390-981C-5D149D3010F6}"/>
              </a:ext>
            </a:extLst>
          </p:cNvPr>
          <p:cNvSpPr>
            <a:spLocks noGrp="1"/>
          </p:cNvSpPr>
          <p:nvPr/>
        </p:nvSpPr>
        <p:spPr>
          <a:xfrm>
            <a:off x="704850" y="5534025"/>
            <a:ext cx="20764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803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Evidence package incomplete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8FFF53DC-9A86-4E62-B92D-396B9480A70E}"/>
              </a:ext>
            </a:extLst>
          </p:cNvPr>
          <p:cNvSpPr>
            <a:spLocks noGrp="1"/>
          </p:cNvSpPr>
          <p:nvPr/>
        </p:nvSpPr>
        <p:spPr>
          <a:xfrm>
            <a:off x="2876550" y="5505450"/>
            <a:ext cx="10668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240814D-A695-4035-8A17-0ED01283F17F}"/>
              </a:ext>
            </a:extLst>
          </p:cNvPr>
          <p:cNvSpPr>
            <a:spLocks noGrp="1"/>
          </p:cNvSpPr>
          <p:nvPr/>
        </p:nvSpPr>
        <p:spPr>
          <a:xfrm>
            <a:off x="2971800" y="5534025"/>
            <a:ext cx="8763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B94A4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94A48"/>
                </a:solidFill>
                <a:latin typeface="Arial"/>
                <a:ea typeface="Arial"/>
                <a:cs typeface="Arial"/>
              </a:rPr>
              <a:t>ARCHIVE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09F19286-7D92-48DB-85CA-FE01672E7774}"/>
              </a:ext>
            </a:extLst>
          </p:cNvPr>
          <p:cNvSpPr>
            <a:spLocks noGrp="1"/>
          </p:cNvSpPr>
          <p:nvPr/>
        </p:nvSpPr>
        <p:spPr>
          <a:xfrm>
            <a:off x="3943350" y="5505450"/>
            <a:ext cx="22479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860F18A-74A9-4C5A-8C58-FC94B058E946}"/>
              </a:ext>
            </a:extLst>
          </p:cNvPr>
          <p:cNvSpPr>
            <a:spLocks noGrp="1"/>
          </p:cNvSpPr>
          <p:nvPr/>
        </p:nvSpPr>
        <p:spPr>
          <a:xfrm>
            <a:off x="4038600" y="5534025"/>
            <a:ext cx="20574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65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artifact-tree completeness check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033E43D8-0B91-405F-AC4C-498241D4AB89}"/>
              </a:ext>
            </a:extLst>
          </p:cNvPr>
          <p:cNvSpPr>
            <a:spLocks noGrp="1"/>
          </p:cNvSpPr>
          <p:nvPr/>
        </p:nvSpPr>
        <p:spPr>
          <a:xfrm>
            <a:off x="6191250" y="5505450"/>
            <a:ext cx="281940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2D0BCCF0-A223-458F-BD84-279915D58EFC}"/>
              </a:ext>
            </a:extLst>
          </p:cNvPr>
          <p:cNvSpPr>
            <a:spLocks noGrp="1"/>
          </p:cNvSpPr>
          <p:nvPr/>
        </p:nvSpPr>
        <p:spPr>
          <a:xfrm>
            <a:off x="6286500" y="5534025"/>
            <a:ext cx="26289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missing pattern, log, or expected data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AC5A53FD-4423-4036-A5C8-E4AAD1C17D84}"/>
              </a:ext>
            </a:extLst>
          </p:cNvPr>
          <p:cNvSpPr>
            <a:spLocks noGrp="1"/>
          </p:cNvSpPr>
          <p:nvPr/>
        </p:nvSpPr>
        <p:spPr>
          <a:xfrm>
            <a:off x="9010650" y="5505450"/>
            <a:ext cx="2495550" cy="40957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184CB373-C0B9-4380-BB12-7F2E6C1D2593}"/>
              </a:ext>
            </a:extLst>
          </p:cNvPr>
          <p:cNvSpPr>
            <a:spLocks noGrp="1"/>
          </p:cNvSpPr>
          <p:nvPr/>
        </p:nvSpPr>
        <p:spPr>
          <a:xfrm>
            <a:off x="9105900" y="5534025"/>
            <a:ext cx="23050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65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block handoff; regenerate missing artifact</a:t>
            </a:r>
          </a:p>
        </p:txBody>
      </p:sp>
      <p:sp>
        <p:nvSpPr>
          <p:cNvPr id="100" name="直線接點 99">
            <a:extLst>
              <a:ext uri="{FF2B5EF4-FFF2-40B4-BE49-F238E27FC236}">
                <a16:creationId xmlns:a16="http://schemas.microsoft.com/office/drawing/2014/main" id="{443ED9E8-C170-4E6C-9BDF-89D3E2ED0AF1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B94A48"/>
            </a:solidFill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22F0A51E-92FF-4A55-90DD-ADD904C9518C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997"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flow fails at the earliest accountable stage, so broken artifacts never contaminate downstream debug.</a:t>
            </a:r>
          </a:p>
        </p:txBody>
      </p:sp>
      <p:sp>
        <p:nvSpPr>
          <p:cNvPr id="102" name="直線接點 101">
            <a:extLst>
              <a:ext uri="{FF2B5EF4-FFF2-40B4-BE49-F238E27FC236}">
                <a16:creationId xmlns:a16="http://schemas.microsoft.com/office/drawing/2014/main" id="{05A1777E-7F0E-4A89-BE76-FEDED3B45D6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54A86649-5541-41C9-9B88-8AB135506610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955777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>
            <a:extLst>
              <a:ext uri="{FF2B5EF4-FFF2-40B4-BE49-F238E27FC236}">
                <a16:creationId xmlns:a16="http://schemas.microsoft.com/office/drawing/2014/main" id="{4F860819-5BBF-4316-A308-4D060268DC42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DWR SIGN-OFF PLAN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D6364F-C34C-4709-9268-8EA9CEE5D8AB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slide-15-title">
            <a:extLst>
              <a:ext uri="{FF2B5EF4-FFF2-40B4-BE49-F238E27FC236}">
                <a16:creationId xmlns:a16="http://schemas.microsoft.com/office/drawing/2014/main" id="{2AC2F6A3-EC4E-439B-BB10-330A029AA54E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112" lnSpcReduction="10000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Planned DWR sign-off requires structural and behavioral evidence.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1D6AD1BD-3868-4B76-94ED-750B12AE6974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F779FB-1A27-411E-88DB-0D7F2BE2EA3C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TARGET INTERFACE INVENTORY · TBD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EBF9EF-BA92-4791-A087-624D674BD92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6680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0143AE-9928-4EE0-92A7-5C90325ABE45}"/>
              </a:ext>
            </a:extLst>
          </p:cNvPr>
          <p:cNvSpPr>
            <a:spLocks noGrp="1"/>
          </p:cNvSpPr>
          <p:nvPr/>
        </p:nvSpPr>
        <p:spPr>
          <a:xfrm>
            <a:off x="704850" y="1838325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E082F9-957A-4C3B-AC15-6A4B628E7D80}"/>
              </a:ext>
            </a:extLst>
          </p:cNvPr>
          <p:cNvSpPr>
            <a:spLocks noGrp="1"/>
          </p:cNvSpPr>
          <p:nvPr/>
        </p:nvSpPr>
        <p:spPr>
          <a:xfrm>
            <a:off x="1676400" y="1809750"/>
            <a:ext cx="175260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A684B3-35A3-4667-9648-B2CCFB063058}"/>
              </a:ext>
            </a:extLst>
          </p:cNvPr>
          <p:cNvSpPr>
            <a:spLocks noGrp="1"/>
          </p:cNvSpPr>
          <p:nvPr/>
        </p:nvSpPr>
        <p:spPr>
          <a:xfrm>
            <a:off x="1771650" y="1838325"/>
            <a:ext cx="1562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SRC DIE.PORT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B0CF931-EA58-41EF-B57D-F88014331DDD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175260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09DE31-1B9F-435D-AE86-7E92A4E86C13}"/>
              </a:ext>
            </a:extLst>
          </p:cNvPr>
          <p:cNvSpPr>
            <a:spLocks noGrp="1"/>
          </p:cNvSpPr>
          <p:nvPr/>
        </p:nvSpPr>
        <p:spPr>
          <a:xfrm>
            <a:off x="3524250" y="1838325"/>
            <a:ext cx="1562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DST DIE.PORT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380232-4BA0-4E59-8E9F-C30FE188F767}"/>
              </a:ext>
            </a:extLst>
          </p:cNvPr>
          <p:cNvSpPr>
            <a:spLocks noGrp="1"/>
          </p:cNvSpPr>
          <p:nvPr/>
        </p:nvSpPr>
        <p:spPr>
          <a:xfrm>
            <a:off x="5181600" y="1809750"/>
            <a:ext cx="66675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997C2F-05C6-4BE0-8DA1-0C0B28D15A48}"/>
              </a:ext>
            </a:extLst>
          </p:cNvPr>
          <p:cNvSpPr>
            <a:spLocks noGrp="1"/>
          </p:cNvSpPr>
          <p:nvPr/>
        </p:nvSpPr>
        <p:spPr>
          <a:xfrm>
            <a:off x="5276850" y="183832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24F97E-5A6B-4869-A678-29D33F8AD9CE}"/>
              </a:ext>
            </a:extLst>
          </p:cNvPr>
          <p:cNvSpPr>
            <a:spLocks noGrp="1"/>
          </p:cNvSpPr>
          <p:nvPr/>
        </p:nvSpPr>
        <p:spPr>
          <a:xfrm>
            <a:off x="5848350" y="1809750"/>
            <a:ext cx="66675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D3A3A5-34B9-4C0E-8994-596A2C1C3699}"/>
              </a:ext>
            </a:extLst>
          </p:cNvPr>
          <p:cNvSpPr>
            <a:spLocks noGrp="1"/>
          </p:cNvSpPr>
          <p:nvPr/>
        </p:nvSpPr>
        <p:spPr>
          <a:xfrm>
            <a:off x="5943600" y="1838325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AFE66D-DD60-46BE-A0CF-44EFFFF89FF9}"/>
              </a:ext>
            </a:extLst>
          </p:cNvPr>
          <p:cNvSpPr>
            <a:spLocks noGrp="1"/>
          </p:cNvSpPr>
          <p:nvPr/>
        </p:nvSpPr>
        <p:spPr>
          <a:xfrm>
            <a:off x="6515100" y="1809750"/>
            <a:ext cx="104775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A25B1F-D21E-469A-BBF9-01D85C09F1A3}"/>
              </a:ext>
            </a:extLst>
          </p:cNvPr>
          <p:cNvSpPr>
            <a:spLocks noGrp="1"/>
          </p:cNvSpPr>
          <p:nvPr/>
        </p:nvSpPr>
        <p:spPr>
          <a:xfrm>
            <a:off x="6610350" y="183832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CLOCK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7ED425-605B-4481-B086-D339040538C5}"/>
              </a:ext>
            </a:extLst>
          </p:cNvPr>
          <p:cNvSpPr>
            <a:spLocks noGrp="1"/>
          </p:cNvSpPr>
          <p:nvPr/>
        </p:nvSpPr>
        <p:spPr>
          <a:xfrm>
            <a:off x="7562850" y="1809750"/>
            <a:ext cx="184785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40445C-1CBE-4155-A1C6-EE21B31312FD}"/>
              </a:ext>
            </a:extLst>
          </p:cNvPr>
          <p:cNvSpPr>
            <a:spLocks noGrp="1"/>
          </p:cNvSpPr>
          <p:nvPr/>
        </p:nvSpPr>
        <p:spPr>
          <a:xfrm>
            <a:off x="7658100" y="1838325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INTENT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A5324D-C43D-4BC4-BCF9-72EB5CA22C23}"/>
              </a:ext>
            </a:extLst>
          </p:cNvPr>
          <p:cNvSpPr>
            <a:spLocks noGrp="1"/>
          </p:cNvSpPr>
          <p:nvPr/>
        </p:nvSpPr>
        <p:spPr>
          <a:xfrm>
            <a:off x="9410700" y="1809750"/>
            <a:ext cx="2095500" cy="3048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491CCB4-0D2D-482F-AFD6-3F661C76264A}"/>
              </a:ext>
            </a:extLst>
          </p:cNvPr>
          <p:cNvSpPr>
            <a:spLocks noGrp="1"/>
          </p:cNvSpPr>
          <p:nvPr/>
        </p:nvSpPr>
        <p:spPr>
          <a:xfrm>
            <a:off x="9505950" y="1838325"/>
            <a:ext cx="190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4915F77-F884-4BA1-B957-E7B7E2CA6BB5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10668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4EB1E97-3D19-46F7-9CDF-F700DDCACFD5}"/>
              </a:ext>
            </a:extLst>
          </p:cNvPr>
          <p:cNvSpPr>
            <a:spLocks noGrp="1"/>
          </p:cNvSpPr>
          <p:nvPr/>
        </p:nvSpPr>
        <p:spPr>
          <a:xfrm>
            <a:off x="704850" y="214312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DATA_UP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68BFD15-3DE6-4CD1-AC6C-B5F83780822B}"/>
              </a:ext>
            </a:extLst>
          </p:cNvPr>
          <p:cNvSpPr>
            <a:spLocks noGrp="1"/>
          </p:cNvSpPr>
          <p:nvPr/>
        </p:nvSpPr>
        <p:spPr>
          <a:xfrm>
            <a:off x="1676400" y="2114550"/>
            <a:ext cx="17526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8A2B1E-3D3B-4E21-8AF6-6CD2F6048E5D}"/>
              </a:ext>
            </a:extLst>
          </p:cNvPr>
          <p:cNvSpPr>
            <a:spLocks noGrp="1"/>
          </p:cNvSpPr>
          <p:nvPr/>
        </p:nvSpPr>
        <p:spPr>
          <a:xfrm>
            <a:off x="1771650" y="2143125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692853-5109-4650-ADB7-02924EA0391F}"/>
              </a:ext>
            </a:extLst>
          </p:cNvPr>
          <p:cNvSpPr>
            <a:spLocks noGrp="1"/>
          </p:cNvSpPr>
          <p:nvPr/>
        </p:nvSpPr>
        <p:spPr>
          <a:xfrm>
            <a:off x="3429000" y="2114550"/>
            <a:ext cx="17526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8F66044-B1B3-4466-9BD5-BF684529344C}"/>
              </a:ext>
            </a:extLst>
          </p:cNvPr>
          <p:cNvSpPr>
            <a:spLocks noGrp="1"/>
          </p:cNvSpPr>
          <p:nvPr/>
        </p:nvSpPr>
        <p:spPr>
          <a:xfrm>
            <a:off x="3524250" y="2143125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2AA83B8-1E52-4AC6-BE0F-0303F65F72FA}"/>
              </a:ext>
            </a:extLst>
          </p:cNvPr>
          <p:cNvSpPr>
            <a:spLocks noGrp="1"/>
          </p:cNvSpPr>
          <p:nvPr/>
        </p:nvSpPr>
        <p:spPr>
          <a:xfrm>
            <a:off x="5181600" y="2114550"/>
            <a:ext cx="6667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2BFCD33-8F45-47AF-B7BA-36BB5C25070D}"/>
              </a:ext>
            </a:extLst>
          </p:cNvPr>
          <p:cNvSpPr>
            <a:spLocks noGrp="1"/>
          </p:cNvSpPr>
          <p:nvPr/>
        </p:nvSpPr>
        <p:spPr>
          <a:xfrm>
            <a:off x="5276850" y="21431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UP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F9B7278-E817-45D6-ADBD-2FB3214FF379}"/>
              </a:ext>
            </a:extLst>
          </p:cNvPr>
          <p:cNvSpPr>
            <a:spLocks noGrp="1"/>
          </p:cNvSpPr>
          <p:nvPr/>
        </p:nvSpPr>
        <p:spPr>
          <a:xfrm>
            <a:off x="5848350" y="2114550"/>
            <a:ext cx="6667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6999D5B-843D-47B0-B535-27F7C11FD393}"/>
              </a:ext>
            </a:extLst>
          </p:cNvPr>
          <p:cNvSpPr>
            <a:spLocks noGrp="1"/>
          </p:cNvSpPr>
          <p:nvPr/>
        </p:nvSpPr>
        <p:spPr>
          <a:xfrm>
            <a:off x="5943600" y="21431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063E6ED-1C23-4950-9889-8AE06101296D}"/>
              </a:ext>
            </a:extLst>
          </p:cNvPr>
          <p:cNvSpPr>
            <a:spLocks noGrp="1"/>
          </p:cNvSpPr>
          <p:nvPr/>
        </p:nvSpPr>
        <p:spPr>
          <a:xfrm>
            <a:off x="6515100" y="2114550"/>
            <a:ext cx="10477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E815FB1-92E9-4349-B3E7-476A01B13BB6}"/>
              </a:ext>
            </a:extLst>
          </p:cNvPr>
          <p:cNvSpPr>
            <a:spLocks noGrp="1"/>
          </p:cNvSpPr>
          <p:nvPr/>
        </p:nvSpPr>
        <p:spPr>
          <a:xfrm>
            <a:off x="6610350" y="2143125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1E676B8-53ED-4F96-8DC7-AC24EDF33C17}"/>
              </a:ext>
            </a:extLst>
          </p:cNvPr>
          <p:cNvSpPr>
            <a:spLocks noGrp="1"/>
          </p:cNvSpPr>
          <p:nvPr/>
        </p:nvSpPr>
        <p:spPr>
          <a:xfrm>
            <a:off x="7562850" y="2114550"/>
            <a:ext cx="18478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4E39FB1-FA3B-403A-BC1A-1B38A0168125}"/>
              </a:ext>
            </a:extLst>
          </p:cNvPr>
          <p:cNvSpPr>
            <a:spLocks noGrp="1"/>
          </p:cNvSpPr>
          <p:nvPr/>
        </p:nvSpPr>
        <p:spPr>
          <a:xfrm>
            <a:off x="7658100" y="214312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drive / capture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132C572-7BA3-4BAC-832B-CECC27DB21B8}"/>
              </a:ext>
            </a:extLst>
          </p:cNvPr>
          <p:cNvSpPr>
            <a:spLocks noGrp="1"/>
          </p:cNvSpPr>
          <p:nvPr/>
        </p:nvSpPr>
        <p:spPr>
          <a:xfrm>
            <a:off x="9410700" y="2114550"/>
            <a:ext cx="20955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79AAA64-311C-40CB-A013-B3E17AA80DA6}"/>
              </a:ext>
            </a:extLst>
          </p:cNvPr>
          <p:cNvSpPr>
            <a:spLocks noGrp="1"/>
          </p:cNvSpPr>
          <p:nvPr/>
        </p:nvSpPr>
        <p:spPr>
          <a:xfrm>
            <a:off x="9505950" y="214312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BFE6AF6-68AF-4585-A718-E3D51215F9A5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1066800" cy="3810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DD8C3F0-474C-4BDC-A426-8BF62BE0BD11}"/>
              </a:ext>
            </a:extLst>
          </p:cNvPr>
          <p:cNvSpPr>
            <a:spLocks noGrp="1"/>
          </p:cNvSpPr>
          <p:nvPr/>
        </p:nvSpPr>
        <p:spPr>
          <a:xfrm>
            <a:off x="704850" y="252412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CFG_DN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3BDC815-82D3-4946-9056-8CA16743E1BD}"/>
              </a:ext>
            </a:extLst>
          </p:cNvPr>
          <p:cNvSpPr>
            <a:spLocks noGrp="1"/>
          </p:cNvSpPr>
          <p:nvPr/>
        </p:nvSpPr>
        <p:spPr>
          <a:xfrm>
            <a:off x="1676400" y="2495550"/>
            <a:ext cx="1752600" cy="3810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DD66909-4BE0-44D5-A1D6-FBD228F6B7A3}"/>
              </a:ext>
            </a:extLst>
          </p:cNvPr>
          <p:cNvSpPr>
            <a:spLocks noGrp="1"/>
          </p:cNvSpPr>
          <p:nvPr/>
        </p:nvSpPr>
        <p:spPr>
          <a:xfrm>
            <a:off x="1771650" y="2524125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7098F57-220D-46B1-923E-A9C9A8E41103}"/>
              </a:ext>
            </a:extLst>
          </p:cNvPr>
          <p:cNvSpPr>
            <a:spLocks noGrp="1"/>
          </p:cNvSpPr>
          <p:nvPr/>
        </p:nvSpPr>
        <p:spPr>
          <a:xfrm>
            <a:off x="3429000" y="2495550"/>
            <a:ext cx="1752600" cy="3810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46DE6F0-8905-4BCD-AAB6-9C73E43AB889}"/>
              </a:ext>
            </a:extLst>
          </p:cNvPr>
          <p:cNvSpPr>
            <a:spLocks noGrp="1"/>
          </p:cNvSpPr>
          <p:nvPr/>
        </p:nvSpPr>
        <p:spPr>
          <a:xfrm>
            <a:off x="3524250" y="2524125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8754AEA-1710-4DD8-B24D-6934E553015F}"/>
              </a:ext>
            </a:extLst>
          </p:cNvPr>
          <p:cNvSpPr>
            <a:spLocks noGrp="1"/>
          </p:cNvSpPr>
          <p:nvPr/>
        </p:nvSpPr>
        <p:spPr>
          <a:xfrm>
            <a:off x="5181600" y="2495550"/>
            <a:ext cx="666750" cy="3810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E4E2248-1111-4AF4-B7E5-E3F068820DAA}"/>
              </a:ext>
            </a:extLst>
          </p:cNvPr>
          <p:cNvSpPr>
            <a:spLocks noGrp="1"/>
          </p:cNvSpPr>
          <p:nvPr/>
        </p:nvSpPr>
        <p:spPr>
          <a:xfrm>
            <a:off x="5276850" y="25241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4D1A9A2-36BB-4CB5-9980-4C76CC1A21BC}"/>
              </a:ext>
            </a:extLst>
          </p:cNvPr>
          <p:cNvSpPr>
            <a:spLocks noGrp="1"/>
          </p:cNvSpPr>
          <p:nvPr/>
        </p:nvSpPr>
        <p:spPr>
          <a:xfrm>
            <a:off x="5848350" y="2495550"/>
            <a:ext cx="666750" cy="3810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0B352A2-E0BC-4D43-9BD0-52D22D631D1F}"/>
              </a:ext>
            </a:extLst>
          </p:cNvPr>
          <p:cNvSpPr>
            <a:spLocks noGrp="1"/>
          </p:cNvSpPr>
          <p:nvPr/>
        </p:nvSpPr>
        <p:spPr>
          <a:xfrm>
            <a:off x="5943600" y="25241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E6ABB09D-F466-47BA-8F74-D7E2B65452BA}"/>
              </a:ext>
            </a:extLst>
          </p:cNvPr>
          <p:cNvSpPr>
            <a:spLocks noGrp="1"/>
          </p:cNvSpPr>
          <p:nvPr/>
        </p:nvSpPr>
        <p:spPr>
          <a:xfrm>
            <a:off x="6515100" y="2495550"/>
            <a:ext cx="1047750" cy="3810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2FFBE34-2EE5-4FD8-899F-F640346A9879}"/>
              </a:ext>
            </a:extLst>
          </p:cNvPr>
          <p:cNvSpPr>
            <a:spLocks noGrp="1"/>
          </p:cNvSpPr>
          <p:nvPr/>
        </p:nvSpPr>
        <p:spPr>
          <a:xfrm>
            <a:off x="6610350" y="2524125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689D6EE-1063-4173-9BF3-96C43BEE6778}"/>
              </a:ext>
            </a:extLst>
          </p:cNvPr>
          <p:cNvSpPr>
            <a:spLocks noGrp="1"/>
          </p:cNvSpPr>
          <p:nvPr/>
        </p:nvSpPr>
        <p:spPr>
          <a:xfrm>
            <a:off x="7562850" y="2495550"/>
            <a:ext cx="1847850" cy="3810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51AE907-616C-480F-943A-626277C06293}"/>
              </a:ext>
            </a:extLst>
          </p:cNvPr>
          <p:cNvSpPr>
            <a:spLocks noGrp="1"/>
          </p:cNvSpPr>
          <p:nvPr/>
        </p:nvSpPr>
        <p:spPr>
          <a:xfrm>
            <a:off x="7658100" y="252412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drive / capture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E0D4918-2CBA-45F8-999F-C12A6A80195E}"/>
              </a:ext>
            </a:extLst>
          </p:cNvPr>
          <p:cNvSpPr>
            <a:spLocks noGrp="1"/>
          </p:cNvSpPr>
          <p:nvPr/>
        </p:nvSpPr>
        <p:spPr>
          <a:xfrm>
            <a:off x="9410700" y="2495550"/>
            <a:ext cx="2095500" cy="3810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CF0A246-CA42-49DD-AB8B-72FE4AFA8FD3}"/>
              </a:ext>
            </a:extLst>
          </p:cNvPr>
          <p:cNvSpPr>
            <a:spLocks noGrp="1"/>
          </p:cNvSpPr>
          <p:nvPr/>
        </p:nvSpPr>
        <p:spPr>
          <a:xfrm>
            <a:off x="9505950" y="252412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23A1554-F16C-424C-BC74-127C95BDBC35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10668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0BC1F45-D5E7-47BD-928A-5218D7209A94}"/>
              </a:ext>
            </a:extLst>
          </p:cNvPr>
          <p:cNvSpPr>
            <a:spLocks noGrp="1"/>
          </p:cNvSpPr>
          <p:nvPr/>
        </p:nvSpPr>
        <p:spPr>
          <a:xfrm>
            <a:off x="704850" y="2905125"/>
            <a:ext cx="876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IRQ_DN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979A3AC-1C49-4552-9DD8-A93A6DED3FB1}"/>
              </a:ext>
            </a:extLst>
          </p:cNvPr>
          <p:cNvSpPr>
            <a:spLocks noGrp="1"/>
          </p:cNvSpPr>
          <p:nvPr/>
        </p:nvSpPr>
        <p:spPr>
          <a:xfrm>
            <a:off x="1676400" y="2876550"/>
            <a:ext cx="17526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C32694E8-4100-4D71-93C7-F75DA025C8A1}"/>
              </a:ext>
            </a:extLst>
          </p:cNvPr>
          <p:cNvSpPr>
            <a:spLocks noGrp="1"/>
          </p:cNvSpPr>
          <p:nvPr/>
        </p:nvSpPr>
        <p:spPr>
          <a:xfrm>
            <a:off x="1771650" y="2905125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6B3F5B4-0DF1-47E2-B260-C96B7119324A}"/>
              </a:ext>
            </a:extLst>
          </p:cNvPr>
          <p:cNvSpPr>
            <a:spLocks noGrp="1"/>
          </p:cNvSpPr>
          <p:nvPr/>
        </p:nvSpPr>
        <p:spPr>
          <a:xfrm>
            <a:off x="3429000" y="2876550"/>
            <a:ext cx="17526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2A88E8A1-2950-4D81-88B9-54A42AD7821B}"/>
              </a:ext>
            </a:extLst>
          </p:cNvPr>
          <p:cNvSpPr>
            <a:spLocks noGrp="1"/>
          </p:cNvSpPr>
          <p:nvPr/>
        </p:nvSpPr>
        <p:spPr>
          <a:xfrm>
            <a:off x="3524250" y="2905125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A254790-A603-4F75-824D-D7B2E7394991}"/>
              </a:ext>
            </a:extLst>
          </p:cNvPr>
          <p:cNvSpPr>
            <a:spLocks noGrp="1"/>
          </p:cNvSpPr>
          <p:nvPr/>
        </p:nvSpPr>
        <p:spPr>
          <a:xfrm>
            <a:off x="5181600" y="2876550"/>
            <a:ext cx="6667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99BCE13-0916-4E89-9FA7-844506C61A2E}"/>
              </a:ext>
            </a:extLst>
          </p:cNvPr>
          <p:cNvSpPr>
            <a:spLocks noGrp="1"/>
          </p:cNvSpPr>
          <p:nvPr/>
        </p:nvSpPr>
        <p:spPr>
          <a:xfrm>
            <a:off x="5276850" y="29051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DN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7E46C9F-7593-4878-9176-2DFB363D1696}"/>
              </a:ext>
            </a:extLst>
          </p:cNvPr>
          <p:cNvSpPr>
            <a:spLocks noGrp="1"/>
          </p:cNvSpPr>
          <p:nvPr/>
        </p:nvSpPr>
        <p:spPr>
          <a:xfrm>
            <a:off x="5848350" y="2876550"/>
            <a:ext cx="6667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5B2CC10-BF7C-451F-99D8-7992ECDB430D}"/>
              </a:ext>
            </a:extLst>
          </p:cNvPr>
          <p:cNvSpPr>
            <a:spLocks noGrp="1"/>
          </p:cNvSpPr>
          <p:nvPr/>
        </p:nvSpPr>
        <p:spPr>
          <a:xfrm>
            <a:off x="5943600" y="2905125"/>
            <a:ext cx="47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26C72C9-3A29-404E-910E-8C9C123B168F}"/>
              </a:ext>
            </a:extLst>
          </p:cNvPr>
          <p:cNvSpPr>
            <a:spLocks noGrp="1"/>
          </p:cNvSpPr>
          <p:nvPr/>
        </p:nvSpPr>
        <p:spPr>
          <a:xfrm>
            <a:off x="6515100" y="2876550"/>
            <a:ext cx="10477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4D23224-835D-4AF4-B6A2-F88BE0543D23}"/>
              </a:ext>
            </a:extLst>
          </p:cNvPr>
          <p:cNvSpPr>
            <a:spLocks noGrp="1"/>
          </p:cNvSpPr>
          <p:nvPr/>
        </p:nvSpPr>
        <p:spPr>
          <a:xfrm>
            <a:off x="6610350" y="2905125"/>
            <a:ext cx="857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D58BAFE1-57E8-411C-9CE0-1EDF20C6EECA}"/>
              </a:ext>
            </a:extLst>
          </p:cNvPr>
          <p:cNvSpPr>
            <a:spLocks noGrp="1"/>
          </p:cNvSpPr>
          <p:nvPr/>
        </p:nvSpPr>
        <p:spPr>
          <a:xfrm>
            <a:off x="7562850" y="2876550"/>
            <a:ext cx="18478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2752728-B206-4BDB-813E-9A8E1690B799}"/>
              </a:ext>
            </a:extLst>
          </p:cNvPr>
          <p:cNvSpPr>
            <a:spLocks noGrp="1"/>
          </p:cNvSpPr>
          <p:nvPr/>
        </p:nvSpPr>
        <p:spPr>
          <a:xfrm>
            <a:off x="7658100" y="2905125"/>
            <a:ext cx="1657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toggle / observe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D4F934CE-37C4-4AFA-869D-21C3EBD150B7}"/>
              </a:ext>
            </a:extLst>
          </p:cNvPr>
          <p:cNvSpPr>
            <a:spLocks noGrp="1"/>
          </p:cNvSpPr>
          <p:nvPr/>
        </p:nvSpPr>
        <p:spPr>
          <a:xfrm>
            <a:off x="9410700" y="2876550"/>
            <a:ext cx="20955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D203AEE-757D-4C66-A928-ACFA18CE5E97}"/>
              </a:ext>
            </a:extLst>
          </p:cNvPr>
          <p:cNvSpPr>
            <a:spLocks noGrp="1"/>
          </p:cNvSpPr>
          <p:nvPr/>
        </p:nvSpPr>
        <p:spPr>
          <a:xfrm>
            <a:off x="9505950" y="2905125"/>
            <a:ext cx="190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42CACFF-A02B-42D0-9A6E-46CF017276D9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4000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PER-LINK VERIFICATION TRANSACTION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66E255D8-4663-4889-B344-99A3D079D19D}"/>
              </a:ext>
            </a:extLst>
          </p:cNvPr>
          <p:cNvSpPr>
            <a:spLocks noGrp="1"/>
          </p:cNvSpPr>
          <p:nvPr/>
        </p:nvSpPr>
        <p:spPr>
          <a:xfrm>
            <a:off x="609600" y="3676650"/>
            <a:ext cx="1790700" cy="571500"/>
          </a:xfrm>
          <a:prstGeom prst="roundRect">
            <a:avLst>
              <a:gd name="adj" fmla="val 20000"/>
            </a:avLst>
          </a:prstGeom>
          <a:solidFill>
            <a:srgbClr val="F6F8F9"/>
          </a:solidFill>
          <a:ln w="11430">
            <a:solidFill>
              <a:srgbClr val="89959D"/>
            </a:solidFill>
            <a:prstDash val="solid"/>
          </a:ln>
        </p:spPr>
        <p:txBody>
          <a:bodyPr wrap="square" lIns="114300" tIns="76200" rIns="114300" bIns="76200" anchor="ctr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1 · INVENTORY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985B9F2B-339C-455D-8ECD-61363C5830A1}"/>
              </a:ext>
            </a:extLst>
          </p:cNvPr>
          <p:cNvSpPr>
            <a:spLocks noGrp="1"/>
          </p:cNvSpPr>
          <p:nvPr/>
        </p:nvSpPr>
        <p:spPr>
          <a:xfrm>
            <a:off x="2819400" y="3676650"/>
            <a:ext cx="1790700" cy="571500"/>
          </a:xfrm>
          <a:prstGeom prst="roundRect">
            <a:avLst>
              <a:gd name="adj" fmla="val 20000"/>
            </a:avLst>
          </a:prstGeom>
          <a:solidFill>
            <a:srgbClr val="EDF5F8"/>
          </a:solidFill>
          <a:ln w="11430">
            <a:solidFill>
              <a:srgbClr val="0B6B9E"/>
            </a:solidFill>
            <a:prstDash val="solid"/>
          </a:ln>
        </p:spPr>
        <p:txBody>
          <a:bodyPr wrap="square" lIns="114300" tIns="76200" rIns="114300" bIns="76200" anchor="ctr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2 · SOURCE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DRIVE</a:t>
            </a:r>
          </a:p>
        </p:txBody>
      </p:sp>
      <p:cxnSp>
        <p:nvCxnSpPr>
          <p:cNvPr id="1096" name="直線單箭頭接點 1095"/>
          <p:cNvCxnSpPr>
            <a:stCxn id="71" idx="3"/>
            <a:endCxn id="72" idx="1"/>
          </p:cNvCxnSpPr>
          <p:nvPr/>
        </p:nvCxnSpPr>
        <p:spPr>
          <a:xfrm>
            <a:off x="2400300" y="3962400"/>
            <a:ext cx="419100" cy="0"/>
          </a:xfrm>
          <a:prstGeom prst="straightConnector1">
            <a:avLst/>
          </a:prstGeom>
          <a:ln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E862CEDC-C382-49F0-8DD5-B83B15806025}"/>
              </a:ext>
            </a:extLst>
          </p:cNvPr>
          <p:cNvSpPr>
            <a:spLocks noGrp="1"/>
          </p:cNvSpPr>
          <p:nvPr/>
        </p:nvSpPr>
        <p:spPr>
          <a:xfrm>
            <a:off x="5029200" y="3676650"/>
            <a:ext cx="1790700" cy="571500"/>
          </a:xfrm>
          <a:prstGeom prst="roundRect">
            <a:avLst>
              <a:gd name="adj" fmla="val 20000"/>
            </a:avLst>
          </a:prstGeom>
          <a:solidFill>
            <a:srgbClr val="FBF0EA"/>
          </a:solidFill>
          <a:ln w="11430">
            <a:solidFill>
              <a:srgbClr val="D96B30"/>
            </a:solidFill>
            <a:prstDash val="solid"/>
          </a:ln>
        </p:spPr>
        <p:txBody>
          <a:bodyPr wrap="square" lIns="114300" tIns="76200" rIns="114300" bIns="76200" anchor="ctr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3 · INTERCONNECT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cxnSp>
        <p:nvCxnSpPr>
          <p:cNvPr id="1098" name="直線單箭頭接點 1097"/>
          <p:cNvCxnSpPr>
            <a:stCxn id="72" idx="3"/>
            <a:endCxn id="74" idx="1"/>
          </p:cNvCxnSpPr>
          <p:nvPr/>
        </p:nvCxnSpPr>
        <p:spPr>
          <a:xfrm>
            <a:off x="4610100" y="3962400"/>
            <a:ext cx="419100" cy="0"/>
          </a:xfrm>
          <a:prstGeom prst="straightConnector1">
            <a:avLst/>
          </a:prstGeom>
          <a:ln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2C9FA138-A186-4FC6-9CB9-48C16144F77D}"/>
              </a:ext>
            </a:extLst>
          </p:cNvPr>
          <p:cNvSpPr>
            <a:spLocks noGrp="1"/>
          </p:cNvSpPr>
          <p:nvPr/>
        </p:nvSpPr>
        <p:spPr>
          <a:xfrm>
            <a:off x="7239000" y="3676650"/>
            <a:ext cx="1790700" cy="571500"/>
          </a:xfrm>
          <a:prstGeom prst="roundRect">
            <a:avLst>
              <a:gd name="adj" fmla="val 20000"/>
            </a:avLst>
          </a:prstGeom>
          <a:solidFill>
            <a:srgbClr val="EEF6F0"/>
          </a:solidFill>
          <a:ln w="11430">
            <a:solidFill>
              <a:srgbClr val="1F7B72"/>
            </a:solidFill>
            <a:prstDash val="solid"/>
          </a:ln>
        </p:spPr>
        <p:txBody>
          <a:bodyPr wrap="square" lIns="114300" tIns="76200" rIns="114300" bIns="76200" anchor="ctr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4 · DESTINATION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cxnSp>
        <p:nvCxnSpPr>
          <p:cNvPr id="1100" name="直線單箭頭接點 1099"/>
          <p:cNvCxnSpPr>
            <a:stCxn id="74" idx="3"/>
            <a:endCxn id="76" idx="1"/>
          </p:cNvCxnSpPr>
          <p:nvPr/>
        </p:nvCxnSpPr>
        <p:spPr>
          <a:xfrm>
            <a:off x="6819900" y="3962400"/>
            <a:ext cx="419100" cy="0"/>
          </a:xfrm>
          <a:prstGeom prst="straightConnector1">
            <a:avLst/>
          </a:prstGeom>
          <a:ln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B1D31C0C-3054-41FA-B74C-236228E22EEB}"/>
              </a:ext>
            </a:extLst>
          </p:cNvPr>
          <p:cNvSpPr>
            <a:spLocks noGrp="1"/>
          </p:cNvSpPr>
          <p:nvPr/>
        </p:nvSpPr>
        <p:spPr>
          <a:xfrm>
            <a:off x="9448800" y="3676650"/>
            <a:ext cx="179070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1430">
            <a:solidFill>
              <a:srgbClr val="3F7B4B"/>
            </a:solidFill>
            <a:prstDash val="solid"/>
          </a:ln>
        </p:spPr>
        <p:txBody>
          <a:bodyPr wrap="square" lIns="114300" tIns="76200" rIns="114300" bIns="76200" anchor="ctr">
            <a:normAutofit lnSpcReduction="10000"/>
          </a:bodyPr>
          <a:lstStyle/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5 · COMPARE</a:t>
            </a:r>
          </a:p>
          <a:p>
            <a:pPr algn="ctr">
              <a:lnSpc>
                <a:spcPct val="100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+ ARCHIVE</a:t>
            </a:r>
          </a:p>
        </p:txBody>
      </p:sp>
      <p:cxnSp>
        <p:nvCxnSpPr>
          <p:cNvPr id="1102" name="直線單箭頭接點 1101"/>
          <p:cNvCxnSpPr>
            <a:stCxn id="76" idx="3"/>
            <a:endCxn id="78" idx="1"/>
          </p:cNvCxnSpPr>
          <p:nvPr/>
        </p:nvCxnSpPr>
        <p:spPr>
          <a:xfrm>
            <a:off x="9029700" y="3962400"/>
            <a:ext cx="419100" cy="0"/>
          </a:xfrm>
          <a:prstGeom prst="straightConnector1">
            <a:avLst/>
          </a:prstGeom>
          <a:ln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8B345C80-CA05-473D-86F1-9E5DE79388A1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5905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SIGN-OFF RESULT MATRIX · TARGET FORMAT (VALUES TBD)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FED7A64-08D6-4886-B799-BB65D96B6DA4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181100" cy="2667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FCF228E3-BBEB-4CB1-B4FD-9B6B49DEF643}"/>
              </a:ext>
            </a:extLst>
          </p:cNvPr>
          <p:cNvSpPr>
            <a:spLocks noGrp="1"/>
          </p:cNvSpPr>
          <p:nvPr/>
        </p:nvSpPr>
        <p:spPr>
          <a:xfrm>
            <a:off x="704850" y="4810125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4567E5AD-72CC-4625-B73A-ECC54FE3EA4D}"/>
              </a:ext>
            </a:extLst>
          </p:cNvPr>
          <p:cNvSpPr>
            <a:spLocks noGrp="1"/>
          </p:cNvSpPr>
          <p:nvPr/>
        </p:nvSpPr>
        <p:spPr>
          <a:xfrm>
            <a:off x="1790700" y="4781550"/>
            <a:ext cx="1524000" cy="2667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41EB2F0-09E1-4A7A-9C8B-E0C67CD31315}"/>
              </a:ext>
            </a:extLst>
          </p:cNvPr>
          <p:cNvSpPr>
            <a:spLocks noGrp="1"/>
          </p:cNvSpPr>
          <p:nvPr/>
        </p:nvSpPr>
        <p:spPr>
          <a:xfrm>
            <a:off x="1885950" y="4810125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PORT / WIDTH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ABB7F56F-F46E-4854-B0AB-207B97872AAC}"/>
              </a:ext>
            </a:extLst>
          </p:cNvPr>
          <p:cNvSpPr>
            <a:spLocks noGrp="1"/>
          </p:cNvSpPr>
          <p:nvPr/>
        </p:nvSpPr>
        <p:spPr>
          <a:xfrm>
            <a:off x="3314700" y="4781550"/>
            <a:ext cx="1619250" cy="2667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59DE1FCC-FC16-4610-8255-EDA2BCE1B26C}"/>
              </a:ext>
            </a:extLst>
          </p:cNvPr>
          <p:cNvSpPr>
            <a:spLocks noGrp="1"/>
          </p:cNvSpPr>
          <p:nvPr/>
        </p:nvSpPr>
        <p:spPr>
          <a:xfrm>
            <a:off x="3409950" y="48101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WRAPPER MAP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1B69DEC-1284-462E-8B39-ED4DDED0D6CC}"/>
              </a:ext>
            </a:extLst>
          </p:cNvPr>
          <p:cNvSpPr>
            <a:spLocks noGrp="1"/>
          </p:cNvSpPr>
          <p:nvPr/>
        </p:nvSpPr>
        <p:spPr>
          <a:xfrm>
            <a:off x="4933950" y="4781550"/>
            <a:ext cx="1428750" cy="2667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5D4AACF-280C-4F22-9165-C50CC8E9B303}"/>
              </a:ext>
            </a:extLst>
          </p:cNvPr>
          <p:cNvSpPr>
            <a:spLocks noGrp="1"/>
          </p:cNvSpPr>
          <p:nvPr/>
        </p:nvSpPr>
        <p:spPr>
          <a:xfrm>
            <a:off x="5029200" y="48101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PATTERN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EE3F4899-9B9A-4FE5-9BC9-CA3B06817E94}"/>
              </a:ext>
            </a:extLst>
          </p:cNvPr>
          <p:cNvSpPr>
            <a:spLocks noGrp="1"/>
          </p:cNvSpPr>
          <p:nvPr/>
        </p:nvSpPr>
        <p:spPr>
          <a:xfrm>
            <a:off x="6362700" y="4781550"/>
            <a:ext cx="1619250" cy="2667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AC32BF1-6EBE-4C10-A458-20F50E2300E4}"/>
              </a:ext>
            </a:extLst>
          </p:cNvPr>
          <p:cNvSpPr>
            <a:spLocks noGrp="1"/>
          </p:cNvSpPr>
          <p:nvPr/>
        </p:nvSpPr>
        <p:spPr>
          <a:xfrm>
            <a:off x="6457950" y="4810125"/>
            <a:ext cx="142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 COMPARE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8E44E038-F49D-4009-B95E-B50D45E4AD30}"/>
              </a:ext>
            </a:extLst>
          </p:cNvPr>
          <p:cNvSpPr>
            <a:spLocks noGrp="1"/>
          </p:cNvSpPr>
          <p:nvPr/>
        </p:nvSpPr>
        <p:spPr>
          <a:xfrm>
            <a:off x="7981950" y="4781550"/>
            <a:ext cx="1333500" cy="2667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9EF4D9A3-FD19-4529-B033-6DED9ACB4B06}"/>
              </a:ext>
            </a:extLst>
          </p:cNvPr>
          <p:cNvSpPr>
            <a:spLocks noGrp="1"/>
          </p:cNvSpPr>
          <p:nvPr/>
        </p:nvSpPr>
        <p:spPr>
          <a:xfrm>
            <a:off x="8077200" y="48101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6AE16C2E-4B8E-4725-A620-3B54041C5804}"/>
              </a:ext>
            </a:extLst>
          </p:cNvPr>
          <p:cNvSpPr>
            <a:spLocks noGrp="1"/>
          </p:cNvSpPr>
          <p:nvPr/>
        </p:nvSpPr>
        <p:spPr>
          <a:xfrm>
            <a:off x="9315450" y="4781550"/>
            <a:ext cx="2190750" cy="26670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2047C019-6CDB-4ECF-8126-ED3B8C4B8FC9}"/>
              </a:ext>
            </a:extLst>
          </p:cNvPr>
          <p:cNvSpPr>
            <a:spLocks noGrp="1"/>
          </p:cNvSpPr>
          <p:nvPr/>
        </p:nvSpPr>
        <p:spPr>
          <a:xfrm>
            <a:off x="9410700" y="4810125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F96A95B1-3921-48FE-9F1B-55A83271843D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11811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51EA1AE-BD5A-4D62-9997-C1AF4B4FE076}"/>
              </a:ext>
            </a:extLst>
          </p:cNvPr>
          <p:cNvSpPr>
            <a:spLocks noGrp="1"/>
          </p:cNvSpPr>
          <p:nvPr/>
        </p:nvSpPr>
        <p:spPr>
          <a:xfrm>
            <a:off x="704850" y="5076825"/>
            <a:ext cx="9906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DATA_UP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64C6B739-D83D-4DA5-89A0-F39DED89009D}"/>
              </a:ext>
            </a:extLst>
          </p:cNvPr>
          <p:cNvSpPr>
            <a:spLocks noGrp="1"/>
          </p:cNvSpPr>
          <p:nvPr/>
        </p:nvSpPr>
        <p:spPr>
          <a:xfrm>
            <a:off x="1790700" y="5048250"/>
            <a:ext cx="15240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B8E98C34-A4D8-4E73-BB97-AEDE3B16CC24}"/>
              </a:ext>
            </a:extLst>
          </p:cNvPr>
          <p:cNvSpPr>
            <a:spLocks noGrp="1"/>
          </p:cNvSpPr>
          <p:nvPr/>
        </p:nvSpPr>
        <p:spPr>
          <a:xfrm>
            <a:off x="1885950" y="5076825"/>
            <a:ext cx="1333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64A580F9-60EE-4163-BEF7-C8EA0BC7F2E8}"/>
              </a:ext>
            </a:extLst>
          </p:cNvPr>
          <p:cNvSpPr>
            <a:spLocks noGrp="1"/>
          </p:cNvSpPr>
          <p:nvPr/>
        </p:nvSpPr>
        <p:spPr>
          <a:xfrm>
            <a:off x="3314700" y="5048250"/>
            <a:ext cx="16192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10DF09A-9A18-4F1B-90EF-4BD3CDCFFE9F}"/>
              </a:ext>
            </a:extLst>
          </p:cNvPr>
          <p:cNvSpPr>
            <a:spLocks noGrp="1"/>
          </p:cNvSpPr>
          <p:nvPr/>
        </p:nvSpPr>
        <p:spPr>
          <a:xfrm>
            <a:off x="3409950" y="5076825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1411CCCE-02A2-4EBA-9A93-5688275F0B41}"/>
              </a:ext>
            </a:extLst>
          </p:cNvPr>
          <p:cNvSpPr>
            <a:spLocks noGrp="1"/>
          </p:cNvSpPr>
          <p:nvPr/>
        </p:nvSpPr>
        <p:spPr>
          <a:xfrm>
            <a:off x="4933950" y="5048250"/>
            <a:ext cx="14287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A14783E9-EAA4-4055-AE5D-61DF50812302}"/>
              </a:ext>
            </a:extLst>
          </p:cNvPr>
          <p:cNvSpPr>
            <a:spLocks noGrp="1"/>
          </p:cNvSpPr>
          <p:nvPr/>
        </p:nvSpPr>
        <p:spPr>
          <a:xfrm>
            <a:off x="5029200" y="5076825"/>
            <a:ext cx="1238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083D082C-1F58-466F-B715-F603C47FD14A}"/>
              </a:ext>
            </a:extLst>
          </p:cNvPr>
          <p:cNvSpPr>
            <a:spLocks noGrp="1"/>
          </p:cNvSpPr>
          <p:nvPr/>
        </p:nvSpPr>
        <p:spPr>
          <a:xfrm>
            <a:off x="6362700" y="5048250"/>
            <a:ext cx="16192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9D931E67-81D5-4D5B-B822-21DB62991210}"/>
              </a:ext>
            </a:extLst>
          </p:cNvPr>
          <p:cNvSpPr>
            <a:spLocks noGrp="1"/>
          </p:cNvSpPr>
          <p:nvPr/>
        </p:nvSpPr>
        <p:spPr>
          <a:xfrm>
            <a:off x="6457950" y="5076825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DAB8585-7438-48EF-8E97-7A25104FEE2E}"/>
              </a:ext>
            </a:extLst>
          </p:cNvPr>
          <p:cNvSpPr>
            <a:spLocks noGrp="1"/>
          </p:cNvSpPr>
          <p:nvPr/>
        </p:nvSpPr>
        <p:spPr>
          <a:xfrm>
            <a:off x="7981950" y="5048250"/>
            <a:ext cx="13335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DCB1D7A1-18C9-4278-8956-9C34A5D61E83}"/>
              </a:ext>
            </a:extLst>
          </p:cNvPr>
          <p:cNvSpPr>
            <a:spLocks noGrp="1"/>
          </p:cNvSpPr>
          <p:nvPr/>
        </p:nvSpPr>
        <p:spPr>
          <a:xfrm>
            <a:off x="8077200" y="5076825"/>
            <a:ext cx="114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BF4F8085-DAAB-464C-993D-EA15F9F7F8F4}"/>
              </a:ext>
            </a:extLst>
          </p:cNvPr>
          <p:cNvSpPr>
            <a:spLocks noGrp="1"/>
          </p:cNvSpPr>
          <p:nvPr/>
        </p:nvSpPr>
        <p:spPr>
          <a:xfrm>
            <a:off x="9315450" y="5048250"/>
            <a:ext cx="21907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3B906823-4791-45C4-AE26-840E9984D27C}"/>
              </a:ext>
            </a:extLst>
          </p:cNvPr>
          <p:cNvSpPr>
            <a:spLocks noGrp="1"/>
          </p:cNvSpPr>
          <p:nvPr/>
        </p:nvSpPr>
        <p:spPr>
          <a:xfrm>
            <a:off x="9410700" y="5076825"/>
            <a:ext cx="2000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 be generated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A2CF6257-D9F6-4CE8-A3E0-883FF7075585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18110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9BEFA916-DC24-45E6-AC0D-C61AD294997D}"/>
              </a:ext>
            </a:extLst>
          </p:cNvPr>
          <p:cNvSpPr>
            <a:spLocks noGrp="1"/>
          </p:cNvSpPr>
          <p:nvPr/>
        </p:nvSpPr>
        <p:spPr>
          <a:xfrm>
            <a:off x="704850" y="5314950"/>
            <a:ext cx="9906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CFG_DN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5D71AAF-7918-4EB9-8AC5-5A08055A4442}"/>
              </a:ext>
            </a:extLst>
          </p:cNvPr>
          <p:cNvSpPr>
            <a:spLocks noGrp="1"/>
          </p:cNvSpPr>
          <p:nvPr/>
        </p:nvSpPr>
        <p:spPr>
          <a:xfrm>
            <a:off x="1790700" y="5286375"/>
            <a:ext cx="152400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1D75F44B-522C-4206-8D2A-2C173888496B}"/>
              </a:ext>
            </a:extLst>
          </p:cNvPr>
          <p:cNvSpPr>
            <a:spLocks noGrp="1"/>
          </p:cNvSpPr>
          <p:nvPr/>
        </p:nvSpPr>
        <p:spPr>
          <a:xfrm>
            <a:off x="1885950" y="5314950"/>
            <a:ext cx="1333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1B362FBA-FFB7-4555-BBFC-40A9F356542A}"/>
              </a:ext>
            </a:extLst>
          </p:cNvPr>
          <p:cNvSpPr>
            <a:spLocks noGrp="1"/>
          </p:cNvSpPr>
          <p:nvPr/>
        </p:nvSpPr>
        <p:spPr>
          <a:xfrm>
            <a:off x="3314700" y="5286375"/>
            <a:ext cx="161925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92CD24D3-52CA-4F67-B13F-25A35401D3A5}"/>
              </a:ext>
            </a:extLst>
          </p:cNvPr>
          <p:cNvSpPr>
            <a:spLocks noGrp="1"/>
          </p:cNvSpPr>
          <p:nvPr/>
        </p:nvSpPr>
        <p:spPr>
          <a:xfrm>
            <a:off x="3409950" y="5314950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C921B27-EBB4-484F-BDBD-58D2D8CE055F}"/>
              </a:ext>
            </a:extLst>
          </p:cNvPr>
          <p:cNvSpPr>
            <a:spLocks noGrp="1"/>
          </p:cNvSpPr>
          <p:nvPr/>
        </p:nvSpPr>
        <p:spPr>
          <a:xfrm>
            <a:off x="4933950" y="5286375"/>
            <a:ext cx="142875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8C0FD8E-392E-40F5-AFA4-91E90ED821A4}"/>
              </a:ext>
            </a:extLst>
          </p:cNvPr>
          <p:cNvSpPr>
            <a:spLocks noGrp="1"/>
          </p:cNvSpPr>
          <p:nvPr/>
        </p:nvSpPr>
        <p:spPr>
          <a:xfrm>
            <a:off x="5029200" y="5314950"/>
            <a:ext cx="1238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F13D0FE-8A60-44E2-AF9F-87548B76120A}"/>
              </a:ext>
            </a:extLst>
          </p:cNvPr>
          <p:cNvSpPr>
            <a:spLocks noGrp="1"/>
          </p:cNvSpPr>
          <p:nvPr/>
        </p:nvSpPr>
        <p:spPr>
          <a:xfrm>
            <a:off x="6362700" y="5286375"/>
            <a:ext cx="161925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ADF15DDE-9C38-4D82-9B2D-F0A1396F5623}"/>
              </a:ext>
            </a:extLst>
          </p:cNvPr>
          <p:cNvSpPr>
            <a:spLocks noGrp="1"/>
          </p:cNvSpPr>
          <p:nvPr/>
        </p:nvSpPr>
        <p:spPr>
          <a:xfrm>
            <a:off x="6457950" y="5314950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C5414F42-B378-4FF4-93A7-84F8B6D8351C}"/>
              </a:ext>
            </a:extLst>
          </p:cNvPr>
          <p:cNvSpPr>
            <a:spLocks noGrp="1"/>
          </p:cNvSpPr>
          <p:nvPr/>
        </p:nvSpPr>
        <p:spPr>
          <a:xfrm>
            <a:off x="7981950" y="5286375"/>
            <a:ext cx="133350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41BFB31A-74E9-40C1-A204-C1B5AA4227A6}"/>
              </a:ext>
            </a:extLst>
          </p:cNvPr>
          <p:cNvSpPr>
            <a:spLocks noGrp="1"/>
          </p:cNvSpPr>
          <p:nvPr/>
        </p:nvSpPr>
        <p:spPr>
          <a:xfrm>
            <a:off x="8077200" y="5314950"/>
            <a:ext cx="114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55727429-64EC-4DCC-A74B-4FE586CED29F}"/>
              </a:ext>
            </a:extLst>
          </p:cNvPr>
          <p:cNvSpPr>
            <a:spLocks noGrp="1"/>
          </p:cNvSpPr>
          <p:nvPr/>
        </p:nvSpPr>
        <p:spPr>
          <a:xfrm>
            <a:off x="9315450" y="5286375"/>
            <a:ext cx="2190750" cy="238125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523D617-6A87-49CA-92C2-C320669D04EA}"/>
              </a:ext>
            </a:extLst>
          </p:cNvPr>
          <p:cNvSpPr>
            <a:spLocks noGrp="1"/>
          </p:cNvSpPr>
          <p:nvPr/>
        </p:nvSpPr>
        <p:spPr>
          <a:xfrm>
            <a:off x="9410700" y="5314950"/>
            <a:ext cx="2000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 be generated</a:t>
            </a:r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8ACF501D-39A6-4980-8AA0-F9056E3DFCD1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1811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A8ECCE82-96B6-4099-83A2-44E410951E3F}"/>
              </a:ext>
            </a:extLst>
          </p:cNvPr>
          <p:cNvSpPr>
            <a:spLocks noGrp="1"/>
          </p:cNvSpPr>
          <p:nvPr/>
        </p:nvSpPr>
        <p:spPr>
          <a:xfrm>
            <a:off x="704850" y="5553075"/>
            <a:ext cx="9906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IRQ_DN</a:t>
            </a:r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584EC6C5-63E8-4D17-91C3-7D99F0656A80}"/>
              </a:ext>
            </a:extLst>
          </p:cNvPr>
          <p:cNvSpPr>
            <a:spLocks noGrp="1"/>
          </p:cNvSpPr>
          <p:nvPr/>
        </p:nvSpPr>
        <p:spPr>
          <a:xfrm>
            <a:off x="1790700" y="5524500"/>
            <a:ext cx="15240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26C191A8-00F7-4A5B-A312-EDACBC66A3C8}"/>
              </a:ext>
            </a:extLst>
          </p:cNvPr>
          <p:cNvSpPr>
            <a:spLocks noGrp="1"/>
          </p:cNvSpPr>
          <p:nvPr/>
        </p:nvSpPr>
        <p:spPr>
          <a:xfrm>
            <a:off x="1885950" y="5553075"/>
            <a:ext cx="1333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A19CC368-ED20-40A3-88E0-D5FD2C548426}"/>
              </a:ext>
            </a:extLst>
          </p:cNvPr>
          <p:cNvSpPr>
            <a:spLocks noGrp="1"/>
          </p:cNvSpPr>
          <p:nvPr/>
        </p:nvSpPr>
        <p:spPr>
          <a:xfrm>
            <a:off x="3314700" y="5524500"/>
            <a:ext cx="16192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4F5B7C03-3201-49D2-AD68-A7A7472DA817}"/>
              </a:ext>
            </a:extLst>
          </p:cNvPr>
          <p:cNvSpPr>
            <a:spLocks noGrp="1"/>
          </p:cNvSpPr>
          <p:nvPr/>
        </p:nvSpPr>
        <p:spPr>
          <a:xfrm>
            <a:off x="3409950" y="5553075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D1D2D6C0-7264-4D60-ACDB-6A432DAB8BC1}"/>
              </a:ext>
            </a:extLst>
          </p:cNvPr>
          <p:cNvSpPr>
            <a:spLocks noGrp="1"/>
          </p:cNvSpPr>
          <p:nvPr/>
        </p:nvSpPr>
        <p:spPr>
          <a:xfrm>
            <a:off x="4933950" y="5524500"/>
            <a:ext cx="14287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F2FC2410-A63A-4355-BBEC-8C131E164064}"/>
              </a:ext>
            </a:extLst>
          </p:cNvPr>
          <p:cNvSpPr>
            <a:spLocks noGrp="1"/>
          </p:cNvSpPr>
          <p:nvPr/>
        </p:nvSpPr>
        <p:spPr>
          <a:xfrm>
            <a:off x="5029200" y="5553075"/>
            <a:ext cx="1238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41356D4E-A12D-4584-B144-5CCE0F27320A}"/>
              </a:ext>
            </a:extLst>
          </p:cNvPr>
          <p:cNvSpPr>
            <a:spLocks noGrp="1"/>
          </p:cNvSpPr>
          <p:nvPr/>
        </p:nvSpPr>
        <p:spPr>
          <a:xfrm>
            <a:off x="6362700" y="5524500"/>
            <a:ext cx="16192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0157A9F1-A239-40E1-9101-DDA5F1D4AFB9}"/>
              </a:ext>
            </a:extLst>
          </p:cNvPr>
          <p:cNvSpPr>
            <a:spLocks noGrp="1"/>
          </p:cNvSpPr>
          <p:nvPr/>
        </p:nvSpPr>
        <p:spPr>
          <a:xfrm>
            <a:off x="6457950" y="5553075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13B5517A-FB8A-4B7E-B7FC-E06928A77465}"/>
              </a:ext>
            </a:extLst>
          </p:cNvPr>
          <p:cNvSpPr>
            <a:spLocks noGrp="1"/>
          </p:cNvSpPr>
          <p:nvPr/>
        </p:nvSpPr>
        <p:spPr>
          <a:xfrm>
            <a:off x="7981950" y="5524500"/>
            <a:ext cx="133350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DB471F04-1EC3-4D0B-B975-614C1605552D}"/>
              </a:ext>
            </a:extLst>
          </p:cNvPr>
          <p:cNvSpPr>
            <a:spLocks noGrp="1"/>
          </p:cNvSpPr>
          <p:nvPr/>
        </p:nvSpPr>
        <p:spPr>
          <a:xfrm>
            <a:off x="8077200" y="5553075"/>
            <a:ext cx="114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FCEF054A-E04A-4B29-AAE9-4D7C4CDD3536}"/>
              </a:ext>
            </a:extLst>
          </p:cNvPr>
          <p:cNvSpPr>
            <a:spLocks noGrp="1"/>
          </p:cNvSpPr>
          <p:nvPr/>
        </p:nvSpPr>
        <p:spPr>
          <a:xfrm>
            <a:off x="9315450" y="5524500"/>
            <a:ext cx="2190750" cy="238125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0A305F0D-F8D7-4B0E-98D3-8F24286D303F}"/>
              </a:ext>
            </a:extLst>
          </p:cNvPr>
          <p:cNvSpPr>
            <a:spLocks noGrp="1"/>
          </p:cNvSpPr>
          <p:nvPr/>
        </p:nvSpPr>
        <p:spPr>
          <a:xfrm>
            <a:off x="9410700" y="5553075"/>
            <a:ext cx="2000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to be generated</a:t>
            </a:r>
          </a:p>
        </p:txBody>
      </p:sp>
      <p:sp>
        <p:nvSpPr>
          <p:cNvPr id="137" name="矩形 136">
            <a:extLst>
              <a:ext uri="{FF2B5EF4-FFF2-40B4-BE49-F238E27FC236}">
                <a16:creationId xmlns:a16="http://schemas.microsoft.com/office/drawing/2014/main" id="{4790273D-8CC8-43C0-A515-9DD583DA9E4C}"/>
              </a:ext>
            </a:extLst>
          </p:cNvPr>
          <p:cNvSpPr>
            <a:spLocks noGrp="1"/>
          </p:cNvSpPr>
          <p:nvPr/>
        </p:nvSpPr>
        <p:spPr>
          <a:xfrm>
            <a:off x="609600" y="5762625"/>
            <a:ext cx="1181100" cy="238125"/>
          </a:xfrm>
          <a:prstGeom prst="rect">
            <a:avLst/>
          </a:prstGeom>
          <a:solidFill>
            <a:srgbClr val="FBF0EA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9AF18CCB-BFF2-4F24-AD3F-77016F7ED280}"/>
              </a:ext>
            </a:extLst>
          </p:cNvPr>
          <p:cNvSpPr>
            <a:spLocks noGrp="1"/>
          </p:cNvSpPr>
          <p:nvPr/>
        </p:nvSpPr>
        <p:spPr>
          <a:xfrm>
            <a:off x="704850" y="5791200"/>
            <a:ext cx="9906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139" name="矩形 138">
            <a:extLst>
              <a:ext uri="{FF2B5EF4-FFF2-40B4-BE49-F238E27FC236}">
                <a16:creationId xmlns:a16="http://schemas.microsoft.com/office/drawing/2014/main" id="{A076406D-F44D-4E2E-A3F8-DF5AB10E7782}"/>
              </a:ext>
            </a:extLst>
          </p:cNvPr>
          <p:cNvSpPr>
            <a:spLocks noGrp="1"/>
          </p:cNvSpPr>
          <p:nvPr/>
        </p:nvSpPr>
        <p:spPr>
          <a:xfrm>
            <a:off x="1790700" y="5762625"/>
            <a:ext cx="1524000" cy="238125"/>
          </a:xfrm>
          <a:prstGeom prst="rect">
            <a:avLst/>
          </a:prstGeom>
          <a:solidFill>
            <a:srgbClr val="FBF0EA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838BA363-0A8A-42E3-A89C-B98ABB402730}"/>
              </a:ext>
            </a:extLst>
          </p:cNvPr>
          <p:cNvSpPr>
            <a:spLocks noGrp="1"/>
          </p:cNvSpPr>
          <p:nvPr/>
        </p:nvSpPr>
        <p:spPr>
          <a:xfrm>
            <a:off x="1885950" y="5791200"/>
            <a:ext cx="13335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018"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E7D68E5E-A9A5-457D-9AFE-902AA941B8CA}"/>
              </a:ext>
            </a:extLst>
          </p:cNvPr>
          <p:cNvSpPr>
            <a:spLocks noGrp="1"/>
          </p:cNvSpPr>
          <p:nvPr/>
        </p:nvSpPr>
        <p:spPr>
          <a:xfrm>
            <a:off x="3314700" y="5762625"/>
            <a:ext cx="1619250" cy="238125"/>
          </a:xfrm>
          <a:prstGeom prst="rect">
            <a:avLst/>
          </a:prstGeom>
          <a:solidFill>
            <a:srgbClr val="FBF0EA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1B3724D7-17E7-4DBC-B080-1296AB70FF65}"/>
              </a:ext>
            </a:extLst>
          </p:cNvPr>
          <p:cNvSpPr>
            <a:spLocks noGrp="1"/>
          </p:cNvSpPr>
          <p:nvPr/>
        </p:nvSpPr>
        <p:spPr>
          <a:xfrm>
            <a:off x="3409950" y="5791200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4E44FDEF-54F1-47BF-AD86-F7904FAD4BCD}"/>
              </a:ext>
            </a:extLst>
          </p:cNvPr>
          <p:cNvSpPr>
            <a:spLocks noGrp="1"/>
          </p:cNvSpPr>
          <p:nvPr/>
        </p:nvSpPr>
        <p:spPr>
          <a:xfrm>
            <a:off x="4933950" y="5762625"/>
            <a:ext cx="1428750" cy="238125"/>
          </a:xfrm>
          <a:prstGeom prst="rect">
            <a:avLst/>
          </a:prstGeom>
          <a:solidFill>
            <a:srgbClr val="FBF0EA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84295E8E-7CDC-4CBB-B201-FECE13463824}"/>
              </a:ext>
            </a:extLst>
          </p:cNvPr>
          <p:cNvSpPr>
            <a:spLocks noGrp="1"/>
          </p:cNvSpPr>
          <p:nvPr/>
        </p:nvSpPr>
        <p:spPr>
          <a:xfrm>
            <a:off x="5029200" y="5791200"/>
            <a:ext cx="1238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AAD028C4-0F3B-4E9B-AFBF-AE44D6D29BD8}"/>
              </a:ext>
            </a:extLst>
          </p:cNvPr>
          <p:cNvSpPr>
            <a:spLocks noGrp="1"/>
          </p:cNvSpPr>
          <p:nvPr/>
        </p:nvSpPr>
        <p:spPr>
          <a:xfrm>
            <a:off x="6362700" y="5762625"/>
            <a:ext cx="1619250" cy="238125"/>
          </a:xfrm>
          <a:prstGeom prst="rect">
            <a:avLst/>
          </a:prstGeom>
          <a:solidFill>
            <a:srgbClr val="FBF0EA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CB1FA401-EE34-4D6E-986B-B06757D51582}"/>
              </a:ext>
            </a:extLst>
          </p:cNvPr>
          <p:cNvSpPr>
            <a:spLocks noGrp="1"/>
          </p:cNvSpPr>
          <p:nvPr/>
        </p:nvSpPr>
        <p:spPr>
          <a:xfrm>
            <a:off x="6457950" y="5791200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TBD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9918B400-6631-4E7E-AD56-27607A19BC8E}"/>
              </a:ext>
            </a:extLst>
          </p:cNvPr>
          <p:cNvSpPr>
            <a:spLocks noGrp="1"/>
          </p:cNvSpPr>
          <p:nvPr/>
        </p:nvSpPr>
        <p:spPr>
          <a:xfrm>
            <a:off x="7981950" y="5762625"/>
            <a:ext cx="1333500" cy="238125"/>
          </a:xfrm>
          <a:prstGeom prst="rect">
            <a:avLst/>
          </a:prstGeom>
          <a:solidFill>
            <a:srgbClr val="FBF0EA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64BADBC5-F4DE-4ABD-9273-1BFF2C5006E2}"/>
              </a:ext>
            </a:extLst>
          </p:cNvPr>
          <p:cNvSpPr>
            <a:spLocks noGrp="1"/>
          </p:cNvSpPr>
          <p:nvPr/>
        </p:nvSpPr>
        <p:spPr>
          <a:xfrm>
            <a:off x="8077200" y="5791200"/>
            <a:ext cx="114300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9B51FA6C-AD58-4259-92A5-E672211033BE}"/>
              </a:ext>
            </a:extLst>
          </p:cNvPr>
          <p:cNvSpPr>
            <a:spLocks noGrp="1"/>
          </p:cNvSpPr>
          <p:nvPr/>
        </p:nvSpPr>
        <p:spPr>
          <a:xfrm>
            <a:off x="9315450" y="5762625"/>
            <a:ext cx="2190750" cy="238125"/>
          </a:xfrm>
          <a:prstGeom prst="rect">
            <a:avLst/>
          </a:prstGeom>
          <a:solidFill>
            <a:srgbClr val="FBF0EA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D1A5D76E-518D-4AF2-BF6A-CE6A33119324}"/>
              </a:ext>
            </a:extLst>
          </p:cNvPr>
          <p:cNvSpPr>
            <a:spLocks noGrp="1"/>
          </p:cNvSpPr>
          <p:nvPr/>
        </p:nvSpPr>
        <p:spPr>
          <a:xfrm>
            <a:off x="9410700" y="5791200"/>
            <a:ext cx="2000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link_matrix.csv</a:t>
            </a:r>
          </a:p>
        </p:txBody>
      </p:sp>
      <p:sp>
        <p:nvSpPr>
          <p:cNvPr id="151" name="直線接點 150">
            <a:extLst>
              <a:ext uri="{FF2B5EF4-FFF2-40B4-BE49-F238E27FC236}">
                <a16:creationId xmlns:a16="http://schemas.microsoft.com/office/drawing/2014/main" id="{BBBD85D3-39A3-42B4-98A4-DA0355E63707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D96B30"/>
            </a:solidFill>
            <a:prstDash val="solid"/>
          </a:ln>
        </p:spPr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E0262DBC-5202-432F-847D-C17FF25AEAB5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Planning template only; confirm every value after complex-die and DWR insertion.</a:t>
            </a:r>
          </a:p>
        </p:txBody>
      </p:sp>
      <p:sp>
        <p:nvSpPr>
          <p:cNvPr id="153" name="直線接點 152">
            <a:extLst>
              <a:ext uri="{FF2B5EF4-FFF2-40B4-BE49-F238E27FC236}">
                <a16:creationId xmlns:a16="http://schemas.microsoft.com/office/drawing/2014/main" id="{C8DDB1BD-F187-46F8-85EC-644DC334FA5F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BA4F43E-40EB-4552-BBAA-89182701387D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44861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B1CA32A6-7CD7-4671-AB03-53948400AC1F}"/>
              </a:ext>
            </a:extLst>
          </p:cNvPr>
          <p:cNvSpPr>
            <a:spLocks noGrp="1"/>
          </p:cNvSpPr>
          <p:nvPr/>
        </p:nvSpPr>
        <p:spPr>
          <a:xfrm>
            <a:off x="552450" y="2476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BACKUP · PATTERN TRACE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2D710B-6B96-4B09-8060-4EC568B19127}"/>
              </a:ext>
            </a:extLst>
          </p:cNvPr>
          <p:cNvSpPr>
            <a:spLocks noGrp="1"/>
          </p:cNvSpPr>
          <p:nvPr/>
        </p:nvSpPr>
        <p:spPr>
          <a:xfrm>
            <a:off x="11191875" y="2286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3" name="slide-16-title">
            <a:extLst>
              <a:ext uri="{FF2B5EF4-FFF2-40B4-BE49-F238E27FC236}">
                <a16:creationId xmlns:a16="http://schemas.microsoft.com/office/drawing/2014/main" id="{9216A2BF-3D36-40D1-AA37-90159D4B6348}"/>
              </a:ext>
            </a:extLst>
          </p:cNvPr>
          <p:cNvSpPr>
            <a:spLocks noGrp="1"/>
          </p:cNvSpPr>
          <p:nvPr/>
        </p:nvSpPr>
        <p:spPr>
          <a:xfrm>
            <a:off x="552450" y="5334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935"/>
          </a:bodyPr>
          <a:lstStyle/>
          <a:p>
            <a:pPr algn="l">
              <a:lnSpc>
                <a:spcPct val="102000"/>
              </a:lnSpc>
              <a:buNone/>
              <a:defRPr sz="33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Pattern sign-off requires a traceable access transaction.</a:t>
            </a:r>
          </a:p>
        </p:txBody>
      </p:sp>
      <p:sp>
        <p:nvSpPr>
          <p:cNvPr id="4" name="直線接點 3">
            <a:extLst>
              <a:ext uri="{FF2B5EF4-FFF2-40B4-BE49-F238E27FC236}">
                <a16:creationId xmlns:a16="http://schemas.microsoft.com/office/drawing/2014/main" id="{AA8505B1-5D15-450F-9105-92C87C58090A}"/>
              </a:ext>
            </a:extLst>
          </p:cNvPr>
          <p:cNvSpPr>
            <a:spLocks noGrp="1"/>
          </p:cNvSpPr>
          <p:nvPr/>
        </p:nvSpPr>
        <p:spPr>
          <a:xfrm>
            <a:off x="552450" y="1323975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7F2008-4336-4480-8EDD-716A3DCBFFB8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647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459"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TRANSACTION TIMELINE · CONCEPTUAL TRACE, NOT A CYCLE-EXACT PATTERN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A6BD3D5-F662-406D-964F-3BC14F101CB3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2324100" cy="895350"/>
          </a:xfrm>
          <a:prstGeom prst="roundRect">
            <a:avLst>
              <a:gd name="adj" fmla="val 8511"/>
            </a:avLst>
          </a:prstGeom>
          <a:solidFill>
            <a:srgbClr val="F6F8F9"/>
          </a:solidFill>
          <a:ln w="11430">
            <a:solidFill>
              <a:srgbClr val="3A91B3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401464-E260-4217-B14B-FF4D443F3112}"/>
              </a:ext>
            </a:extLst>
          </p:cNvPr>
          <p:cNvSpPr>
            <a:spLocks noGrp="1"/>
          </p:cNvSpPr>
          <p:nvPr/>
        </p:nvSpPr>
        <p:spPr>
          <a:xfrm>
            <a:off x="742950" y="19621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985CB0-3400-48A6-AC2E-3143101D0FA4}"/>
              </a:ext>
            </a:extLst>
          </p:cNvPr>
          <p:cNvSpPr>
            <a:spLocks noGrp="1"/>
          </p:cNvSpPr>
          <p:nvPr/>
        </p:nvSpPr>
        <p:spPr>
          <a:xfrm>
            <a:off x="2038350" y="19716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1">
                <a:solidFill>
                  <a:srgbClr val="3A91B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A91B3"/>
                </a:solidFill>
                <a:latin typeface="Arial"/>
                <a:ea typeface="Arial"/>
                <a:cs typeface="Arial"/>
              </a:rPr>
              <a:t>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8B51BD-3154-4285-8F4B-27F928C65F2A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706"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Load current TDR / instrument response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CDB1A27-94E4-4C51-AE82-F70D2897DA3D}"/>
              </a:ext>
            </a:extLst>
          </p:cNvPr>
          <p:cNvSpPr>
            <a:spLocks noGrp="1"/>
          </p:cNvSpPr>
          <p:nvPr/>
        </p:nvSpPr>
        <p:spPr>
          <a:xfrm>
            <a:off x="3333750" y="1847850"/>
            <a:ext cx="23241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1430">
            <a:solidFill>
              <a:srgbClr val="0B6B9E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88440A-8518-4026-9884-C8B09EBF0327}"/>
              </a:ext>
            </a:extLst>
          </p:cNvPr>
          <p:cNvSpPr>
            <a:spLocks noGrp="1"/>
          </p:cNvSpPr>
          <p:nvPr/>
        </p:nvSpPr>
        <p:spPr>
          <a:xfrm>
            <a:off x="3467100" y="19621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SHIFT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42807D-8AAA-4A0D-9B43-1FC84F7F51CB}"/>
              </a:ext>
            </a:extLst>
          </p:cNvPr>
          <p:cNvSpPr>
            <a:spLocks noGrp="1"/>
          </p:cNvSpPr>
          <p:nvPr/>
        </p:nvSpPr>
        <p:spPr>
          <a:xfrm>
            <a:off x="4762500" y="19716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E1617D1-D9B4-4723-99E9-B45573868382}"/>
              </a:ext>
            </a:extLst>
          </p:cNvPr>
          <p:cNvSpPr>
            <a:spLocks noGrp="1"/>
          </p:cNvSpPr>
          <p:nvPr/>
        </p:nvSpPr>
        <p:spPr>
          <a:xfrm>
            <a:off x="3467100" y="23050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706"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Serially move instruction, SIB, or data bits</a:t>
            </a:r>
          </a:p>
        </p:txBody>
      </p:sp>
      <p:cxnSp>
        <p:nvCxnSpPr>
          <p:cNvPr id="371" name="直線單箭頭接點 370"/>
          <p:cNvCxnSpPr>
            <a:stCxn id="6" idx="3"/>
            <a:endCxn id="10" idx="1"/>
          </p:cNvCxnSpPr>
          <p:nvPr/>
        </p:nvCxnSpPr>
        <p:spPr>
          <a:xfrm>
            <a:off x="2933700" y="2295525"/>
            <a:ext cx="400050" cy="0"/>
          </a:xfrm>
          <a:prstGeom prst="straightConnector1">
            <a:avLst/>
          </a:prstGeom>
          <a:ln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0D8DE91-2D45-4DB5-B068-9E8F2E966F9A}"/>
              </a:ext>
            </a:extLst>
          </p:cNvPr>
          <p:cNvSpPr>
            <a:spLocks noGrp="1"/>
          </p:cNvSpPr>
          <p:nvPr/>
        </p:nvSpPr>
        <p:spPr>
          <a:xfrm>
            <a:off x="6057900" y="1847850"/>
            <a:ext cx="2324100" cy="895350"/>
          </a:xfrm>
          <a:prstGeom prst="roundRect">
            <a:avLst>
              <a:gd name="adj" fmla="val 8511"/>
            </a:avLst>
          </a:prstGeom>
          <a:solidFill>
            <a:srgbClr val="F6F8F9"/>
          </a:solidFill>
          <a:ln w="11430">
            <a:solidFill>
              <a:srgbClr val="D96B3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07FA73-D80D-4954-9EB0-F4FEB86B82A7}"/>
              </a:ext>
            </a:extLst>
          </p:cNvPr>
          <p:cNvSpPr>
            <a:spLocks noGrp="1"/>
          </p:cNvSpPr>
          <p:nvPr/>
        </p:nvSpPr>
        <p:spPr>
          <a:xfrm>
            <a:off x="6191250" y="19621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1DB91C-44EB-4238-850A-B237E490EAF2}"/>
              </a:ext>
            </a:extLst>
          </p:cNvPr>
          <p:cNvSpPr>
            <a:spLocks noGrp="1"/>
          </p:cNvSpPr>
          <p:nvPr/>
        </p:nvSpPr>
        <p:spPr>
          <a:xfrm>
            <a:off x="7486650" y="19716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2000"/>
              </a:lnSpc>
              <a:buNone/>
              <a:defRPr sz="1200" b="1">
                <a:solidFill>
                  <a:srgbClr val="D96B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6B30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433B55E-3406-4581-949C-4A3F85329E82}"/>
              </a:ext>
            </a:extLst>
          </p:cNvPr>
          <p:cNvSpPr>
            <a:spLocks noGrp="1"/>
          </p:cNvSpPr>
          <p:nvPr/>
        </p:nvSpPr>
        <p:spPr>
          <a:xfrm>
            <a:off x="6191250" y="23050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706"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Commit the shifted value to the update register</a:t>
            </a:r>
          </a:p>
        </p:txBody>
      </p:sp>
      <p:cxnSp>
        <p:nvCxnSpPr>
          <p:cNvPr id="376" name="直線單箭頭接點 375"/>
          <p:cNvCxnSpPr>
            <a:stCxn id="10" idx="3"/>
            <a:endCxn id="15" idx="1"/>
          </p:cNvCxnSpPr>
          <p:nvPr/>
        </p:nvCxnSpPr>
        <p:spPr>
          <a:xfrm>
            <a:off x="5657850" y="2295525"/>
            <a:ext cx="400050" cy="0"/>
          </a:xfrm>
          <a:prstGeom prst="straightConnector1">
            <a:avLst/>
          </a:prstGeom>
          <a:ln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DB24A4DB-0437-4504-B4CC-00D3C57102E5}"/>
              </a:ext>
            </a:extLst>
          </p:cNvPr>
          <p:cNvSpPr>
            <a:spLocks noGrp="1"/>
          </p:cNvSpPr>
          <p:nvPr/>
        </p:nvSpPr>
        <p:spPr>
          <a:xfrm>
            <a:off x="8782050" y="1847850"/>
            <a:ext cx="2324100" cy="89535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1430">
            <a:solidFill>
              <a:srgbClr val="1F7B7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ED4FEC9-F4A3-457B-BD46-B1A2E08C845E}"/>
              </a:ext>
            </a:extLst>
          </p:cNvPr>
          <p:cNvSpPr>
            <a:spLocks noGrp="1"/>
          </p:cNvSpPr>
          <p:nvPr/>
        </p:nvSpPr>
        <p:spPr>
          <a:xfrm>
            <a:off x="8915400" y="196215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35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FC7631-39C8-4482-BC51-7434B76C35B2}"/>
              </a:ext>
            </a:extLst>
          </p:cNvPr>
          <p:cNvSpPr>
            <a:spLocks noGrp="1"/>
          </p:cNvSpPr>
          <p:nvPr/>
        </p:nvSpPr>
        <p:spPr>
          <a:xfrm>
            <a:off x="10210800" y="197167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373"/>
          </a:bodyPr>
          <a:lstStyle/>
          <a:p>
            <a:pPr algn="r">
              <a:lnSpc>
                <a:spcPct val="102000"/>
              </a:lnSpc>
              <a:buNone/>
              <a:defRPr sz="1200" b="1">
                <a:solidFill>
                  <a:srgbClr val="1F7B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7B72"/>
                </a:solidFill>
                <a:latin typeface="Arial"/>
                <a:ea typeface="Arial"/>
                <a:cs typeface="Arial"/>
              </a:rPr>
              <a:t>IDLE / NEXT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3964BD4-C7A1-4FB5-BC61-7D727FD8FA41}"/>
              </a:ext>
            </a:extLst>
          </p:cNvPr>
          <p:cNvSpPr>
            <a:spLocks noGrp="1"/>
          </p:cNvSpPr>
          <p:nvPr/>
        </p:nvSpPr>
        <p:spPr>
          <a:xfrm>
            <a:off x="8915400" y="2305050"/>
            <a:ext cx="2057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706" lnSpcReduction="1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Compare TDO or begin the next access transaction</a:t>
            </a:r>
          </a:p>
        </p:txBody>
      </p:sp>
      <p:cxnSp>
        <p:nvCxnSpPr>
          <p:cNvPr id="381" name="直線單箭頭接點 380"/>
          <p:cNvCxnSpPr>
            <a:stCxn id="15" idx="3"/>
            <a:endCxn id="20" idx="1"/>
          </p:cNvCxnSpPr>
          <p:nvPr/>
        </p:nvCxnSpPr>
        <p:spPr>
          <a:xfrm>
            <a:off x="8382000" y="2295525"/>
            <a:ext cx="400050" cy="0"/>
          </a:xfrm>
          <a:prstGeom prst="straightConnector1">
            <a:avLst/>
          </a:prstGeom>
          <a:ln w="15240">
            <a:solidFill>
              <a:srgbClr val="B7C5C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9CC1D02E-3614-4FBF-BE4A-AD46919167C5}"/>
              </a:ext>
            </a:extLst>
          </p:cNvPr>
          <p:cNvSpPr>
            <a:spLocks noGrp="1"/>
          </p:cNvSpPr>
          <p:nvPr/>
        </p:nvSpPr>
        <p:spPr>
          <a:xfrm>
            <a:off x="609600" y="30289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5E6D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6D78"/>
                </a:solidFill>
                <a:latin typeface="Arial"/>
                <a:ea typeface="Arial"/>
                <a:cs typeface="Arial"/>
              </a:rPr>
              <a:t>SIGNAL-LEVEL TRACE CHECKLIST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358ABB-1379-468C-B7F7-4BABD9166693}"/>
              </a:ext>
            </a:extLst>
          </p:cNvPr>
          <p:cNvSpPr>
            <a:spLocks noGrp="1"/>
          </p:cNvSpPr>
          <p:nvPr/>
        </p:nvSpPr>
        <p:spPr>
          <a:xfrm>
            <a:off x="609600" y="3295650"/>
            <a:ext cx="1428750" cy="2857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041AB40-030C-43F4-B635-72280F8FA0C3}"/>
              </a:ext>
            </a:extLst>
          </p:cNvPr>
          <p:cNvSpPr>
            <a:spLocks noGrp="1"/>
          </p:cNvSpPr>
          <p:nvPr/>
        </p:nvSpPr>
        <p:spPr>
          <a:xfrm>
            <a:off x="704850" y="332422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SIGNAL / ITEM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AD97BB-EA5E-4D15-9431-36E221DB3500}"/>
              </a:ext>
            </a:extLst>
          </p:cNvPr>
          <p:cNvSpPr>
            <a:spLocks noGrp="1"/>
          </p:cNvSpPr>
          <p:nvPr/>
        </p:nvSpPr>
        <p:spPr>
          <a:xfrm>
            <a:off x="2038350" y="3295650"/>
            <a:ext cx="2647950" cy="2857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780ADAE-8CC5-4FB0-B534-335EDF5927BF}"/>
              </a:ext>
            </a:extLst>
          </p:cNvPr>
          <p:cNvSpPr>
            <a:spLocks noGrp="1"/>
          </p:cNvSpPr>
          <p:nvPr/>
        </p:nvSpPr>
        <p:spPr>
          <a:xfrm>
            <a:off x="2133600" y="3324225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TRACE QUESTION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BEFBC6-0560-49B8-B0B5-1282EB55ADCC}"/>
              </a:ext>
            </a:extLst>
          </p:cNvPr>
          <p:cNvSpPr>
            <a:spLocks noGrp="1"/>
          </p:cNvSpPr>
          <p:nvPr/>
        </p:nvSpPr>
        <p:spPr>
          <a:xfrm>
            <a:off x="4686300" y="3295650"/>
            <a:ext cx="3733800" cy="2857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249312D-C58B-40EE-B946-35E1718E1434}"/>
              </a:ext>
            </a:extLst>
          </p:cNvPr>
          <p:cNvSpPr>
            <a:spLocks noGrp="1"/>
          </p:cNvSpPr>
          <p:nvPr/>
        </p:nvSpPr>
        <p:spPr>
          <a:xfrm>
            <a:off x="4781550" y="3324225"/>
            <a:ext cx="3543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INTERPRETATION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71F66D8-E03E-42AF-BBE9-F302B0C2EB94}"/>
              </a:ext>
            </a:extLst>
          </p:cNvPr>
          <p:cNvSpPr>
            <a:spLocks noGrp="1"/>
          </p:cNvSpPr>
          <p:nvPr/>
        </p:nvSpPr>
        <p:spPr>
          <a:xfrm>
            <a:off x="8420100" y="3295650"/>
            <a:ext cx="3086100" cy="285750"/>
          </a:xfrm>
          <a:prstGeom prst="rect">
            <a:avLst/>
          </a:prstGeom>
          <a:solidFill>
            <a:srgbClr val="173A59"/>
          </a:solidFill>
          <a:ln w="11430">
            <a:solidFill>
              <a:srgbClr val="173A59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6BF1B16-5967-4767-91F8-83B2D78370A8}"/>
              </a:ext>
            </a:extLst>
          </p:cNvPr>
          <p:cNvSpPr>
            <a:spLocks noGrp="1"/>
          </p:cNvSpPr>
          <p:nvPr/>
        </p:nvSpPr>
        <p:spPr>
          <a:xfrm>
            <a:off x="8515350" y="3324225"/>
            <a:ext cx="2895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COMMON MISREAD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F99B9B-19FA-4432-8BBB-3F1779CB932E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14287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3DBEADD-AEF6-4350-B9B5-0964BFCECC71}"/>
              </a:ext>
            </a:extLst>
          </p:cNvPr>
          <p:cNvSpPr>
            <a:spLocks noGrp="1"/>
          </p:cNvSpPr>
          <p:nvPr/>
        </p:nvSpPr>
        <p:spPr>
          <a:xfrm>
            <a:off x="704850" y="36099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A2BE333-C2DA-44AB-9F04-43B04E023832}"/>
              </a:ext>
            </a:extLst>
          </p:cNvPr>
          <p:cNvSpPr>
            <a:spLocks noGrp="1"/>
          </p:cNvSpPr>
          <p:nvPr/>
        </p:nvSpPr>
        <p:spPr>
          <a:xfrm>
            <a:off x="2038350" y="3581400"/>
            <a:ext cx="26479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9CB5644-EAAC-45DA-BFB1-F658EE961EE7}"/>
              </a:ext>
            </a:extLst>
          </p:cNvPr>
          <p:cNvSpPr>
            <a:spLocks noGrp="1"/>
          </p:cNvSpPr>
          <p:nvPr/>
        </p:nvSpPr>
        <p:spPr>
          <a:xfrm>
            <a:off x="2133600" y="360997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Which capture register is active?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82B2A1-24F5-47F5-A0A1-72659F7E7008}"/>
              </a:ext>
            </a:extLst>
          </p:cNvPr>
          <p:cNvSpPr>
            <a:spLocks noGrp="1"/>
          </p:cNvSpPr>
          <p:nvPr/>
        </p:nvSpPr>
        <p:spPr>
          <a:xfrm>
            <a:off x="4686300" y="3581400"/>
            <a:ext cx="373380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2F157A1-2D7D-4788-A8A4-33542D3772C2}"/>
              </a:ext>
            </a:extLst>
          </p:cNvPr>
          <p:cNvSpPr>
            <a:spLocks noGrp="1"/>
          </p:cNvSpPr>
          <p:nvPr/>
        </p:nvSpPr>
        <p:spPr>
          <a:xfrm>
            <a:off x="4781550" y="3609975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Loads a response before the corresponding shift.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DD9E64F-83E3-46B3-B6C3-AFF6D2D2B061}"/>
              </a:ext>
            </a:extLst>
          </p:cNvPr>
          <p:cNvSpPr>
            <a:spLocks noGrp="1"/>
          </p:cNvSpPr>
          <p:nvPr/>
        </p:nvSpPr>
        <p:spPr>
          <a:xfrm>
            <a:off x="8420100" y="3581400"/>
            <a:ext cx="308610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2F493E1-A030-4716-98DE-920434CEE1AC}"/>
              </a:ext>
            </a:extLst>
          </p:cNvPr>
          <p:cNvSpPr>
            <a:spLocks noGrp="1"/>
          </p:cNvSpPr>
          <p:nvPr/>
        </p:nvSpPr>
        <p:spPr>
          <a:xfrm>
            <a:off x="8515350" y="360997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Treating capture as data output itself.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E10B470-C742-403B-AEF9-3D3E3D493CDD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142875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43E9A4F-BCA3-4416-9FE6-6A741B7EA018}"/>
              </a:ext>
            </a:extLst>
          </p:cNvPr>
          <p:cNvSpPr>
            <a:spLocks noGrp="1"/>
          </p:cNvSpPr>
          <p:nvPr/>
        </p:nvSpPr>
        <p:spPr>
          <a:xfrm>
            <a:off x="704850" y="39528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SE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F820600-9BED-4542-9CEF-64323A2217FC}"/>
              </a:ext>
            </a:extLst>
          </p:cNvPr>
          <p:cNvSpPr>
            <a:spLocks noGrp="1"/>
          </p:cNvSpPr>
          <p:nvPr/>
        </p:nvSpPr>
        <p:spPr>
          <a:xfrm>
            <a:off x="2038350" y="3924300"/>
            <a:ext cx="264795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C805B9E-383D-4A72-A183-0787D05C5122}"/>
              </a:ext>
            </a:extLst>
          </p:cNvPr>
          <p:cNvSpPr>
            <a:spLocks noGrp="1"/>
          </p:cNvSpPr>
          <p:nvPr/>
        </p:nvSpPr>
        <p:spPr>
          <a:xfrm>
            <a:off x="2133600" y="395287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Which serial segment is selected?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C2D875A-D697-4BFC-B110-4193055DB178}"/>
              </a:ext>
            </a:extLst>
          </p:cNvPr>
          <p:cNvSpPr>
            <a:spLocks noGrp="1"/>
          </p:cNvSpPr>
          <p:nvPr/>
        </p:nvSpPr>
        <p:spPr>
          <a:xfrm>
            <a:off x="4686300" y="3924300"/>
            <a:ext cx="373380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33AAD9E-427F-4F49-B594-15162E09007C}"/>
              </a:ext>
            </a:extLst>
          </p:cNvPr>
          <p:cNvSpPr>
            <a:spLocks noGrp="1"/>
          </p:cNvSpPr>
          <p:nvPr/>
        </p:nvSpPr>
        <p:spPr>
          <a:xfrm>
            <a:off x="4781550" y="3952875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Only the active scan segment shifts on the defined scan edge.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6C78D1A-6CE0-420F-9B87-56624A9DB36B}"/>
              </a:ext>
            </a:extLst>
          </p:cNvPr>
          <p:cNvSpPr>
            <a:spLocks noGrp="1"/>
          </p:cNvSpPr>
          <p:nvPr/>
        </p:nvSpPr>
        <p:spPr>
          <a:xfrm>
            <a:off x="8420100" y="3924300"/>
            <a:ext cx="308610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F35FAB2-63B0-43B3-AC5F-987538D04C24}"/>
              </a:ext>
            </a:extLst>
          </p:cNvPr>
          <p:cNvSpPr>
            <a:spLocks noGrp="1"/>
          </p:cNvSpPr>
          <p:nvPr/>
        </p:nvSpPr>
        <p:spPr>
          <a:xfrm>
            <a:off x="8515350" y="395287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Assuming every SIB / TDR shifts together.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4AB43B1-E312-4984-BAB5-420EB1155519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14287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2791FE2-3760-461C-AD53-463E7C167E20}"/>
              </a:ext>
            </a:extLst>
          </p:cNvPr>
          <p:cNvSpPr>
            <a:spLocks noGrp="1"/>
          </p:cNvSpPr>
          <p:nvPr/>
        </p:nvSpPr>
        <p:spPr>
          <a:xfrm>
            <a:off x="704850" y="42957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CCD3F48-549D-48CC-BA24-A0998F5CC3F9}"/>
              </a:ext>
            </a:extLst>
          </p:cNvPr>
          <p:cNvSpPr>
            <a:spLocks noGrp="1"/>
          </p:cNvSpPr>
          <p:nvPr/>
        </p:nvSpPr>
        <p:spPr>
          <a:xfrm>
            <a:off x="2038350" y="4267200"/>
            <a:ext cx="26479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24A0099-818F-42E2-9C30-4F49ED212862}"/>
              </a:ext>
            </a:extLst>
          </p:cNvPr>
          <p:cNvSpPr>
            <a:spLocks noGrp="1"/>
          </p:cNvSpPr>
          <p:nvPr/>
        </p:nvSpPr>
        <p:spPr>
          <a:xfrm>
            <a:off x="2133600" y="429577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Which update register commits?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532340C-2BB6-435D-8C25-A41F59897079}"/>
              </a:ext>
            </a:extLst>
          </p:cNvPr>
          <p:cNvSpPr>
            <a:spLocks noGrp="1"/>
          </p:cNvSpPr>
          <p:nvPr/>
        </p:nvSpPr>
        <p:spPr>
          <a:xfrm>
            <a:off x="4686300" y="4267200"/>
            <a:ext cx="373380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3D41F5E-BAF9-4D4C-8B95-8C9215BCB9F1}"/>
              </a:ext>
            </a:extLst>
          </p:cNvPr>
          <p:cNvSpPr>
            <a:spLocks noGrp="1"/>
          </p:cNvSpPr>
          <p:nvPr/>
        </p:nvSpPr>
        <p:spPr>
          <a:xfrm>
            <a:off x="4781550" y="4295775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Makes the shifted instruction or data take effect.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39F865B-AF74-4E57-8D91-00EC37DFC18C}"/>
              </a:ext>
            </a:extLst>
          </p:cNvPr>
          <p:cNvSpPr>
            <a:spLocks noGrp="1"/>
          </p:cNvSpPr>
          <p:nvPr/>
        </p:nvSpPr>
        <p:spPr>
          <a:xfrm>
            <a:off x="8420100" y="4267200"/>
            <a:ext cx="308610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4D25366-C52D-45E1-BAAA-9F721F41519E}"/>
              </a:ext>
            </a:extLst>
          </p:cNvPr>
          <p:cNvSpPr>
            <a:spLocks noGrp="1"/>
          </p:cNvSpPr>
          <p:nvPr/>
        </p:nvSpPr>
        <p:spPr>
          <a:xfrm>
            <a:off x="8515350" y="429577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Expecting functional effect during shift.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91EAAC6-58B1-4E66-93C6-A7DAA38F716A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142875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9BF399B-E97D-461D-80D1-88B96677FF96}"/>
              </a:ext>
            </a:extLst>
          </p:cNvPr>
          <p:cNvSpPr>
            <a:spLocks noGrp="1"/>
          </p:cNvSpPr>
          <p:nvPr/>
        </p:nvSpPr>
        <p:spPr>
          <a:xfrm>
            <a:off x="704850" y="46386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SIB state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169D447-35E3-43D6-96B7-F42813DA9F58}"/>
              </a:ext>
            </a:extLst>
          </p:cNvPr>
          <p:cNvSpPr>
            <a:spLocks noGrp="1"/>
          </p:cNvSpPr>
          <p:nvPr/>
        </p:nvSpPr>
        <p:spPr>
          <a:xfrm>
            <a:off x="2038350" y="4610100"/>
            <a:ext cx="264795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ED9319A-369B-479E-9B63-418DAD28B90F}"/>
              </a:ext>
            </a:extLst>
          </p:cNvPr>
          <p:cNvSpPr>
            <a:spLocks noGrp="1"/>
          </p:cNvSpPr>
          <p:nvPr/>
        </p:nvSpPr>
        <p:spPr>
          <a:xfrm>
            <a:off x="2133600" y="463867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Open before the target shift?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69A7D6C8-8F87-4D15-847C-65EE6A6BE600}"/>
              </a:ext>
            </a:extLst>
          </p:cNvPr>
          <p:cNvSpPr>
            <a:spLocks noGrp="1"/>
          </p:cNvSpPr>
          <p:nvPr/>
        </p:nvSpPr>
        <p:spPr>
          <a:xfrm>
            <a:off x="4686300" y="4610100"/>
            <a:ext cx="373380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FCC1FF1-48D6-4447-A701-183088B6F5D8}"/>
              </a:ext>
            </a:extLst>
          </p:cNvPr>
          <p:cNvSpPr>
            <a:spLocks noGrp="1"/>
          </p:cNvSpPr>
          <p:nvPr/>
        </p:nvSpPr>
        <p:spPr>
          <a:xfrm>
            <a:off x="4781550" y="4638675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Controls whether the downstream segment is in the scan path.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F9930105-366F-42C6-ABD4-AA193C74A243}"/>
              </a:ext>
            </a:extLst>
          </p:cNvPr>
          <p:cNvSpPr>
            <a:spLocks noGrp="1"/>
          </p:cNvSpPr>
          <p:nvPr/>
        </p:nvSpPr>
        <p:spPr>
          <a:xfrm>
            <a:off x="8420100" y="4610100"/>
            <a:ext cx="308610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F7BF481-3E4C-4755-A26F-9A81E9985DCE}"/>
              </a:ext>
            </a:extLst>
          </p:cNvPr>
          <p:cNvSpPr>
            <a:spLocks noGrp="1"/>
          </p:cNvSpPr>
          <p:nvPr/>
        </p:nvSpPr>
        <p:spPr>
          <a:xfrm>
            <a:off x="8515350" y="463867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Reading SIB toggles as random activity.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EEC3AC4-A861-40AD-8BE3-DFE812A79EE7}"/>
              </a:ext>
            </a:extLst>
          </p:cNvPr>
          <p:cNvSpPr>
            <a:spLocks noGrp="1"/>
          </p:cNvSpPr>
          <p:nvPr/>
        </p:nvSpPr>
        <p:spPr>
          <a:xfrm>
            <a:off x="609600" y="4953000"/>
            <a:ext cx="14287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5E8745B-4BF5-4A60-B90F-9F764A5F1040}"/>
              </a:ext>
            </a:extLst>
          </p:cNvPr>
          <p:cNvSpPr>
            <a:spLocks noGrp="1"/>
          </p:cNvSpPr>
          <p:nvPr/>
        </p:nvSpPr>
        <p:spPr>
          <a:xfrm>
            <a:off x="704850" y="49815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TDI / TDO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E71C417-C167-417B-87C8-3411D7C31698}"/>
              </a:ext>
            </a:extLst>
          </p:cNvPr>
          <p:cNvSpPr>
            <a:spLocks noGrp="1"/>
          </p:cNvSpPr>
          <p:nvPr/>
        </p:nvSpPr>
        <p:spPr>
          <a:xfrm>
            <a:off x="2038350" y="4953000"/>
            <a:ext cx="26479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C989B921-4683-45AE-89B7-2C80FD2C8737}"/>
              </a:ext>
            </a:extLst>
          </p:cNvPr>
          <p:cNvSpPr>
            <a:spLocks noGrp="1"/>
          </p:cNvSpPr>
          <p:nvPr/>
        </p:nvSpPr>
        <p:spPr>
          <a:xfrm>
            <a:off x="2133600" y="498157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What bit order and latency apply?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FD7EB18-D013-4B44-B5FD-C6116D77CBD1}"/>
              </a:ext>
            </a:extLst>
          </p:cNvPr>
          <p:cNvSpPr>
            <a:spLocks noGrp="1"/>
          </p:cNvSpPr>
          <p:nvPr/>
        </p:nvSpPr>
        <p:spPr>
          <a:xfrm>
            <a:off x="4686300" y="4953000"/>
            <a:ext cx="373380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CEA87CC-2A0F-4750-AB91-5BE027263C59}"/>
              </a:ext>
            </a:extLst>
          </p:cNvPr>
          <p:cNvSpPr>
            <a:spLocks noGrp="1"/>
          </p:cNvSpPr>
          <p:nvPr/>
        </p:nvSpPr>
        <p:spPr>
          <a:xfrm>
            <a:off x="4781550" y="4981575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Input and response traverse the active concatenated path.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3D90FFBA-DD9D-47F4-9637-0E40A3B9E8B6}"/>
              </a:ext>
            </a:extLst>
          </p:cNvPr>
          <p:cNvSpPr>
            <a:spLocks noGrp="1"/>
          </p:cNvSpPr>
          <p:nvPr/>
        </p:nvSpPr>
        <p:spPr>
          <a:xfrm>
            <a:off x="8420100" y="4953000"/>
            <a:ext cx="308610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0394A09-0C95-4567-8D89-26B69F955611}"/>
              </a:ext>
            </a:extLst>
          </p:cNvPr>
          <p:cNvSpPr>
            <a:spLocks noGrp="1"/>
          </p:cNvSpPr>
          <p:nvPr/>
        </p:nvSpPr>
        <p:spPr>
          <a:xfrm>
            <a:off x="8515350" y="498157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Comparing TDO with zero-cycle latency.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E60EEAE3-1D88-4D7B-854F-480B2C7413B3}"/>
              </a:ext>
            </a:extLst>
          </p:cNvPr>
          <p:cNvSpPr>
            <a:spLocks noGrp="1"/>
          </p:cNvSpPr>
          <p:nvPr/>
        </p:nvSpPr>
        <p:spPr>
          <a:xfrm>
            <a:off x="609600" y="5295900"/>
            <a:ext cx="142875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73C23577-BAC1-452E-B1A3-3E6FBF6C17D8}"/>
              </a:ext>
            </a:extLst>
          </p:cNvPr>
          <p:cNvSpPr>
            <a:spLocks noGrp="1"/>
          </p:cNvSpPr>
          <p:nvPr/>
        </p:nvSpPr>
        <p:spPr>
          <a:xfrm>
            <a:off x="704850" y="53244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TDO_EN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FD56497-8834-44C8-9B73-61FFD8D48095}"/>
              </a:ext>
            </a:extLst>
          </p:cNvPr>
          <p:cNvSpPr>
            <a:spLocks noGrp="1"/>
          </p:cNvSpPr>
          <p:nvPr/>
        </p:nvSpPr>
        <p:spPr>
          <a:xfrm>
            <a:off x="2038350" y="5295900"/>
            <a:ext cx="264795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3FEB244-6C12-4405-819F-1271F0A52FF8}"/>
              </a:ext>
            </a:extLst>
          </p:cNvPr>
          <p:cNvSpPr>
            <a:spLocks noGrp="1"/>
          </p:cNvSpPr>
          <p:nvPr/>
        </p:nvSpPr>
        <p:spPr>
          <a:xfrm>
            <a:off x="2133600" y="532447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Is pad enable or internal data being inspected?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98353BD2-C960-40FA-961D-FF438DEE5AB3}"/>
              </a:ext>
            </a:extLst>
          </p:cNvPr>
          <p:cNvSpPr>
            <a:spLocks noGrp="1"/>
          </p:cNvSpPr>
          <p:nvPr/>
        </p:nvSpPr>
        <p:spPr>
          <a:xfrm>
            <a:off x="4686300" y="5295900"/>
            <a:ext cx="373380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A873C8D0-E916-4474-906C-F31856EC74AE}"/>
              </a:ext>
            </a:extLst>
          </p:cNvPr>
          <p:cNvSpPr>
            <a:spLocks noGrp="1"/>
          </p:cNvSpPr>
          <p:nvPr/>
        </p:nvSpPr>
        <p:spPr>
          <a:xfrm>
            <a:off x="4781550" y="5324475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Pad-level enable can differ from internal scan-data validity.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4204304-CE00-468A-AF4F-80327463BE7C}"/>
              </a:ext>
            </a:extLst>
          </p:cNvPr>
          <p:cNvSpPr>
            <a:spLocks noGrp="1"/>
          </p:cNvSpPr>
          <p:nvPr/>
        </p:nvSpPr>
        <p:spPr>
          <a:xfrm>
            <a:off x="8420100" y="5295900"/>
            <a:ext cx="3086100" cy="342900"/>
          </a:xfrm>
          <a:prstGeom prst="rect">
            <a:avLst/>
          </a:prstGeom>
          <a:solidFill>
            <a:srgbClr val="F6F8F9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50A5CA4D-DF77-4F2B-9169-DD740918AB45}"/>
              </a:ext>
            </a:extLst>
          </p:cNvPr>
          <p:cNvSpPr>
            <a:spLocks noGrp="1"/>
          </p:cNvSpPr>
          <p:nvPr/>
        </p:nvSpPr>
        <p:spPr>
          <a:xfrm>
            <a:off x="8515350" y="532447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Using TDO_EN alone to infer internal TDO validity.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B334D65-891E-42F9-8FBF-5B3D2A947971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4287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36E25B2-FF5C-4376-959D-E14B96DBF18A}"/>
              </a:ext>
            </a:extLst>
          </p:cNvPr>
          <p:cNvSpPr>
            <a:spLocks noGrp="1"/>
          </p:cNvSpPr>
          <p:nvPr/>
        </p:nvSpPr>
        <p:spPr>
          <a:xfrm>
            <a:off x="704850" y="56673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2000"/>
              </a:lnSpc>
              <a:buNone/>
              <a:defRPr sz="1200" b="1">
                <a:solidFill>
                  <a:srgbClr val="0B6B9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6B9E"/>
                </a:solidFill>
                <a:latin typeface="Arial"/>
                <a:ea typeface="Arial"/>
                <a:cs typeface="Arial"/>
              </a:rPr>
              <a:t>Clock edge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FAE96EC-EE0E-46C1-BD82-9794665C25C8}"/>
              </a:ext>
            </a:extLst>
          </p:cNvPr>
          <p:cNvSpPr>
            <a:spLocks noGrp="1"/>
          </p:cNvSpPr>
          <p:nvPr/>
        </p:nvSpPr>
        <p:spPr>
          <a:xfrm>
            <a:off x="2038350" y="5638800"/>
            <a:ext cx="264795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1A57923-692E-453A-8B21-1CCA2B9D2B31}"/>
              </a:ext>
            </a:extLst>
          </p:cNvPr>
          <p:cNvSpPr>
            <a:spLocks noGrp="1"/>
          </p:cNvSpPr>
          <p:nvPr/>
        </p:nvSpPr>
        <p:spPr>
          <a:xfrm>
            <a:off x="2133600" y="5667375"/>
            <a:ext cx="2457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Which edge shifts and which edge is observed?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3FABD92-DF10-4554-835E-85868CD90F2E}"/>
              </a:ext>
            </a:extLst>
          </p:cNvPr>
          <p:cNvSpPr>
            <a:spLocks noGrp="1"/>
          </p:cNvSpPr>
          <p:nvPr/>
        </p:nvSpPr>
        <p:spPr>
          <a:xfrm>
            <a:off x="4686300" y="5638800"/>
            <a:ext cx="373380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2A2EB43E-F50A-45B0-8A11-7EA288EAFDF8}"/>
              </a:ext>
            </a:extLst>
          </p:cNvPr>
          <p:cNvSpPr>
            <a:spLocks noGrp="1"/>
          </p:cNvSpPr>
          <p:nvPr/>
        </p:nvSpPr>
        <p:spPr>
          <a:xfrm>
            <a:off x="4781550" y="5667375"/>
            <a:ext cx="3543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20000"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Checker sampling follows the generated procedure and model.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7BA74F15-1285-4E4E-83AD-700A79DFFC4B}"/>
              </a:ext>
            </a:extLst>
          </p:cNvPr>
          <p:cNvSpPr>
            <a:spLocks noGrp="1"/>
          </p:cNvSpPr>
          <p:nvPr/>
        </p:nvSpPr>
        <p:spPr>
          <a:xfrm>
            <a:off x="8420100" y="5638800"/>
            <a:ext cx="3086100" cy="342900"/>
          </a:xfrm>
          <a:prstGeom prst="rect">
            <a:avLst/>
          </a:prstGeom>
          <a:solidFill>
            <a:srgbClr val="FFFFFF"/>
          </a:solidFill>
          <a:ln w="11430">
            <a:solidFill>
              <a:srgbClr val="D7E0E5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09B8B71D-064C-4BC8-AE78-CAFA2A34B909}"/>
              </a:ext>
            </a:extLst>
          </p:cNvPr>
          <p:cNvSpPr>
            <a:spLocks noGrp="1"/>
          </p:cNvSpPr>
          <p:nvPr/>
        </p:nvSpPr>
        <p:spPr>
          <a:xfrm>
            <a:off x="8515350" y="566737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2000"/>
              </a:lnSpc>
              <a:buNone/>
              <a:defRPr sz="1200" b="0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02332"/>
                </a:solidFill>
                <a:latin typeface="Arial"/>
                <a:ea typeface="Arial"/>
                <a:cs typeface="Arial"/>
              </a:rPr>
              <a:t>Comparing on the transition edge.</a:t>
            </a:r>
          </a:p>
        </p:txBody>
      </p:sp>
      <p:sp>
        <p:nvSpPr>
          <p:cNvPr id="90" name="直線接點 89">
            <a:extLst>
              <a:ext uri="{FF2B5EF4-FFF2-40B4-BE49-F238E27FC236}">
                <a16:creationId xmlns:a16="http://schemas.microsoft.com/office/drawing/2014/main" id="{6246B51B-1C21-4DC0-812A-3E4FD53FA105}"/>
              </a:ext>
            </a:extLst>
          </p:cNvPr>
          <p:cNvSpPr>
            <a:spLocks noGrp="1"/>
          </p:cNvSpPr>
          <p:nvPr/>
        </p:nvSpPr>
        <p:spPr>
          <a:xfrm>
            <a:off x="552450" y="6048375"/>
            <a:ext cx="38100" cy="285750"/>
          </a:xfrm>
          <a:prstGeom prst="line">
            <a:avLst/>
          </a:prstGeom>
          <a:noFill/>
          <a:ln w="38100">
            <a:solidFill>
              <a:srgbClr val="0B6B9E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CBA8864D-89E6-4468-80F4-40F6C6F3E17A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1066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372"/>
          </a:bodyPr>
          <a:lstStyle/>
          <a:p>
            <a:pPr algn="l">
              <a:lnSpc>
                <a:spcPct val="102000"/>
              </a:lnSpc>
              <a:buNone/>
              <a:defRPr sz="1500" b="1">
                <a:solidFill>
                  <a:srgbClr val="1023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332"/>
                </a:solidFill>
                <a:latin typeface="Arial"/>
                <a:ea typeface="Arial"/>
                <a:cs typeface="Arial"/>
              </a:rPr>
              <a:t>The checker should explain every phase transition and compare point; a visually plausible waveform is not sufficient.</a:t>
            </a:r>
          </a:p>
        </p:txBody>
      </p:sp>
      <p:sp>
        <p:nvSpPr>
          <p:cNvPr id="92" name="直線接點 91">
            <a:extLst>
              <a:ext uri="{FF2B5EF4-FFF2-40B4-BE49-F238E27FC236}">
                <a16:creationId xmlns:a16="http://schemas.microsoft.com/office/drawing/2014/main" id="{072263E5-18C7-4B30-A745-1B180E056D9E}"/>
              </a:ext>
            </a:extLst>
          </p:cNvPr>
          <p:cNvSpPr>
            <a:spLocks noGrp="1"/>
          </p:cNvSpPr>
          <p:nvPr/>
        </p:nvSpPr>
        <p:spPr>
          <a:xfrm>
            <a:off x="552450" y="6496050"/>
            <a:ext cx="11087100" cy="0"/>
          </a:xfrm>
          <a:prstGeom prst="line">
            <a:avLst/>
          </a:prstGeom>
          <a:noFill/>
          <a:ln w="9525">
            <a:solidFill>
              <a:srgbClr val="D7E0E5"/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E7C0E23-8927-4248-AB2E-7128EC2E89A8}"/>
              </a:ext>
            </a:extLst>
          </p:cNvPr>
          <p:cNvSpPr>
            <a:spLocks noGrp="1"/>
          </p:cNvSpPr>
          <p:nvPr/>
        </p:nvSpPr>
        <p:spPr>
          <a:xfrm>
            <a:off x="552450" y="6581775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lnSpcReduction="10000"/>
          </a:bodyPr>
          <a:lstStyle/>
          <a:p>
            <a:pPr algn="l">
              <a:lnSpc>
                <a:spcPct val="102000"/>
              </a:lnSpc>
              <a:buNone/>
              <a:defRPr sz="1200" b="0">
                <a:solidFill>
                  <a:srgbClr val="89959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9959D"/>
                </a:solidFill>
                <a:latin typeface="Arial"/>
                <a:ea typeface="Arial"/>
                <a:cs typeface="Arial"/>
              </a:rPr>
              <a:t>DFT Integration Project · Internal Review</a:t>
            </a:r>
          </a:p>
        </p:txBody>
      </p:sp>
    </p:spTree>
    <p:extLst>
      <p:ext uri="{BB962C8B-B14F-4D97-AF65-F5344CB8AC3E}">
        <p14:creationId xmlns:p14="http://schemas.microsoft.com/office/powerpoint/2010/main" val="13974647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4381</Words>
  <Application>Microsoft Office PowerPoint</Application>
  <DocSecurity>0</DocSecurity>
  <PresentationFormat>寬螢幕</PresentationFormat>
  <Paragraphs>1086</Paragraphs>
  <Slides>21</Slides>
  <Notes>21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3" baseType="lpstr">
      <vt:lpstr>Arial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祐榛 張</cp:lastModifiedBy>
  <cp:revision>5</cp:revision>
  <dcterms:created xsi:type="dcterms:W3CDTF">2026-08-02T04:59:50Z</dcterms:created>
  <dcterms:modified xsi:type="dcterms:W3CDTF">2026-08-02T14:32:11Z</dcterms:modified>
</cp:coreProperties>
</file>