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5906f7db244d9" /><Relationship Type="http://schemas.openxmlformats.org/officeDocument/2006/relationships/extended-properties" Target="/docProps/app.xml" Id="R2c020c905c2b4fb8" /><Relationship Type="http://schemas.openxmlformats.org/officeDocument/2006/relationships/officeDocument" Target="/ppt/presentation.xml" Id="R760728271dd141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c2a7b966754735"/>
  </p:sldMasterIdLst>
  <p:notesMasterIdLst>
    <p:notesMasterId xmlns:r="http://schemas.openxmlformats.org/officeDocument/2006/relationships" r:id="Rbe9650fc763044d6"/>
  </p:notesMasterIdLst>
  <p:sldIdLst>
    <p:sldId xmlns:r="http://schemas.openxmlformats.org/officeDocument/2006/relationships" id="256" r:id="Rfc42a2fe927f4bb7"/>
    <p:sldId xmlns:r="http://schemas.openxmlformats.org/officeDocument/2006/relationships" id="257" r:id="Rd0c7bd8013de4989"/>
    <p:sldId xmlns:r="http://schemas.openxmlformats.org/officeDocument/2006/relationships" id="258" r:id="Rd0712f79ea82463e"/>
    <p:sldId xmlns:r="http://schemas.openxmlformats.org/officeDocument/2006/relationships" id="259" r:id="R83636802122d4677"/>
    <p:sldId xmlns:r="http://schemas.openxmlformats.org/officeDocument/2006/relationships" id="260" r:id="R3c7fc30fba8b41d4"/>
    <p:sldId xmlns:r="http://schemas.openxmlformats.org/officeDocument/2006/relationships" id="261" r:id="Rfe48ca7c82344e47"/>
    <p:sldId xmlns:r="http://schemas.openxmlformats.org/officeDocument/2006/relationships" id="262" r:id="R6eccd0f0ea154f1d"/>
    <p:sldId xmlns:r="http://schemas.openxmlformats.org/officeDocument/2006/relationships" id="263" r:id="Rf3098ef769734eed"/>
    <p:sldId xmlns:r="http://schemas.openxmlformats.org/officeDocument/2006/relationships" id="264" r:id="R3ad34aaf58ac47c1"/>
    <p:sldId xmlns:r="http://schemas.openxmlformats.org/officeDocument/2006/relationships" id="265" r:id="Rc8ac3d6e97ed4efc"/>
    <p:sldId xmlns:r="http://schemas.openxmlformats.org/officeDocument/2006/relationships" id="266" r:id="R2b4985940ce64eda"/>
    <p:sldId xmlns:r="http://schemas.openxmlformats.org/officeDocument/2006/relationships" id="267" r:id="Rc6e994b149644252"/>
    <p:sldId xmlns:r="http://schemas.openxmlformats.org/officeDocument/2006/relationships" id="268" r:id="R5cd8982d6e3d4981"/>
    <p:sldId xmlns:r="http://schemas.openxmlformats.org/officeDocument/2006/relationships" id="269" r:id="R19449e22506c40a9"/>
    <p:sldId xmlns:r="http://schemas.openxmlformats.org/officeDocument/2006/relationships" id="270" r:id="Rc7bb6c7536c641eb"/>
    <p:sldId xmlns:r="http://schemas.openxmlformats.org/officeDocument/2006/relationships" id="271" r:id="R7eed60354e4842a2"/>
    <p:sldId xmlns:r="http://schemas.openxmlformats.org/officeDocument/2006/relationships" id="272" r:id="R36f8c9e3a5d84ef4"/>
    <p:sldId xmlns:r="http://schemas.openxmlformats.org/officeDocument/2006/relationships" id="273" r:id="R6d5099c31fb84ebf"/>
    <p:sldId xmlns:r="http://schemas.openxmlformats.org/officeDocument/2006/relationships" id="274" r:id="R221ee065d7944c2c"/>
    <p:sldId xmlns:r="http://schemas.openxmlformats.org/officeDocument/2006/relationships" id="275" r:id="Rf4365ccea4d84b34"/>
    <p:sldId xmlns:r="http://schemas.openxmlformats.org/officeDocument/2006/relationships" id="276" r:id="R5a979d3ace7a49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e6b98d5212417c" /><Relationship Type="http://schemas.openxmlformats.org/officeDocument/2006/relationships/slideMaster" Target="/ppt/slideMasters/slideMaster1.xml" Id="R12c2a7b966754735" /><Relationship Type="http://schemas.openxmlformats.org/officeDocument/2006/relationships/notesMaster" Target="/ppt/notesMasters/notesMaster1.xml" Id="Rbe9650fc763044d6" /><Relationship Type="http://schemas.openxmlformats.org/officeDocument/2006/relationships/presProps" Target="/ppt/presProps.xml" Id="Ra79a9b90c06d4ea5" /><Relationship Type="http://schemas.openxmlformats.org/officeDocument/2006/relationships/tableStyles" Target="/ppt/tableStyles.xml" Id="Rf7287e7eef7847c5" /><Relationship Type="http://schemas.openxmlformats.org/officeDocument/2006/relationships/slide" Target="/ppt/slides/slide1.xml" Id="Rfc42a2fe927f4bb7" /><Relationship Type="http://schemas.openxmlformats.org/officeDocument/2006/relationships/slide" Target="/ppt/slides/slide2.xml" Id="Rd0c7bd8013de4989" /><Relationship Type="http://schemas.openxmlformats.org/officeDocument/2006/relationships/slide" Target="/ppt/slides/slide3.xml" Id="Rd0712f79ea82463e" /><Relationship Type="http://schemas.openxmlformats.org/officeDocument/2006/relationships/slide" Target="/ppt/slides/slide4.xml" Id="R83636802122d4677" /><Relationship Type="http://schemas.openxmlformats.org/officeDocument/2006/relationships/slide" Target="/ppt/slides/slide5.xml" Id="R3c7fc30fba8b41d4" /><Relationship Type="http://schemas.openxmlformats.org/officeDocument/2006/relationships/slide" Target="/ppt/slides/slide6.xml" Id="Rfe48ca7c82344e47" /><Relationship Type="http://schemas.openxmlformats.org/officeDocument/2006/relationships/slide" Target="/ppt/slides/slide7.xml" Id="R6eccd0f0ea154f1d" /><Relationship Type="http://schemas.openxmlformats.org/officeDocument/2006/relationships/slide" Target="/ppt/slides/slide8.xml" Id="Rf3098ef769734eed" /><Relationship Type="http://schemas.openxmlformats.org/officeDocument/2006/relationships/slide" Target="/ppt/slides/slide9.xml" Id="R3ad34aaf58ac47c1" /><Relationship Type="http://schemas.openxmlformats.org/officeDocument/2006/relationships/slide" Target="/ppt/slides/slide10.xml" Id="Rc8ac3d6e97ed4efc" /><Relationship Type="http://schemas.openxmlformats.org/officeDocument/2006/relationships/slide" Target="/ppt/slides/slide11.xml" Id="R2b4985940ce64eda" /><Relationship Type="http://schemas.openxmlformats.org/officeDocument/2006/relationships/slide" Target="/ppt/slides/slide12.xml" Id="Rc6e994b149644252" /><Relationship Type="http://schemas.openxmlformats.org/officeDocument/2006/relationships/slide" Target="/ppt/slides/slide13.xml" Id="R5cd8982d6e3d4981" /><Relationship Type="http://schemas.openxmlformats.org/officeDocument/2006/relationships/slide" Target="/ppt/slides/slide14.xml" Id="R19449e22506c40a9" /><Relationship Type="http://schemas.openxmlformats.org/officeDocument/2006/relationships/slide" Target="/ppt/slides/slide15.xml" Id="Rc7bb6c7536c641eb" /><Relationship Type="http://schemas.openxmlformats.org/officeDocument/2006/relationships/slide" Target="/ppt/slides/slide16.xml" Id="R7eed60354e4842a2" /><Relationship Type="http://schemas.openxmlformats.org/officeDocument/2006/relationships/slide" Target="/ppt/slides/slide17.xml" Id="R36f8c9e3a5d84ef4" /><Relationship Type="http://schemas.openxmlformats.org/officeDocument/2006/relationships/slide" Target="/ppt/slides/slide18.xml" Id="R6d5099c31fb84ebf" /><Relationship Type="http://schemas.openxmlformats.org/officeDocument/2006/relationships/slide" Target="/ppt/slides/slide19.xml" Id="R221ee065d7944c2c" /><Relationship Type="http://schemas.openxmlformats.org/officeDocument/2006/relationships/slide" Target="/ppt/slides/slide20.xml" Id="Rf4365ccea4d84b34" /><Relationship Type="http://schemas.openxmlformats.org/officeDocument/2006/relationships/slide" Target="/ppt/slides/slide21.xml" Id="R5a979d3ace7a49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fcc8318bd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a6638f758e49ac" /><Relationship Type="http://schemas.openxmlformats.org/officeDocument/2006/relationships/notesMaster" Target="/ppt/notesMasters/notesMaster1.xml" Id="R28b82934476c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2cc1cb2fde4fa0" /><Relationship Type="http://schemas.openxmlformats.org/officeDocument/2006/relationships/notesMaster" Target="/ppt/notesMasters/notesMaster1.xml" Id="R0fd92bf79962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6066c29ce4af0" /><Relationship Type="http://schemas.openxmlformats.org/officeDocument/2006/relationships/notesMaster" Target="/ppt/notesMasters/notesMaster1.xml" Id="R112d4dd72fe3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6f7cb2cee14ff3" /><Relationship Type="http://schemas.openxmlformats.org/officeDocument/2006/relationships/notesMaster" Target="/ppt/notesMasters/notesMaster1.xml" Id="R6dfef0fdc3b545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635be418c4112" /><Relationship Type="http://schemas.openxmlformats.org/officeDocument/2006/relationships/notesMaster" Target="/ppt/notesMasters/notesMaster1.xml" Id="Rd7910604f40345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3987ddb6b24954" /><Relationship Type="http://schemas.openxmlformats.org/officeDocument/2006/relationships/notesMaster" Target="/ppt/notesMasters/notesMaster1.xml" Id="R1f739003f1aa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ecf2f84fc74d0e" /><Relationship Type="http://schemas.openxmlformats.org/officeDocument/2006/relationships/notesMaster" Target="/ppt/notesMasters/notesMaster1.xml" Id="R90c231886d3d49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e15f2dad844298" /><Relationship Type="http://schemas.openxmlformats.org/officeDocument/2006/relationships/notesMaster" Target="/ppt/notesMasters/notesMaster1.xml" Id="R388f4a0946d745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43e8d5a4fb4cbd" /><Relationship Type="http://schemas.openxmlformats.org/officeDocument/2006/relationships/notesMaster" Target="/ppt/notesMasters/notesMaster1.xml" Id="R265f4a74aea4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7f319dfe484a0b" /><Relationship Type="http://schemas.openxmlformats.org/officeDocument/2006/relationships/notesMaster" Target="/ppt/notesMasters/notesMaster1.xml" Id="R96afee6ffd1140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ef479f8dc34275" /><Relationship Type="http://schemas.openxmlformats.org/officeDocument/2006/relationships/notesMaster" Target="/ppt/notesMasters/notesMaster1.xml" Id="Rc3f5ab81b33e4d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db4f782ab5458c" /><Relationship Type="http://schemas.openxmlformats.org/officeDocument/2006/relationships/notesMaster" Target="/ppt/notesMasters/notesMaster1.xml" Id="Rff2ea73d9c3b48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cf22b852354ae7" /><Relationship Type="http://schemas.openxmlformats.org/officeDocument/2006/relationships/notesMaster" Target="/ppt/notesMasters/notesMaster1.xml" Id="R47c9ee86e2cf4b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b36943f0744f45" /><Relationship Type="http://schemas.openxmlformats.org/officeDocument/2006/relationships/notesMaster" Target="/ppt/notesMasters/notesMaster1.xml" Id="Rc4707bc6b24d47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2330e3529c49dd" /><Relationship Type="http://schemas.openxmlformats.org/officeDocument/2006/relationships/notesMaster" Target="/ppt/notesMasters/notesMaster1.xml" Id="Rd037c1c903f74b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8abb8e78ef41c2" /><Relationship Type="http://schemas.openxmlformats.org/officeDocument/2006/relationships/notesMaster" Target="/ppt/notesMasters/notesMaster1.xml" Id="R5851d426e2054c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1796959b704b5c" /><Relationship Type="http://schemas.openxmlformats.org/officeDocument/2006/relationships/notesMaster" Target="/ppt/notesMasters/notesMaster1.xml" Id="Rd2aead3317fa46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6854cc819944ab" /><Relationship Type="http://schemas.openxmlformats.org/officeDocument/2006/relationships/notesMaster" Target="/ppt/notesMasters/notesMaster1.xml" Id="R4a8ef77669ec4c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3c830c843d4b28" /><Relationship Type="http://schemas.openxmlformats.org/officeDocument/2006/relationships/notesMaster" Target="/ppt/notesMasters/notesMaster1.xml" Id="R60eb5bc9d8ff47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cabee35fd74783" /><Relationship Type="http://schemas.openxmlformats.org/officeDocument/2006/relationships/notesMaster" Target="/ppt/notesMasters/notesMaster1.xml" Id="R9daf48ac29354a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ba58e637554011" /><Relationship Type="http://schemas.openxmlformats.org/officeDocument/2006/relationships/notesMaster" Target="/ppt/notesMasters/notesMaster1.xml" Id="Ra21ec45ba7dd4b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https://www.siemens.com/en-us/products/ic/tessent/test/multi-die/</a:t>
            </a:r>
          </a:p>
          <a:p xmlns:a="http://schemas.openxmlformats.org/drawingml/2006/main">
            <a:r>
              <a:t>- https://resources.sw.siemens.com/en-US/fact-sheet-tessent-multi-die-software-for-3d-ic-designs/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https://www.siemens.com/en-us/products/ic/tessent/test/multi-die/</a:t>
            </a:r>
          </a:p>
          <a:p xmlns:a="http://schemas.openxmlformats.org/drawingml/2006/main">
            <a:r>
              <a:t>- https://resources.sw.siemens.com/en-US/fact-sheet-tessent-multi-die-software-for-3d-ic-designs/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Separate the files by responsibility. ICL is the access-network model; PDL is the instrument procedure. Tessent retargeting combines both to create a top-level access pattern. TSDB is the Tessent working database used to preserve design views and stage handoffs, not a portable IEEE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1687-2014 overview: https://standards.ieee.org/ieee/1687/3931/</a:t>
            </a:r>
          </a:p>
          <a:p xmlns:a="http://schemas.openxmlformats.org/drawingml/2006/main">
            <a:r>
              <a:t>- Siemens Tessent IJTAG fact sheet: https://resources.sw.siemens.com/en-US/fact-sheet-tessent-ijtag/</a:t>
            </a:r>
          </a:p>
          <a:p xmlns:a="http://schemas.openxmlformats.org/drawingml/2006/main">
            <a:r>
              <a:t>- Siemens Tessent TSDB automation overview: https://blogs.sw.siemens.com/tessent/2020/03/06/the-quest-for-optimal-dft-automation/</a:t>
            </a:r>
          </a:p>
          <a:p xmlns:a="http://schemas.openxmlformats.org/drawingml/2006/main">
            <a:r>
              <a:t>- Internal project artifact names and current RTL-level flow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https://blogs.sw.siemens.com/eda-support/2024/06/01/introduction-to-tessent-multi-die/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local-die DFT workflow and filenames; no external assets or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scope and progress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https://grouper.ieee.org/groups/3Dtest/statusReports/P1838-StatusReport-161115-itc16slides.pdf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content supplied by the presenter.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0d969154f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bfc1db4cbd4d3d" /><Relationship Type="http://schemas.openxmlformats.org/officeDocument/2006/relationships/slideLayout" Target="/ppt/slideLayouts/slideLayout1.xml" Id="Rd144ec8cf7b4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4ec8cf7b4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fc2b57a8c489a" /><Relationship Type="http://schemas.openxmlformats.org/officeDocument/2006/relationships/notesSlide" Target="/ppt/notesSlides/notesSlide1.xml" Id="R358cbfd4079346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b5bffeedc4d60" /><Relationship Type="http://schemas.openxmlformats.org/officeDocument/2006/relationships/notesSlide" Target="/ppt/notesSlides/notesSlide2.xml" Id="R55a8ea7f7ee543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77d029e98488f" /><Relationship Type="http://schemas.openxmlformats.org/officeDocument/2006/relationships/notesSlide" Target="/ppt/notesSlides/notesSlide3.xml" Id="R80b556eb821c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7a8e9fef84ade" /><Relationship Type="http://schemas.openxmlformats.org/officeDocument/2006/relationships/notesSlide" Target="/ppt/notesSlides/notesSlide4.xml" Id="Reeb1c05cc367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5b2ccec0040c1" /><Relationship Type="http://schemas.openxmlformats.org/officeDocument/2006/relationships/notesSlide" Target="/ppt/notesSlides/notesSlide5.xml" Id="R58f11b40f24243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4f0ded1394746" /><Relationship Type="http://schemas.openxmlformats.org/officeDocument/2006/relationships/notesSlide" Target="/ppt/notesSlides/notesSlide6.xml" Id="Re473fbc7d593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4911f3c3a4ba3" /><Relationship Type="http://schemas.openxmlformats.org/officeDocument/2006/relationships/notesSlide" Target="/ppt/notesSlides/notesSlide7.xml" Id="R4788a54a9a4e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3f0f5a07547b8" /><Relationship Type="http://schemas.openxmlformats.org/officeDocument/2006/relationships/notesSlide" Target="/ppt/notesSlides/notesSlide8.xml" Id="R1d8c646befcc4f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d65c9b4f4678" /><Relationship Type="http://schemas.openxmlformats.org/officeDocument/2006/relationships/notesSlide" Target="/ppt/notesSlides/notesSlide9.xml" Id="R58208b8ccb4f48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09ef559804e1e" /><Relationship Type="http://schemas.openxmlformats.org/officeDocument/2006/relationships/notesSlide" Target="/ppt/notesSlides/notesSlide10.xml" Id="Ra855bdd1295b48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1c3f361824c5d" /><Relationship Type="http://schemas.openxmlformats.org/officeDocument/2006/relationships/notesSlide" Target="/ppt/notesSlides/notesSlide11.xml" Id="R659a77ba86a244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0ad5a98b4480b" /><Relationship Type="http://schemas.openxmlformats.org/officeDocument/2006/relationships/notesSlide" Target="/ppt/notesSlides/notesSlide12.xml" Id="R0688949bccdd4c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9ae305d9c4860" /><Relationship Type="http://schemas.openxmlformats.org/officeDocument/2006/relationships/notesSlide" Target="/ppt/notesSlides/notesSlide13.xml" Id="Rf6b7195045d446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642f781ad44f8" /><Relationship Type="http://schemas.openxmlformats.org/officeDocument/2006/relationships/notesSlide" Target="/ppt/notesSlides/notesSlide14.xml" Id="Rca23a0309d3d4c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d3ef8bc7742e1" /><Relationship Type="http://schemas.openxmlformats.org/officeDocument/2006/relationships/notesSlide" Target="/ppt/notesSlides/notesSlide15.xml" Id="R41d33f36047b41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9f62d0c194027" /><Relationship Type="http://schemas.openxmlformats.org/officeDocument/2006/relationships/notesSlide" Target="/ppt/notesSlides/notesSlide16.xml" Id="Rc3820dd5dcc543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31402eab34d65" /><Relationship Type="http://schemas.openxmlformats.org/officeDocument/2006/relationships/notesSlide" Target="/ppt/notesSlides/notesSlide17.xml" Id="R548c5f179e4446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ace2283c64500" /><Relationship Type="http://schemas.openxmlformats.org/officeDocument/2006/relationships/notesSlide" Target="/ppt/notesSlides/notesSlide18.xml" Id="Rd8ac65c3c84740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909c9917f470d" /><Relationship Type="http://schemas.openxmlformats.org/officeDocument/2006/relationships/notesSlide" Target="/ppt/notesSlides/notesSlide19.xml" Id="Re243a588b40347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9b48538614e6d" /><Relationship Type="http://schemas.openxmlformats.org/officeDocument/2006/relationships/notesSlide" Target="/ppt/notesSlides/notesSlide20.xml" Id="R373edaf168ef4f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d35d3bf464486" /><Relationship Type="http://schemas.openxmlformats.org/officeDocument/2006/relationships/notesSlide" Target="/ppt/notesSlides/notesSlide21.xml" Id="Rb93134bd82c748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CF216-8ABF-498E-9928-D6F435E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174F9-7EDC-41C1-8294-BFAE33D2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DFT INTEGRATION PROJECT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955BF332-8732-455E-8AE9-BF5BF69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9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Reusable </a:t>
            </a:r>
            <a:r>
              <a:rPr sz="51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RTL-to-Stack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Integration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57249-570C-4529-AC96-F442AF8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IEEE 1687 · IEEE 1838 · Stack Retargeting · DWR Next Step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BC50A-C52B-456D-96AF-C6F15F6E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7C5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E09A5-8065-4286-B84B-9FD0B169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Tessent 2025.02  |  Internal Technical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A070-353C-4B12-9EF9-5CF5C74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4350"/>
            <a:ext cx="44196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8A0B0-A23D-4637-9AFE-5373C3C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62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TARGET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17088-006E-41C4-9B36-239E87E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BA5BC-63A9-401A-BF1B-13707D01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27813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A5B1A-B1F1-40CF-A3DB-95DE18A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02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A096C-9FA0-4EB4-A76D-285B5F6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668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TOP DIE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BAD6D-DFA4-4434-8B56-212C34E0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LOCAL IJTAG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42152-892D-43C2-BF06-81372CA6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E5045-2A98-4EEA-91E5-C98D4EAB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592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DC1C8-C016-466B-BC57-3140AFA1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058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0C7F3-41B7-4199-BA37-786B0CDC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525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77E37-E2DE-4D7A-8BD7-543AC23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992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E9A72-773A-4649-822F-9AE2EAD7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458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E8BD7-445F-4DD1-96AC-00DAC645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10B1F-F083-4FFF-B020-F6F040DE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392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E921B-E0A7-4D31-95F0-74567ADD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8858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0D39B-82AE-46E3-A478-00326DE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076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A0D9C-B530-4666-933E-D32463B4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F41D2-2EAF-4148-A0AC-C8C71518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7813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0D8E43-DD26-4677-B0F4-844CF9FC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051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29ABA-C7DA-4A0C-B8E2-F6D7CA2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MIDDLE DIE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B6267-BF44-4AD2-9028-3D2D894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IJTAG + STAP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3A61A-F2E9-4BE0-A99B-EEC004AC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DCBF9B-37C3-44D5-8F0A-74EAA62D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942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0F223-A500-45CA-8C7D-8CA2CAB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408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1F456F-E59C-4DBE-8543-82ACFA65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87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1FA554-3674-4457-87E2-741893EC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342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83EF7D-A3DB-4F1A-ADE8-42469EC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808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1F322-4F32-4E18-AAB4-83BB2757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7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821EF0-D058-4CF6-9959-6016D63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742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B7C1E9-945D-4570-A879-E959D42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208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C76DE7-1DED-4924-9AB1-78F02EB8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E13B0E-DA2C-45F2-B454-6F994F51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9C49FD-5E9D-4D5D-98B0-1B31621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27813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9CC1FF-E394-4E9F-A8E9-72B846F1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0025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1BF415-BFC3-4FD4-81B3-1FBBF91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DIE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030EB3-9099-47A1-8CEA-F72F2FF3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19550"/>
            <a:ext cx="2438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· IJTAG + STAP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FBD681-2A59-41F9-9C34-5C430B20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6F2695-F11A-405E-87ED-AEE5E01A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292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DA8845-F6C4-446E-AC69-7A4E9664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758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2D1C6E-2A0B-49E4-8626-7E7010BB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225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A5FD39-8C72-4A7E-B29F-A32BB093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92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E145B4-0BFC-44F7-A803-E4D1D046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158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E65EB5-C9A6-4781-96AD-7997ABE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625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FF8F9B-1C3D-41D6-815B-34CA8E75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092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5957CA-8EE3-4275-8691-A227FB8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58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192913-13F7-4AF9-87B1-5C9A3BF3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7F91E4-A828-4F3D-8B1F-A729639A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24350"/>
            <a:ext cx="685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6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PTAP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29EA33-3806-419F-A551-7FECF7CF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958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73A5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83457B-D3B7-4B79-81CE-76DB37A5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85975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6B3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F41393-D01D-441D-BE8A-380C993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3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5907FC-441F-4BCC-A6E4-E9273633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503A67-66ED-4E28-A8B0-DB7DD3D4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5AF33F-34FB-4D3A-8B65-8A05BEA0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7645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SERIAL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A1CB5C-609D-4860-8D2C-DFAD2A95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67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DESIGN DATA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D8B09D-A12A-48E7-A13D-5AEEB147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67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11E7B6-AAFD-4E3D-A9F7-EF99ECC9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2673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0D6B1A-168D-4A5F-92C2-A6EDF2D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553075"/>
            <a:ext cx="346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5C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932614-3452-43F7-8397-A810BFE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102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STANDARDIZED TEAM FLOW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CA2368-5D58-42CE-B3AD-77FA672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9F1CB0-14F0-41EB-ACC8-A2E004C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84705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99BF7A-A6AE-440E-802D-572023A7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A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9763B-215B-4A45-A522-5FB9AB37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102FCD0-6BA5-4267-B001-3236B0FC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4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gap is not Tessent capability—it is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repeatable integration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13A2C-420E-40D3-9D18-8598A757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A464D-D266-48A3-94D9-D4F9F0FF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MANUAL DESIGN-BY-DESIGN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E6203-836A-4275-83B4-4B414297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04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8BE1C-BB9F-4EA2-A4E0-054978C4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104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1792E-8B8D-45FF-B2DF-30712072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1047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A6786-D00B-49F7-AFA1-5E8E5B85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625"/>
            <a:ext cx="1733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4A4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insert_A.tcl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0EF76-87ED-4541-966C-E12E536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1733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insert_B_v2.tcl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ADDD4-8D99-42B0-8609-BD7E28CB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95675"/>
            <a:ext cx="1733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4A4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stack_fix.tcl</a:t>
            </a:r>
          </a:p>
        </p:txBody>
      </p:sp>
      <p:cxnSp>
        <p:nvCxnSpPr>
          <p:cNvPr id="19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676400" y="22860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676400" y="30575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676400" y="38290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CAFC0-9210-43FB-A0F1-E871138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30670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2634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1D94E-5F49-4985-9DF3-02A09A2D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27241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WARNING: no source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ERROR: inaccessible TDR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INFO: extraction completed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ERROR: retarget failed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97146-02E1-4C05-89B8-441EAC5C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764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B1532-4F2A-4B40-BF6C-01B6C6CA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480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6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CF2A4-65A3-4268-8053-BDC4D911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195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97C6A-F287-4E9C-AA40-37500EF0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0FF9D-61B2-424E-A94C-7E108318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WHAT THE TEAM STILL LACKS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72F3A-B39B-485A-8883-2A538A5B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contract: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what a designer must provide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abstraction: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/ Middle / Top behavior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Quality gates: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what counts as a valid result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Failure localization: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where the flow must stop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Portable evidence: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reports, ICL, patterns, simulation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F9823-7199-43E5-A25B-18F0741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11430">
            <a:solidFill>
              <a:srgbClr val="FAEE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TOOL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1BC3B-1EEC-44BE-B9C8-CFEB11E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530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2AB82-803E-48C2-AA31-900DD8A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5300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EDF5F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TEAM CAPABILITY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F33BC-3B3B-43A4-BF6C-1FF83540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4A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76A54-69F8-44FB-AE9D-9EE6915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tool run becomes a team capability only when inputs, decisions, and acceptance criteria are standardized.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4EF4B-3F23-469A-9DDC-8793F7F6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00DE17-2A8A-4A65-A4DE-1C7E893E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45904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DEDEE-8611-4638-8ED6-9146BD2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B.1 · TESSENT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D5368-B2F8-4B0D-A8C1-F9D9643D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B8509E6-55D4-4EA4-A1D1-8D04E8D4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Tessent executes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the RTL-to-stack flow through standardized handoffs.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16181-E02D-42BD-A655-093E5026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31679-4E5E-4DDC-A2D0-83654D83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TESSENT RTL EXECUTION · INSERT → EXTRACT → RETARGET → VERIFY</a:t>
            </a:r>
          </a:p>
        </p:txBody>
      </p:sp>
      <p:sp>
        <p:nvSpPr>
          <p:cNvPr id="6" name="flow-node-0">
            <a:extLst xmlns:a="http://schemas.openxmlformats.org/drawingml/2006/main">
              <a:ext uri="{FF2B5EF4-FFF2-40B4-BE49-F238E27FC236}">
                <a16:creationId xmlns:a16="http://schemas.microsoft.com/office/drawing/2014/main" id="{C5447E6D-87FA-41C0-8D01-56E2055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6002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5E6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66566-7706-46F3-9D43-0F30481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85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F9C9F-43D3-4F58-B262-BD94EE2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EXISTING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E6EFF-D890-485D-8E9C-0C736547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RTL · libraries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instrument ports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5A842B18-801D-4281-9318-CA21416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16002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DB38F-64C5-4B20-8E6F-4FE843F3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85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8EA3B-4C2F-443B-9590-7C2FA87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526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77E22-0326-4F2B-8AEC-3E1C8FA6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IEEE 1687 / 1838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87DC176C-C741-4EB5-BE1B-3E25EC3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16002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9F4F7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CB945-37E2-4D5B-BE7D-AE4D7022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85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D8F3B-73CF-4185-B9A0-2006C5F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526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/ PDL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9E0E7-832A-4080-97A5-793C6CD1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network hierarchy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instrument intent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12B185A5-039F-4A49-818C-76D88D8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16002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EAD80-1DCA-45CD-AF5E-85D58D2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7B821-0906-47C4-805D-FB3FDE24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526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PACKAGE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582C0-A60D-4AB2-A5A9-7F1171A0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0985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stack_top · ICL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resolved path</a:t>
            </a:r>
          </a:p>
        </p:txBody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B50828FF-4D1F-42C6-B869-30ACF077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5908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64864-6996-4817-950D-74D13C06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85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6F2F9-005B-4CEE-8437-1EA5CE87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VCS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3E350-9497-43AA-92B6-B95C3380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985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waveform · compare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PASS / FAIL</a:t>
            </a:r>
          </a:p>
        </p:txBody>
      </p:sp>
      <p:cxnSp>
        <p:nvCxnSpPr>
          <p:cNvPr id="42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09800" y="2390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286250" y="2390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362700" y="2390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439150" y="2390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09EAE-730A-4EE9-BF85-C1A3F6A0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TESSENT EXECUTION CONTRACT · INPUT, TOOL ACTION, AND EXIT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F9B726-FDB9-4DA5-B0C9-4808F7F2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33FEC-EBD2-43C7-9588-BD6DF196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09055B-B446-4D34-A1EA-99DFA3D4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861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5E6D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BB0C02-9284-46B1-9805-4BB42B84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147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RTL 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EFD2FD-A952-44F2-94FB-807926A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33501E-336D-4F66-905F-E1D9BD14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147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F025D8-F8E1-4B0C-BC07-0405BDD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861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7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984BF0-27BF-40B8-A85C-EDA49D16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147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858F5-EAA1-4FB1-AA0F-8C2175F6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0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BAA1C4-E05B-4DD8-A7AA-D8F6EF1F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147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C74C8C-B48F-40BE-975B-4D0DEC8A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861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35557-2D2C-449D-AF5B-903474EE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472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65A37C-648F-412E-8181-A78F113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11C38E-874A-44F3-B4AC-81D10828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KEY 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A91819-8642-4A96-ABE5-D40F6BBC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48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65E7E8-1AE9-46A9-B827-4A3E1871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76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golden RTL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filelist + libraries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D0B5FE-3003-462F-BDC8-B1E05084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48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6597EF-CAB3-4814-B121-AD688C91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76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resolved config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policy + die role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909DE1-1D53-4C46-97F3-BC324E7B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72098-13C3-4EF7-AC91-B6CE1870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76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post-DFT RTL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instrument PDL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0A62A8-AAF8-4802-8B12-3F16EBA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48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403975-3ADA-4EF4-B4A1-52C85252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76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validated ICL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stack 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F515FC-DCFA-44BB-8323-08B7834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48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B9F603-B041-4840-B9B5-0C87B4EE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76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pattern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expected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02730B-C115-45BD-A104-BAB10333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7860F6-8DB9-43BA-B940-64FB53B7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FLOW ACTION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FE73D5-B4D9-4377-BE02-6A37EBE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196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9FCAEB-180D-4EF0-B316-C694B06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481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read_design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resolve top + ports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28987F-FCCD-4A59-AB2A-CAF63F63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50EECC-67E3-4227-B0DC-663378C3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481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process DFT spec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insert hardware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E95C21-66FF-4E03-BC1B-0777756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196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5E9880-A87A-43E2-BA79-325B531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481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extract ICL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export TSDB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71456C-2B39-4408-AEBB-F13A952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196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D7CC4B-0D12-46A3-B0A7-F9329D3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481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iApply / retarget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resolve package path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4B7659-7DBC-47B2-A5F7-8757D053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196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95F9F1-3136-4487-8994-310F8FD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481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VCS run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compare care bits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6E0FAE-E38B-4F7B-B3DE-6BB5A86B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3758D4-E0DC-43E7-98DC-E690529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EXIT EVIDENCE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144617-8175-49F3-913C-8AA73C9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91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CCA0126-349B-4949-88E2-07AAB29A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19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elaborated design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resolved clock/reset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430742-9D61-45A5-8F96-02C05A2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91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735AA6B-AC67-4774-AA10-F34F059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19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DFT DRC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B1D93EA-7DBD-481A-81EB-10F33A64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1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9C2207-78CE-4FAD-8B84-E994175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9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ICL + TSDB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declared targets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847F60-DC83-4451-A1C9-256B236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7AFA02-C6E8-4DF8-9661-8841BA61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9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top-level pattern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no unresolved path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19B2E8-622C-4E39-9347-01099B5F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91100"/>
            <a:ext cx="1924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299BA0-EAB3-45A7-805A-DC912D5E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19675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waveform + log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care mismatch = 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2C8557-B769-42A2-9EAB-BAA2FEF2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365F3ED-495F-4C40-8681-78824797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is the execution engine; automation standardizes inputs, handoffs, and evidence.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40EC495-6D08-4959-A30B-7BE8EF48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DCE9810-CC92-4BC4-98FA-3E2C5ED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18866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A3202-6328-496C-B179-8722457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B.1.1 · FILE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5DC9-DC92-4C18-832C-63E29DD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E2DB515-A5DF-4AEC-861B-2B528B2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Each artifact has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one defined purpose.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291EC-F481-4852-A702-336B34F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47206-957D-4F3F-8E6F-E2B7DA9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CORE FILE FAMILIES · INPUT → TOOL STATE → ICL + PDL → RETARGETED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4F39-C817-488B-91C8-B7469DE5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323F2-5344-4B1F-9758-433B0E6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F90F-058A-40A0-A16D-1D70A377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33575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86BA3-9CB6-4256-B5BC-326A38F5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62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 / ORIGIN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256FC-113E-4924-A63F-DEE408A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33575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CBC1B-1D20-42ED-BEB4-F2997A6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CONTAINS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D4B5A-ADC1-4E58-B429-FA8ED1D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33575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261FC-D1A1-4FC7-AB57-B6A7692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0A05D-1616-454A-BD86-65BBB58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33575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0F54-9295-4CFA-9D0A-576BE11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4A04A-0E59-4EB3-9F8A-E7E4EA9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DC0C0-A4D0-4794-953E-42D2B6B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 RTL / LIB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2D024-C44E-4926-83BC-AC34966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764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8B90-A56B-4EBA-BA4A-90C9C13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05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User design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11C27-F67B-443F-A5C8-A77E108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764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17A0D-A10B-46FD-A42B-C62A99D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+ filelist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cell / library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0E69E-BC73-4777-A9C1-28EB8D6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7B605-0BAE-4F4E-B0D2-1B24B49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Read and elaborate the golden design.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80D77-F195-4320-B003-085A7F80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764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CDC4B-82B9-4A4D-88C9-F73186C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F2EF0-3A63-4D12-B8D0-4CCAAA7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98E4F-BACA-4CEA-A948-20415AE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 MANIFEST / TCL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1E37E-F52A-439D-9BC0-CAF80451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289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9639A-5F8F-4F23-A864-933CFB5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User data →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CED0D-8EFD-4745-91B1-A0A26176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289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2B563-D891-47EF-9B7B-0F33D31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role + ports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resolved commands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9903E-6807-40CE-A6E5-BDF59C5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289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B6EA73-4029-4C72-B414-23AC502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Configure insertion without core-Tcl edits.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C466E-2AC0-4BEC-98BD-32095AD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289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14503-C84A-4851-992E-8C79B232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23ABF-367C-4BA4-A587-2CE39C56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C8EB2-3DF0-41FF-96D3-352B773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8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 POST-DFT / TSDB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F2D41-ECAF-4FE9-8399-A15482B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813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9108B-3684-40E1-B197-EDBD813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099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insertion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7831CC-3A27-4326-979B-2ABF419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813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469FF-48F4-4C9B-864B-088E2C5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09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inserted RTL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saved design views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57EFC2-5FEF-4EA9-9CED-5F73104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0F4B4B-2DEA-4F68-8070-246DC59E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Hand off INSERT → EXTRACT / RETARGET.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7276E5-45D7-4362-9195-4F8B6702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9ACF25-97BD-4B24-8F7F-E159FFF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WORKING DATA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85078-40D7-45C5-96A7-E00FD8DB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AFC9B0-C3BC-4AC2-8A36-0B3F4C2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 ICL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D47A95-4B63-4621-850F-8790DC5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338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928AAB-8483-4FA0-A92A-93820905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24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IP or Tessent extraction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BFEBDA-2189-48F2-BF98-2D0D3F1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338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B20B83-0376-49DC-A8B4-9CD2403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modules + ports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/ SIB / TDR links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1FDC63-95FF-4564-979A-DB4352D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338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BAA86C-D5DF-4C36-9EB8-D86C8962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Describe and resolve the access path.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CB9290-3DFC-49A0-B945-8917C61E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338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CD10C3-0B67-45CB-87A1-B3872B7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ACCESS MODEL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0734E8-52FE-402D-AFD1-6C0C738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099BD0-AA25-4A8E-8FA8-9FCDD4B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05 PDL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A24F7E-E024-4ADE-8D3F-E7298D2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EC478A-2A95-4CAC-88CE-B2F76B22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IP / user procedure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84EC63-74CC-49D8-8223-8995682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862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314801-F500-469D-BBDF-2A4F9068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iWrite / iRead / iApply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operations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4D3D0B-AA11-450E-B165-219D9C0E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478D1C-BF25-497D-AFAF-28A6B18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 the procedure through ICL.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D7A9D9-1A71-418C-9D67-6DF6C36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862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EE6CC7-D3E2-4FDB-A240-94114DF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148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PORTABLE INTENT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0ED005-2408-4E53-A047-48AE8E3D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791FFA-964D-4BA8-BC54-2E09CB76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06 PATTERN / LOG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D2468D-8524-41D7-B239-9CBE392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387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13D53D-B780-4CCC-8365-AEE4169D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+ checker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6DB08F-8B90-4C61-9197-710A80A3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387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F9CBB8-1C82-4AFA-AC56-870BFE4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top-level stimulus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 / observed data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704616-3590-4ECE-AAD3-625AB47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387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38097A-7CEA-4792-BCCD-1E6F829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Run VCS and report PASS / FAIL.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618E38-DF20-427D-8BE7-5AE2275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387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8F91CA-070C-4100-8A9D-1E702B5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673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D784A0-DC83-4AEB-A28E-3695C0B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DESIGN + CONTROL INPUTS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9CAF26-EFC0-4C8E-8B37-B5C555D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C5C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54208B-F902-4DDC-B835-AC2ABC6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STANDARD ACCESS + GENERATED PROOF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36FD1F-7F91-444F-B05D-D1408B7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7B7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D164F0-7CD7-4EE8-B677-A3D8405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B3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E7CE74-A95F-4011-8CD2-E15596BB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answers HOW TO REACH; PDL answers WHAT TO DO; retargeting combines both into a top-level pattern.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B0D15D-10B6-415F-9752-F3EFA1A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E923D2-E4FF-4654-8EE9-92ECEF7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8666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1CD8C-38DD-4633-910E-5928A69A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B.2 · CIRCUIT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B7BF6-BEEC-4EEE-9295-6BAED7F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2A072A8-3299-4D53-9AED-1547DE65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Base, Middle, and Top roles map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three access scopes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onto one stack.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49F92-E0E3-42F1-AB33-C45D39CE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58CD9-13E6-477A-8B02-6C65F53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THREE ACCESS SCOPES · ROLE-AWARE STACK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9C6A2-C9E3-4D90-805A-D4E37316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82D9E-A6D5-4909-A90B-C98F2E69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1200"/>
            <a:ext cx="323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B952C-AD8B-4BA9-93C6-75F11DAF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2887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EBCEF-BA5E-4503-AB97-D3D9804D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503A7-77AA-4613-91A9-ED752763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LEVEL 1 · IEEE 1687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46656-55C8-4341-9D23-44E84A39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5C64-22D9-4560-80ED-51569D67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242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2B55C-D23A-4010-A0D1-08EC7B9E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08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52A85-F546-4048-8086-57BF2FB5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B1B93-E3A9-43F0-8DB7-F080B63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7042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A5340-AC2C-4D28-B14A-842F074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308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05FB6-4E08-4FB4-AECC-878A05B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575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4DDDE-9F7B-4E78-A34F-9A540A4C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842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B5C02-795F-47F1-B071-00460D4C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108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DD797-81E6-4475-A94A-E6BEC03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051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F4A59-CE3A-4661-977A-5590C6E7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B2951-5D7F-42D9-82DC-652220F9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23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73108-A06A-4397-9716-828024E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5282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227D7-6573-4E87-88ED-D02C5D2A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36607-4852-42B1-8074-B97FC98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LEVEL 2 · 1687 + 1838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755FD-86DC-470E-BD70-539B0D58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0CDBD-3D36-4E47-A351-D4E4BE5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92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731F1-1DCD-4C8D-9B17-27DD5EDE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958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5AF88-7CC1-4FBB-A2FE-2347FF0B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225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922BA-2BFA-48F8-9390-BD88D8B3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492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BEB2D-D889-45F3-95F4-68DD694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758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FBD11-6B59-42A6-97C9-300B1FB1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25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EEA704-E66B-4817-AC21-8C3BDEB4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92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66689-DB7C-46C5-8F0D-48C12B75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558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8EF31B-9566-4EC3-8700-A414A0E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829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EA7A3-ABB3-4A00-9A35-688498AB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0404F2-E4FA-4F5C-BD65-5812F096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3238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53CED4-1B45-44CD-8175-9DE04118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FCD5E2-467E-4823-A21B-0B1EFAC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E499FE-7BE4-4A39-BEDB-6B2BA41E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LEVEL 3 · STACK ENTRY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0DCB34-88F4-46F1-ADA3-48C0E0A1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C18B4C-FD29-44D0-9B44-8154EAA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142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D03EE0-7F75-4125-A5B7-7B69E652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408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FC3FDE-19D6-4D4D-923A-E816F86E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75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78673A-5D65-4CDC-BDC8-B0293ABC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42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29B3B6-B302-470D-BFB5-D6E64402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208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A44244-7874-4D14-BBAC-D074489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475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C73BE9-53D4-4B4F-897A-52CF3A93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7742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505307-EBBB-4CC6-B482-D1E68E4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008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3F6292-1984-4EEA-A9FC-E3FAF8E8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953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AFB3A4-F98A-43EE-AD32-896B6E4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05350"/>
            <a:ext cx="0" cy="-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6B3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DBD6F6-3D3F-4174-9E19-714EB325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SERIAL ACCESS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CBB666-3ADD-4653-A68D-47B1B0A9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8191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62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PTAP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A28D17-B874-4838-B0A1-F1115718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292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A5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F98762-1EAA-4EE6-982A-4A36B4BB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7162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COMMON PROCEDURE + ROLE-DEPENDENT CONFIGURATION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C4BA64-DDFB-487E-9599-0BBB53B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193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C6805A-5521-48C7-930C-6B52B30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478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item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747A3F-7850-4FDB-AA04-F106A8E3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193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EB05C6-D26B-4700-AE0B-4392051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47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353DE4-67BE-42F8-B326-04BC838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193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3AAFC4-CFE1-4DA6-A37E-4A9ACB41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47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6310CB-2D14-4F0C-A488-7DD6849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193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9CF72C-5650-402E-9014-2758F77E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47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57DC86-5DF2-4CF5-9B7F-19AF5666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384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78A83A-0660-4220-87CB-4B296EE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669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Serial-path role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B4E0D0-B968-4079-9F75-1CD590C7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38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D6301F-47AA-4B8E-A51E-86394E8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669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Entry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BCBEA2-1074-4856-8472-164C0E6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38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7DC0F34-086E-4941-A838-5A903A06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669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Relay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3A59FE-0B10-47E3-AC46-F74C4839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38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85D873-E713-407D-8C61-3F217884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669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Terminus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376F28-1798-4B0A-8A5D-BF04AB79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7E1033-1782-4538-A4BF-916CF0BE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860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IJTAG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EBB333-6B6D-49B9-A833-ED73F43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575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534130E-FA5F-4C2E-93DA-F85CF41A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860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6D5821-7575-415D-9D3E-5701671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575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958CBFD-3128-4D19-81AB-D7381A3D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860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C6FC72-48D8-4E5B-9D8E-ABA6C731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8575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8F2D7B-43D2-4D4E-8F18-62E89967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8860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BF75C6-7B5A-494E-98EE-ECEA890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766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AE7DB3-6AB6-4E34-BF27-F02451C3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051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definition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70D7D7-A561-43E3-87B4-A7F9F06A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766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76E367-9B60-4C0A-A26B-AF01D35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05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IJTAG + STAP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2B1CA07-AEAC-4673-ACB3-B7F875A9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766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C213A8-6C88-4E83-8BE6-3ADDC34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05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IJTAG + STAP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B1B2440-B056-47CF-8B66-8807B00F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766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D7A8032-DFB5-4CE1-BA55-3CE5F3AB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051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IJTAG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A02740D-615D-46BA-93A7-A84AD8E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957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C48D0BB-8769-4206-BB9B-2AAC67B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242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Downstream STAP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2497DA-3BF2-4D84-9D26-598C635B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957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C5BFE1D-30F9-4EA4-8B82-96E5DFE6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242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6160F5-44C4-4BB7-BE9F-C2074A14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957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EC25854-5F39-4059-BD3C-2465B15E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242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D376F8-E107-4E26-B8D5-71CA77D5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957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B39BFD6-D573-43FA-A149-88AF1D45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7242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C109BFC-84F2-4D5C-8335-7A23B0D9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148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F4BCDB-3010-4532-A937-F07DFE3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433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interface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9D75FB-7797-41DF-9839-10E45F7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148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330249-1849-44A0-B6A3-E535FD01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433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+ upper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2A0B74-AF11-4E7D-A079-131978AD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148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0BC6AE7-176E-49F5-A272-D96418BB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433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lower + upper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F6460E8-844D-40DB-B331-19C47CF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1148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74B86E-8808-4E12-8A70-E21443F9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1433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lower endpoint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840CAB-CA14-428F-A046-292C415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339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259CBC-68A7-415A-B96E-74F833D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624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output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9BDF95-9570-4EDE-9ADB-E129C917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33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C9E28B-55D1-4643-A3F7-06559F7E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562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RTL + ICL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0B1944-2D4B-4E5A-9F1D-963E38C7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33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5CACCB-35FD-459B-8088-0AD4BD0E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62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RTL + ICL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FD140F9-FF26-4BAC-969B-34F4B090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5339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56084D-62A8-49E2-AE8E-A8E86DE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RTL + ICL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0872767-FFC2-434D-8E96-6864A9D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1790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6674371-D777-4608-AB22-C912E180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81575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Core Tcl rewrite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AEFBAA-A424-4A26-909F-A1E329B3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53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450459A-9F12-44FB-9C6C-8E5BBE8C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815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7B23D14-45F0-4211-A7CE-DFE376D8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53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649503F-3F59-43F5-9A80-3B80F7BE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815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7860526-DE22-41C7-9B68-5ED7FBF9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953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609FF40-91EC-48A7-AC00-80673125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9815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870E02-E6E7-42BB-B329-6E243BD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531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B95FDCD-239C-40B5-96CD-0A4CA54A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5435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ROLE = DATA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6857040-4F07-4E88-A832-4555800C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51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same engine emits different host topology, ports, and artifacts from one role field.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7AA8543-3E0B-402A-97BD-D790435A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7B72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63DA791-F750-4D34-B355-A4A13ED9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Shared procedure plus role data supports every die position without rewriting core Tcl.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8BE12A0-E816-4495-81EC-DFB32739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872FF93-C8DF-462C-A228-5BE1BFD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312612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A3202-6328-496C-B179-8722457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B.3 · CURRENT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5DC9-DC92-4C18-832C-63E29DD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E2DB515-A5DF-4AEC-861B-2B528B2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access is verified across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all three scopes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291EC-F481-4852-A702-336B34F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47206-957D-4F3F-8E6F-E2B7DA9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CURRENT RTL PROOF · IEEE 1687, IEEE 1687 + 1838, AND STACK_TOP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4F39-C817-488B-91C8-B7469DE5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323F2-5344-4B1F-9758-433B0E6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F90F-058A-40A0-A16D-1D70A377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33575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86BA3-9CB6-4256-B5BC-326A38F5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62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256FC-113E-4924-A63F-DEE408A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33575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CBC1B-1D20-42ED-BEB4-F2997A6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D4B5A-ADC1-4E58-B429-FA8ED1D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33575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261FC-D1A1-4FC7-AB57-B6A7692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0A05D-1616-454A-BD86-65BBB58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33575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0F54-9295-4CFA-9D0A-576BE11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4A04A-0E59-4EB3-9F8A-E7E4EA9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DC0C0-A4D0-4794-953E-42D2B6B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 IEEE 1687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2D024-C44E-4926-83BC-AC34966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764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8B90-A56B-4EBA-BA4A-90C9C13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05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TAP → SIB → TDR → instrument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11C27-F67B-443F-A5C8-A77E108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764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17A0D-A10B-46FD-A42B-C62A99D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inserted RTL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+ PDL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0E69E-BC73-4777-A9C1-28EB8D6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7B605-0BAE-4F4E-B0D2-1B24B49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access and instrument response confirmed.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80D77-F195-4320-B003-085A7F80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764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CDC4B-82B9-4A4D-88C9-F73186C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F2EF0-3A63-4D12-B8D0-4CCAAA7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98E4F-BACA-4CEA-A948-20415AE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 1687 + 1838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1E37E-F52A-439D-9BC0-CAF80451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289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9639A-5F8F-4F23-A864-933CFB5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→ 3DCR / STAP → local IJTAG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CED0D-8EFD-4745-91B1-A0A26176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289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2B563-D891-47EF-9B7B-0F33D31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post-DFT RTL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+ TSDB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9903E-6807-40CE-A6E5-BDF59C5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289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B6EA73-4029-4C72-B414-23AC502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Wrapper control and local TDR reachability confirmed.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C466E-2AC0-4BEC-98BD-32095AD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289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14503-C84A-4851-992E-8C79B232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23ABF-367C-4BA4-A587-2CE39C56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C8EB2-3DF0-41FF-96D3-352B773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 STACK_TOP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F2D41-ECAF-4FE9-8399-A15482B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813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9108B-3684-40E1-B197-EDBD813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099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Package → STAP chain → SIB / TDR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7831CC-3A27-4326-979B-2ABF419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813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469FF-48F4-4C9B-864B-088E2C5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09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stack_top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ICL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57EFC2-5FEF-4EA9-9CED-5F73104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0F4B4B-2DEA-4F68-8070-246DC59E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Multi-die access path and return confirmed.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7276E5-45D7-4362-9195-4F8B6702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9ACF25-97BD-4B24-8F7F-E159FFF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85078-40D7-45C5-96A7-E00FD8DB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AFC9B0-C3BC-4AC2-8A36-0B3F4C2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 RETARGET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D47A95-4B63-4621-850F-8790DC5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338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928AAB-8483-4FA0-A92A-93820905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24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PDL → package / stack path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BFEBDA-2189-48F2-BF98-2D0D3F1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338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B20B83-0376-49DC-A8B4-9CD2403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reachable-target list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1FDC63-95FF-4564-979A-DB4352D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338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BAA86C-D5DF-4C36-9EB8-D86C8962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 unresolved path; declared targets are reachable.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CB9290-3DFC-49A0-B945-8917C61E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338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CD10C3-0B67-45CB-87A1-B3872B7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0734E8-52FE-402D-AFD1-6C0C738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099BD0-AA25-4A8E-8FA8-9FCDD4B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05 RTL SIM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A24F7E-E024-4ADE-8D3F-E7298D2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EC478A-2A95-4CAC-88CE-B2F76B22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pattern → VCS checker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84EC63-74CC-49D8-8223-8995682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862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314801-F500-469D-BBDF-2A4F9068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waveform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compare log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4D3D0B-AA11-450E-B165-219D9C0E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478D1C-BF25-497D-AFAF-28A6B18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Care-bit mismatch = 0; expected TDR value observed.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D7A9D9-1A71-418C-9D67-6DF6C36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862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EE6CC7-D3E2-4FDB-A240-94114DF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148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0ED005-2408-4E53-A047-48AE8E3D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791FFA-964D-4BA8-BC54-2E09CB76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4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06 AUTOMATION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D2468D-8524-41D7-B239-9CBE392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387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13D53D-B780-4CCC-8365-AEE4169D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CSV → Python / Tcl → Tessent / VCS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6DB08F-8B90-4C61-9197-710A80A3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387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F9CBB8-1C82-4AFA-AC56-870BFE4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handoffs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run evidence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704616-3590-4ECE-AAD3-625AB47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387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38097A-7CEA-4792-BCCD-1E6F829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One design input reproduces the complete RTL access run.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618E38-DF20-427D-8BE7-5AE2275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387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8F91CA-070C-4100-8A9D-1E702B5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673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D784A0-DC83-4AEB-A28E-3695C0B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CURRENT RTL BASELINE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9CAF26-EFC0-4C8E-8B37-B5C555D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C5C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54208B-F902-4DDC-B835-AC2ABC6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DWR / COMPLEX DIE = NEXT STEPS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36FD1F-7F91-444F-B05D-D1408B7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7B7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D164F0-7CD7-4EE8-B677-A3D8405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B3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E7CE74-A95F-4011-8CD2-E15596BB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All current claims are supported by RTL, ICL/PDL, retargeting, and VCS evidence.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B0D15D-10B6-415F-9752-F3EFA1A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E923D2-E4FF-4654-8EE9-92ECEF7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8666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90350-95A3-41F5-83E3-53201BFA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C.1 · CLEAN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09F53-7AA4-46BA-ABFD-E27A6C78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BE07828-2209-49B6-9546-F74916BF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Every run starts from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golden RTL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and promotes only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validated artifacts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33F21-77C3-4997-88EC-CA2670D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262FA-A68E-4349-85CB-8869D956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CLEAN AND REPRODUCIBLE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F466A-F775-47D0-8A2D-E192BDA5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E6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4ADA3-F157-4A51-8BA0-0768775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1CA83-3E99-4D68-88C0-E52A9216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14525"/>
            <a:ext cx="4457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D1C2B-2840-4BE5-96B4-19881B7D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E7A96-D710-4A0E-983D-50C94C54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193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Create an isolated run directory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71B9B-5C79-4419-A645-B5874FED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843BB-AA89-4759-9302-E16DF9E8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7EBFA-2994-41B9-BB1F-0631B26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E6114-7D51-4C3F-97FD-93FBB09E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457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5CD21-A89B-4B5B-81CA-A173FD4A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PRECHECK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AE6EB-8C15-41E1-80AF-C19DEA9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955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Parse manifest; reject missing inputs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AF275-337E-4695-8308-B883F911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3FB7F-04F8-4281-8EC1-7F6E5E19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C83E8-5BE0-42FA-B743-1E9DFFEC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34941-DD3F-4D18-A2C8-24A7015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67075"/>
            <a:ext cx="4457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F1892E-A6F0-4F26-84AE-77AFE4A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6F69B-7B17-435F-84B6-13927E28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7185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 role-specific Tessent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6FC7D-DF73-4685-AC26-34B88DC4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E48D1-5C52-4A2A-B5F6-A9D7FE5A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1F0A7-67AB-4EF5-9A9C-535A7A9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D329F-2323-4D63-BE76-B098CE36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43350"/>
            <a:ext cx="4457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694D1-F9DB-4FE5-A2E5-E11BBF6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1964A-BE02-4B2B-B75A-693D5105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4812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 IEEE 1687 / 1838 hardware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5D7AA-A9DB-4C3B-9157-5609BDA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00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570A0-FADB-4329-B304-9891A12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F7B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35B3C-0EA4-4B8C-9CD1-8299EF8F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E07F1-D8C1-4691-9159-A755E94F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9625"/>
            <a:ext cx="4457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54DB2-E1F7-4C3A-9D77-EFE54154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24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53791D-59CE-4AA1-A44B-F437BD52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244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Export post-DFT RTL, ICL, and TSDB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5C8200-89AD-458F-A920-DDE467B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863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F14629-C02E-4505-8841-68288B8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00B70B-15D8-479E-AF85-1C1B5201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59FE33-3331-4ED4-8394-FEBC0E40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95900"/>
            <a:ext cx="44577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0672F0-0BAD-40FE-925A-30648EC9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006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2A41A3-2C60-4884-AE1F-9E9CFB22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00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Retarget, simulate, and archive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1EB4A9-DB32-4D15-9E27-BB8FD42F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716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9DC361-5908-47CE-97EC-7F94DDE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716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PHASE EXIT CONTRACT · WRITE ONLY AFTER THE GATE PASSES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8B957C-7424-4F44-9B25-C12F6C7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23B3FD-B55C-46E0-9947-4C89E78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9EC298-FE23-46F9-9B73-98321C8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F56E7A-2302-4EC8-8B63-3A1B8C8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WRITE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59A865-84E5-4006-8FE5-9C80EA9A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EF5A9A-B3D9-4D4A-89ED-AEC45FDA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/ STOP CONDITION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A5D898-71B4-47A0-90E0-BACBF41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1457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335A32-6DA1-4CF2-8783-36C811F0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22DB3D-8DF3-419F-BBD1-D816402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457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B5A947-00B3-4300-B90B-B1425771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run directory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97AB05-8C0E-4AD9-A8D3-998E307A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1457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34BC19-4461-44B3-B08B-8F5EF54F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dirty or reused inserted RTL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6C1DFA-2E2E-4A92-B080-6127928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2892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C1EBE0-EBA8-404A-BDCE-F6E0D9F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PRECHECK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E830BA-57BA-4E9D-A9C9-3B7B88A6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289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F0D641-2A12-42C1-A718-224E2D3A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audit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57CF9E-A836-4B9C-A5F8-D4AEEB0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289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50F87D-494B-4C9A-850C-226E66F4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file, top, clock, reset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360DD4-7CFE-4CC7-95F6-63A66626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4327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135991-5CA0-45A7-8168-0F9EF0CD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1FCD1D-53B9-4CD6-A84F-8730B6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4327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61785B-99D7-45BE-AA81-3970886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resolved config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1A9337-5444-40AC-BF7E-68054B3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4327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730A26-2380-46AF-ADC8-9B8515C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unknown role or unresolved port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CB5B69-2BAB-4862-A5BB-1C2CFF8E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32D567-DCBB-4945-8FBE-324D1224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8D79A1-91EC-4F8B-93CA-D3033B76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702921-AD4B-4D7B-AA03-32439AB0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BD08B0-68B3-49ED-A17F-99A12C7A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576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CE81E4-A519-4217-9DE8-D394B957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86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DRC or hierarchy failure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543B47-F8AF-4394-BCBE-4C7F88AF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7197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67D4EA-C0F1-4E3E-B9F8-7975547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4F9A8E-5AD0-41D2-A5F8-896BFEAA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7197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82AE36-F759-4923-99F6-344726BD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+ TSDB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F8E526-C032-424C-B410-CE75FE5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7197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C96B16-ACEF-4638-997F-19F16AE5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005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no-source / no-destination path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9CA959-F02D-4305-95E2-98E22E7D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86325"/>
            <a:ext cx="106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251E376-358F-4455-BB1F-BD130534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CAE1D48-5BBA-43F6-B0BA-38F0BCB4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86325"/>
            <a:ext cx="1295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560B28-6F77-4F7A-9C96-63BD8482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 + sim log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F30BF8-6BE3-4F89-80B4-FAC0DEEB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863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04646B-61ED-4458-82BD-66F821B5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9149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unreachable TDR or care mismatch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2C0E152-8F9C-4C96-B33F-3ED28B9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5310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4A4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68951AA-38AE-419D-9E92-C202A538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911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FAIL FAST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187AC1-4501-49F4-9C41-A81B4965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1022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0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No downstream artifact is promoted after a failed gate.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656AAEA-5B0E-4C69-8322-88749EA2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48AF0F-8F9B-4133-B44E-FF1AB5EC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flow is deterministic: same inputs, same stages, same evidence package.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20A66F5-3A47-43E4-AF5F-D1B634FD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0DE14E-2A42-4C34-A003-63CE3BB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27246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A3202-6328-496C-B179-8722457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C.2 · GRADUATE DESIGN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5DC9-DC92-4C18-832C-63E29DD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E2DB515-A5DF-4AEC-861B-2B528B2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Quality gates distinguish “tool completed” from “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access proven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291EC-F481-4852-A702-336B34F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47206-957D-4F3F-8E6F-E2B7DA97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PROGRESSIVE VERIFICATION · GATE, EVIDENCE, ACCEPTANCE RULE, AND FAILURE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4F39-C817-488B-91C8-B7469DE5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323F2-5344-4B1F-9758-433B0E63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BF90F-058A-40A0-A16D-1D70A377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33575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86BA3-9CB6-4256-B5BC-326A38F5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621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256FC-113E-4924-A63F-DEE408A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33575"/>
            <a:ext cx="2076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CBC1B-1D20-42ED-BEB4-F2997A6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D4B5A-ADC1-4E58-B429-FA8ED1D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33575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261FC-D1A1-4FC7-AB57-B6A76921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CONDITION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0A05D-1616-454A-BD86-65BBB58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33575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0F54-9295-4CFA-9D0A-576BE11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4A04A-0E59-4EB3-9F8A-E7E4EA9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DC0C0-A4D0-4794-953E-42D2B6B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2D024-C44E-4926-83BC-AC349660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764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8B90-A56B-4EBA-BA4A-90C9C13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050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Was the intended hierarchy created?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11C27-F67B-443F-A5C8-A77E108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764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17A0D-A10B-46FD-A42B-C62A99D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report_config_data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resolved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0E69E-BC73-4777-A9C1-28EB8D63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7B605-0BAE-4F4E-B0D2-1B24B49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 hosts, SIBs, TDRs, and ports are present.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80D77-F195-4320-B003-085A7F80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764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CDC4B-82B9-4A4D-88C9-F73186C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050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Stop configuration; fix manifest or role mapping.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F2EF0-3A63-4D12-B8D0-4CCAAA7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98E4F-BACA-4CEA-A948-20415AE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 VALIDATE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91E37E-F52A-439D-9BC0-CAF80451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289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79639A-5F8F-4F23-A864-933CFB5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Are configuration and connections legal?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CED0D-8EFD-4745-91B1-A0A26176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289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B2B563-D891-47EF-9B7B-0F33D31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DRC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validate-only 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49903E-6807-40CE-A6E5-BDF59C5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289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B6EA73-4029-4C72-B414-23AC502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 illegal host, unconnected source, or unresolved destination.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FC466E-2AC0-4BEC-98BD-32095AD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289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14503-C84A-4851-992E-8C79B232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Stop insertion; localize the first structural error.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23ABF-367C-4BA4-A587-2CE39C56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C8EB2-3DF0-41FF-96D3-352B773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 EXTRACT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7F2D41-ECAF-4FE9-8399-A15482B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813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C9108B-3684-40E1-B197-EDBD813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099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Does ICL represent inserted RTL?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7831CC-3A27-4326-979B-2ABF419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813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469FF-48F4-4C9B-864B-088E2C5C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099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extracted ICL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TSDB hierarchy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57EFC2-5FEF-4EA9-9CED-5F73104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0F4B4B-2DEA-4F68-8070-246DC59E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paths and ports match the post-DFT hardware hierarchy.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7276E5-45D7-4362-9195-4F8B6702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9ACF25-97BD-4B24-8F7F-E159FFF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Reject artifact; do not promote to stack build.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885078-40D7-45C5-96A7-E00FD8DB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AFC9B0-C3BC-4AC2-8A36-0B3F4C2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 RETARGET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D47A95-4B63-4621-850F-8790DC5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338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928AAB-8483-4FA0-A92A-93820905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24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Can PTAP reach every declared instrument?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BFEBDA-2189-48F2-BF98-2D0D3F1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338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B20B83-0376-49DC-A8B4-9CD2403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retargeted pattern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reachable-target list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1FDC63-95FF-4564-979A-DB4352D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338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BAA86C-D5DF-4C36-9EB8-D86C8962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 / declared instruments = 100%.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CB9290-3DFC-49A0-B945-8917C61E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338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CD10C3-0B67-45CB-87A1-B3872B7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Trace host root, SIB state, and stack connection.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0734E8-52FE-402D-AFD1-6C0C738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099BD0-AA25-4A8E-8FA8-9FCDD4B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05 SIMULATE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FA24F7E-E024-4ADE-8D3F-E7298D2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EC478A-2A95-4CAC-88CE-B2F76B22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1485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Does the generated pattern behave correctly?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84EC63-74CC-49D8-8223-8995682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8627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314801-F500-469D-BBDF-2A4F9068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waveform + compare log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care-bit counter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4D3D0B-AA11-450E-B165-219D9C0E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478D1C-BF25-497D-AFAF-28A6B18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Care-bit mismatch = 0 and expected TDR value is observed.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D7A9D9-1A71-418C-9D67-6DF6C367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8627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EE6CC7-D3E2-4FDB-A240-94114DF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1485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Trace CE / SE / UE, TDI/TDO, and update timing.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0ED005-2408-4E53-A047-48AE8E3D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123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5791FFA-964D-4BA8-BC54-2E09CB76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06 RERUN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D2468D-8524-41D7-B239-9CBE392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38725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13D53D-B780-4CCC-8365-AEE4169D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Can identical inputs reproduce the same result?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6DB08F-8B90-4C61-9197-710A80A3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38725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F9CBB8-1C82-4AFA-AC56-870BFE49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rerun summary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archived evidence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704616-3590-4ECE-AAD3-625AB477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387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38097A-7CEA-4792-BCCD-1E6F829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3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Same manifest reproduces reachable targets and 0 care-bit mismatch.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618E38-DF20-427D-8BE7-5AE2275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38725"/>
            <a:ext cx="272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8F91CA-070C-4100-8A9D-1E702B5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67300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Diff inputs and stage artifacts; stop promotion.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D784A0-DC83-4AEB-A28E-3695C0B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GENERATION SUCCESS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9CAF26-EFC0-4C8E-8B37-B5C555D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C5C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54208B-F902-4DDC-B835-AC2ABC6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57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ACCESS + REPRODUCIBILITY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36FD1F-7F91-444F-B05D-D1408B7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680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7B7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D164F0-7CD7-4EE8-B677-A3D8405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B3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E7CE74-A95F-4011-8CD2-E15596BB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1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successful command is only an intermediate state; acceptance requires structural and behavioral evidence.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B0D15D-10B6-415F-9752-F3EFA1A7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E923D2-E4FF-4654-8EE9-92ECEF7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86669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5A733-DB78-4ED8-A1CD-BB94719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C.2.1 · TOPOLOGY 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A2A71-9859-4456-AC48-BCAB8D2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6805179-5C23-46AB-A772-F091E74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HostIjtag + HostStap fix demonstrates topology-level design reasoning.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944B2-8613-46D3-9B24-E8F73CD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EF5C6-39B1-4F5F-A852-A96D5497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BEFORE · TWO INDEPENDENT ACCESS ROOTS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328EB-957B-4060-B6A7-C14F169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38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11430">
            <a:solidFill>
              <a:srgbClr val="B94A4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TAP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B5880-7C49-4FF4-8094-BB280153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2405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4A4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HostIjtag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1CA05-79FD-4D14-97FB-C8D3ED85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1581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HostStap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BC1DE-B138-4225-8A2E-B8DD5E07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24050"/>
            <a:ext cx="1504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SIB → TDR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D241A-FDC0-4A9F-BBED-BD701FA3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19400"/>
            <a:ext cx="15049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Upper die</a:t>
            </a:r>
          </a:p>
        </p:txBody>
      </p:sp>
      <p:cxnSp>
        <p:nvCxnSpPr>
          <p:cNvPr id="37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504950" y="2200275"/>
            <a:ext cx="5905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4A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504950" y="2305050"/>
            <a:ext cx="59055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6B3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3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76650" y="22002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4A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76650" y="3095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6B3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4B458-328A-4A75-8DCB-CE054CD5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384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4A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1EDB5-8D35-4883-BF28-9CB7C30F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57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5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78078-EC74-43D3-8F66-88C857B6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6"/>
              </a:spcAft>
              <a:buNone/>
              <a:defRPr sz="135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332"/>
                </a:solidFill>
                <a:latin typeface="Arial"/>
                <a:ea typeface="Arial"/>
                <a:cs typeface="Arial"/>
              </a:rPr>
              <a:t>TDR and SIB appear in the extracted ICL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6"/>
              </a:spcAft>
              <a:buNone/>
              <a:defRPr sz="135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 cannot traverse to the intended target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6"/>
              </a:spcAft>
              <a:buNone/>
              <a:defRPr sz="135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332"/>
                </a:solidFill>
                <a:latin typeface="Arial"/>
                <a:ea typeface="Arial"/>
                <a:cs typeface="Arial"/>
              </a:rPr>
              <a:t>Typical symptom: inaccessible / no-source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79894-EC2B-49B6-A59A-CEB23A4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0" cy="393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8A219-17F6-4E5B-B70C-F3B80079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71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AFTER · ONE INTENDED HOST TOPOLOGY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B437E-1A10-451C-9495-3925CD87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8382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F0625-248B-4F36-A589-CCD5BE9F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25146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78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Unified host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56633-D7D9-4937-8A23-E454E4B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IJTAG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SIB → TDR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411AF4-1B56-4930-8202-F77061D3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1847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88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Downstream STAP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Upper-die access</a:t>
            </a:r>
          </a:p>
        </p:txBody>
      </p:sp>
      <p:cxnSp>
        <p:nvCxnSpPr>
          <p:cNvPr id="38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391400" y="2286000"/>
            <a:ext cx="6096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9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5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7896225" y="2619375"/>
            <a:ext cx="1362075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A91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6" name=""/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58300" y="2619375"/>
            <a:ext cx="942975" cy="428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F7B7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555DF-C65B-47FC-B028-02329D4D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7B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546B9-15E8-4521-AB93-3E5D487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RETARGETABLE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BF204-7ED4-4B72-8E8D-F9504D25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0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HostIjtag + HostStap are created in the same configuration transaction.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7F816B-1BE0-4F2C-A6AF-6A3AC40C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DEBUG EVIDENCE · VISIBILITY ALONE IS INSUFFICIENT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5DEFED-E9AD-4673-B2D6-3D1A99CC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DC7B9-0D20-40C6-9134-3297EC38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625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D8CA59-F24C-4165-A0D6-7877E82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6D68F2-7B44-47DD-A909-7F994C75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62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2593E-5AE7-4BB1-B777-5F714D44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01D76B-302A-47BA-96CD-6650BF83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62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0C6F75-EDFA-41FF-80B4-15264B2B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489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08B7F8-45BC-4C45-898E-354CBB6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62525"/>
            <a:ext cx="470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ACCEPTANCE CRITERION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722C5F-5154-45E1-9EDA-4BED8A63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83ECD9-6805-454C-8ED7-05E38D9C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Access roots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151A08-DBFB-4CC2-9FFB-37417C56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162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0A7B14-1275-4E5E-A798-5490023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911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2 independent roots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7064D8-ED9F-4398-9595-0B50C3A5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62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92F1ED-8F1D-4CF6-9281-F44FA66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911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1 intended host root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21D9E1-148D-4EA9-B6C8-FD619FB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62550"/>
            <a:ext cx="489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A25EE0-B8A8-49BB-923C-0AC11C92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470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One PTAP path owns local IJTAG and downstream STAP.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6F5D03-8A99-485E-96B4-A0AFBD29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9805E4-B102-4BF8-B01B-F6190952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Extracted ICL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D6ACF4-B1A2-450A-9126-504180A9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353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9F3CD0-07B5-4560-8ACA-0FE4A042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816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TDR / SIB visible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A1BA48-4F3E-44E3-9293-DA438F5F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27B305-7708-4D2F-9103-4230DE1D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816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TDR / SIB visible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70B2CF-27F7-4962-9D69-B22AA50D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53050"/>
            <a:ext cx="489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147270-329D-47E1-B808-D56254F7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81625"/>
            <a:ext cx="470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topology matches the inserted RTL hierarchy.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403A2D-A9D5-4768-848B-37A43EE6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865A3D-0103-4201-B588-A35C55CF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894638-B262-41E6-9835-282970B9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43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A1AC3E-B74D-4915-96E1-51D72E2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721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Upper target inaccessible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35476E-4BED-43EE-B65A-204E79F4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435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428332-E17A-4AA4-8FE9-C9AD9A1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Upper target reachable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E949B7-75FC-4D39-83E1-1319CE3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543550"/>
            <a:ext cx="489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AAE770-5F9B-4C1C-85BC-B8F73A70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2125"/>
            <a:ext cx="470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 / declared targets = 100%.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6AB5BA-429C-42A9-A3CF-9F892C5C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925C3C-6E9E-4B3B-B59A-1D4CDFC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Error signature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C990E8-EE56-426D-872E-DBD5A32C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34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F51169-B2D6-4517-8E8D-D594C33F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626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no-source / inaccessible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4B4736-0317-421C-A035-FE213D3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340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6D8427-D084-4BB6-A085-F4FC7316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626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no unresolved path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742278-C2F5-4F07-B513-6FBAA24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34050"/>
            <a:ext cx="489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5F360A-D4DD-4172-8706-8481A829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62625"/>
            <a:ext cx="4705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 unresolved source, destination, or hierarchy mapping.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B7FE69-321B-4495-8AC9-B50553A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7B7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63813D-94FA-42E0-8833-BD7E892C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fix came from </a:t>
            </a:r>
            <a:r>
              <a:rPr sz="15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topology reasoning</a:t>
            </a: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—not from adding another Tessent command.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9689F7-FE2C-4785-95C6-6D2D762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118219-9847-477B-A2F9-460AC07F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150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FF29C-37B0-4440-AD60-E236386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C.3 · ENABLE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7C254-FFA4-432A-A98C-0C704C14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E15D700-5C32-459D-9B2E-C649C43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7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Design intent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stays outside the reusable Tessent procedure.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B35F1-F01E-4277-9148-A73CE029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95F38-22AE-4EF2-85AB-67805337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USER-PROVIDED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E7DD0-0837-4CA7-BDB0-C00C6EC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14325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98D76-6F79-44CA-AD90-28FF534A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27241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203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79C04-DC66-4673-A06B-42A71681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38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rtl/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filelist.f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libraries.tcl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dft_manifest.yaml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└─ expected_results.yaml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FD280-14E6-458E-88D3-59E1BB89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19"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Golden RTL and top module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Clock / reset and technology data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role and local instruments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connectivity and expected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A39CE-3EE0-4DD6-AA37-F3F9DE5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71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AUTOMATION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2809F-0DEF-4C14-83A3-F9ADAC89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245F4-9C72-4CE7-8784-2214F5E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Reusable Tcl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PROCEDURES</a:t>
            </a:r>
          </a:p>
        </p:txBody>
      </p:sp>
      <p:cxnSp>
        <p:nvCxnSpPr>
          <p:cNvPr id="21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619750" y="29908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B7564-F08C-4D1C-83D1-5E4907F6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76575"/>
            <a:ext cx="259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parse · validate · generate · 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DA1E1-6395-4400-86BF-731A6BDA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385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C6836-71D6-419B-9AB3-BD1D9C8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385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C5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77769-7EFF-490D-A8D2-05558276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716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GENERATED DELIVERABLES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DB491-6533-4956-87C6-469C9E3E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400050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784C8-17C5-4FF4-BB56-E208B6B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F7B66-AE53-4D9E-B78D-23DD57A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role-specific inserted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9C8B9-9D6C-48D8-AC46-0C5DFA4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6697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965E3-510B-4775-AB6D-7264A4F8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ICL / TSDB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B7832-EAD0-45DF-9DA7-9E567302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289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per-die and stack hierarchy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AF601-4064-4417-AA53-0B4C6D7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B86C3-91F1-41C9-9977-EB3975FE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62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IMPORT / RETARGET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ED1CD0-51E5-4D25-833A-11AB79F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access procedures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62BE89-B1A3-403B-AA34-B43DCD5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3377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B2689-0C24-4500-B642-DD18B89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95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PATTERNS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2DBE2-4470-4E77-98B3-C125B54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957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retargeted access tests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2B037B-637D-4A18-8CDB-6B91EA4B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E37EB5-ABFD-4648-8AD8-6A7CCA2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29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REPORTS / LOGS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F4ADB-EA98-4873-8182-D85288E8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291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review and rerun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AF8064-4784-44B6-AE99-C2411C87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434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Rule: design-specific net names are referenced by the manifest, never embedded in core Tcl.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E0379-1E1C-472E-86B1-0F3439E6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MANIFEST SCHEMA · THE USER EDITS VALUES; THE FLOW OWNS IMPLEMENTATION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D825E-3A12-497B-8EFF-043263E5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B231D3-8626-4D69-9AF3-F69F4DEF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87BAFE-00A1-4E54-A8E1-8687C0E3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76F242-E057-4593-8791-0FE6BE0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top / files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clock / reset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2C2747-294D-4AA8-B4A1-F5F1EA4F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387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6D517C-E994-4AA6-B87D-FF5D1B1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67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ROLE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CC68A9-A7B1-4CEA-A4F2-CCDD1AD1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673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9C24FF-C350-4897-8CB5-681F9A02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95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| middle | top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/ STAP policy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BA6AA2-F9CA-4257-97BD-53BE631C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387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940AAC-91B2-4EF6-95BC-B14FD290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673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IJTAG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72A8B7-4353-4B55-9EED-35784759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67375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906903-902E-40A2-B2DC-F1B9EBFF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95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/ TDR list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SIB placement intent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007CD-8ED5-4E91-967A-F4DDC9A9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3877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8A4E22-81DC-4E7C-AB9C-2D9D8EB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6735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7951B9-438B-4041-8E05-E8E9096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67375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AD2DDC-ABA0-4E48-BB62-E8949331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959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order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upstream / downstream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9F0489-E468-4AE7-9D5F-5856718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51D704-DB39-4090-A99F-9A430E2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73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F12DEF-74FB-4D97-B255-E5826554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67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D65302-1481-4D27-8C86-5C0351EB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95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 data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compare rules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0045B4-1FB8-4761-BD4E-63A0CDE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8AC03C-8107-4602-90FD-5BA4D7D4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974034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30CB606-E40A-484D-92D5-A59CC520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C.3.1 · LOCAL-DIE AUTOMATION  |  RTL → RETARGET → VCS</a:t>
            </a:r>
          </a:p>
        </p:txBody>
      </p:sp>
      <p:sp>
        <p:nvSpPr>
          <p:cNvPr id="2" name="title-one-csv">
            <a:extLst xmlns:a="http://schemas.openxmlformats.org/drawingml/2006/main">
              <a:ext uri="{FF2B5EF4-FFF2-40B4-BE49-F238E27FC236}">
                <a16:creationId xmlns:a16="http://schemas.microsoft.com/office/drawing/2014/main" id="{5D3624D7-1612-4FBA-B249-980CA615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46B5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6B50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ONE CSV</a:t>
            </a:r>
          </a:p>
        </p:txBody>
      </p:sp>
      <p:sp>
        <p:nvSpPr>
          <p:cNvPr id="3" name="title-middle">
            <a:extLst xmlns:a="http://schemas.openxmlformats.org/drawingml/2006/main">
              <a:ext uri="{FF2B5EF4-FFF2-40B4-BE49-F238E27FC236}">
                <a16:creationId xmlns:a16="http://schemas.microsoft.com/office/drawing/2014/main" id="{9D3D554D-724B-4746-8CCD-DC88D7D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90525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912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DRIVES THE COMPLETE</a:t>
            </a:r>
          </a:p>
        </p:txBody>
      </p:sp>
      <p:sp>
        <p:nvSpPr>
          <p:cNvPr id="4" name="title-end">
            <a:extLst xmlns:a="http://schemas.openxmlformats.org/drawingml/2006/main">
              <a:ext uri="{FF2B5EF4-FFF2-40B4-BE49-F238E27FC236}">
                <a16:creationId xmlns:a16="http://schemas.microsoft.com/office/drawing/2014/main" id="{D655F113-F19A-497B-BD45-1594F99B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"/>
            <a:ext cx="508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629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629C"/>
                </a:solidFill>
                <a:latin typeface="Arial"/>
                <a:ea typeface="Arial"/>
                <a:cs typeface="Arial"/>
              </a:rPr>
              <a:t>DFT-TO-PATTERN FLOW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4BA5B926-AC38-40F5-B866-33E010C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7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A21"/>
          </a:solidFill>
          <a:ln xmlns:a="http://schemas.openxmlformats.org/drawingml/2006/main" w="0">
            <a:solidFill>
              <a:srgbClr val="EE6A21"/>
            </a:solidFill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E41869F-DA3C-43B4-8EAD-B4F426E5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Design intent is captured once; reusable Python/Tcl generates every local-die handoff through VCS pattern verification.</a:t>
            </a:r>
          </a:p>
        </p:txBody>
      </p:sp>
      <p:sp>
        <p:nvSpPr>
          <p:cNvPr id="7" name="arrow-input-configure">
            <a:extLst xmlns:a="http://schemas.openxmlformats.org/drawingml/2006/main">
              <a:ext uri="{FF2B5EF4-FFF2-40B4-BE49-F238E27FC236}">
                <a16:creationId xmlns:a16="http://schemas.microsoft.com/office/drawing/2014/main" id="{6F9316AA-0D9E-4BAC-8CE3-A97D792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276475"/>
            <a:ext cx="371475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6A21"/>
          </a:solidFill>
          <a:ln xmlns:a="http://schemas.openxmlformats.org/drawingml/2006/main" w="0">
            <a:solidFill>
              <a:srgbClr val="EE6A21"/>
            </a:solidFill>
            <a:prstDash val="solid"/>
          </a:ln>
        </p:spPr>
      </p:sp>
      <p:sp>
        <p:nvSpPr>
          <p:cNvPr id="8" name="arrow-configure-insert">
            <a:extLst xmlns:a="http://schemas.openxmlformats.org/drawingml/2006/main">
              <a:ext uri="{FF2B5EF4-FFF2-40B4-BE49-F238E27FC236}">
                <a16:creationId xmlns:a16="http://schemas.microsoft.com/office/drawing/2014/main" id="{42C87C11-5D7B-4483-B034-417B4B3F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76475"/>
            <a:ext cx="28575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81BD"/>
          </a:solidFill>
          <a:ln xmlns:a="http://schemas.openxmlformats.org/drawingml/2006/main" w="0">
            <a:solidFill>
              <a:srgbClr val="1781BD"/>
            </a:solidFill>
            <a:prstDash val="solid"/>
          </a:ln>
        </p:spPr>
      </p:sp>
      <p:sp>
        <p:nvSpPr>
          <p:cNvPr id="9" name="arrow-insert-discover">
            <a:extLst xmlns:a="http://schemas.openxmlformats.org/drawingml/2006/main">
              <a:ext uri="{FF2B5EF4-FFF2-40B4-BE49-F238E27FC236}">
                <a16:creationId xmlns:a16="http://schemas.microsoft.com/office/drawing/2014/main" id="{A3FA6699-33B7-492F-BD4A-93DE739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76475"/>
            <a:ext cx="285750" cy="2952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81BD"/>
          </a:solidFill>
          <a:ln xmlns:a="http://schemas.openxmlformats.org/drawingml/2006/main" w="0">
            <a:solidFill>
              <a:srgbClr val="1781BD"/>
            </a:solidFill>
            <a:prstDash val="solid"/>
          </a:ln>
        </p:spPr>
      </p:sp>
      <p:sp>
        <p:nvSpPr>
          <p:cNvPr id="10" name="arrow-discover-retarget">
            <a:extLst xmlns:a="http://schemas.openxmlformats.org/drawingml/2006/main">
              <a:ext uri="{FF2B5EF4-FFF2-40B4-BE49-F238E27FC236}">
                <a16:creationId xmlns:a16="http://schemas.microsoft.com/office/drawing/2014/main" id="{0887FACD-7204-469B-BFDA-4717114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67075"/>
            <a:ext cx="32385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81BD"/>
          </a:solidFill>
          <a:ln xmlns:a="http://schemas.openxmlformats.org/drawingml/2006/main" w="0">
            <a:solidFill>
              <a:srgbClr val="1781BD"/>
            </a:solidFill>
            <a:prstDash val="solid"/>
          </a:ln>
        </p:spPr>
      </p:sp>
      <p:sp>
        <p:nvSpPr>
          <p:cNvPr id="11" name="arrow-retarget-verify">
            <a:extLst xmlns:a="http://schemas.openxmlformats.org/drawingml/2006/main">
              <a:ext uri="{FF2B5EF4-FFF2-40B4-BE49-F238E27FC236}">
                <a16:creationId xmlns:a16="http://schemas.microsoft.com/office/drawing/2014/main" id="{AFA0839D-B561-49B1-970A-4170F1C4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72000"/>
            <a:ext cx="285750" cy="2952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81BD"/>
          </a:solidFill>
          <a:ln xmlns:a="http://schemas.openxmlformats.org/drawingml/2006/main" w="0">
            <a:solidFill>
              <a:srgbClr val="1781BD"/>
            </a:solidFill>
            <a:prstDash val="solid"/>
          </a:ln>
        </p:spPr>
      </p:sp>
      <p:sp>
        <p:nvSpPr>
          <p:cNvPr id="12" name="arrow-verify-signoff">
            <a:extLst xmlns:a="http://schemas.openxmlformats.org/drawingml/2006/main">
              <a:ext uri="{FF2B5EF4-FFF2-40B4-BE49-F238E27FC236}">
                <a16:creationId xmlns:a16="http://schemas.microsoft.com/office/drawing/2014/main" id="{6ECCE60A-230E-4FD9-87CA-BC04B83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72000"/>
            <a:ext cx="285750" cy="2952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0926F"/>
          </a:solidFill>
          <a:ln xmlns:a="http://schemas.openxmlformats.org/drawingml/2006/main" w="0">
            <a:solidFill>
              <a:srgbClr val="20926F"/>
            </a:solidFill>
            <a:prstDash val="solid"/>
          </a:ln>
        </p:spPr>
      </p:sp>
      <p:sp>
        <p:nvSpPr>
          <p:cNvPr id="13" name="input-zone-label">
            <a:extLst xmlns:a="http://schemas.openxmlformats.org/drawingml/2006/main">
              <a:ext uri="{FF2B5EF4-FFF2-40B4-BE49-F238E27FC236}">
                <a16:creationId xmlns:a16="http://schemas.microsoft.com/office/drawing/2014/main" id="{8CFC6259-D31D-4AFF-98DB-8E07366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6B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50"/>
                </a:solidFill>
                <a:latin typeface="Arial"/>
                <a:ea typeface="Arial"/>
                <a:cs typeface="Arial"/>
              </a:rPr>
              <a:t>1 USER-MAINTAINED INPUT</a:t>
            </a:r>
          </a:p>
        </p:txBody>
      </p:sp>
      <p:sp>
        <p:nvSpPr>
          <p:cNvPr id="14" name="core-zone-label">
            <a:extLst xmlns:a="http://schemas.openxmlformats.org/drawingml/2006/main">
              <a:ext uri="{FF2B5EF4-FFF2-40B4-BE49-F238E27FC236}">
                <a16:creationId xmlns:a16="http://schemas.microsoft.com/office/drawing/2014/main" id="{4EB79A3D-5233-4A7F-8035-A3AB948A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049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2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29C"/>
                </a:solidFill>
                <a:latin typeface="Arial"/>
                <a:ea typeface="Arial"/>
                <a:cs typeface="Arial"/>
              </a:rPr>
              <a:t>REUSABLE PYTHON / TCL AUTOMATION CORE</a:t>
            </a:r>
          </a:p>
        </p:txBody>
      </p:sp>
      <p:sp>
        <p:nvSpPr>
          <p:cNvPr id="15" name="core-zone-detail">
            <a:extLst xmlns:a="http://schemas.openxmlformats.org/drawingml/2006/main">
              <a:ext uri="{FF2B5EF4-FFF2-40B4-BE49-F238E27FC236}">
                <a16:creationId xmlns:a16="http://schemas.microsoft.com/office/drawing/2014/main" id="{721C18D6-90AB-4254-A782-6B38460F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04925"/>
            <a:ext cx="3400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DESIGN-SPECIFIC DATA STOPS AT THE CSV</a:t>
            </a:r>
          </a:p>
        </p:txBody>
      </p:sp>
      <p:sp>
        <p:nvSpPr>
          <p:cNvPr id="16" name="manifest-frame">
            <a:extLst xmlns:a="http://schemas.openxmlformats.org/drawingml/2006/main">
              <a:ext uri="{FF2B5EF4-FFF2-40B4-BE49-F238E27FC236}">
                <a16:creationId xmlns:a16="http://schemas.microsoft.com/office/drawing/2014/main" id="{6236E15B-39A0-4EBB-AC5C-ED0D3E7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219325" cy="3962400"/>
          </a:xfrm>
          <a:prstGeom xmlns:a="http://schemas.openxmlformats.org/drawingml/2006/main" prst="roundRect">
            <a:avLst>
              <a:gd name="adj" fmla="val 5150"/>
            </a:avLst>
          </a:prstGeom>
          <a:solidFill xmlns:a="http://schemas.openxmlformats.org/drawingml/2006/main">
            <a:srgbClr val="146B50"/>
          </a:solidFill>
          <a:ln xmlns:a="http://schemas.openxmlformats.org/drawingml/2006/main" w="0">
            <a:solidFill>
              <a:srgbClr val="146B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manifest-orange-edge">
            <a:extLst xmlns:a="http://schemas.openxmlformats.org/drawingml/2006/main">
              <a:ext uri="{FF2B5EF4-FFF2-40B4-BE49-F238E27FC236}">
                <a16:creationId xmlns:a16="http://schemas.microsoft.com/office/drawing/2014/main" id="{64CCDE05-2984-48AE-9990-68C95198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6667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A21"/>
          </a:solidFill>
          <a:ln xmlns:a="http://schemas.openxmlformats.org/drawingml/2006/main" w="0">
            <a:solidFill>
              <a:srgbClr val="EE6A21"/>
            </a:solidFill>
            <a:prstDash val="solid"/>
          </a:ln>
        </p:spPr>
      </p:sp>
      <p:sp>
        <p:nvSpPr>
          <p:cNvPr id="18" name="manifest-user">
            <a:extLst xmlns:a="http://schemas.openxmlformats.org/drawingml/2006/main">
              <a:ext uri="{FF2B5EF4-FFF2-40B4-BE49-F238E27FC236}">
                <a16:creationId xmlns:a16="http://schemas.microsoft.com/office/drawing/2014/main" id="{AFCF1F28-C667-4BE3-8CAA-28AAF259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F1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F1E8"/>
                </a:solidFill>
                <a:latin typeface="Arial"/>
                <a:ea typeface="Arial"/>
                <a:cs typeface="Arial"/>
              </a:rPr>
              <a:t>USER PROVIDES</a:t>
            </a:r>
          </a:p>
        </p:txBody>
      </p:sp>
      <p:sp>
        <p:nvSpPr>
          <p:cNvPr id="19" name="manifest-file">
            <a:extLst xmlns:a="http://schemas.openxmlformats.org/drawingml/2006/main">
              <a:ext uri="{FF2B5EF4-FFF2-40B4-BE49-F238E27FC236}">
                <a16:creationId xmlns:a16="http://schemas.microsoft.com/office/drawing/2014/main" id="{4D1D7A9A-81F2-4176-A894-07D48F1C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design_config_</a:t>
            </a:r>
          </a:p>
          <a:p xmlns:a="http://schemas.openxmlformats.org/drawingml/2006/main">
            <a:pPr algn="l">
              <a:buNone/>
              <a:defRPr sz="18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&lt;die&gt;.csv</a:t>
            </a:r>
          </a:p>
        </p:txBody>
      </p:sp>
      <p:sp>
        <p:nvSpPr>
          <p:cNvPr id="20" name="manifest-truth">
            <a:extLst xmlns:a="http://schemas.openxmlformats.org/drawingml/2006/main">
              <a:ext uri="{FF2B5EF4-FFF2-40B4-BE49-F238E27FC236}">
                <a16:creationId xmlns:a16="http://schemas.microsoft.com/office/drawing/2014/main" id="{4217A701-1ABA-480A-87B2-B09A5EEE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7DE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DED0"/>
                </a:solidFill>
                <a:latin typeface="Arial"/>
                <a:ea typeface="Arial"/>
                <a:cs typeface="Arial"/>
              </a:rPr>
              <a:t>DIE-SPECIFIC SOURCE</a:t>
            </a:r>
          </a:p>
        </p:txBody>
      </p:sp>
      <p:sp>
        <p:nvSpPr>
          <p:cNvPr id="21" name="manifest-rule-0">
            <a:extLst xmlns:a="http://schemas.openxmlformats.org/drawingml/2006/main">
              <a:ext uri="{FF2B5EF4-FFF2-40B4-BE49-F238E27FC236}">
                <a16:creationId xmlns:a16="http://schemas.microsoft.com/office/drawing/2014/main" id="{1414CF84-9A24-4906-85EB-B99FBDC2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575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58B"/>
          </a:solidFill>
          <a:ln xmlns:a="http://schemas.openxmlformats.org/drawingml/2006/main" w="0">
            <a:solidFill>
              <a:srgbClr val="5FA58B"/>
            </a:solidFill>
            <a:prstDash val="solid"/>
          </a:ln>
        </p:spPr>
      </p:sp>
      <p:sp>
        <p:nvSpPr>
          <p:cNvPr id="22" name="manifest-DESIGN-tag">
            <a:extLst xmlns:a="http://schemas.openxmlformats.org/drawingml/2006/main">
              <a:ext uri="{FF2B5EF4-FFF2-40B4-BE49-F238E27FC236}">
                <a16:creationId xmlns:a16="http://schemas.microsoft.com/office/drawing/2014/main" id="{365611ED-5FDC-48C3-B2C9-464079E9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[DESIGN]</a:t>
            </a:r>
          </a:p>
        </p:txBody>
      </p:sp>
      <p:sp>
        <p:nvSpPr>
          <p:cNvPr id="23" name="manifest-DESIGN-body">
            <a:extLst xmlns:a="http://schemas.openxmlformats.org/drawingml/2006/main">
              <a:ext uri="{FF2B5EF4-FFF2-40B4-BE49-F238E27FC236}">
                <a16:creationId xmlns:a16="http://schemas.microsoft.com/office/drawing/2014/main" id="{D18295CE-1A34-436B-AB4C-9ACD615A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527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· top · RTL list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/ middle / top role</a:t>
            </a:r>
          </a:p>
        </p:txBody>
      </p:sp>
      <p:sp>
        <p:nvSpPr>
          <p:cNvPr id="24" name="manifest-rule-1">
            <a:extLst xmlns:a="http://schemas.openxmlformats.org/drawingml/2006/main">
              <a:ext uri="{FF2B5EF4-FFF2-40B4-BE49-F238E27FC236}">
                <a16:creationId xmlns:a16="http://schemas.microsoft.com/office/drawing/2014/main" id="{BA8B1DE5-1178-4292-85AF-5FE74F9D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147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58B"/>
          </a:solidFill>
          <a:ln xmlns:a="http://schemas.openxmlformats.org/drawingml/2006/main" w="0">
            <a:solidFill>
              <a:srgbClr val="5FA58B"/>
            </a:solidFill>
            <a:prstDash val="solid"/>
          </a:ln>
        </p:spPr>
      </p:sp>
      <p:sp>
        <p:nvSpPr>
          <p:cNvPr id="25" name="manifest-TDR-tag">
            <a:extLst xmlns:a="http://schemas.openxmlformats.org/drawingml/2006/main">
              <a:ext uri="{FF2B5EF4-FFF2-40B4-BE49-F238E27FC236}">
                <a16:creationId xmlns:a16="http://schemas.microsoft.com/office/drawing/2014/main" id="{FE5CBCD8-2BA8-4AA9-A6EC-E499A66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004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[TDR]</a:t>
            </a:r>
          </a:p>
        </p:txBody>
      </p:sp>
      <p:sp>
        <p:nvSpPr>
          <p:cNvPr id="26" name="manifest-TDR-body">
            <a:extLst xmlns:a="http://schemas.openxmlformats.org/drawingml/2006/main">
              <a:ext uri="{FF2B5EF4-FFF2-40B4-BE49-F238E27FC236}">
                <a16:creationId xmlns:a16="http://schemas.microsoft.com/office/drawing/2014/main" id="{FDA9A73F-3408-47C2-87E9-3B22F7CF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004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instrument · data ports · PDL</a:t>
            </a:r>
          </a:p>
        </p:txBody>
      </p:sp>
      <p:sp>
        <p:nvSpPr>
          <p:cNvPr id="27" name="manifest-rule-2">
            <a:extLst xmlns:a="http://schemas.openxmlformats.org/drawingml/2006/main">
              <a:ext uri="{FF2B5EF4-FFF2-40B4-BE49-F238E27FC236}">
                <a16:creationId xmlns:a16="http://schemas.microsoft.com/office/drawing/2014/main" id="{A8654209-9911-486B-9C4C-122FF186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58B"/>
          </a:solidFill>
          <a:ln xmlns:a="http://schemas.openxmlformats.org/drawingml/2006/main" w="0">
            <a:solidFill>
              <a:srgbClr val="5FA58B"/>
            </a:solidFill>
            <a:prstDash val="solid"/>
          </a:ln>
        </p:spPr>
      </p:sp>
      <p:sp>
        <p:nvSpPr>
          <p:cNvPr id="28" name="manifest-STAP-tag">
            <a:extLst xmlns:a="http://schemas.openxmlformats.org/drawingml/2006/main">
              <a:ext uri="{FF2B5EF4-FFF2-40B4-BE49-F238E27FC236}">
                <a16:creationId xmlns:a16="http://schemas.microsoft.com/office/drawing/2014/main" id="{55CEFE8E-DF5F-43A3-9FC5-5EBC70E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48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[STAP]</a:t>
            </a:r>
          </a:p>
        </p:txBody>
      </p:sp>
      <p:sp>
        <p:nvSpPr>
          <p:cNvPr id="29" name="manifest-STAP-body">
            <a:extLst xmlns:a="http://schemas.openxmlformats.org/drawingml/2006/main">
              <a:ext uri="{FF2B5EF4-FFF2-40B4-BE49-F238E27FC236}">
                <a16:creationId xmlns:a16="http://schemas.microsoft.com/office/drawing/2014/main" id="{ECF83680-A16B-4D75-BE62-5F22CD57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81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secondary TAP ports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stack-access definition</a:t>
            </a:r>
          </a:p>
        </p:txBody>
      </p:sp>
      <p:sp>
        <p:nvSpPr>
          <p:cNvPr id="30" name="manifest-rule-3">
            <a:extLst xmlns:a="http://schemas.openxmlformats.org/drawingml/2006/main">
              <a:ext uri="{FF2B5EF4-FFF2-40B4-BE49-F238E27FC236}">
                <a16:creationId xmlns:a16="http://schemas.microsoft.com/office/drawing/2014/main" id="{7ACCB15D-ECBC-488A-84D3-5C82972C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58B"/>
          </a:solidFill>
          <a:ln xmlns:a="http://schemas.openxmlformats.org/drawingml/2006/main" w="0">
            <a:solidFill>
              <a:srgbClr val="5FA58B"/>
            </a:solidFill>
            <a:prstDash val="solid"/>
          </a:ln>
        </p:spPr>
      </p:sp>
      <p:sp>
        <p:nvSpPr>
          <p:cNvPr id="31" name="manifest-RETARGET-tag">
            <a:extLst xmlns:a="http://schemas.openxmlformats.org/drawingml/2006/main">
              <a:ext uri="{FF2B5EF4-FFF2-40B4-BE49-F238E27FC236}">
                <a16:creationId xmlns:a16="http://schemas.microsoft.com/office/drawing/2014/main" id="{2E488BA2-E698-4B7D-ADBF-65E6057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958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[RETARGET]</a:t>
            </a:r>
          </a:p>
        </p:txBody>
      </p:sp>
      <p:sp>
        <p:nvSpPr>
          <p:cNvPr id="32" name="manifest-RETARGET-body">
            <a:extLst xmlns:a="http://schemas.openxmlformats.org/drawingml/2006/main">
              <a:ext uri="{FF2B5EF4-FFF2-40B4-BE49-F238E27FC236}">
                <a16:creationId xmlns:a16="http://schemas.microsoft.com/office/drawing/2014/main" id="{01C8F400-DBA6-4E81-A9B5-30D5630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95875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clock · reset · black boxes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pattern environment</a:t>
            </a:r>
          </a:p>
        </p:txBody>
      </p:sp>
      <p:sp>
        <p:nvSpPr>
          <p:cNvPr id="33" name="stage-1-frame">
            <a:extLst xmlns:a="http://schemas.openxmlformats.org/drawingml/2006/main">
              <a:ext uri="{FF2B5EF4-FFF2-40B4-BE49-F238E27FC236}">
                <a16:creationId xmlns:a16="http://schemas.microsoft.com/office/drawing/2014/main" id="{F4B8CA19-0AB0-4084-9917-BFD793E7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81150"/>
            <a:ext cx="2514600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B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stage-1-header">
            <a:extLst xmlns:a="http://schemas.openxmlformats.org/drawingml/2006/main">
              <a:ext uri="{FF2B5EF4-FFF2-40B4-BE49-F238E27FC236}">
                <a16:creationId xmlns:a16="http://schemas.microsoft.com/office/drawing/2014/main" id="{332C0B5C-5888-4F69-8899-C1A935C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811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9C"/>
          </a:solidFill>
          <a:ln xmlns:a="http://schemas.openxmlformats.org/drawingml/2006/main" w="0">
            <a:solidFill>
              <a:srgbClr val="0B629C"/>
            </a:solidFill>
            <a:prstDash val="solid"/>
          </a:ln>
        </p:spPr>
      </p:sp>
      <p:sp>
        <p:nvSpPr>
          <p:cNvPr id="35" name="stage-1-number-block">
            <a:extLst xmlns:a="http://schemas.openxmlformats.org/drawingml/2006/main">
              <a:ext uri="{FF2B5EF4-FFF2-40B4-BE49-F238E27FC236}">
                <a16:creationId xmlns:a16="http://schemas.microsoft.com/office/drawing/2014/main" id="{C1EBBA33-AB51-4DF0-BB45-913C3E34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81150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C5E"/>
          </a:solidFill>
          <a:ln xmlns:a="http://schemas.openxmlformats.org/drawingml/2006/main" w="0">
            <a:solidFill>
              <a:srgbClr val="103C5E"/>
            </a:solidFill>
            <a:prstDash val="solid"/>
          </a:ln>
        </p:spPr>
      </p:sp>
      <p:sp>
        <p:nvSpPr>
          <p:cNvPr id="36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A13E1B70-D84D-4174-87F2-1449757B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81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69A51F20-0866-4BC4-B95A-AC7223C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38" name="stage-1-script">
            <a:extLst xmlns:a="http://schemas.openxmlformats.org/drawingml/2006/main">
              <a:ext uri="{FF2B5EF4-FFF2-40B4-BE49-F238E27FC236}">
                <a16:creationId xmlns:a16="http://schemas.microsoft.com/office/drawing/2014/main" id="{DAA9EBA5-DA2B-436B-96CF-3ABABD7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gen_read_config.py</a:t>
            </a:r>
          </a:p>
        </p:txBody>
      </p:sp>
      <p:sp>
        <p:nvSpPr>
          <p:cNvPr id="39" name="stage-1-action">
            <a:extLst xmlns:a="http://schemas.openxmlformats.org/drawingml/2006/main">
              <a:ext uri="{FF2B5EF4-FFF2-40B4-BE49-F238E27FC236}">
                <a16:creationId xmlns:a16="http://schemas.microsoft.com/office/drawing/2014/main" id="{0630C147-F3B8-4027-AB75-7EDAFFFB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145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Builds the die-specific Tessent setup from the CSV.</a:t>
            </a:r>
          </a:p>
        </p:txBody>
      </p:sp>
      <p:sp>
        <p:nvSpPr>
          <p:cNvPr id="40" name="stage-1-artifact-band">
            <a:extLst xmlns:a="http://schemas.openxmlformats.org/drawingml/2006/main">
              <a:ext uri="{FF2B5EF4-FFF2-40B4-BE49-F238E27FC236}">
                <a16:creationId xmlns:a16="http://schemas.microsoft.com/office/drawing/2014/main" id="{CC2A7A8A-5179-405E-AE64-F28F501D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1D4C3"/>
            </a:solidFill>
            <a:prstDash val="solid"/>
          </a:ln>
        </p:spPr>
      </p:sp>
      <p:sp>
        <p:nvSpPr>
          <p:cNvPr id="41" name="stage-1-artifact-label">
            <a:extLst xmlns:a="http://schemas.openxmlformats.org/drawingml/2006/main">
              <a:ext uri="{FF2B5EF4-FFF2-40B4-BE49-F238E27FC236}">
                <a16:creationId xmlns:a16="http://schemas.microsoft.com/office/drawing/2014/main" id="{4DFD3788-9B32-40BD-9D58-1883ED45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42" name="stage-1-artifact">
            <a:extLst xmlns:a="http://schemas.openxmlformats.org/drawingml/2006/main">
              <a:ext uri="{FF2B5EF4-FFF2-40B4-BE49-F238E27FC236}">
                <a16:creationId xmlns:a16="http://schemas.microsoft.com/office/drawing/2014/main" id="{AFF28F28-F283-4C1D-980F-F13E8F2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341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insert_vars.tcl — setup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ijtag_spec.tcl — host map</a:t>
            </a:r>
          </a:p>
        </p:txBody>
      </p:sp>
      <p:sp>
        <p:nvSpPr>
          <p:cNvPr id="43" name="stage-2-frame">
            <a:extLst xmlns:a="http://schemas.openxmlformats.org/drawingml/2006/main">
              <a:ext uri="{FF2B5EF4-FFF2-40B4-BE49-F238E27FC236}">
                <a16:creationId xmlns:a16="http://schemas.microsoft.com/office/drawing/2014/main" id="{7323196D-196A-47E3-9A4B-59F41E3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81150"/>
            <a:ext cx="2514600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B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stage-2-header">
            <a:extLst xmlns:a="http://schemas.openxmlformats.org/drawingml/2006/main">
              <a:ext uri="{FF2B5EF4-FFF2-40B4-BE49-F238E27FC236}">
                <a16:creationId xmlns:a16="http://schemas.microsoft.com/office/drawing/2014/main" id="{0F40B7E0-9811-4D1A-94B0-CB260CC6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811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9C"/>
          </a:solidFill>
          <a:ln xmlns:a="http://schemas.openxmlformats.org/drawingml/2006/main" w="0">
            <a:solidFill>
              <a:srgbClr val="0B629C"/>
            </a:solidFill>
            <a:prstDash val="solid"/>
          </a:ln>
        </p:spPr>
      </p:sp>
      <p:sp>
        <p:nvSpPr>
          <p:cNvPr id="45" name="stage-2-number-block">
            <a:extLst xmlns:a="http://schemas.openxmlformats.org/drawingml/2006/main">
              <a:ext uri="{FF2B5EF4-FFF2-40B4-BE49-F238E27FC236}">
                <a16:creationId xmlns:a16="http://schemas.microsoft.com/office/drawing/2014/main" id="{696DD54A-4F74-461C-AE4C-98D0A534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81150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C5E"/>
          </a:solidFill>
          <a:ln xmlns:a="http://schemas.openxmlformats.org/drawingml/2006/main" w="0">
            <a:solidFill>
              <a:srgbClr val="103C5E"/>
            </a:solidFill>
            <a:prstDash val="solid"/>
          </a:ln>
        </p:spPr>
      </p:sp>
      <p:sp>
        <p:nvSpPr>
          <p:cNvPr id="46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F1DF328F-3ACB-4F22-A359-32C88C9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81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B35499F5-EBD2-4ACF-B206-573D76F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INSERT DFT</a:t>
            </a:r>
          </a:p>
        </p:txBody>
      </p:sp>
      <p:sp>
        <p:nvSpPr>
          <p:cNvPr id="48" name="stage-2-script">
            <a:extLst xmlns:a="http://schemas.openxmlformats.org/drawingml/2006/main">
              <a:ext uri="{FF2B5EF4-FFF2-40B4-BE49-F238E27FC236}">
                <a16:creationId xmlns:a16="http://schemas.microsoft.com/office/drawing/2014/main" id="{580CE835-7946-444F-8C91-4711200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run_insert.sh</a:t>
            </a:r>
          </a:p>
        </p:txBody>
      </p:sp>
      <p:sp>
        <p:nvSpPr>
          <p:cNvPr id="49" name="stage-2-action">
            <a:extLst xmlns:a="http://schemas.openxmlformats.org/drawingml/2006/main">
              <a:ext uri="{FF2B5EF4-FFF2-40B4-BE49-F238E27FC236}">
                <a16:creationId xmlns:a16="http://schemas.microsoft.com/office/drawing/2014/main" id="{BC25253C-B7D5-4D9C-A1AB-046E7460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145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Runs Tessent insertion and exports the local-die database.</a:t>
            </a:r>
          </a:p>
        </p:txBody>
      </p:sp>
      <p:sp>
        <p:nvSpPr>
          <p:cNvPr id="50" name="stage-2-artifact-band">
            <a:extLst xmlns:a="http://schemas.openxmlformats.org/drawingml/2006/main">
              <a:ext uri="{FF2B5EF4-FFF2-40B4-BE49-F238E27FC236}">
                <a16:creationId xmlns:a16="http://schemas.microsoft.com/office/drawing/2014/main" id="{70E69BC5-318C-46B7-A007-06195EF7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1D4C3"/>
            </a:solidFill>
            <a:prstDash val="solid"/>
          </a:ln>
        </p:spPr>
      </p:sp>
      <p:sp>
        <p:nvSpPr>
          <p:cNvPr id="51" name="stage-2-artifact-label">
            <a:extLst xmlns:a="http://schemas.openxmlformats.org/drawingml/2006/main">
              <a:ext uri="{FF2B5EF4-FFF2-40B4-BE49-F238E27FC236}">
                <a16:creationId xmlns:a16="http://schemas.microsoft.com/office/drawing/2014/main" id="{E2F00E17-EDE9-4C70-A699-FC607C3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479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52" name="stage-2-artifact">
            <a:extLst xmlns:a="http://schemas.openxmlformats.org/drawingml/2006/main">
              <a:ext uri="{FF2B5EF4-FFF2-40B4-BE49-F238E27FC236}">
                <a16:creationId xmlns:a16="http://schemas.microsoft.com/office/drawing/2014/main" id="{30C75105-8F89-420C-8EB3-6A414DE1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4797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55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dft_inserted.v — inserted RTL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design.icl / dft.tsdb — access DB</a:t>
            </a:r>
          </a:p>
        </p:txBody>
      </p:sp>
      <p:sp>
        <p:nvSpPr>
          <p:cNvPr id="53" name="stage-3-frame">
            <a:extLst xmlns:a="http://schemas.openxmlformats.org/drawingml/2006/main">
              <a:ext uri="{FF2B5EF4-FFF2-40B4-BE49-F238E27FC236}">
                <a16:creationId xmlns:a16="http://schemas.microsoft.com/office/drawing/2014/main" id="{3D5E7C3E-8E41-4A3C-9A1B-D09550FE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514600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B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stage-3-header">
            <a:extLst xmlns:a="http://schemas.openxmlformats.org/drawingml/2006/main">
              <a:ext uri="{FF2B5EF4-FFF2-40B4-BE49-F238E27FC236}">
                <a16:creationId xmlns:a16="http://schemas.microsoft.com/office/drawing/2014/main" id="{B39CFD62-39B9-48A7-8813-04AB0CC0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9C"/>
          </a:solidFill>
          <a:ln xmlns:a="http://schemas.openxmlformats.org/drawingml/2006/main" w="0">
            <a:solidFill>
              <a:srgbClr val="0B629C"/>
            </a:solidFill>
            <a:prstDash val="solid"/>
          </a:ln>
        </p:spPr>
      </p:sp>
      <p:sp>
        <p:nvSpPr>
          <p:cNvPr id="55" name="stage-3-number-block">
            <a:extLst xmlns:a="http://schemas.openxmlformats.org/drawingml/2006/main">
              <a:ext uri="{FF2B5EF4-FFF2-40B4-BE49-F238E27FC236}">
                <a16:creationId xmlns:a16="http://schemas.microsoft.com/office/drawing/2014/main" id="{1C800CBA-4545-4552-ABF0-776FFED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C5E"/>
          </a:solidFill>
          <a:ln xmlns:a="http://schemas.openxmlformats.org/drawingml/2006/main" w="0">
            <a:solidFill>
              <a:srgbClr val="103C5E"/>
            </a:solidFill>
            <a:prstDash val="solid"/>
          </a:ln>
        </p:spPr>
      </p:sp>
      <p:sp>
        <p:nvSpPr>
          <p:cNvPr id="56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1236FACB-C5FD-4149-B604-BE81474F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7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21E7C3C6-E20F-4CE4-842F-3EA261F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 ICL</a:t>
            </a:r>
          </a:p>
        </p:txBody>
      </p:sp>
      <p:sp>
        <p:nvSpPr>
          <p:cNvPr id="58" name="stage-3-script">
            <a:extLst xmlns:a="http://schemas.openxmlformats.org/drawingml/2006/main">
              <a:ext uri="{FF2B5EF4-FFF2-40B4-BE49-F238E27FC236}">
                <a16:creationId xmlns:a16="http://schemas.microsoft.com/office/drawing/2014/main" id="{5D9AEA7D-CCE2-44F6-ACC3-D0E905B8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parse_icl.py</a:t>
            </a:r>
          </a:p>
        </p:txBody>
      </p:sp>
      <p:sp>
        <p:nvSpPr>
          <p:cNvPr id="59" name="stage-3-action">
            <a:extLst xmlns:a="http://schemas.openxmlformats.org/drawingml/2006/main">
              <a:ext uri="{FF2B5EF4-FFF2-40B4-BE49-F238E27FC236}">
                <a16:creationId xmlns:a16="http://schemas.microsoft.com/office/drawing/2014/main" id="{6B62DB75-AC55-4FC1-9504-C6E50EC7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145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Finds instruments and builds the retarget context.</a:t>
            </a:r>
          </a:p>
        </p:txBody>
      </p:sp>
      <p:sp>
        <p:nvSpPr>
          <p:cNvPr id="60" name="stage-3-artifact-band">
            <a:extLst xmlns:a="http://schemas.openxmlformats.org/drawingml/2006/main">
              <a:ext uri="{FF2B5EF4-FFF2-40B4-BE49-F238E27FC236}">
                <a16:creationId xmlns:a16="http://schemas.microsoft.com/office/drawing/2014/main" id="{9ADDCDE5-D559-4205-B688-100B5EB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1D4C3"/>
            </a:solidFill>
            <a:prstDash val="solid"/>
          </a:ln>
        </p:spPr>
      </p:sp>
      <p:sp>
        <p:nvSpPr>
          <p:cNvPr id="61" name="stage-3-artifact-label">
            <a:extLst xmlns:a="http://schemas.openxmlformats.org/drawingml/2006/main">
              <a:ext uri="{FF2B5EF4-FFF2-40B4-BE49-F238E27FC236}">
                <a16:creationId xmlns:a16="http://schemas.microsoft.com/office/drawing/2014/main" id="{E2E09D39-3C70-41CF-80E6-32A05C41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62" name="stage-3-artifact">
            <a:extLst xmlns:a="http://schemas.openxmlformats.org/drawingml/2006/main">
              <a:ext uri="{FF2B5EF4-FFF2-40B4-BE49-F238E27FC236}">
                <a16:creationId xmlns:a16="http://schemas.microsoft.com/office/drawing/2014/main" id="{AD54FDC4-CA01-47AB-BAD1-6155223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47975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retarget_vars.tcl — setup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retarget_info.txt — paths</a:t>
            </a:r>
          </a:p>
        </p:txBody>
      </p:sp>
      <p:sp>
        <p:nvSpPr>
          <p:cNvPr id="63" name="stage-4-frame">
            <a:extLst xmlns:a="http://schemas.openxmlformats.org/drawingml/2006/main">
              <a:ext uri="{FF2B5EF4-FFF2-40B4-BE49-F238E27FC236}">
                <a16:creationId xmlns:a16="http://schemas.microsoft.com/office/drawing/2014/main" id="{1FD00EF0-A55A-48B0-897C-78B469F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514600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B6C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4" name="stage-4-header">
            <a:extLst xmlns:a="http://schemas.openxmlformats.org/drawingml/2006/main">
              <a:ext uri="{FF2B5EF4-FFF2-40B4-BE49-F238E27FC236}">
                <a16:creationId xmlns:a16="http://schemas.microsoft.com/office/drawing/2014/main" id="{948B44AC-40AC-45D3-BE52-82F9071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29C"/>
          </a:solidFill>
          <a:ln xmlns:a="http://schemas.openxmlformats.org/drawingml/2006/main" w="0">
            <a:solidFill>
              <a:srgbClr val="0B629C"/>
            </a:solidFill>
            <a:prstDash val="solid"/>
          </a:ln>
        </p:spPr>
      </p:sp>
      <p:sp>
        <p:nvSpPr>
          <p:cNvPr id="65" name="stage-4-number-block">
            <a:extLst xmlns:a="http://schemas.openxmlformats.org/drawingml/2006/main">
              <a:ext uri="{FF2B5EF4-FFF2-40B4-BE49-F238E27FC236}">
                <a16:creationId xmlns:a16="http://schemas.microsoft.com/office/drawing/2014/main" id="{20BBDD99-8560-4386-ADD1-B1AF7CB8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C5E"/>
          </a:solidFill>
          <a:ln xmlns:a="http://schemas.openxmlformats.org/drawingml/2006/main" w="0">
            <a:solidFill>
              <a:srgbClr val="103C5E"/>
            </a:solidFill>
            <a:prstDash val="solid"/>
          </a:ln>
        </p:spPr>
      </p:sp>
      <p:sp>
        <p:nvSpPr>
          <p:cNvPr id="66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F5F7A407-A29B-4676-BACF-AF08C72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7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EF334953-6354-4E2B-9B43-823C2AA2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68" name="stage-4-script">
            <a:extLst xmlns:a="http://schemas.openxmlformats.org/drawingml/2006/main">
              <a:ext uri="{FF2B5EF4-FFF2-40B4-BE49-F238E27FC236}">
                <a16:creationId xmlns:a16="http://schemas.microsoft.com/office/drawing/2014/main" id="{63EEC33F-D8A4-49F8-BA0B-5EF01DE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7197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run_retarget.tcl</a:t>
            </a:r>
          </a:p>
        </p:txBody>
      </p:sp>
      <p:sp>
        <p:nvSpPr>
          <p:cNvPr id="69" name="stage-4-action">
            <a:extLst xmlns:a="http://schemas.openxmlformats.org/drawingml/2006/main">
              <a:ext uri="{FF2B5EF4-FFF2-40B4-BE49-F238E27FC236}">
                <a16:creationId xmlns:a16="http://schemas.microsoft.com/office/drawing/2014/main" id="{BBAF8459-EFEA-4965-972C-D8BE696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Generates access and STAP-routing patterns.</a:t>
            </a:r>
          </a:p>
        </p:txBody>
      </p:sp>
      <p:sp>
        <p:nvSpPr>
          <p:cNvPr id="70" name="stage-4-artifact-band">
            <a:extLst xmlns:a="http://schemas.openxmlformats.org/drawingml/2006/main">
              <a:ext uri="{FF2B5EF4-FFF2-40B4-BE49-F238E27FC236}">
                <a16:creationId xmlns:a16="http://schemas.microsoft.com/office/drawing/2014/main" id="{A070D911-88B5-47DD-93D5-A473EDDC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2442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1D4C3"/>
            </a:solidFill>
            <a:prstDash val="solid"/>
          </a:ln>
        </p:spPr>
      </p:sp>
      <p:sp>
        <p:nvSpPr>
          <p:cNvPr id="71" name="stage-4-artifact-label">
            <a:extLst xmlns:a="http://schemas.openxmlformats.org/drawingml/2006/main">
              <a:ext uri="{FF2B5EF4-FFF2-40B4-BE49-F238E27FC236}">
                <a16:creationId xmlns:a16="http://schemas.microsoft.com/office/drawing/2014/main" id="{0B51A057-6BCC-4D43-9B07-E68B4435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244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72" name="stage-4-artifact">
            <a:extLst xmlns:a="http://schemas.openxmlformats.org/drawingml/2006/main">
              <a:ext uri="{FF2B5EF4-FFF2-40B4-BE49-F238E27FC236}">
                <a16:creationId xmlns:a16="http://schemas.microsoft.com/office/drawing/2014/main" id="{B0C60F72-A9C8-4ED2-95F9-D8C2FC23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2445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55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local_patterns.v — VCS pattern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STAP / PDL — route + operations</a:t>
            </a:r>
          </a:p>
        </p:txBody>
      </p:sp>
      <p:sp>
        <p:nvSpPr>
          <p:cNvPr id="73" name="stage-5-frame">
            <a:extLst xmlns:a="http://schemas.openxmlformats.org/drawingml/2006/main">
              <a:ext uri="{FF2B5EF4-FFF2-40B4-BE49-F238E27FC236}">
                <a16:creationId xmlns:a16="http://schemas.microsoft.com/office/drawing/2014/main" id="{2EEBCDF9-5FB0-4106-B422-4C6F3585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57625"/>
            <a:ext cx="2514600" cy="1685925"/>
          </a:xfrm>
          <a:prstGeom xmlns:a="http://schemas.openxmlformats.org/drawingml/2006/main" prst="roundRect">
            <a:avLst>
              <a:gd name="adj" fmla="val 565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 w="14288">
            <a:solidFill>
              <a:srgbClr val="87BB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stage-5-header">
            <a:extLst xmlns:a="http://schemas.openxmlformats.org/drawingml/2006/main">
              <a:ext uri="{FF2B5EF4-FFF2-40B4-BE49-F238E27FC236}">
                <a16:creationId xmlns:a16="http://schemas.microsoft.com/office/drawing/2014/main" id="{BC7541CE-5900-491E-926F-ADF9FF73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57625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50"/>
          </a:solidFill>
          <a:ln xmlns:a="http://schemas.openxmlformats.org/drawingml/2006/main" w="0">
            <a:solidFill>
              <a:srgbClr val="146B50"/>
            </a:solidFill>
            <a:prstDash val="solid"/>
          </a:ln>
        </p:spPr>
      </p:sp>
      <p:sp>
        <p:nvSpPr>
          <p:cNvPr id="75" name="stage-5-number-block">
            <a:extLst xmlns:a="http://schemas.openxmlformats.org/drawingml/2006/main">
              <a:ext uri="{FF2B5EF4-FFF2-40B4-BE49-F238E27FC236}">
                <a16:creationId xmlns:a16="http://schemas.microsoft.com/office/drawing/2014/main" id="{261712F2-0CBF-4E9A-A83D-B66117C3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57625"/>
            <a:ext cx="47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26F"/>
          </a:solidFill>
          <a:ln xmlns:a="http://schemas.openxmlformats.org/drawingml/2006/main" w="0">
            <a:solidFill>
              <a:srgbClr val="20926F"/>
            </a:solidFill>
            <a:prstDash val="solid"/>
          </a:ln>
        </p:spPr>
      </p:sp>
      <p:sp>
        <p:nvSpPr>
          <p:cNvPr id="76" name="stage-5-number">
            <a:extLst xmlns:a="http://schemas.openxmlformats.org/drawingml/2006/main">
              <a:ext uri="{FF2B5EF4-FFF2-40B4-BE49-F238E27FC236}">
                <a16:creationId xmlns:a16="http://schemas.microsoft.com/office/drawing/2014/main" id="{056667F9-6AB5-428C-A180-FECB4898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57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7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5134DDFF-C4C5-4E09-ABDA-0EBF2DE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78" name="stage-5-script">
            <a:extLst xmlns:a="http://schemas.openxmlformats.org/drawingml/2006/main">
              <a:ext uri="{FF2B5EF4-FFF2-40B4-BE49-F238E27FC236}">
                <a16:creationId xmlns:a16="http://schemas.microsoft.com/office/drawing/2014/main" id="{BEFAF0BE-6E08-4C23-8EE4-4485F3C7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71975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92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run_sim.sh</a:t>
            </a:r>
          </a:p>
        </p:txBody>
      </p:sp>
      <p:sp>
        <p:nvSpPr>
          <p:cNvPr id="79" name="stage-5-action">
            <a:extLst xmlns:a="http://schemas.openxmlformats.org/drawingml/2006/main">
              <a:ext uri="{FF2B5EF4-FFF2-40B4-BE49-F238E27FC236}">
                <a16:creationId xmlns:a16="http://schemas.microsoft.com/office/drawing/2014/main" id="{52602D19-5DF5-4DFB-8447-B734AC91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Runs VCS and checks the serial-access waveform.</a:t>
            </a:r>
          </a:p>
        </p:txBody>
      </p:sp>
      <p:sp>
        <p:nvSpPr>
          <p:cNvPr id="80" name="stage-5-artifact-band">
            <a:extLst xmlns:a="http://schemas.openxmlformats.org/drawingml/2006/main">
              <a:ext uri="{FF2B5EF4-FFF2-40B4-BE49-F238E27FC236}">
                <a16:creationId xmlns:a16="http://schemas.microsoft.com/office/drawing/2014/main" id="{25C5F54A-BBA5-487B-9122-EC2F87E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24425"/>
            <a:ext cx="251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1D4C3"/>
            </a:solidFill>
            <a:prstDash val="solid"/>
          </a:ln>
        </p:spPr>
      </p:sp>
      <p:sp>
        <p:nvSpPr>
          <p:cNvPr id="81" name="stage-5-artifact-label">
            <a:extLst xmlns:a="http://schemas.openxmlformats.org/drawingml/2006/main">
              <a:ext uri="{FF2B5EF4-FFF2-40B4-BE49-F238E27FC236}">
                <a16:creationId xmlns:a16="http://schemas.microsoft.com/office/drawing/2014/main" id="{C1958274-B99F-4316-B6E4-B27BD0D4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2442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2" name="stage-5-artifact">
            <a:extLst xmlns:a="http://schemas.openxmlformats.org/drawingml/2006/main">
              <a:ext uri="{FF2B5EF4-FFF2-40B4-BE49-F238E27FC236}">
                <a16:creationId xmlns:a16="http://schemas.microsoft.com/office/drawing/2014/main" id="{DFCE4B34-0C32-4950-9EBB-33360EDE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24450"/>
            <a:ext cx="2247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55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sim.log / waveform DB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PASS / FAIL — data check</a:t>
            </a:r>
          </a:p>
        </p:txBody>
      </p:sp>
      <p:sp>
        <p:nvSpPr>
          <p:cNvPr id="83" name="signoff-frame">
            <a:extLst xmlns:a="http://schemas.openxmlformats.org/drawingml/2006/main">
              <a:ext uri="{FF2B5EF4-FFF2-40B4-BE49-F238E27FC236}">
                <a16:creationId xmlns:a16="http://schemas.microsoft.com/office/drawing/2014/main" id="{5AD024CC-6592-4B7D-95C6-151E072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2514600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0">
            <a:solidFill>
              <a:srgbClr val="0A22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4" name="signoff-accent">
            <a:extLst xmlns:a="http://schemas.openxmlformats.org/drawingml/2006/main">
              <a:ext uri="{FF2B5EF4-FFF2-40B4-BE49-F238E27FC236}">
                <a16:creationId xmlns:a16="http://schemas.microsoft.com/office/drawing/2014/main" id="{3E9AFA6B-FF81-4945-8E6F-82991FC3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57625"/>
            <a:ext cx="6667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26F"/>
          </a:solidFill>
          <a:ln xmlns:a="http://schemas.openxmlformats.org/drawingml/2006/main" w="0">
            <a:solidFill>
              <a:srgbClr val="20926F"/>
            </a:solidFill>
            <a:prstDash val="solid"/>
          </a:ln>
        </p:spPr>
      </p:sp>
      <p:sp>
        <p:nvSpPr>
          <p:cNvPr id="85" name="signoff-check-circle">
            <a:extLst xmlns:a="http://schemas.openxmlformats.org/drawingml/2006/main">
              <a:ext uri="{FF2B5EF4-FFF2-40B4-BE49-F238E27FC236}">
                <a16:creationId xmlns:a16="http://schemas.microsoft.com/office/drawing/2014/main" id="{7F3621F3-5EF8-44A8-9DF6-17641EF8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57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926F"/>
          </a:solidFill>
          <a:ln xmlns:a="http://schemas.openxmlformats.org/drawingml/2006/main" w="0">
            <a:solidFill>
              <a:srgbClr val="20926F"/>
            </a:solidFill>
            <a:prstDash val="solid"/>
          </a:ln>
        </p:spPr>
      </p:sp>
      <p:sp>
        <p:nvSpPr>
          <p:cNvPr id="86" name="signoff-check">
            <a:extLst xmlns:a="http://schemas.openxmlformats.org/drawingml/2006/main">
              <a:ext uri="{FF2B5EF4-FFF2-40B4-BE49-F238E27FC236}">
                <a16:creationId xmlns:a16="http://schemas.microsoft.com/office/drawing/2014/main" id="{6BEF80B2-E759-4E10-BBB0-C6EE2B04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10025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7" name="signoff-eyebrow">
            <a:extLst xmlns:a="http://schemas.openxmlformats.org/drawingml/2006/main">
              <a:ext uri="{FF2B5EF4-FFF2-40B4-BE49-F238E27FC236}">
                <a16:creationId xmlns:a16="http://schemas.microsoft.com/office/drawing/2014/main" id="{6B0DF11E-8015-4C03-8FAD-406A21B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29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FC8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8DA"/>
                </a:solidFill>
                <a:latin typeface="Arial"/>
                <a:ea typeface="Arial"/>
                <a:cs typeface="Arial"/>
              </a:rPr>
              <a:t>LOCAL-DIE RESULT</a:t>
            </a:r>
          </a:p>
        </p:txBody>
      </p:sp>
      <p:sp>
        <p:nvSpPr>
          <p:cNvPr id="88" name="signoff-title">
            <a:extLst xmlns:a="http://schemas.openxmlformats.org/drawingml/2006/main">
              <a:ext uri="{FF2B5EF4-FFF2-40B4-BE49-F238E27FC236}">
                <a16:creationId xmlns:a16="http://schemas.microsoft.com/office/drawing/2014/main" id="{D4666986-556D-45D7-AACD-A9329D10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19575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VCS PATTERN</a:t>
            </a:r>
          </a:p>
          <a:p xmlns:a="http://schemas.openxmlformats.org/drawingml/2006/main">
            <a:pPr algn="l">
              <a:buNone/>
              <a:defRPr sz="17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89" name="signoff-rule">
            <a:extLst xmlns:a="http://schemas.openxmlformats.org/drawingml/2006/main">
              <a:ext uri="{FF2B5EF4-FFF2-40B4-BE49-F238E27FC236}">
                <a16:creationId xmlns:a16="http://schemas.microsoft.com/office/drawing/2014/main" id="{B2529435-945C-401C-9F1F-9F8A9C4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24425"/>
            <a:ext cx="2171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6F"/>
          </a:solidFill>
          <a:ln xmlns:a="http://schemas.openxmlformats.org/drawingml/2006/main" w="0">
            <a:solidFill>
              <a:srgbClr val="36566F"/>
            </a:solidFill>
            <a:prstDash val="solid"/>
          </a:ln>
        </p:spPr>
      </p:sp>
      <p:sp>
        <p:nvSpPr>
          <p:cNvPr id="90" name="signoff-evidence">
            <a:extLst xmlns:a="http://schemas.openxmlformats.org/drawingml/2006/main">
              <a:ext uri="{FF2B5EF4-FFF2-40B4-BE49-F238E27FC236}">
                <a16:creationId xmlns:a16="http://schemas.microsoft.com/office/drawing/2014/main" id="{30FA6510-7EF7-4A14-ABAF-1B788AE8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0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F0F7"/>
                </a:solidFill>
                <a:latin typeface="Arial"/>
                <a:ea typeface="Arial"/>
                <a:cs typeface="Arial"/>
              </a:rPr>
              <a:t>retargeted pattern executes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E7F0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F0F7"/>
                </a:solidFill>
                <a:latin typeface="Arial"/>
                <a:ea typeface="Arial"/>
                <a:cs typeface="Arial"/>
              </a:rPr>
              <a:t>waveform checked  ·  verdict recorded</a:t>
            </a:r>
          </a:p>
        </p:txBody>
      </p:sp>
      <p:sp>
        <p:nvSpPr>
          <p:cNvPr id="91" name="contribution-bar">
            <a:extLst xmlns:a="http://schemas.openxmlformats.org/drawingml/2006/main">
              <a:ext uri="{FF2B5EF4-FFF2-40B4-BE49-F238E27FC236}">
                <a16:creationId xmlns:a16="http://schemas.microsoft.com/office/drawing/2014/main" id="{6791A39A-D0D4-4893-A6DE-1C24D4A7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0">
            <a:solidFill>
              <a:srgbClr val="0A2238"/>
            </a:solidFill>
            <a:prstDash val="solid"/>
          </a:ln>
        </p:spPr>
      </p:sp>
      <p:sp>
        <p:nvSpPr>
          <p:cNvPr id="92" name="contribution-accent">
            <a:extLst xmlns:a="http://schemas.openxmlformats.org/drawingml/2006/main">
              <a:ext uri="{FF2B5EF4-FFF2-40B4-BE49-F238E27FC236}">
                <a16:creationId xmlns:a16="http://schemas.microsoft.com/office/drawing/2014/main" id="{65410EFB-7A21-42BE-9A03-91708B05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6A21"/>
          </a:solidFill>
          <a:ln xmlns:a="http://schemas.openxmlformats.org/drawingml/2006/main" w="0">
            <a:solidFill>
              <a:srgbClr val="EE6A21"/>
            </a:solidFill>
            <a:prstDash val="solid"/>
          </a:ln>
        </p:spPr>
      </p:sp>
      <p:sp>
        <p:nvSpPr>
          <p:cNvPr id="93" name="contribution-label">
            <a:extLst xmlns:a="http://schemas.openxmlformats.org/drawingml/2006/main">
              <a:ext uri="{FF2B5EF4-FFF2-40B4-BE49-F238E27FC236}">
                <a16:creationId xmlns:a16="http://schemas.microsoft.com/office/drawing/2014/main" id="{FFF7CE49-0A2D-4301-A439-AB4FC8C6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7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A2E"/>
                </a:solidFill>
                <a:latin typeface="Arial"/>
                <a:ea typeface="Arial"/>
                <a:cs typeface="Arial"/>
              </a:rPr>
              <a:t>AUTOMATION CONTRIBUTION</a:t>
            </a:r>
          </a:p>
        </p:txBody>
      </p:sp>
      <p:sp>
        <p:nvSpPr>
          <p:cNvPr id="94" name="contribution-main">
            <a:extLst xmlns:a="http://schemas.openxmlformats.org/drawingml/2006/main">
              <a:ext uri="{FF2B5EF4-FFF2-40B4-BE49-F238E27FC236}">
                <a16:creationId xmlns:a16="http://schemas.microsoft.com/office/drawing/2014/main" id="{7921CE1E-1A27-4C29-84BD-90C8BBD6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9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DATA ENTERS ONCE — EVERY FILE HANDOFF IS GENERATED, EXPLAINED, RETARGETED AND VERIFIED.</a:t>
            </a:r>
          </a:p>
        </p:txBody>
      </p:sp>
      <p:sp>
        <p:nvSpPr>
          <p:cNvPr id="95" name="footer">
            <a:extLst xmlns:a="http://schemas.openxmlformats.org/drawingml/2006/main">
              <a:ext uri="{FF2B5EF4-FFF2-40B4-BE49-F238E27FC236}">
                <a16:creationId xmlns:a16="http://schemas.microsoft.com/office/drawing/2014/main" id="{425ED948-6B46-4F4D-837D-30780E01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BLUE = REUSABLE  |  ORANGE = GENERATED  |  GREEN = INPUT / VERIFICATION</a:t>
            </a:r>
          </a:p>
        </p:txBody>
      </p:sp>
      <p:sp>
        <p:nvSpPr>
          <p:cNvPr id="9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E45812C-12B3-40B4-B5BC-484E3B46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A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0400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C319F-A644-4708-8981-DCD783D6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 ·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634F-933A-48B0-8B31-F4ADD6BE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0CCB273-28B6-470B-B30D-30709EC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deliverable is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reusable infrastructure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—not isolated commands.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EF770-DBC8-431D-BB2A-188CEE3F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35BDC-4A17-41F2-8AC4-35894CFE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WHAT THIS PROJECT ADDS TO THE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35C6A-7B51-4C65-8E34-3F67536A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9682B-84A6-453C-A96D-3A23B245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3CC9F-27D0-4CAB-A08F-391D0B48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REUSABLE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4176C-3DB5-49CB-BF5F-BCB3846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Separates design-specific inputs from the reusable Tessent procedure.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FF11F-C7BE-42DC-A52A-7CE88B83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F7B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C02B8-05BA-475B-AAAD-096023F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01F53-0259-4E32-BC3C-280CB02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PROGRESSIVE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08AA1-9CCA-499A-9520-856A382D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Defines gates from configuration reports to stack-level simulation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3F126-5B84-4F76-A608-1D5D2413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6B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7B743-C0DE-4F06-83F6-51E5852B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16AFB-BF3A-4888-AE8C-3A8BB8C0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SCALABLE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1C75B-5503-43EB-B3F5-AB73C386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Supports different die roles, instruments, and stack structures; DWR remains the next extension.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BE41E-66B4-41DC-AE02-B4AEBEFD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CAPABILITY OWNERSHIP AND PROJECT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8F1DE-0AB3-4650-8FCC-C5B0CD52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952E6-8E33-4AE3-821F-F213F97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NEED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7A794-8F40-44DD-A1E0-51545F9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529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B3E44-19A8-4579-BFF7-EE536A60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81525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TESSENT PROVIDES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CA34F-BBF2-4386-A229-D20C6355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5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ABFBF-1E35-416C-9524-DA103F6C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81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PROJECT PROVIDES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4177FA-1D6C-4CDA-A698-E132EB1C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529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E2BAA-88A4-4CA9-9E35-E20AE147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815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15C29-89BF-4587-B339-C04B0D09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029F4-6520-4145-A0D9-24C647D9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Per-die IEEE 1687 / 1838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23F0E-B00A-4987-AFBA-5634C2D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0060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8FE56-BC38-437C-B78E-1098C018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29175"/>
            <a:ext cx="2533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Insertion / extraction commands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8D24F-FE2B-4866-8E57-DABBE328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00600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381D1-1FCC-4DE2-9072-3D04906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2917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abstraction + reusable configuration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5D00B-9E2B-404C-8D82-AC15787B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00600"/>
            <a:ext cx="1828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0E98C3-B7C5-40AC-ADAF-F8A94C4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29175"/>
            <a:ext cx="163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D3C598-A267-4D04-94B2-5D95402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3350F3-A142-467B-AF05-319F4BCC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access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A9F3FC-002A-4B5A-A26E-3F1F296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38725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697B77-69F6-4C7C-A4DB-360C0D6E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2533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import and retarget engine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1474E6-0C86-4FD8-BF23-096D67D6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3872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1AD16-FFBD-4D08-B8FD-6396F87F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67300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Unified topology + generated stack/import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A59B1A-8603-4087-8402-EC2565A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38725"/>
            <a:ext cx="1828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F8560A-97BE-4E13-8C02-01E522B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67300"/>
            <a:ext cx="163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B1D0EA-C5EC-46B4-B796-89AA35F4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EA170-FA78-4FA1-A9EF-F88DB23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05425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 link verification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7BE3E9-713E-4C53-B8D4-9A059F6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7685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C16004-9BD5-4B0C-BBD6-E600BE74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05425"/>
            <a:ext cx="2533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Wrapper and pattern capability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32FDC2-A638-4665-BFA0-B7E7B580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76850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2D68E9-7607-41D9-ABE8-CBDD657F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0542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Plan: port inventory + mapping + link result matrix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E2F212-1DE6-46D9-AE3D-F03A0A4D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76850"/>
            <a:ext cx="1828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3D7C5D-F3F0-481E-8B72-8360D0B5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05425"/>
            <a:ext cx="163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2F2C4B-4EB6-4A02-82F2-17D1B43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2343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8DE209-07F0-4B7F-AD17-930DFB2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2152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Design portability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3D8410-91E2-402D-8FD9-0EEF396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14975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906E7B-0380-4E41-B21B-1C123123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43550"/>
            <a:ext cx="2533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Execution on a supplied design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528252-8B78-490B-8D9B-7F6B6E2A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149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A16779-2DA3-42EB-9B70-77BB31FD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43550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contract + gates + regression evidence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330DE7-15CB-47E9-A6B8-7DEDB73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14975"/>
            <a:ext cx="1828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880019-4A1A-41EE-A8C9-5868E843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43550"/>
            <a:ext cx="1638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45E514-72D8-497F-A175-E49A30E1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44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Completed: per-die 1687/1838 + stack retarget/VCS. Next: complex die + DWR. ATPG excluded.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D93796-18A3-4B42-9579-D73F3B4A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B5609C-C66A-4262-AFF1-A4867C13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deliverable is a flow the team can adopt, review, hand off, and extend.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303386-C5FC-43F1-9E7A-8F7409C3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39A1E1-B25E-4302-942B-6ABCA6CB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940595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C319F-A644-4708-8981-DCD783D6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E6A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6AA6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2634F-933A-48B0-8B31-F4ADD6BE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0CCB273-28B6-470B-B30D-30709EC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00" b="1">
                <a:solidFill>
                  <a:srgbClr val="0B2A41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B2A41"/>
                </a:solidFill>
                <a:latin typeface="Arial"/>
                <a:ea typeface="Arial"/>
                <a:cs typeface="Arial"/>
              </a:rPr>
              <a:t>Next steps: complex die insertion, DWR proof, then GUI/report.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EF770-DBC8-431D-BB2A-188CEE3F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303386-C5FC-43F1-9E7A-8F7409C3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39A1E1-B25E-4302-942B-6ABCA6CB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  <p:sp>
        <p:nvSpPr>
          <p:cNvPr id="64" name="automation-boundary">
            <a:extLst xmlns:a="http://schemas.openxmlformats.org/drawingml/2006/main">
              <a:ext uri="{FF2B5EF4-FFF2-40B4-BE49-F238E27FC236}">
                <a16:creationId xmlns:a16="http://schemas.microsoft.com/office/drawing/2014/main" id="{DE4A04CA-122F-4555-95A4-DE94718D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24050"/>
          </a:xfrm>
          <a:prstGeom xmlns:a="http://schemas.openxmlformats.org/drawingml/2006/main" prst="roundRect">
            <a:avLst>
              <a:gd name="adj" fmla="val 495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0E6AA6"/>
            </a:solidFill>
            <a:prstDash val="solid"/>
          </a:ln>
        </p:spPr>
      </p:sp>
      <p:sp>
        <p:nvSpPr>
          <p:cNvPr id="65" name="automation-accent">
            <a:extLst xmlns:a="http://schemas.openxmlformats.org/drawingml/2006/main">
              <a:ext uri="{FF2B5EF4-FFF2-40B4-BE49-F238E27FC236}">
                <a16:creationId xmlns:a16="http://schemas.microsoft.com/office/drawing/2014/main" id="{9B281DCD-9884-41E8-A0CB-D800D041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71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solidFill>
              <a:srgbClr val="0E6AA6"/>
            </a:solidFill>
            <a:prstDash val="solid"/>
          </a:ln>
        </p:spPr>
      </p:sp>
      <p:sp>
        <p:nvSpPr>
          <p:cNvPr id="66" name="auto-arrow-1">
            <a:extLst xmlns:a="http://schemas.openxmlformats.org/drawingml/2006/main">
              <a:ext uri="{FF2B5EF4-FFF2-40B4-BE49-F238E27FC236}">
                <a16:creationId xmlns:a16="http://schemas.microsoft.com/office/drawing/2014/main" id="{AA609533-7F7C-4D89-9A01-8336FF5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050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auto-arrow-2">
            <a:extLst xmlns:a="http://schemas.openxmlformats.org/drawingml/2006/main">
              <a:ext uri="{FF2B5EF4-FFF2-40B4-BE49-F238E27FC236}">
                <a16:creationId xmlns:a16="http://schemas.microsoft.com/office/drawing/2014/main" id="{952E6986-86E8-48EC-B0C1-447B1617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050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auto-arrow-3">
            <a:extLst xmlns:a="http://schemas.openxmlformats.org/drawingml/2006/main">
              <a:ext uri="{FF2B5EF4-FFF2-40B4-BE49-F238E27FC236}">
                <a16:creationId xmlns:a16="http://schemas.microsoft.com/office/drawing/2014/main" id="{D76E5C5D-2BBF-43B5-8690-1626547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auto-arrow-4">
            <a:extLst xmlns:a="http://schemas.openxmlformats.org/drawingml/2006/main">
              <a:ext uri="{FF2B5EF4-FFF2-40B4-BE49-F238E27FC236}">
                <a16:creationId xmlns:a16="http://schemas.microsoft.com/office/drawing/2014/main" id="{BFBE4283-37BA-4B22-83CB-DFEAED0F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auto-arrow-5">
            <a:extLst xmlns:a="http://schemas.openxmlformats.org/drawingml/2006/main">
              <a:ext uri="{FF2B5EF4-FFF2-40B4-BE49-F238E27FC236}">
                <a16:creationId xmlns:a16="http://schemas.microsoft.com/office/drawing/2014/main" id="{9A996534-4CA6-45FC-AECE-58AAB7FB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auto-to-next">
            <a:extLst xmlns:a="http://schemas.openxmlformats.org/drawingml/2006/main">
              <a:ext uri="{FF2B5EF4-FFF2-40B4-BE49-F238E27FC236}">
                <a16:creationId xmlns:a16="http://schemas.microsoft.com/office/drawing/2014/main" id="{C223E3CB-35A5-42A3-BE51-82FDA48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4290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8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next-arrow-1">
            <a:extLst xmlns:a="http://schemas.openxmlformats.org/drawingml/2006/main">
              <a:ext uri="{FF2B5EF4-FFF2-40B4-BE49-F238E27FC236}">
                <a16:creationId xmlns:a16="http://schemas.microsoft.com/office/drawing/2014/main" id="{171BFA30-E240-430A-83F9-AF465272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29100"/>
            <a:ext cx="4762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next-arrow-2">
            <a:extLst xmlns:a="http://schemas.openxmlformats.org/drawingml/2006/main">
              <a:ext uri="{FF2B5EF4-FFF2-40B4-BE49-F238E27FC236}">
                <a16:creationId xmlns:a16="http://schemas.microsoft.com/office/drawing/2014/main" id="{EEABC359-D681-49B4-B83A-45B8F3B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29100"/>
            <a:ext cx="4762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next-arrow-3">
            <a:extLst xmlns:a="http://schemas.openxmlformats.org/drawingml/2006/main">
              <a:ext uri="{FF2B5EF4-FFF2-40B4-BE49-F238E27FC236}">
                <a16:creationId xmlns:a16="http://schemas.microsoft.com/office/drawing/2014/main" id="{AD63E5EA-322D-45D5-8B02-2BE1613D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4762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roof-to-delivery">
            <a:extLst xmlns:a="http://schemas.openxmlformats.org/drawingml/2006/main">
              <a:ext uri="{FF2B5EF4-FFF2-40B4-BE49-F238E27FC236}">
                <a16:creationId xmlns:a16="http://schemas.microsoft.com/office/drawing/2014/main" id="{D8D6FBCA-B860-473F-8AEE-71995E08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62525"/>
            <a:ext cx="342900" cy="371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45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automation-label">
            <a:extLst xmlns:a="http://schemas.openxmlformats.org/drawingml/2006/main">
              <a:ext uri="{FF2B5EF4-FFF2-40B4-BE49-F238E27FC236}">
                <a16:creationId xmlns:a16="http://schemas.microsoft.com/office/drawing/2014/main" id="{519B289D-A8AB-4D88-B02B-AB88C782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45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456D"/>
                </a:solidFill>
                <a:latin typeface="Arial"/>
                <a:ea typeface="Arial"/>
                <a:cs typeface="Arial"/>
              </a:rPr>
              <a:t>AUTOMATED BASELINE</a:t>
            </a:r>
          </a:p>
        </p:txBody>
      </p:sp>
      <p:sp>
        <p:nvSpPr>
          <p:cNvPr id="77" name="automation-summary">
            <a:extLst xmlns:a="http://schemas.openxmlformats.org/drawingml/2006/main">
              <a:ext uri="{FF2B5EF4-FFF2-40B4-BE49-F238E27FC236}">
                <a16:creationId xmlns:a16="http://schemas.microsoft.com/office/drawing/2014/main" id="{099D090C-EB3E-419D-A8D4-6CFAF44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52575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ONE CONFIGURATION → GENERATED RTL / ICL / STACK / PATTERN / CHECK</a:t>
            </a:r>
          </a:p>
        </p:txBody>
      </p:sp>
      <p:sp>
        <p:nvSpPr>
          <p:cNvPr id="78" name="done-01-card">
            <a:extLst xmlns:a="http://schemas.openxmlformats.org/drawingml/2006/main">
              <a:ext uri="{FF2B5EF4-FFF2-40B4-BE49-F238E27FC236}">
                <a16:creationId xmlns:a16="http://schemas.microsoft.com/office/drawing/2014/main" id="{039C400A-5242-4BA0-8DEA-E8BC258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600200" cy="1314450"/>
          </a:xfrm>
          <a:prstGeom xmlns:a="http://schemas.openxmlformats.org/drawingml/2006/main" prst="roundRect">
            <a:avLst>
              <a:gd name="adj" fmla="val 724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85D"/>
            </a:solidFill>
            <a:prstDash val="solid"/>
          </a:ln>
        </p:spPr>
      </p:sp>
      <p:sp>
        <p:nvSpPr>
          <p:cNvPr id="79" name="done-01-header">
            <a:extLst xmlns:a="http://schemas.openxmlformats.org/drawingml/2006/main">
              <a:ext uri="{FF2B5EF4-FFF2-40B4-BE49-F238E27FC236}">
                <a16:creationId xmlns:a16="http://schemas.microsoft.com/office/drawing/2014/main" id="{5582517C-8640-465B-8C5D-40E30BE9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6002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F684E"/>
          </a:solidFill>
          <a:ln xmlns:a="http://schemas.openxmlformats.org/drawingml/2006/main" w="9525">
            <a:solidFill>
              <a:srgbClr val="0F684E"/>
            </a:solidFill>
            <a:prstDash val="solid"/>
          </a:ln>
        </p:spPr>
      </p:sp>
      <p:sp>
        <p:nvSpPr>
          <p:cNvPr id="80" name="done-01-number">
            <a:extLst xmlns:a="http://schemas.openxmlformats.org/drawingml/2006/main">
              <a:ext uri="{FF2B5EF4-FFF2-40B4-BE49-F238E27FC236}">
                <a16:creationId xmlns:a16="http://schemas.microsoft.com/office/drawing/2014/main" id="{6B971605-3FD2-48C3-82C2-18C75BCA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1" name="done-01-title">
            <a:extLst xmlns:a="http://schemas.openxmlformats.org/drawingml/2006/main">
              <a:ext uri="{FF2B5EF4-FFF2-40B4-BE49-F238E27FC236}">
                <a16:creationId xmlns:a16="http://schemas.microsoft.com/office/drawing/2014/main" id="{FC80FBB1-21D6-41BF-A303-B567C48C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24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CONTRACT</a:t>
            </a:r>
          </a:p>
        </p:txBody>
      </p:sp>
      <p:sp>
        <p:nvSpPr>
          <p:cNvPr id="82" name="done-01-body">
            <a:extLst xmlns:a="http://schemas.openxmlformats.org/drawingml/2006/main">
              <a:ext uri="{FF2B5EF4-FFF2-40B4-BE49-F238E27FC236}">
                <a16:creationId xmlns:a16="http://schemas.microsoft.com/office/drawing/2014/main" id="{9E56F214-7474-4A2E-A54B-C23D21FC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manifest fields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Python pre-check</a:t>
            </a:r>
          </a:p>
        </p:txBody>
      </p:sp>
      <p:sp>
        <p:nvSpPr>
          <p:cNvPr id="83" name="done-01-check">
            <a:extLst xmlns:a="http://schemas.openxmlformats.org/drawingml/2006/main">
              <a:ext uri="{FF2B5EF4-FFF2-40B4-BE49-F238E27FC236}">
                <a16:creationId xmlns:a16="http://schemas.microsoft.com/office/drawing/2014/main" id="{F7AC820B-BE7E-42FB-A1A0-8F84400D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4" name="done-02-card">
            <a:extLst xmlns:a="http://schemas.openxmlformats.org/drawingml/2006/main">
              <a:ext uri="{FF2B5EF4-FFF2-40B4-BE49-F238E27FC236}">
                <a16:creationId xmlns:a16="http://schemas.microsoft.com/office/drawing/2014/main" id="{196970BC-8D3B-4880-B7A0-09925529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66900"/>
            <a:ext cx="1600200" cy="1314450"/>
          </a:xfrm>
          <a:prstGeom xmlns:a="http://schemas.openxmlformats.org/drawingml/2006/main" prst="roundRect">
            <a:avLst>
              <a:gd name="adj" fmla="val 724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85D"/>
            </a:solidFill>
            <a:prstDash val="solid"/>
          </a:ln>
        </p:spPr>
      </p:sp>
      <p:sp>
        <p:nvSpPr>
          <p:cNvPr id="85" name="done-02-header">
            <a:extLst xmlns:a="http://schemas.openxmlformats.org/drawingml/2006/main">
              <a:ext uri="{FF2B5EF4-FFF2-40B4-BE49-F238E27FC236}">
                <a16:creationId xmlns:a16="http://schemas.microsoft.com/office/drawing/2014/main" id="{2057DF23-5991-4590-8EFA-971762D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66900"/>
            <a:ext cx="16002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F684E"/>
          </a:solidFill>
          <a:ln xmlns:a="http://schemas.openxmlformats.org/drawingml/2006/main" w="9525">
            <a:solidFill>
              <a:srgbClr val="0F684E"/>
            </a:solidFill>
            <a:prstDash val="solid"/>
          </a:ln>
        </p:spPr>
      </p:sp>
      <p:sp>
        <p:nvSpPr>
          <p:cNvPr id="86" name="done-02-number">
            <a:extLst xmlns:a="http://schemas.openxmlformats.org/drawingml/2006/main">
              <a:ext uri="{FF2B5EF4-FFF2-40B4-BE49-F238E27FC236}">
                <a16:creationId xmlns:a16="http://schemas.microsoft.com/office/drawing/2014/main" id="{263D2DCC-940F-46C8-AF3E-A9EDC76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7" name="done-02-title">
            <a:extLst xmlns:a="http://schemas.openxmlformats.org/drawingml/2006/main">
              <a:ext uri="{FF2B5EF4-FFF2-40B4-BE49-F238E27FC236}">
                <a16:creationId xmlns:a16="http://schemas.microsoft.com/office/drawing/2014/main" id="{606A1165-2FA0-481B-9ECD-CD02978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24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8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DFT CONFIG</a:t>
            </a:r>
          </a:p>
        </p:txBody>
      </p:sp>
      <p:sp>
        <p:nvSpPr>
          <p:cNvPr id="88" name="done-02-body">
            <a:extLst xmlns:a="http://schemas.openxmlformats.org/drawingml/2006/main">
              <a:ext uri="{FF2B5EF4-FFF2-40B4-BE49-F238E27FC236}">
                <a16:creationId xmlns:a16="http://schemas.microsoft.com/office/drawing/2014/main" id="{9BA78B72-F2ED-48BA-97F9-DB466514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config Tcl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validated host setup</a:t>
            </a:r>
          </a:p>
        </p:txBody>
      </p:sp>
      <p:sp>
        <p:nvSpPr>
          <p:cNvPr id="89" name="done-02-check">
            <a:extLst xmlns:a="http://schemas.openxmlformats.org/drawingml/2006/main">
              <a:ext uri="{FF2B5EF4-FFF2-40B4-BE49-F238E27FC236}">
                <a16:creationId xmlns:a16="http://schemas.microsoft.com/office/drawing/2014/main" id="{C11A7016-5530-4DCD-965F-9BF65529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0" name="done-03-card">
            <a:extLst xmlns:a="http://schemas.openxmlformats.org/drawingml/2006/main">
              <a:ext uri="{FF2B5EF4-FFF2-40B4-BE49-F238E27FC236}">
                <a16:creationId xmlns:a16="http://schemas.microsoft.com/office/drawing/2014/main" id="{07D0258E-F84B-4524-87AB-F056A6E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1600200" cy="1314450"/>
          </a:xfrm>
          <a:prstGeom xmlns:a="http://schemas.openxmlformats.org/drawingml/2006/main" prst="roundRect">
            <a:avLst>
              <a:gd name="adj" fmla="val 724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85D"/>
            </a:solidFill>
            <a:prstDash val="solid"/>
          </a:ln>
        </p:spPr>
      </p:sp>
      <p:sp>
        <p:nvSpPr>
          <p:cNvPr id="91" name="done-03-header">
            <a:extLst xmlns:a="http://schemas.openxmlformats.org/drawingml/2006/main">
              <a:ext uri="{FF2B5EF4-FFF2-40B4-BE49-F238E27FC236}">
                <a16:creationId xmlns:a16="http://schemas.microsoft.com/office/drawing/2014/main" id="{48B3FDFA-61D8-4D18-AB80-E9B1C1C2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16002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F684E"/>
          </a:solidFill>
          <a:ln xmlns:a="http://schemas.openxmlformats.org/drawingml/2006/main" w="9525">
            <a:solidFill>
              <a:srgbClr val="0F684E"/>
            </a:solidFill>
            <a:prstDash val="solid"/>
          </a:ln>
        </p:spPr>
      </p:sp>
      <p:sp>
        <p:nvSpPr>
          <p:cNvPr id="92" name="done-03-number">
            <a:extLst xmlns:a="http://schemas.openxmlformats.org/drawingml/2006/main">
              <a:ext uri="{FF2B5EF4-FFF2-40B4-BE49-F238E27FC236}">
                <a16:creationId xmlns:a16="http://schemas.microsoft.com/office/drawing/2014/main" id="{042DD726-9402-4B04-B499-BC153360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3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3" name="done-03-title">
            <a:extLst xmlns:a="http://schemas.openxmlformats.org/drawingml/2006/main">
              <a:ext uri="{FF2B5EF4-FFF2-40B4-BE49-F238E27FC236}">
                <a16:creationId xmlns:a16="http://schemas.microsoft.com/office/drawing/2014/main" id="{8EA459AA-A75E-4C39-9E7F-3FA545F1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24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PER-DIE INSERT</a:t>
            </a:r>
          </a:p>
        </p:txBody>
      </p:sp>
      <p:sp>
        <p:nvSpPr>
          <p:cNvPr id="94" name="done-03-body">
            <a:extLst xmlns:a="http://schemas.openxmlformats.org/drawingml/2006/main">
              <a:ext uri="{FF2B5EF4-FFF2-40B4-BE49-F238E27FC236}">
                <a16:creationId xmlns:a16="http://schemas.microsoft.com/office/drawing/2014/main" id="{ECD56D2A-7D74-4A36-8A0F-A1BED9E5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post-DFT RTL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per-die TSDB</a:t>
            </a:r>
          </a:p>
        </p:txBody>
      </p:sp>
      <p:sp>
        <p:nvSpPr>
          <p:cNvPr id="95" name="done-03-check">
            <a:extLst xmlns:a="http://schemas.openxmlformats.org/drawingml/2006/main">
              <a:ext uri="{FF2B5EF4-FFF2-40B4-BE49-F238E27FC236}">
                <a16:creationId xmlns:a16="http://schemas.microsoft.com/office/drawing/2014/main" id="{7220C8BD-0A39-413D-BCCE-40C5C90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6" name="done-04-card">
            <a:extLst xmlns:a="http://schemas.openxmlformats.org/drawingml/2006/main">
              <a:ext uri="{FF2B5EF4-FFF2-40B4-BE49-F238E27FC236}">
                <a16:creationId xmlns:a16="http://schemas.microsoft.com/office/drawing/2014/main" id="{461D82E5-330F-4CC2-A422-637E9DF8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1600200" cy="1314450"/>
          </a:xfrm>
          <a:prstGeom xmlns:a="http://schemas.openxmlformats.org/drawingml/2006/main" prst="roundRect">
            <a:avLst>
              <a:gd name="adj" fmla="val 724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85D"/>
            </a:solidFill>
            <a:prstDash val="solid"/>
          </a:ln>
        </p:spPr>
      </p:sp>
      <p:sp>
        <p:nvSpPr>
          <p:cNvPr id="97" name="done-04-header">
            <a:extLst xmlns:a="http://schemas.openxmlformats.org/drawingml/2006/main">
              <a:ext uri="{FF2B5EF4-FFF2-40B4-BE49-F238E27FC236}">
                <a16:creationId xmlns:a16="http://schemas.microsoft.com/office/drawing/2014/main" id="{6A99FA6A-BD85-40AE-AF5F-45AA3DDF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16002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F684E"/>
          </a:solidFill>
          <a:ln xmlns:a="http://schemas.openxmlformats.org/drawingml/2006/main" w="9525">
            <a:solidFill>
              <a:srgbClr val="0F684E"/>
            </a:solidFill>
            <a:prstDash val="solid"/>
          </a:ln>
        </p:spPr>
      </p:sp>
      <p:sp>
        <p:nvSpPr>
          <p:cNvPr id="98" name="done-04-number">
            <a:extLst xmlns:a="http://schemas.openxmlformats.org/drawingml/2006/main">
              <a:ext uri="{FF2B5EF4-FFF2-40B4-BE49-F238E27FC236}">
                <a16:creationId xmlns:a16="http://schemas.microsoft.com/office/drawing/2014/main" id="{4C99DDFF-8A7E-4606-9D67-49FC78D5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9" name="done-04-title">
            <a:extLst xmlns:a="http://schemas.openxmlformats.org/drawingml/2006/main">
              <a:ext uri="{FF2B5EF4-FFF2-40B4-BE49-F238E27FC236}">
                <a16:creationId xmlns:a16="http://schemas.microsoft.com/office/drawing/2014/main" id="{1FFCA809-9E9F-402E-8D4D-F4D8489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24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5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ICL EXTRACT</a:t>
            </a:r>
          </a:p>
        </p:txBody>
      </p:sp>
      <p:sp>
        <p:nvSpPr>
          <p:cNvPr id="100" name="done-04-body">
            <a:extLst xmlns:a="http://schemas.openxmlformats.org/drawingml/2006/main">
              <a:ext uri="{FF2B5EF4-FFF2-40B4-BE49-F238E27FC236}">
                <a16:creationId xmlns:a16="http://schemas.microsoft.com/office/drawing/2014/main" id="{CE804AC3-F78E-4971-B6CF-644D6A6E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die.icl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resolved access paths</a:t>
            </a:r>
          </a:p>
        </p:txBody>
      </p:sp>
      <p:sp>
        <p:nvSpPr>
          <p:cNvPr id="101" name="done-04-check">
            <a:extLst xmlns:a="http://schemas.openxmlformats.org/drawingml/2006/main">
              <a:ext uri="{FF2B5EF4-FFF2-40B4-BE49-F238E27FC236}">
                <a16:creationId xmlns:a16="http://schemas.microsoft.com/office/drawing/2014/main" id="{F755641B-5461-40EA-A63C-F96158EC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2" name="done-05-card">
            <a:extLst xmlns:a="http://schemas.openxmlformats.org/drawingml/2006/main">
              <a:ext uri="{FF2B5EF4-FFF2-40B4-BE49-F238E27FC236}">
                <a16:creationId xmlns:a16="http://schemas.microsoft.com/office/drawing/2014/main" id="{63373D56-69C3-49FA-A3F0-C767A631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1600200" cy="1314450"/>
          </a:xfrm>
          <a:prstGeom xmlns:a="http://schemas.openxmlformats.org/drawingml/2006/main" prst="roundRect">
            <a:avLst>
              <a:gd name="adj" fmla="val 724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85D"/>
            </a:solidFill>
            <a:prstDash val="solid"/>
          </a:ln>
        </p:spPr>
      </p:sp>
      <p:sp>
        <p:nvSpPr>
          <p:cNvPr id="103" name="done-05-header">
            <a:extLst xmlns:a="http://schemas.openxmlformats.org/drawingml/2006/main">
              <a:ext uri="{FF2B5EF4-FFF2-40B4-BE49-F238E27FC236}">
                <a16:creationId xmlns:a16="http://schemas.microsoft.com/office/drawing/2014/main" id="{259618E2-D7A7-4366-8B9A-3B2C72F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16002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F684E"/>
          </a:solidFill>
          <a:ln xmlns:a="http://schemas.openxmlformats.org/drawingml/2006/main" w="9525">
            <a:solidFill>
              <a:srgbClr val="0F684E"/>
            </a:solidFill>
            <a:prstDash val="solid"/>
          </a:ln>
        </p:spPr>
      </p:sp>
      <p:sp>
        <p:nvSpPr>
          <p:cNvPr id="104" name="done-05-number">
            <a:extLst xmlns:a="http://schemas.openxmlformats.org/drawingml/2006/main">
              <a:ext uri="{FF2B5EF4-FFF2-40B4-BE49-F238E27FC236}">
                <a16:creationId xmlns:a16="http://schemas.microsoft.com/office/drawing/2014/main" id="{B7BC7056-3FBC-44C2-9FCA-E976CB5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5" name="done-05-title">
            <a:extLst xmlns:a="http://schemas.openxmlformats.org/drawingml/2006/main">
              <a:ext uri="{FF2B5EF4-FFF2-40B4-BE49-F238E27FC236}">
                <a16:creationId xmlns:a16="http://schemas.microsoft.com/office/drawing/2014/main" id="{AD51F68E-DB84-4641-8E95-76F8998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924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 COMPOSE</a:t>
            </a:r>
          </a:p>
        </p:txBody>
      </p:sp>
      <p:sp>
        <p:nvSpPr>
          <p:cNvPr id="106" name="done-05-body">
            <a:extLst xmlns:a="http://schemas.openxmlformats.org/drawingml/2006/main">
              <a:ext uri="{FF2B5EF4-FFF2-40B4-BE49-F238E27FC236}">
                <a16:creationId xmlns:a16="http://schemas.microsoft.com/office/drawing/2014/main" id="{7EDFBF1A-78F3-4BB2-979B-5C785183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526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stack_top / stack.icl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import Tcl</a:t>
            </a:r>
          </a:p>
        </p:txBody>
      </p:sp>
      <p:sp>
        <p:nvSpPr>
          <p:cNvPr id="107" name="done-05-check">
            <a:extLst xmlns:a="http://schemas.openxmlformats.org/drawingml/2006/main">
              <a:ext uri="{FF2B5EF4-FFF2-40B4-BE49-F238E27FC236}">
                <a16:creationId xmlns:a16="http://schemas.microsoft.com/office/drawing/2014/main" id="{419AAA7B-8102-4DAB-A085-9AD3F1F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8" name="done-06-card">
            <a:extLst xmlns:a="http://schemas.openxmlformats.org/drawingml/2006/main">
              <a:ext uri="{FF2B5EF4-FFF2-40B4-BE49-F238E27FC236}">
                <a16:creationId xmlns:a16="http://schemas.microsoft.com/office/drawing/2014/main" id="{C80BCD90-F6CE-4DA0-B49F-BA512408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66900"/>
            <a:ext cx="1600200" cy="1314450"/>
          </a:xfrm>
          <a:prstGeom xmlns:a="http://schemas.openxmlformats.org/drawingml/2006/main" prst="roundRect">
            <a:avLst>
              <a:gd name="adj" fmla="val 724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85D"/>
            </a:solidFill>
            <a:prstDash val="solid"/>
          </a:ln>
        </p:spPr>
      </p:sp>
      <p:sp>
        <p:nvSpPr>
          <p:cNvPr id="109" name="done-06-header">
            <a:extLst xmlns:a="http://schemas.openxmlformats.org/drawingml/2006/main">
              <a:ext uri="{FF2B5EF4-FFF2-40B4-BE49-F238E27FC236}">
                <a16:creationId xmlns:a16="http://schemas.microsoft.com/office/drawing/2014/main" id="{61A8BA91-E727-4EB1-A1C6-159E34D4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66900"/>
            <a:ext cx="160020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F684E"/>
          </a:solidFill>
          <a:ln xmlns:a="http://schemas.openxmlformats.org/drawingml/2006/main" w="9525">
            <a:solidFill>
              <a:srgbClr val="0F684E"/>
            </a:solidFill>
            <a:prstDash val="solid"/>
          </a:ln>
        </p:spPr>
      </p:sp>
      <p:sp>
        <p:nvSpPr>
          <p:cNvPr id="110" name="done-06-number">
            <a:extLst xmlns:a="http://schemas.openxmlformats.org/drawingml/2006/main">
              <a:ext uri="{FF2B5EF4-FFF2-40B4-BE49-F238E27FC236}">
                <a16:creationId xmlns:a16="http://schemas.microsoft.com/office/drawing/2014/main" id="{391EEB7C-EE23-43B3-BBAD-22369328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335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11" name="done-06-title">
            <a:extLst xmlns:a="http://schemas.openxmlformats.org/drawingml/2006/main">
              <a:ext uri="{FF2B5EF4-FFF2-40B4-BE49-F238E27FC236}">
                <a16:creationId xmlns:a16="http://schemas.microsoft.com/office/drawing/2014/main" id="{9533DF74-9765-4481-A982-F78C8951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9240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RETARGET + VCS</a:t>
            </a:r>
          </a:p>
        </p:txBody>
      </p:sp>
      <p:sp>
        <p:nvSpPr>
          <p:cNvPr id="112" name="done-06-body">
            <a:extLst xmlns:a="http://schemas.openxmlformats.org/drawingml/2006/main">
              <a:ext uri="{FF2B5EF4-FFF2-40B4-BE49-F238E27FC236}">
                <a16:creationId xmlns:a16="http://schemas.microsoft.com/office/drawing/2014/main" id="{F4702662-E3DE-4F81-AF3C-3D5C1A42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526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pattern + expected data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VCS checker</a:t>
            </a:r>
          </a:p>
        </p:txBody>
      </p:sp>
      <p:sp>
        <p:nvSpPr>
          <p:cNvPr id="113" name="done-06-check">
            <a:extLst xmlns:a="http://schemas.openxmlformats.org/drawingml/2006/main">
              <a:ext uri="{FF2B5EF4-FFF2-40B4-BE49-F238E27FC236}">
                <a16:creationId xmlns:a16="http://schemas.microsoft.com/office/drawing/2014/main" id="{79533AF7-B6B0-4236-9982-9027DE83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95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7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4" name="next-accent">
            <a:extLst xmlns:a="http://schemas.openxmlformats.org/drawingml/2006/main">
              <a:ext uri="{FF2B5EF4-FFF2-40B4-BE49-F238E27FC236}">
                <a16:creationId xmlns:a16="http://schemas.microsoft.com/office/drawing/2014/main" id="{D3B02145-94ED-49E2-B453-1B14662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solidFill>
              <a:srgbClr val="F05A28"/>
            </a:solidFill>
            <a:prstDash val="solid"/>
          </a:ln>
        </p:spPr>
      </p:sp>
      <p:sp>
        <p:nvSpPr>
          <p:cNvPr id="115" name="next-label">
            <a:extLst xmlns:a="http://schemas.openxmlformats.org/drawingml/2006/main">
              <a:ext uri="{FF2B5EF4-FFF2-40B4-BE49-F238E27FC236}">
                <a16:creationId xmlns:a16="http://schemas.microsoft.com/office/drawing/2014/main" id="{2D590BF4-92AB-4052-B083-BCDCFA5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4A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4A16"/>
                </a:solidFill>
                <a:latin typeface="Arial"/>
                <a:ea typeface="Arial"/>
                <a:cs typeface="Arial"/>
              </a:rPr>
              <a:t>NEXT · </a:t>
            </a:r>
            <a:r>
              <a:rPr sz="1200" b="1">
                <a:solidFill>
                  <a:srgbClr val="C94A16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NOT YET IMPLEMENTED</a:t>
            </a:r>
          </a:p>
        </p:txBody>
      </p:sp>
      <p:sp>
        <p:nvSpPr>
          <p:cNvPr id="116" name="next-summary">
            <a:extLst xmlns:a="http://schemas.openxmlformats.org/drawingml/2006/main">
              <a:ext uri="{FF2B5EF4-FFF2-40B4-BE49-F238E27FC236}">
                <a16:creationId xmlns:a16="http://schemas.microsoft.com/office/drawing/2014/main" id="{8C7ADA76-3F3D-4157-B97F-D6BCEE68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14725"/>
            <a:ext cx="737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USE THE TEAM'S COMPLEX RTL AS A NEW DIE; PROVE DWR ACCESS INSIDE THE STACK</a:t>
            </a:r>
          </a:p>
        </p:txBody>
      </p:sp>
      <p:sp>
        <p:nvSpPr>
          <p:cNvPr id="117" name="next-07-card">
            <a:extLst xmlns:a="http://schemas.openxmlformats.org/drawingml/2006/main">
              <a:ext uri="{FF2B5EF4-FFF2-40B4-BE49-F238E27FC236}">
                <a16:creationId xmlns:a16="http://schemas.microsoft.com/office/drawing/2014/main" id="{334A229E-ECCD-428F-9E1B-E1D17BF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90950"/>
            <a:ext cx="2000250" cy="1219200"/>
          </a:xfrm>
          <a:prstGeom xmlns:a="http://schemas.openxmlformats.org/drawingml/2006/main" prst="roundRect">
            <a:avLst>
              <a:gd name="adj" fmla="val 781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05A28"/>
            </a:solidFill>
            <a:prstDash val="solid"/>
          </a:ln>
        </p:spPr>
      </p:sp>
      <p:sp>
        <p:nvSpPr>
          <p:cNvPr id="118" name="next-07-header">
            <a:extLst xmlns:a="http://schemas.openxmlformats.org/drawingml/2006/main">
              <a:ext uri="{FF2B5EF4-FFF2-40B4-BE49-F238E27FC236}">
                <a16:creationId xmlns:a16="http://schemas.microsoft.com/office/drawing/2014/main" id="{9AE2F87E-11EC-48B3-BBF9-3CE51536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90950"/>
            <a:ext cx="200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C94A16"/>
          </a:solidFill>
          <a:ln xmlns:a="http://schemas.openxmlformats.org/drawingml/2006/main" w="9525">
            <a:solidFill>
              <a:srgbClr val="C94A16"/>
            </a:solidFill>
            <a:prstDash val="solid"/>
          </a:ln>
        </p:spPr>
      </p:sp>
      <p:sp>
        <p:nvSpPr>
          <p:cNvPr id="119" name="next-07-number">
            <a:extLst xmlns:a="http://schemas.openxmlformats.org/drawingml/2006/main">
              <a:ext uri="{FF2B5EF4-FFF2-40B4-BE49-F238E27FC236}">
                <a16:creationId xmlns:a16="http://schemas.microsoft.com/office/drawing/2014/main" id="{B172C131-4DDB-42DF-82EE-88474C4D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20" name="next-07-title">
            <a:extLst xmlns:a="http://schemas.openxmlformats.org/drawingml/2006/main">
              <a:ext uri="{FF2B5EF4-FFF2-40B4-BE49-F238E27FC236}">
                <a16:creationId xmlns:a16="http://schemas.microsoft.com/office/drawing/2014/main" id="{C96E5132-189D-4EC4-83CE-D2FF25EB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48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COMPLEX DIE</a:t>
            </a:r>
          </a:p>
        </p:txBody>
      </p:sp>
      <p:sp>
        <p:nvSpPr>
          <p:cNvPr id="121" name="next-07-body">
            <a:extLst xmlns:a="http://schemas.openxmlformats.org/drawingml/2006/main">
              <a:ext uri="{FF2B5EF4-FFF2-40B4-BE49-F238E27FC236}">
                <a16:creationId xmlns:a16="http://schemas.microsoft.com/office/drawing/2014/main" id="{1E743992-2F80-4F6C-9082-F93BFB76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767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Onboard the supplied RTL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as a reusable die input</a:t>
            </a:r>
          </a:p>
        </p:txBody>
      </p:sp>
      <p:sp>
        <p:nvSpPr>
          <p:cNvPr id="122" name="next-08-card">
            <a:extLst xmlns:a="http://schemas.openxmlformats.org/drawingml/2006/main">
              <a:ext uri="{FF2B5EF4-FFF2-40B4-BE49-F238E27FC236}">
                <a16:creationId xmlns:a16="http://schemas.microsoft.com/office/drawing/2014/main" id="{EAC268EB-514C-4382-9DEC-9FF53442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2000250" cy="1219200"/>
          </a:xfrm>
          <a:prstGeom xmlns:a="http://schemas.openxmlformats.org/drawingml/2006/main" prst="roundRect">
            <a:avLst>
              <a:gd name="adj" fmla="val 781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05A28"/>
            </a:solidFill>
            <a:prstDash val="solid"/>
          </a:ln>
        </p:spPr>
      </p:sp>
      <p:sp>
        <p:nvSpPr>
          <p:cNvPr id="123" name="next-08-header">
            <a:extLst xmlns:a="http://schemas.openxmlformats.org/drawingml/2006/main">
              <a:ext uri="{FF2B5EF4-FFF2-40B4-BE49-F238E27FC236}">
                <a16:creationId xmlns:a16="http://schemas.microsoft.com/office/drawing/2014/main" id="{BD6882B4-95FB-4D57-86A5-7DC7190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200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C94A16"/>
          </a:solidFill>
          <a:ln xmlns:a="http://schemas.openxmlformats.org/drawingml/2006/main" w="9525">
            <a:solidFill>
              <a:srgbClr val="C94A16"/>
            </a:solidFill>
            <a:prstDash val="solid"/>
          </a:ln>
        </p:spPr>
      </p:sp>
      <p:sp>
        <p:nvSpPr>
          <p:cNvPr id="124" name="next-08-number">
            <a:extLst xmlns:a="http://schemas.openxmlformats.org/drawingml/2006/main">
              <a:ext uri="{FF2B5EF4-FFF2-40B4-BE49-F238E27FC236}">
                <a16:creationId xmlns:a16="http://schemas.microsoft.com/office/drawing/2014/main" id="{95A934B9-E0C5-46F5-8F8A-69372EE8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57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25" name="next-08-title">
            <a:extLst xmlns:a="http://schemas.openxmlformats.org/drawingml/2006/main">
              <a:ext uri="{FF2B5EF4-FFF2-40B4-BE49-F238E27FC236}">
                <a16:creationId xmlns:a16="http://schemas.microsoft.com/office/drawing/2014/main" id="{2FF4F505-F1A4-405C-A8BC-8492972A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48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DWR INSERT</a:t>
            </a:r>
          </a:p>
        </p:txBody>
      </p:sp>
      <p:sp>
        <p:nvSpPr>
          <p:cNvPr id="126" name="next-08-body">
            <a:extLst xmlns:a="http://schemas.openxmlformats.org/drawingml/2006/main">
              <a:ext uri="{FF2B5EF4-FFF2-40B4-BE49-F238E27FC236}">
                <a16:creationId xmlns:a16="http://schemas.microsoft.com/office/drawing/2014/main" id="{0216FE69-1EF5-4922-92CF-7B5ECA02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767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Build wrapper inventory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and external-mode chain</a:t>
            </a:r>
          </a:p>
        </p:txBody>
      </p:sp>
      <p:sp>
        <p:nvSpPr>
          <p:cNvPr id="127" name="next-09-card">
            <a:extLst xmlns:a="http://schemas.openxmlformats.org/drawingml/2006/main">
              <a:ext uri="{FF2B5EF4-FFF2-40B4-BE49-F238E27FC236}">
                <a16:creationId xmlns:a16="http://schemas.microsoft.com/office/drawing/2014/main" id="{C10583A2-7E71-4E4D-9C9B-1690ABC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000250" cy="1219200"/>
          </a:xfrm>
          <a:prstGeom xmlns:a="http://schemas.openxmlformats.org/drawingml/2006/main" prst="roundRect">
            <a:avLst>
              <a:gd name="adj" fmla="val 781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05A28"/>
            </a:solidFill>
            <a:prstDash val="solid"/>
          </a:ln>
        </p:spPr>
      </p:sp>
      <p:sp>
        <p:nvSpPr>
          <p:cNvPr id="128" name="next-09-header">
            <a:extLst xmlns:a="http://schemas.openxmlformats.org/drawingml/2006/main">
              <a:ext uri="{FF2B5EF4-FFF2-40B4-BE49-F238E27FC236}">
                <a16:creationId xmlns:a16="http://schemas.microsoft.com/office/drawing/2014/main" id="{32B04852-D203-471A-9F29-86E5BEF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200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C94A16"/>
          </a:solidFill>
          <a:ln xmlns:a="http://schemas.openxmlformats.org/drawingml/2006/main" w="9525">
            <a:solidFill>
              <a:srgbClr val="C94A16"/>
            </a:solidFill>
            <a:prstDash val="solid"/>
          </a:ln>
        </p:spPr>
      </p:sp>
      <p:sp>
        <p:nvSpPr>
          <p:cNvPr id="129" name="next-09-number">
            <a:extLst xmlns:a="http://schemas.openxmlformats.org/drawingml/2006/main">
              <a:ext uri="{FF2B5EF4-FFF2-40B4-BE49-F238E27FC236}">
                <a16:creationId xmlns:a16="http://schemas.microsoft.com/office/drawing/2014/main" id="{D931885D-1B3B-4D78-A00E-BADE130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7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30" name="next-09-title">
            <a:extLst xmlns:a="http://schemas.openxmlformats.org/drawingml/2006/main">
              <a:ext uri="{FF2B5EF4-FFF2-40B4-BE49-F238E27FC236}">
                <a16:creationId xmlns:a16="http://schemas.microsoft.com/office/drawing/2014/main" id="{AE8FF6DD-6E19-4762-8230-65B0600F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48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 INTEGRATE</a:t>
            </a:r>
          </a:p>
        </p:txBody>
      </p:sp>
      <p:sp>
        <p:nvSpPr>
          <p:cNvPr id="131" name="next-09-body">
            <a:extLst xmlns:a="http://schemas.openxmlformats.org/drawingml/2006/main">
              <a:ext uri="{FF2B5EF4-FFF2-40B4-BE49-F238E27FC236}">
                <a16:creationId xmlns:a16="http://schemas.microsoft.com/office/drawing/2014/main" id="{195FDFC4-40F5-4C51-A2B6-BCA2EBE5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767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Compose the new die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and retarget access</a:t>
            </a:r>
          </a:p>
        </p:txBody>
      </p:sp>
      <p:sp>
        <p:nvSpPr>
          <p:cNvPr id="132" name="next-10-card">
            <a:extLst xmlns:a="http://schemas.openxmlformats.org/drawingml/2006/main">
              <a:ext uri="{FF2B5EF4-FFF2-40B4-BE49-F238E27FC236}">
                <a16:creationId xmlns:a16="http://schemas.microsoft.com/office/drawing/2014/main" id="{1D5BCC00-879F-4ADD-8842-3CAE7B0A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90950"/>
            <a:ext cx="2000250" cy="1219200"/>
          </a:xfrm>
          <a:prstGeom xmlns:a="http://schemas.openxmlformats.org/drawingml/2006/main" prst="roundRect">
            <a:avLst>
              <a:gd name="adj" fmla="val 781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05A28"/>
            </a:solidFill>
            <a:prstDash val="solid"/>
          </a:ln>
        </p:spPr>
      </p:sp>
      <p:sp>
        <p:nvSpPr>
          <p:cNvPr id="133" name="next-10-header">
            <a:extLst xmlns:a="http://schemas.openxmlformats.org/drawingml/2006/main">
              <a:ext uri="{FF2B5EF4-FFF2-40B4-BE49-F238E27FC236}">
                <a16:creationId xmlns:a16="http://schemas.microsoft.com/office/drawing/2014/main" id="{6333E0F3-9150-4396-8CA6-DF41620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90950"/>
            <a:ext cx="2000250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C94A16"/>
          </a:solidFill>
          <a:ln xmlns:a="http://schemas.openxmlformats.org/drawingml/2006/main" w="9525">
            <a:solidFill>
              <a:srgbClr val="C94A16"/>
            </a:solidFill>
            <a:prstDash val="solid"/>
          </a:ln>
        </p:spPr>
      </p:sp>
      <p:sp>
        <p:nvSpPr>
          <p:cNvPr id="134" name="next-10-number">
            <a:extLst xmlns:a="http://schemas.openxmlformats.org/drawingml/2006/main">
              <a:ext uri="{FF2B5EF4-FFF2-40B4-BE49-F238E27FC236}">
                <a16:creationId xmlns:a16="http://schemas.microsoft.com/office/drawing/2014/main" id="{C747E203-14D7-429B-9E93-3594DF01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57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5" name="next-10-title">
            <a:extLst xmlns:a="http://schemas.openxmlformats.org/drawingml/2006/main">
              <a:ext uri="{FF2B5EF4-FFF2-40B4-BE49-F238E27FC236}">
                <a16:creationId xmlns:a16="http://schemas.microsoft.com/office/drawing/2014/main" id="{88BDFFA9-5280-4DFC-A0F8-B7748EAB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48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DWR PROOF</a:t>
            </a:r>
          </a:p>
        </p:txBody>
      </p:sp>
      <p:sp>
        <p:nvSpPr>
          <p:cNvPr id="136" name="next-10-body">
            <a:extLst xmlns:a="http://schemas.openxmlformats.org/drawingml/2006/main">
              <a:ext uri="{FF2B5EF4-FFF2-40B4-BE49-F238E27FC236}">
                <a16:creationId xmlns:a16="http://schemas.microsoft.com/office/drawing/2014/main" id="{501E7BDE-C741-4BA8-9B7E-4118DD54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76725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Execute link pattern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and pass comparison</a:t>
            </a:r>
          </a:p>
        </p:txBody>
      </p:sp>
      <p:sp>
        <p:nvSpPr>
          <p:cNvPr id="137" name="delivery-band">
            <a:extLst xmlns:a="http://schemas.openxmlformats.org/drawingml/2006/main">
              <a:ext uri="{FF2B5EF4-FFF2-40B4-BE49-F238E27FC236}">
                <a16:creationId xmlns:a16="http://schemas.microsoft.com/office/drawing/2014/main" id="{9AFA2D26-3F15-451A-B4FB-15F1EAC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657A8B"/>
            </a:solidFill>
            <a:prstDash val="solid"/>
          </a:ln>
        </p:spPr>
      </p:sp>
      <p:sp>
        <p:nvSpPr>
          <p:cNvPr id="138" name="delivery-accent">
            <a:extLst xmlns:a="http://schemas.openxmlformats.org/drawingml/2006/main">
              <a:ext uri="{FF2B5EF4-FFF2-40B4-BE49-F238E27FC236}">
                <a16:creationId xmlns:a16="http://schemas.microsoft.com/office/drawing/2014/main" id="{0B757F98-51D7-4689-B2EE-166AFDC1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AA6"/>
          </a:solidFill>
          <a:ln xmlns:a="http://schemas.openxmlformats.org/drawingml/2006/main" w="0">
            <a:solidFill>
              <a:srgbClr val="0E6AA6"/>
            </a:solidFill>
            <a:prstDash val="solid"/>
          </a:ln>
        </p:spPr>
      </p:sp>
      <p:sp>
        <p:nvSpPr>
          <p:cNvPr id="139" name="delivery-number">
            <a:extLst xmlns:a="http://schemas.openxmlformats.org/drawingml/2006/main">
              <a:ext uri="{FF2B5EF4-FFF2-40B4-BE49-F238E27FC236}">
                <a16:creationId xmlns:a16="http://schemas.microsoft.com/office/drawing/2014/main" id="{E81D146B-0841-4FD3-BFF5-D03FFB1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6A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6A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40" name="delivery-title">
            <a:extLst xmlns:a="http://schemas.openxmlformats.org/drawingml/2006/main">
              <a:ext uri="{FF2B5EF4-FFF2-40B4-BE49-F238E27FC236}">
                <a16:creationId xmlns:a16="http://schemas.microsoft.com/office/drawing/2014/main" id="{F59956BB-5599-4863-8B7A-64F31876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006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2A4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A41"/>
                </a:solidFill>
                <a:latin typeface="Arial"/>
                <a:ea typeface="Arial"/>
                <a:cs typeface="Arial"/>
              </a:rPr>
              <a:t>GUI / VISUAL REPORT</a:t>
            </a:r>
          </a:p>
        </p:txBody>
      </p:sp>
      <p:sp>
        <p:nvSpPr>
          <p:cNvPr id="141" name="delivery-body">
            <a:extLst xmlns:a="http://schemas.openxmlformats.org/drawingml/2006/main">
              <a:ext uri="{FF2B5EF4-FFF2-40B4-BE49-F238E27FC236}">
                <a16:creationId xmlns:a16="http://schemas.microsoft.com/office/drawing/2014/main" id="{28D66E11-ABF7-41A9-B949-974F358D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34050"/>
            <a:ext cx="979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24C5F"/>
                </a:solidFill>
                <a:latin typeface="Arial"/>
                <a:ea typeface="Arial"/>
                <a:cs typeface="Arial"/>
              </a:rPr>
              <a:t>Launch the automated run · track accountable stage status · export PASS/FAIL, link matrix, runtime, and evidence package</a:t>
            </a:r>
          </a:p>
        </p:txBody>
      </p:sp>
      <p:sp>
        <p:nvSpPr>
          <p:cNvPr id="142" name="scope-note">
            <a:extLst xmlns:a="http://schemas.openxmlformats.org/drawingml/2006/main">
              <a:ext uri="{FF2B5EF4-FFF2-40B4-BE49-F238E27FC236}">
                <a16:creationId xmlns:a16="http://schemas.microsoft.com/office/drawing/2014/main" id="{D0DD96F0-A66A-4E14-9812-A034955C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3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SCOPE · IEEE 1687 / 1838 + DWR · ATPG / EDT / FAULT COVERAGE EXCLUDED</a:t>
            </a:r>
          </a:p>
        </p:txBody>
      </p:sp>
    </p:spTree>
    <p:extLst>
      <p:ext uri="{BB962C8B-B14F-4D97-AF65-F5344CB8AC3E}">
        <p14:creationId xmlns:p14="http://schemas.microsoft.com/office/powerpoint/2010/main" val="9405955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C1847-72A6-4564-981C-4123D16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DWR IMPLEMENTATION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950D1-D749-470B-81F3-2ABDF4C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3A44610-3605-4C88-A856-3BFA6EE3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Planned DWR wrappers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control and observe die-to-die 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92A36-4FFD-4D56-966D-1164EC65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DCE4C-4DB4-4C03-9F6F-E2147E1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LINK-LEVEL HARDWARE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29535-ABC4-449B-9ADF-9C51A577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286500" cy="268605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08D9E-CCC1-4764-9CE2-FB9EA8F9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676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875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SOURCE DIE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functional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547B9-6EB2-43B8-9727-1C20A0A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865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CAPTURE / DRIVE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E17B8-4A5E-4EA5-A701-B640843D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865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CAPTURE / DRIVE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AD5BD-94D3-48E3-AC3A-33226D5D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71875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865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DESTINATION DIE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functional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92274-5F90-4B81-9EB5-5FC31335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189B3-3525-4062-8AC9-DEE783CC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114B8-80F8-4515-A205-B921E379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3372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cxnSp>
        <p:nvCxnSpPr>
          <p:cNvPr id="91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52700" y="26955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B9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476750" y="26955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6B3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638800" y="3057525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B7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77C28-903A-48F8-A775-2F315BB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DIE-TO-DIE INTERCONNECT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69531-F7FB-4E4E-89B0-B251A48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control / observe at the die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B143A-AA05-43AE-8BEF-17998F97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71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TARGET DWR PORT INVENTORY (TBD)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654B4-4A98-437E-A54D-961B2CF4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4310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F92FD-6EE9-4972-83ED-41DCD07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716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82F92-DA3E-49BF-96CA-F10E7CB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88C06-E5E2-45F9-B7E3-821AB19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71675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5F453-81F0-423A-832C-339BCF6C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15FA4-D2F7-4524-A6D2-5DBDE8F3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7167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B757F-06E6-4C3A-93B6-7C75FB81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4310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69E2D5-36E0-49CB-9E14-9542D33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7167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F54051-E8A0-42BC-BC7A-EAB356B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400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0D71AA-D1BD-4A0A-9825-4B14E133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71675"/>
            <a:ext cx="20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97E37-6F6A-4CAC-876B-0B3543D8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D33AC0-0A5F-4EFF-8FBE-3271778B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97167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CLOCK / MODE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585D9-5ACC-4CC8-B50F-7020EBB5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1935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AD8FF-FADF-4F8B-9E25-7E4EF7AE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479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631159-6C9B-435D-9271-E7860C2E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89126C-0171-4E24-AA8B-9F5283AD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FF220-33E2-4F85-B7B3-73B73554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47883-7B96-4AD7-B1D7-0A41708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479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21BC1-FE54-4095-AE0A-6012839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1935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AB44B4-9D27-4E43-BDB4-69A9D66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479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A787D9-73EF-4CD2-8D92-A665D458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19350"/>
            <a:ext cx="400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F2E5D5-9DDE-4F93-B75D-4281E70F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47925"/>
            <a:ext cx="20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D0094D-16B3-4392-A6A5-54E94466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19350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5E7395-4E00-4BD6-81EE-DA48781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4792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 / extest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9634FE-7EDE-4F04-96DB-37F6D78B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3EFC83-4AC0-4079-B8AB-318C4CD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241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CFG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1E19E9-28BF-47AD-8671-289CFEC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3EF8E9-B5E6-412B-A419-83C1B661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51966-844E-4DB6-84B2-FF149017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764340-E82F-48E1-98B7-C2DB661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2417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F63D90-1016-488D-99B1-83A07E05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A249F5-4998-492C-B707-84A39A5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2417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7615DF-5949-40B7-A810-6ED1A12D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95600"/>
            <a:ext cx="400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35C669-6056-4C6A-93BA-08E09473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24175"/>
            <a:ext cx="20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841A28-FF2F-42DA-92C7-28109952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895600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20D200-A462-49D6-B321-943E9BB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2417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 / extest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235AB5-87C8-47A4-A6C2-73F26B8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685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F5FC9D-47CA-4C9E-ABEF-837F7BD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042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IRQ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E175A5-A01E-471A-BE86-195C8AB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419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F644F8-74AC-4AFD-B932-3103B789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22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046589-6769-4507-93AD-76BC877F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B76DEA-3431-4BAF-839E-C555D98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10A4B4-5EB9-47FB-B7F2-7652592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71850"/>
            <a:ext cx="990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151219-7CA7-4683-9612-851DB88A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04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7D734A-C244-4C3E-946E-76764355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0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5A2B44-0572-42CA-B5AF-A090DB89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00425"/>
            <a:ext cx="20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FB435F-0A28-423F-8C82-FE929506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71850"/>
            <a:ext cx="83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6B4C13-A951-4997-BA7C-54E621F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00425"/>
            <a:ext cx="64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async / observe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1C1D57-ABDF-44E3-9E26-6934357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10025"/>
            <a:ext cx="4324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34"/>
          </a:bodyPr>
          <a:lstStyle xmlns:a="http://schemas.openxmlformats.org/drawingml/2006/main"/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Structural: port, direction, width, and die ownership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Configuration: source-drive / destination-capture mapping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Behavioral: pattern, expected value, waveform, and compare</a:t>
            </a:r>
          </a:p>
          <a:p xmlns:a="http://schemas.openxmlformats.org/drawingml/2006/main"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Coverage: one sign-off row per declared functional link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D54090-4843-48E1-9DEF-8F45229D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9959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INVENTORY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159455-DE27-4C1B-990E-21464896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9587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86FFC7B-C73E-40DC-AB36-33A95EEF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9587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LINK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376AE4-6534-4005-B4F6-F5A84917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9587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PASS / FAIL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MATRIX</a:t>
            </a:r>
          </a:p>
        </p:txBody>
      </p:sp>
      <p:cxnSp>
        <p:nvCxnSpPr>
          <p:cNvPr id="97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2419350" y="5400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79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4705350" y="5400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80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991350" y="54006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71BDC1-6A0C-4B2A-B2D6-49D7E960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verified / declared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19AC39-CE79-4548-BD3B-1BEF3B81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B3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94A5EB-746B-4437-938E-E718A901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Target contract only; port mapping, patterns, and results follow DWR insertion.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60EE50-EED8-4FEB-92F2-D44BB1D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9128CB-32E2-4AD8-8B53-01F9F8C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3709472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9E4B5-824A-480F-882A-CDF0F64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COMPLEX-DIE PROOF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155F4-0DD3-43FD-A45C-FFB36D4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FDC8748-70B2-47E6-983D-85A8E03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9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team's complex RTL die will prove portability without core-Tcl rewrites.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4230C-91E1-44D4-ADAE-CB07A42C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CC566-4F89-45C7-89FF-F90FA5B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AF2B3-6B18-4BC8-A57E-09398302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NEXT TARGET · </a:t>
            </a:r>
            <a:r>
              <a:rPr sz="1200" b="1">
                <a:solidFill>
                  <a:srgbClr val="D96B30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NOT 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F4081-4794-4739-86F0-0220E095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76400"/>
            <a:ext cx="0" cy="401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7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912A8-69AC-4763-9F6A-06AAAF3D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CE5AA-9ED7-46F6-BD0D-5B3FC241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F851C-CBC3-411A-B3D7-023B896C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3048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29523-AF17-41FD-A9A2-F581E84F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F0157-8030-4775-8A1D-D3A818C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479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SENSOR DIE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27030-1300-4CBC-ACEB-CC01816E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local instrument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3DB5C-D337-4144-B0FE-4E9B1697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8642D-18FE-4229-9470-66905E38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29B95-61EA-4D84-9015-849E112B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37658-3B9A-4C76-BE2A-1580B823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E1D36-9A31-40F8-8CC9-360542B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9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ECD66-9511-41F8-8114-CAF98827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0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0C773-5EBD-41E9-AC7C-B04991A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8B116-5163-40BB-BD3C-A708BDDF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2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26802-8136-407A-B381-CA33832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3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93B97-5213-432A-8BA7-B08B215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7F3E1-7FD7-4821-BB97-D4CDFF9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FDA5A-4F78-4623-832C-ABD5FF68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3048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65F6C-1D9C-4672-8233-30CE5540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903E0-33A7-42EE-9548-968F70F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SENSOR DIE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D42E5F-5CBC-446F-BFDF-6D0FEB67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local instrument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FAADC-B063-4E22-A129-B0C72D6B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1327A-D328-416E-B02E-8737BE0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2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31E219-D60B-4641-9ECB-1A20AD74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3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8E615-B677-44B3-B604-29D1F0D5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89FD6-1288-40FB-A7F5-D4C60463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2D73F-321B-4F23-BFA4-702DE8B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6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CAA20D-313D-4940-B821-5B998D84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FEC539-D7F5-4F9E-9748-553558A8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C6B76-86EE-495A-A21D-76FF40FF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9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F74FF5-4892-4640-9E25-307E1F0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4EC77E-F8A4-4EF7-8707-84156A08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338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4C04BC-8AD8-4457-8A54-486D3967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3048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90D23D-EF1A-49BF-8D25-68CCE9D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065B46-4D95-4FE6-81CC-7FFA9A15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ALU BASE DIE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3648E1-A9EC-4BD7-A3A1-52CAB0DA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705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· local instrument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04291C-E159-4B1F-AA77-6C3963CB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EC7D73-4B4D-4BA1-AA89-7464E557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7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12317B-D6C8-41BD-AB34-38FF981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8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053C24-A6E0-4066-9501-2FC5E9C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1CAD01-AB3D-4F83-B934-D31755A6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0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69F413-D180-4A17-8AC1-D47834D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03FF21-B733-433E-BDE2-263B3C5A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6FBB97-1BC9-481E-9569-1CED4CF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F6A405-F196-4D54-B4CA-260E803C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4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6CE308-B970-46EF-8F68-409B325A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329E6B-F794-4E48-82E4-DE6E2D93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51625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B7C5C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77B021-13C8-4A23-8250-E8F30B6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3105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A57D4A-C8E1-40BE-8B00-DF38A18A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33600"/>
            <a:ext cx="31051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7EA92C-B868-4E6A-A058-213F992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81275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6B3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0DECF8-D7B6-400C-A98C-15ABB05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TEAM COMPLEX RTL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39A8C7-B2C6-4C14-82B2-C13B6FE1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functional ports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7DC6F8-81A1-4E7D-84DF-5859405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60272C-6191-4C90-960B-26DF1DE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D1763D-90FB-4291-9495-FA826B6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227124-B1BD-46B0-A420-412E000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4B589A-4607-4ED0-BA57-BD8B24B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E15B19-54B8-447F-9CDC-48BEAD46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42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670F8D-02ED-4932-B41D-681AE89F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783F58-3DCF-4B5A-89DD-78079B3D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32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D95A4D-91CB-4457-B0F5-0C43D75A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77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AECD5E-BFB2-4CD0-9927-E2016829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57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F546D7-0B7A-4BE6-B65C-9CC95544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3105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1F3CB65-8AC9-4CAC-9B90-A999F354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31051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0EADE2-6C13-4D98-BF44-FC0C125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43275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05FEDA-E727-482E-8FD7-31A1A079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DWR-ENABLED DIE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82A280E-764B-4F3C-AEEA-A19464A8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capture / drive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461FCB-6BCF-4524-B22B-D3D49FD8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81ADD9-22E4-479D-A9CF-A2AB20C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17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7EBDCC-346D-437F-9E90-08E8B1C3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8E7193-1D11-4A86-81B8-904E6AA8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1AF124-ECCF-4D6A-8FB5-E1833AD6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5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C36942-1E79-4241-85DD-59711A7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697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A410D1-E4EB-45E9-A333-7D965441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48041C-49EF-40C8-ACFB-32304AE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C93654-0D56-4656-8229-40518C1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32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3D69E4-B994-4422-90AA-655E9AC2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619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70AE7A-8EC3-4603-8223-885D18F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3105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C6E077-6E05-47F4-B831-1A35CA24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31051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C15FE4B-BA17-4D01-B137-A6A68283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05275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4D574A-6260-4D4E-9D83-2D87B25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19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BASE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658428F-742F-4C46-8D61-9BEB4A5E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14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· stack access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F62384-C7B5-478B-9108-EF789CCA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F30702-1C96-41EC-A716-A783DF1B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72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B38D66-798A-4C36-A333-AA2717B8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1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0F50743-7D41-48CB-A03F-FF39486A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E260E7E-6405-4A7B-A776-C47FDFC8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875B1E-96E1-43F2-A6C7-866421AD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F1AE318-F44C-4C7C-881B-9248FF3E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B58388-BC61-4B8D-B6F7-E6D72EAF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42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6D759D-CDA6-43B2-BB83-C2ADED2D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767354-D079-47B7-B621-E3AAC88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81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D2354D8-F884-448D-81FE-ADDCE55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2410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6B3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8287FB-668D-4E3A-A47F-538858B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14625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D2D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2004F9-E42F-47B6-931E-C2F752DF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896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EA58D1-69D4-4CBB-97DD-F8427B18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PORTABILITY ACCEPTANCE MATRIX · VALUES BELOW ARE DEMONSTRATION TARGETS, NOT COMPLETED RESULTS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99C4CB6-D3D4-426C-B489-12ACD93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5819A1B-39CC-4453-98FF-22EFB53D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27C808-A9A4-47B6-9A5B-C54BE9B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C23F2AE-6696-4ED8-8289-67F27B2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9582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STACK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DAC9A4-3A33-46E6-972E-5B012E3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6725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077182B-7E84-433B-B338-64449AD7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95825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COMPLEX TARGET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C41E62-3BD4-4AB3-8BCA-D76BAC0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DDC477-79FC-49B7-ABC6-74AA1ED5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DATA EDIT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D612F0-E576-41F6-B961-3F4777C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672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91B5F7-8A9F-4DC0-8FD2-5954FBC5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95825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PROCEDURE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2D97912-ABB4-4DC5-B889-20E67CD9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D08316-2C8D-47D1-B7E0-D73A1400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roles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E4F542-5C67-4F14-9972-6927CD75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79AB0CB-6D7C-49E5-914A-F1C31564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4347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+ 2 sensor endpoints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794A714-7ACC-4FBC-ABC5-BF6857BD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149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274A88-E4D8-4B81-BAA8-98EBB496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2419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existing stack + new die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7DDD206-EAD1-4D07-9BA8-F6E4A6C7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149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59CAF31-73F5-42A7-BDB8-8216D6A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dft_manifest.yaml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9486FEC-AF13-442B-A551-6D9A46AF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149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EEAC474-6AF4-47C6-9B9A-1B95C866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4347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ACDEE82-523A-4D8B-944D-E9F86B4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AF215A1-30CB-49E7-AF92-6CAA0C49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8E74C78-8353-4039-A7DB-9EEE3B5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B26AE4-82A6-4B22-8BC6-9727337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5302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3 local instruments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130241B-DFDA-41FB-B067-AD6CE91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244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678F80E-CE0C-46C7-9580-425F2AD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53025"/>
            <a:ext cx="2419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IJTAG + new-die ports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9BE35C5-9411-4727-8595-EBC1434F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66CBEE2-CA8C-4EE6-B10B-C454B406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list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47117EE-7B5D-4A5D-8981-E881A7D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44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0FE994C-6DB6-4D19-81FD-2EC20207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5302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0C9909-602F-4F12-91BD-DAF79BD2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A933399-EFDC-41F2-A1AB-5921855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Functional links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62EFE10-9333-4780-9BFE-B7DDB858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9CBF7D9-D929-4B3C-AB44-57E3EBC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6257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none required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11DFD59-0EEA-4ED6-944E-E91F397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E8E365F-11DF-4C12-AE0F-8D12D7C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62575"/>
            <a:ext cx="2419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actual team link inventory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F6A93B0-6C3E-4CCE-BA3E-6F85CB1A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340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18F80D5-87F9-4CD2-B75A-48B7898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6257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dwr_ports.csv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111737C-1361-459D-8DE6-F9393074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340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8EA245B-554D-41DB-AE83-994D8CF2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6257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852F357-E81C-4920-9D6A-CA985A35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4393C32-D856-4634-BB01-A89224B9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Required proof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906C6FD-DCDE-49D3-AC4C-592632E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435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D57F742-8248-4F2D-9463-F6E2EB72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7212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→ every local TDR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36E1DD8-EF18-4F49-9E96-772CE78F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4355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7BC74E0-B5F7-458D-82E5-42A54A8D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72125"/>
            <a:ext cx="2419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access + every DWR link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1E727A-89EE-4ECB-B180-ADD9248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54355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7018F0C-919D-4483-9960-2454439F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7212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expected-results file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F43655A-0944-4631-B0E4-3307A1C3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435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5B3090C-A309-4448-ABAD-2D40A8A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7212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BE905E3-FBB6-4B64-8548-521B612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F5BC376-D9AD-4639-9073-3F63CFCF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8167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Sign-off KPI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22AFB37-FB06-474B-AD66-8CEB4A1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531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735A0F1-7B35-4FE6-87B5-58098DD6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78167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100% reachable; 0 mismatch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E5AD237-358F-4B4C-A933-69FABD3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531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6A2D00A-E064-4DA0-AFB0-C517B481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81675"/>
            <a:ext cx="2419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100% reachable; all links pass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D3141FE-5FBE-49EE-8CA8-51CE951B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53100"/>
            <a:ext cx="234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D589C80-5247-4109-85F4-D1EBDE3A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81675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reports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923021E-E070-49B2-9758-6F852AB1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5310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1F23EB-551A-4545-AC47-FF0B0C44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8167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 Tcl rewrites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DD49C14-C8C6-4A96-BC92-83B0EF80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B3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4F5A9B2-82CF-4FB1-9E1D-4B6E827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Success means the second design requires new design data, not a rewritten Tessent flow.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5058F3D-547C-4752-B0B2-B8149C9A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4A736A1-30C6-4243-B645-766C590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8884060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378CA-0E7F-4BF1-822E-E6B0E1F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MANIFEST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EAFED-238C-40A3-80C2-DB1DFF7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8D251B8A-8E68-418C-96C3-07892DD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manifest separates design intent from reusable DFT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0B049-236C-448E-89BA-B4836DF4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A90BE-70F3-4ADC-85FA-EF839B1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DESIGNER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6CF65-8757-44FE-81FC-D0C2EB7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857500" cy="36385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03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5D174-2E14-4961-9E0C-13CAC2A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5146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project/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rtl/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base_top.sv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blocks/*.sv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filelist.f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libraries.tcl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dft_manifest.yaml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instruments.yaml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stack_connections.csv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dwr_ports.csv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└─ expected_results.yaml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D04CA-ED5C-4822-B3A3-9C75BB9C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71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EXAMPLE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781B8-1CA5-4430-8960-7A242E75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57375"/>
            <a:ext cx="37147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73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EF9DF-9C1F-4B4C-9AA3-7186BA0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337185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project: sensor_stack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top: middle_die_top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die_role: middle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clock: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port: tck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edge: rising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reset: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port: trst_n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active: low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ijtag: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host: main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instruments: instruments.yaml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stack: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downstream: top_die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dwr: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inventory: dwr_ports.csv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6EFEC-E7B9-44B9-A653-522E7E6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716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FIELD OWNERSHIP AND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BCA4F-9A2D-419D-94CD-D62DCD0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5737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66B29-16DE-469D-BC61-168FC959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B6D80-7C17-4B6A-94DE-44D1909B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57375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54705-7FBF-4FAA-80C9-3DD099D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B7D39-8D9B-4ABD-B158-5C3C28AA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57375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44416-8089-41B8-8086-D45362C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859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REJECT WHEN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62131-6D6F-440B-BD1B-B41C6219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81225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973DC-BC5B-4712-B087-8D068A4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0980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top / filelist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892D9-BAC2-43F5-805B-A848E49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81225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E25E3-E46F-486B-9152-2D2DBFE1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09800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reader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39959-CA44-40ED-AF9E-BBD0DB1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81225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78147-7E63-4521-AEAE-7FA6A27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09800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unresolved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5262F-AC95-49EB-AA46-A44855AB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90800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6AD754-E655-472F-A30A-40049655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19375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die_role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CB309-7E4C-4467-8509-26D1338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37763-8D77-47CC-ABA7-AD1111C4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19375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resolver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5FEB9-17AA-442C-AE3C-1F0DD9D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2295A-0911-451F-BF36-C9B1831A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19375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illegal role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2589C-8CF7-4062-A4C7-C0D5ABB4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F3E282-8222-49BB-996F-5A9D88D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clock / reset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300A85-34DB-4AB8-B12B-7F39BA75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CC53B-F239-4F9D-BB90-47790BE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config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630905-3CB2-496C-8168-5B10F724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00375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9C29E-A54A-4B58-AFC9-DF5CE80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28950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3A7E6-3996-4FAF-8CD7-666C4EF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9950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DE08A-1152-4EFE-B21B-46BE616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38525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ijtag.host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F85AEC-C716-4C9D-8A00-1F87866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42EDE-9C94-4BF1-BECA-8CB5124C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38525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builder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C2C5D3-856F-4785-BEF1-68D0222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09950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BE1C8-33AA-4FC4-8088-9CC6B86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38525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conflict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18134F-2206-4B09-9C2D-EFF890F6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9525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0C0FB8-3703-48E3-8E26-A753FCB7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instruments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30B345-A0CB-49DC-89BB-0FB4BC6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9525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3CA2B5-DDD6-4EEE-B933-2B5848B6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TDR / SIB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7B2AB6-97F9-412D-98A6-2A894B1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19525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B17A46-AC7A-4C96-A9A6-1AB569B3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48100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bad width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BC8C25-FDBA-4165-A363-86C667A2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29100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C8F77B-286C-48A8-8EFD-BC54C33A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57675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stack link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AD40A4-F06B-46A6-ACC4-616F0E68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29100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A84345-AD7F-42B0-BDD8-22227FF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57675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composer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46C968-E3C1-4472-8660-8DC09B1F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29100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CF7C1C-186C-4F9F-A0B3-4DCD2B9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257675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unmapped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5230D6-E94B-4621-A87E-0E7CF376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38675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92A14E-CF98-4254-A4D1-B69112F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6725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dwr.inventory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E7D744-B8A6-43FF-AB99-82144D5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38675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8E5552-725D-45FA-BF42-1319A55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67250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planned DWR stage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EDA0B3-401C-420E-838E-9821E711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38675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52EE18-9C7A-421C-AF34-D4ADA20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67250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not enabled / dir-width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6E0C7D-105A-4EA1-ABA0-6A95128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48250"/>
            <a:ext cx="1238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442FE2-0F9A-44B3-9560-804D2C3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76825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expected data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AF9D5B-C204-46FC-BFE3-DFB4846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0"/>
            <a:ext cx="1200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43AB95-4278-4AC3-8647-695BA258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76825"/>
            <a:ext cx="1009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sim checker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11584E-0CC9-4EF4-856D-9CE89C1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48250"/>
            <a:ext cx="1276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F5818F-10AF-45A0-9AF8-D2C6D4A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76825"/>
            <a:ext cx="1085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value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FF7C33-560A-4D7A-9A0A-2ED3A4E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DESIGN DATA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5A2D54-E4C8-4CB1-816B-251A1800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38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B7C5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C5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483B45-7180-4A5E-BDEE-D9515E51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769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VALIDATED SCHEMA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80D09A-DA6E-4DF1-86A1-B06DAF10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38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B7C5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C5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E0B458-A6E1-4AE2-80B2-DAE4D171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7690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GENERATED TOOL PLAN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0EFE7E-3887-4BE0-B2BC-C0DCC0BC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388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7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Core Tcl never changes for a new legal value set.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F30898-9730-4507-BFF0-AAEB38C3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336A5C-EE91-405F-8090-586ABE10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integration boundary is explicit: designers own intent; automation owns translation and validation.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553EAC-78DB-446C-BF7A-B9964818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8053A1-891F-4E91-BC0D-E23C8525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7554039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378CA-0E7F-4BF1-822E-E6B0E1F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MANIFEST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EAFED-238C-40A3-80C2-DB1DFF7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8D251B8A-8E68-418C-96C3-07892DD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Field ownership makes manifest errors fail fast.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0B049-236C-448E-89BA-B4836DF4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6EFEC-E7B9-44B9-A653-522E7E6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FIELD OWNERSHIP AND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BCA4F-9A2D-419D-94CD-D62DCD0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63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66B29-16DE-469D-BC61-168FC959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8859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B6D80-7C17-4B6A-94DE-44D1909B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1857375"/>
            <a:ext cx="35204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54705-7FBF-4FAA-80C9-3DD099D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885950"/>
            <a:ext cx="29616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B7D39-8D9B-4ABD-B158-5C3C28AA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1857375"/>
            <a:ext cx="374396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44416-8089-41B8-8086-D45362C4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1885950"/>
            <a:ext cx="31851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REJECT WHEN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62131-6D6F-440B-BD1B-B41C6219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973DC-BC5B-4712-B087-8D068A4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209800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top / filelist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892D9-BAC2-43F5-805B-A848E495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181225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E25E3-E46F-486B-9152-2D2DBFE1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209800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reader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39959-CA44-40ED-AF9E-BBD0DB1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2181225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78147-7E63-4521-AEAE-7FA6A27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2209800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module or file unresolved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5262F-AC95-49EB-AA46-A44855AB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6AD754-E655-472F-A30A-40049655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619375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die_role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CB309-7E4C-4467-8509-26D1338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590800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37763-8D77-47CC-ABA7-AD1111C4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619375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resolver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15FEB9-17AA-442C-AE3C-1F0DD9D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2590800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2295A-0911-451F-BF36-C9B1831A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2619375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not base / middle / top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2589C-8CF7-4062-A4C7-C0D5ABB4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F3E282-8222-49BB-996F-5A9D88D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028950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clock / reset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300A85-34DB-4AB8-B12B-7F39BA75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00375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CC53B-F239-4F9D-BB90-47790BE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028950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config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630905-3CB2-496C-8168-5B10F724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3000375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9C29E-A54A-4B58-AFC9-DF5CE80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3028950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port missing or polarity 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3A7E6-3996-4FAF-8CD7-666C4EF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DE08A-1152-4EFE-B21B-46BE616B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438525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ijtag.host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F85AEC-C716-4C9D-8A00-1F878665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409950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42EDE-9C94-4BF1-BECA-8CB5124C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438525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builder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C2C5D3-856F-4785-BEF1-68D0222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3409950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ABE1C8-33AA-4FC4-8088-9CC6B86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3438525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conflicts with role 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18134F-2206-4B09-9C2D-EFF890F6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0C0FB8-3703-48E3-8E26-A753FCB7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848100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instruments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30B345-A0CB-49DC-89BB-0FB4BC6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819525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3CA2B5-DDD6-4EEE-B933-2B5848B6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848100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TDR / SIB builder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7B2AB6-97F9-412D-98A6-2A894B1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3819525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B17A46-AC7A-4C96-A9A6-1AB569B3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3848100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instance or width invalid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BC8C25-FDBA-4165-A363-86C667A2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C8F77B-286C-48A8-8EFD-BC54C33A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257675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stack link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AD40A4-F06B-46A6-ACC4-616F0E68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4229100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A84345-AD7F-42B0-BDD8-22227FFB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257675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composer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46C968-E3C1-4472-8660-8DC09B1F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229100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CF7C1C-186C-4F9F-A0B3-4DCD2B9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4257675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or port mapping missing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5230D6-E94B-4621-A87E-0E7CF376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92A14E-CF98-4254-A4D1-B69112FC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667250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dwr.inventory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E7D744-B8A6-43FF-AB99-82144D55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4638675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8E5552-725D-45FA-BF42-1319A55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667250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planned DWR stage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EDA0B3-401C-420E-838E-9821E711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638675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52EE18-9C7A-421C-AF34-D4ADA20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4667250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reserved for next step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6E0C7D-105A-4EA1-ABA0-6A95128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63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442FE2-0F9A-44B3-9560-804D2C3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076825"/>
            <a:ext cx="3073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expected data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AF9D5B-C204-46FC-BFE3-DFB4846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5048250"/>
            <a:ext cx="352044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43AB95-4278-4AC3-8647-695BA258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5076825"/>
            <a:ext cx="296164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simulation checker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11584E-0CC9-4EF4-856D-9CE89C17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5048250"/>
            <a:ext cx="37439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F5818F-10AF-45A0-9AF8-D2C6D4A5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640" y="5076825"/>
            <a:ext cx="318516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target or compare value absent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0EFE7E-3887-4BE0-B2BC-C0DCC0BC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Core Tcl never changes for a new legal value set.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F30898-9730-4507-BFF0-AAEB38C3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336A5C-EE91-405F-8090-586ABE10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3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integration boundary is explicit: designers own intent; automation owns translation and validation.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553EAC-78DB-446C-BF7A-B9964818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8053A1-891F-4E91-BC0D-E23C8525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7554039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9EEF0F-AE66-45BE-9C59-7D3215B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EVIDENCE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67E9C-BEFC-4E67-925E-1F51B32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43CB437E-E5A7-43FD-8BDE-776D6C59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1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Each run produces a complete, reviewable evidence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76E15-3EEE-457A-9CDB-CE87F52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9B7A4-B68A-4A86-97CF-1021B6E9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RUN-SCOPED ARTIFACT TREE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AD45E-CAF7-4E72-9813-D9845414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3143250" cy="39433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031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E1803-F482-4031-90DE-D2356EFA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0035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run_2026xxxx_xxxx/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00_inputs/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resolved_manifest.yaml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input_audit.json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01_config/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generated_config.tcl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report_config_data.log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02_per_die/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post_dft_rtl/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die.icl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tsdb/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03_stack/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stack_top.*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stack.icl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import.tcl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04_patterns/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└─ 05_simulation/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0DC7B-41FA-40AF-9CED-04FE9A6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571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EVIDENCE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6A71F-8A8C-450D-9EA8-3B20383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573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33BCF-AA37-4BF9-A4A8-6F0AAC43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85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77A07-D7DA-4CDA-A62F-54E6A8E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573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B7790-A666-4BEC-8902-16B68B60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CREATED BY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95A4C-6CE7-4B35-B599-9AC29A27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57375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4DB10-E8B0-43B1-81C8-8DB1163D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PROVES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C1A67-13B3-46D1-977B-1235012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5003B-0D31-4B7E-9F05-1927C663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CONSUMER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C3EB4-0D93-4096-804E-7D585BBC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812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09D5C-C8B5-4700-8CF7-DFBE1B83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2098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CA29E-4C37-4E83-802F-170B9523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BC60D-ABF7-4AA4-BE49-AED1C66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098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Python pre-check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7FBE9-2F12-49F6-96BB-320D278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81225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F5D51-5452-40B2-9E41-1137E13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exact inputs and resolved defaults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C3BF6-7B5D-4A26-9D85-261A7DA9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81225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0CC4C-AB92-4BC9-BACD-485EA3A8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flow owner / regression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98F62-AA5A-43B3-A131-1F151CE8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9E39C-D219-462A-84E2-6B1F97E8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3842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config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F4964-F863-41EC-B290-EA1ED65D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098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C4E20-018B-4136-9D43-435D450F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3842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configuration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2C68F-9853-4017-B728-950AA788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13EFE-E961-4846-8CEC-8409AF66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384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host, SIB, TDR, and role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5B86C4-5AA2-46C3-95BA-2A7121A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86F5B-827F-4EF9-BA4E-3DB7567A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384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reviewer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03511-AEF4-4992-8921-10BB9F73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384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306E5B-6848-47A1-BB0A-050DE01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670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046D4-0A96-4519-AF0F-9F6768CA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384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598F3-D8F2-4765-9B53-D06BFECD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670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per-die insertion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F8475E-770A-4915-804D-0A5F5C6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38475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4D5D12-95A7-458F-906A-548CE151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67050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implemented test hardware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CBC201-20C7-4DB9-A025-6158885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38475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1EFF8A-2112-4D44-BF91-39D3165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/ integration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23A489-28AF-42F6-9FD0-E051D80E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671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1ED5C-ECFD-4C17-B7C6-A889FED1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9567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per-die ICL + TSDB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CBA64A-DD9E-46E0-988B-46D7AFA0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671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D231F5-79F4-461B-9400-0834B1C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9567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extract phase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CA319B-EDA1-4D72-B5CC-3321A4F3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67100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7DC1D2-5E3F-45D6-BB0F-23B83803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9567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hardware access description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31D928-2CE8-493E-999D-041FB6C7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67100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A94813-C3DB-4FC3-8957-E93103C7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9567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composer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8894F0-33DA-4C5F-A7A6-436D09EF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957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E1943B-87A9-4073-83EB-8A456976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243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stack_top + stack ICL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7381DB-06D2-43AD-A4AC-ED0F4051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957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355F00-737F-40B6-85E2-35F3155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2430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phase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0316D4-85C2-42B4-B718-3C808DC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95725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6B5E5A-663A-4374-B25F-9A18A236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24300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order and serial connectivity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52FE62-2C4C-4E3C-B148-F41E90D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95725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5319E6-D764-4E8D-B8F9-52C157E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 engine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E6A1B8-551E-4AAC-B56B-8582090D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243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F4C8AF-FC5B-43F6-BD02-159C2739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5292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import / retarget Tcl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7F1465-2E13-4CF1-826F-EBFC0F8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243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346620-1CEC-49E0-896D-42DECA40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5292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generator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9974CD-28C0-43F4-AE5B-C916C1BA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9BE48A-C437-406C-B9FA-0FEC61BD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529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reproducible target selection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956423-09F0-48B4-AFCA-6FA9F8D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24350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1D9DAC-EF41-48F8-84D0-5EF2373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529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 generation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311126-B243-4603-9A46-C45C07B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529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44FA83-5815-4CAB-AC42-0F044B6A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815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pattern + expected data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C80ADC-399E-446C-878B-7C2B5073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529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6263D5-8589-4F99-8F0A-CDB6001E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815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D73239-2678-4472-800F-D6C9C8AD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52975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D4E1D6E-008F-4601-8BBC-E90ED1C8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81550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intended control and observation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7B804E-65F8-4FE9-AAD5-CB9C0058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52975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2D95E4-DFD0-4EE3-B3BB-6DBFFB2F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9D5D9F-77FD-49E8-9563-28168663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EAD991-68F3-4BE2-86A4-4EDED4E4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1017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simulation report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13C831-29B0-4866-B39D-D93CAFB9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816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DDEB869-9E17-4B15-BC96-D5A9AAD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10175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92EE1D-618F-424B-B26E-B4CD985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81600"/>
            <a:ext cx="2228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2332589-2F7C-4C0F-867D-600F711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1017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behavioral pass / fail evidence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C77B5D-42F6-424C-9EE6-1E414536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81600"/>
            <a:ext cx="2362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E6EAC9-9F66-44B4-BF4F-8B232E6F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017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sign-off / handoff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0F07B4-08F6-47E2-A98E-A86F1DF1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00700"/>
            <a:ext cx="744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0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A run is promotable only when the artifact set is complete and internally consistent.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010D3C-E5BA-4C96-B8AA-AC3676C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7B7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7DBE6E-38E4-4CB1-A8A0-8A194814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7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evidence package makes results reproducible, debuggable, reviewable, and transferable to another engineer.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3F471B-1BB8-4D03-BFE3-ED8BE825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1408130-AAF7-467E-AA5E-3BF3480A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7520808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8A08B-3AC2-4E41-95CA-AC4F093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FAILURE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C07B2-E507-4B2A-A165-E8727398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EE5FE763-4958-47CB-A609-0B786945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Each failure maps to one owning stage and next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4FC4F-878E-48BC-A4B2-118B8BC8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3038-FB96-4BC7-9683-B83EDB67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DETERMINISTIC STOP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6FB12-3B0F-452E-B896-C01D4F17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5E6D7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71316-20D8-42AE-9920-CAE0B2BC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cxnSp>
        <p:nvCxnSpPr>
          <p:cNvPr id="30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809750" y="2019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B36CA-40B3-43A5-8E72-4FBE36F4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cxnSp>
        <p:nvCxnSpPr>
          <p:cNvPr id="31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2019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B5709-A1C3-4199-9FB6-18334855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cxnSp>
        <p:nvCxnSpPr>
          <p:cNvPr id="31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33950" y="2019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E4031-222A-43BB-8DAE-EC2279B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3F7B4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cxnSp>
        <p:nvCxnSpPr>
          <p:cNvPr id="31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96050" y="2019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6BF08-B75C-4BEC-94ED-B86CB37D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cxnSp>
        <p:nvCxnSpPr>
          <p:cNvPr id="31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58150" y="2019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02E8D-A089-4202-84FA-50EA750A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2001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B94A4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cxnSp>
        <p:nvCxnSpPr>
          <p:cNvPr id="31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620250" y="2019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A411C-4994-4931-B308-6955380E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SYMPTOM-TO-OWNER MATRIX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53D7B-A38E-43D5-9F16-985DA325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87AA3-BFEB-4D15-BF51-DEE7332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SYMPTOM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F2EF9-3FEC-4B93-A314-E323EEA2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606D3-B669-4B34-9BD0-1DDED87B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7177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2E13A-4C6A-4236-8368-C4E8FA3F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4320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1405D-425D-45B1-9CED-A798176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717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 EVIDENCE TO 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ED8A0-926B-4D03-8724-EB5B7E5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25DCC-7809-4F3C-B5FB-F226B2B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LIKELY ROOT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A49AFD-46C4-437B-8AA5-C4F4534E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2495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7B5DF-4A86-4895-8F7D-84986A50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1775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B38B8-0630-4B03-AA40-C0758B45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99B10-307F-4E02-ADE6-94A9BCD8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Top module / port not found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4E3BD-3062-40E6-B5FD-881BBDE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2F4902-30ED-4E64-9A15-C08919CD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76575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ABB1EF-2211-4E97-A310-C36EFC2F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2E8A3D-EEA4-44B6-A9E1-F63A7FEA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76575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input_audit.json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2E22DE-00AE-4688-B847-17F16DAC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7932A-A533-4AEF-A8A0-53553B08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filelist or manifest mismatch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60BC14-FFB7-4CF6-9D75-B0AC828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180D75-E6D4-4973-AE8C-95E6C3DA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76575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correct input; restart from clean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4A15E9-F173-4F7C-A2C3-FBB170DA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25A7E7-048F-407F-BD4A-DF656F9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Illegal host or role conflict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FF2614-E20A-4C1E-A442-6AD010DA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57575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F7001-D98A-46F3-9388-22EA1FB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2A2FB4-1602-4F00-A47E-99A4626C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575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506C48-992E-4B12-A9F9-8EA7D9E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8615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report_config_data.log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79996A-474A-46F1-8D35-1052AF6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523BDC-6B87-4A0B-BC8E-89967A30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policy or duplicate host root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DC1840-CD4A-48DA-AFA9-325CE5D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B410C2-CD02-4AB8-95CB-FF2170A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86150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fix role / host mapping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E2853C-090C-49FD-B2BF-D04E21F5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612177-28B2-4D19-B036-3E2EEB8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Insertion DRC failure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E3948F-3E15-45AD-983B-A2D7538F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67150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61A292-BC1C-4254-852B-BC587223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95725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FD2A62-A68C-40FF-95E9-5A161761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2B7E8E-0698-49E8-A9EE-37F02B2C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95725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 log + post-DFT hierarchy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A18ACD-FBED-4E5D-A1DB-1265D41D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73F2EB-2EB1-411A-855D-24EAE3CE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957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clock, reset, or unsupported connectivity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CE9D24-51AF-42CC-AF94-9E424220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67150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2D34E1-2459-4D7F-9AF1-A9621DFE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95725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fix DFT config; reinsert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1E30A6-CAD7-4195-BCB9-218DCE16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EAC450-8536-49C5-BFBB-8B575DB9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no source / no destination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C265A5-0248-442E-AC37-0C4C536A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76725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D0435A-39A0-4A65-A435-402C3E1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05300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7C9C68-7480-47E7-9BF1-EC7A104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7672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A7F01F-2250-4EF8-8833-69700988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port path + extraction log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0A68EE-8AE6-4997-8A8D-6D7161CE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142226-39B3-4F5F-B89A-C76BF1E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floating or unmapped stack endpoint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D1E7E8-2CBE-4FAC-9813-A1EBBB8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412F013-9009-4DC5-B8AA-BEC4F9B7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repair RTL / stack connection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90D1C7-3CE9-4899-9AF2-D5BB4BA1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3CCC31-DE3C-495D-BD48-6D9E3ABD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visible but inaccessible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E638B9-A6ED-4655-8FA0-4DD60125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2A5758-41C6-449B-B3E5-EE81F797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14875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3ECD94-6B4D-42A7-B675-9A4CF01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863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66A78B-A0FA-4AB9-813E-6D93D247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14875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reachable-target list + ICL route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F06E90-8E4E-4462-B8A1-8182BD7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1E6D75-77DE-4A54-B72A-7073C79A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wrong access root or closed SIB path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5B152F-80BC-4E70-AB54-D8C9CCE9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5F1C6EB-A6BC-45D0-BABB-AACBA00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14875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trace PTAP → host → SIB → TDR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4126C0-EFAB-4A65-81A8-7A0DB640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E90A86-A7FB-4C19-9C3F-93AB6A9E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Care-bit mismatch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214D182-D144-4061-B8FC-3A8F2CC0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95875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5F9361-63C7-446D-A382-CCC44540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24450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5B62492-3DDD-4811-89FB-83A92D15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C52408-AD26-4D00-B48D-46E4701F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24450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waveform + compare log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93B1AC4-5DA8-429A-9F00-3F1C8374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6362373-D883-4C95-A4CC-3D724406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phase, edge, expected value, or TDO timing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DCF465-33C9-49B6-86EE-6E3C66BD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95875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B2E5CD-FAA1-4701-96A6-F0F44D92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24450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trace CE / SE / UE and compare point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B10244-7CED-43AF-BAFD-65173C85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266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F6605A-90DC-4390-981C-5D149D30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8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Evidence package incomplete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FF53DC-9A86-4E62-B92D-396B948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05450"/>
            <a:ext cx="1066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40814D-A695-4035-8A17-0ED0128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34025"/>
            <a:ext cx="87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9F19286-7D92-48DB-85CA-FE01672E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054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60F18A-74A9-4C5A-8C58-FC94B05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34025"/>
            <a:ext cx="2057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artifact-tree completeness check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33E43D8-0B91-405F-AC4C-498241D4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2819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D0BCCF0-A223-458F-BD84-279915D5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34025"/>
            <a:ext cx="262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pattern, log, or expected data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C5A53FD-4423-4036-A5C8-E4AAD1C1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05450"/>
            <a:ext cx="2495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84CB373-C0B9-4380-BB12-7F2E6C1D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34025"/>
            <a:ext cx="230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block handoff; regenerate missing artifact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3ED9E8-C170-4E6C-9BDF-89D3E2E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4A4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2F0A51E-92FF-4A55-90DD-ADD904C9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flow fails at the earliest accountable stage, so broken artifacts never contaminate downstream debug.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A1777E-7F0E-4A89-BE76-FEDED3B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4A86649-5541-41C9-9B88-8AB13550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9557772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860819-5BBF-4316-A308-4D060268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DWR SIGN-OFF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6364F-C34C-4709-9268-8EA9CEE5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2AC2F6A3-EC4E-439B-BB10-330A029A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1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Planned DWR sign-off requires structural and behavioral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AD1BD-3868-4B76-94ED-750B12AE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779FB-1A27-411E-88DB-0D7F2BE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TARGET INTERFACE INVENTORY · TBD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BF9EF-BA92-4791-A087-624D674B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143AE-9928-4EE0-92A7-5C90325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082F9-957A-4C3B-AC15-6A4B628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8097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684B3-35A3-4667-9648-B2CCFB06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3832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SRC DIE.PORT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CF931-EA58-41EF-B57D-F880143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9DE31-1B9F-435D-AE86-7E92A4E8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3832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DST DIE.PORT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80232-4BA0-4E59-8E9F-C30FE188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97C2F-05C6-4BE0-8DA1-0C0B28D1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38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4F97E-5A6B-4869-A678-29D33F8A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3A3A5-34B9-4C0E-8994-596A2C1C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383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FE66D-DD60-46BE-A0CF-44EFFFF8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25B1F-D21E-469A-BBF9-01D85C09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38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ED425-605B-4481-B086-D3390405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0445C-1CBE-4155-A1C6-EE21B31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383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5324D-C43D-4BC4-BCF9-72EB5CA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1CCB4-0D2D-482F-AFD6-3F661C76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383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15F77-F884-4BA1-B957-E7B7E2C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B1E97-3D19-46F7-9CDF-F700DDCA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DATA_UP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BFD15-3DE6-4CD1-AC6C-B5F83780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A2B1E-3D3B-4E21-8AF6-6CD2F604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431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92853-5109-4650-ADB7-02924EA0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66044-B1B3-4466-9BD5-BF68452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A83B8-1E52-4AC6-BE0F-0303F65F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1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FCD33-8F45-47AF-B7BA-36BB5C2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43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B7278-E817-45D6-ADBD-2FB3214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999D5B-843D-47B0-B535-27F7C11F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63E6ED-1C23-4950-9889-8AE06101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15FB1-92E9-4349-B3E7-476A01B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431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E676B8-53ED-4F96-8DC7-AC24EDF3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E39FB1-FA3B-403A-BC1A-1B38A01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431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drive / capture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32C572-7BA3-4BAC-832B-CECC27DB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9AAA64-311C-40CB-A013-B3E17AA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FE6AF6-68AF-4585-A718-E3D51215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D8C3F0-474C-4BDC-A426-8BF62BE0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CFG_DN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BDC815-82D3-4946-9056-8CA16743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95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D66909-4BE0-44D5-A1D6-FBD228F6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241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098F57-220D-46B1-923E-A9C9A8E4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DE6F0-8905-4BCD-AAB6-9C73E43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754AEA-1710-4DD8-B24D-6934E55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95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4E2248-1111-4AF4-B7E5-E3F0688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24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D1A9A2-36BB-4CB5-9980-4C76CC1A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352A2-E0BC-4D43-9BD0-52D22D63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24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ABB09D-F466-47BA-8F74-D7E2B654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FFBE34-2EE5-4FD8-899F-F640346A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241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89D6EE-1063-4173-9BF3-96C43BEE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1AE907-616C-480F-943A-626277C0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241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drive / capture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0D4918-2CBA-45F8-999F-C12A6A80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F0A246-CA42-49DD-AB8B-72FE4AFA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24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3A1554-F16C-424C-BC74-127C95BD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BC1F45-D5E7-47BD-928A-5218D720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IRQ_DN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79A3AC-1C49-4552-9DD8-A93A6DE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2694E8-4100-4D71-93C7-F75DA02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B3F5B4-0DF1-47E2-B260-C96B7119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88E8A1-2950-4D81-88B9-54A42AD7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254790-A603-4F75-824D-D7B2E73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76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9BCE13-0916-4E89-9FA7-844506C6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05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E46C9F-7593-4878-9176-2DFB363D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B2CC10-BF7C-451F-99D8-7992ECD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05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6C72C9-3A29-404E-910E-8C9C123B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D23224-835D-4AF4-B6A2-F88BE05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051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8BAFE1-57E8-411C-9CE0-1EDF20C6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752728-B206-4BDB-813E-9A8E169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051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toggle / observe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F934CE-37C4-4AFA-869D-21C3EBD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D203AEE-757D-4C66-A928-ACFA18CE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2CACFF-A02B-42D0-9A6E-46CF017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PER-LINK VERIFICATION TRANSACTION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E255D8-4663-4889-B344-99A3D079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790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89959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1 · INVENTORY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5B9F2B-339C-455D-8ECD-61363C58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76650"/>
            <a:ext cx="1790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DF5F8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2 · SOURCE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DRIVE</a:t>
            </a:r>
          </a:p>
        </p:txBody>
      </p:sp>
      <p:cxnSp>
        <p:nvCxnSpPr>
          <p:cNvPr id="1096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400300" y="39624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62CEDC-C382-49F0-8DD5-B83B1580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76650"/>
            <a:ext cx="1790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3 · INTERCONNECT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cxnSp>
        <p:nvCxnSpPr>
          <p:cNvPr id="1098" name=""/>
          <p:cNvCxnSpPr>
            <a:stCxn xmlns:a="http://schemas.openxmlformats.org/drawingml/2006/main" id="72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610100" y="39624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9FA138-A186-4FC6-9CB9-48C16144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1790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6F0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4 · DESTINATION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cxnSp>
        <p:nvCxnSpPr>
          <p:cNvPr id="1100" name=""/>
          <p:cNvCxnSpPr>
            <a:stCxn xmlns:a="http://schemas.openxmlformats.org/drawingml/2006/main" id="74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6819900" y="39624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D31C0C-3054-41FA-B74C-236228E2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17907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F7B4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5 · COMPARE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+ ARCHIVE</a:t>
            </a:r>
          </a:p>
        </p:txBody>
      </p:sp>
      <p:cxnSp>
        <p:nvCxnSpPr>
          <p:cNvPr id="1102" name=""/>
          <p:cNvCxnSpPr>
            <a:stCxn xmlns:a="http://schemas.openxmlformats.org/drawingml/2006/main" id="76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9029700" y="39624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345C80-CA05-473D-86F1-9E5DE79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SIGN-OFF RESULT MATRIX · TARGET FORMAT (VALUES TBD)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FED7A64-08D6-4886-B799-BB65D96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CF228E3-BBEB-4CB1-B4FD-9B6B49DE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67E5AD-72CC-4625-B73A-ECC54FE3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41EB2F0-09E1-4A7A-9C8B-E0C67CD3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10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 / WIDTH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BB7F56F-F46E-4854-B0AB-207B9787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81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9DE1FCC-FC16-4610-8255-EDA2BCE1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0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WRAPPER MAP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B69DEC-1284-462E-8B39-ED4DDED0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81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5D4AACF-280C-4F22-9165-C50CC8E9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10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E3F4899-9B9A-4FE5-9BC9-CA3B068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C32BF1-6EBE-4C10-A458-20F50E2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0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 COMPARE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44E038-F49D-4009-B95E-B50D45E4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F4D9A3-FD19-4529-B033-6DED9ACB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0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E16C2E-4B8E-4725-A620-3B54041C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81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47C019-6CDB-4ECF-8126-ED3B8C4B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10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6A95B1-3921-48FE-9F1B-55A8327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51EA1AE-BD5A-4D62-9997-C1AF4B4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DATA_UP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C6B739-D83D-4DA5-89A0-F39DED89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4825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E98C34-A4D8-4E73-BB97-AEDE3B16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76825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A580F9-60EE-4163-BEF7-C8EA0BC7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482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10DF09A-9A18-4F1B-90EF-4BD3CDCF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7682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11CCCE-02A2-4EBA-9A93-5688275F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4825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14783E9-EAA4-4055-AE5D-61DF5081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7682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83D082C-1F58-466F-B715-F603C47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D931E67-81D5-4D5B-B822-21DB6299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7682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AB8585-7438-48EF-8E97-7A25104F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B1D7A1-18C9-4278-8956-9C34A5D6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76825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4F8085-DAAB-464C-993D-EA15F9F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482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B906823-4791-45C4-AE26-840E9984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7682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 be generated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2CF6257-D9F6-4CE8-A3E0-883FF70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BEFA916-DC24-45E6-AC0D-C61AD29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CFG_DN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5D71AAF-7918-4EB9-8AC5-5A08055A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8637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D75F44B-522C-4206-8D2A-2C173888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B362FBA-FFB7-4555-BBFC-40A9F356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637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2CD24D3-52CA-4F67-B13F-25A35401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149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921B27-EBB4-484F-BDBD-58D2D8CE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8637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8C0FD8E-392E-40F5-AFA4-91E90ED8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1495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F13D0FE-8A60-44E2-AF9F-87548B76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8637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DF15DDE-9C38-4D82-9B2D-F0A1396F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5414F42-B378-4FF4-93A7-84F8B6D8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863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1BFB31A-74E9-40C1-A204-C1B5AA42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5727429-64EC-4DCC-A74B-4FE586CE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86375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523D617-6A87-49CA-92C2-C320669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1495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 be generated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ACF501D-39A6-4980-8AA0-F9056E3D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ECCE82-96B6-4099-83A2-44E41095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53075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IRQ_DN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4EC6C5-63E8-4D17-91C3-7D99F065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C191A8-00F7-4A5B-A312-EDACBC66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53075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19CC368-ED20-40A3-88E0-D5FD2C54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245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F5B7C03-3201-49D2-AD68-A7A7472D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5307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1D2D6C0-7264-4D60-ACDB-6A432DAB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245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2FC2410-A63A-4355-BBEC-8C131E16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5307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1356D4E-A12D-4584-B144-5CCE0F2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245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157A9F1-A239-40E1-9101-DDA5F1D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5307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3B5517A-FB8A-4B7E-B7FC-E06928A7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2450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B471F04-1EC3-4D0B-B975-614C160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53075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CEF054A-E04A-4B29-AAE9-4D7C4CD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2450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A305F0D-F8D7-4B0E-98D3-8F24286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53075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 be generated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790273D-8CC8-43C0-A515-9DD583D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AF18CCB-BFF2-4F24-AD3F-77016F7E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076406D-F44D-4E2E-A3F8-DF5AB10E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62625"/>
            <a:ext cx="152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38BA363-0A8A-42E3-A89C-B98ABB40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91200"/>
            <a:ext cx="133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7D68E5E-A9A5-457D-9AFE-902AA94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626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B3724D7-17E7-4DBC-B080-1296AB70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9120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E44FDEF-54F1-47BF-AD86-F7904FA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7626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4295E8E-7CDC-4CBB-B201-FECE1346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9120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AD028C4-0F3B-4E9B-AFBF-AE44D6D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62625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B1FA401-EE34-4D6E-986B-B06757D5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9120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918B400-6631-4E7E-AD56-27607A1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6262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4BADBC5-F4DE-4ABD-9273-1BFF2C50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91200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B51FA6C-AD58-4259-92A5-E672211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762625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EA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1A5D76E-518D-4AF2-BF6A-CE6A3311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9120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link_matrix.csv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BBD85D3-39A3-42B4-98A4-DA0355E6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6B30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0262DBC-5202-432F-847D-C17FF25A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Planning template only; confirm every value after complex-die and DWR insertion.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8DDB1BD-F187-46F8-85EC-644DC33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BA4F43E-40EB-4552-BBAA-8918270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448612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CA32A6-7CD7-4671-AB03-5394840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PATTERN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D710B-6B96-4B09-8060-4EC568B1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28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9216A2BF-3D36-40D1-AA37-90159D4B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9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 sign-off requires a traceable access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505B1-5D15-450F-9105-92C87C5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F2008-4336-4480-8EDD-716A3DC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TRANSACTION TIMELINE · CONCEPTUAL TRACE, NOT A CYCLE-EXACT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BD3D5-F662-406D-964F-3BC14F10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3A91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01464-E260-4217-B14B-FF4D443F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85CB0-3400-48A6-AC2E-3143101D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716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B51BD-3154-4285-8F4B-27F928C6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Load current TDR / instrument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B1A27-94E4-4C51-AE82-F70D289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8440A-8518-4026-9884-C8B09EBF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62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2807D-8AAA-4A0D-9B43-1FC84F7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716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617D1-D9B4-4723-99E9-B4557386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Serially move instruction, SIB, or data bits</a:t>
            </a:r>
          </a:p>
        </p:txBody>
      </p:sp>
      <p:cxnSp>
        <p:nvCxnSpPr>
          <p:cNvPr id="37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33700" y="2295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8DE91-2D45-4DB5-B068-9E8F2E9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96B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7FA73-D80D-4954-9EB0-F4FEB86B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DB91C-44EB-4238-850A-B237E49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716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3B55E-3406-4581-949C-4A3F8532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Commit the shifted value to the update register</a:t>
            </a:r>
          </a:p>
        </p:txBody>
      </p:sp>
      <p:cxnSp>
        <p:nvCxnSpPr>
          <p:cNvPr id="37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657850" y="2295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4A4DB-0437-4504-B4CC-00D3C571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2324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B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4FEC9-F4A3-457B-BD46-B1A2E08C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621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C7631-39C8-4482-BC51-7434B76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716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7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IDLE /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64BD4-C7A1-4FB5-BC61-7D727FD8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Compare TDO or begin the next access transaction</a:t>
            </a:r>
          </a:p>
        </p:txBody>
      </p:sp>
      <p:cxnSp>
        <p:nvCxnSpPr>
          <p:cNvPr id="38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382000" y="22955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1D02E-3614-4FBF-BE4A-AD469191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SIGNAL-LEVEL TRACE CHECKLIST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58ABB-1379-468C-B7F7-4BABD916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1AB40-030C-43F4-B635-72280F8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 / ITEM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AD97BB-EA5E-4D15-9431-36E221DB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956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0ADAE-8CC5-4FB0-B534-335EDF5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242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QUESTION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EFBC6-0560-49B8-B0B5-1282EB55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3733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9312D-C58B-40EE-B946-35E1718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24225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INTERPRETATION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F66D8-E03E-42AF-BBE9-F302B0C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9"/>
          </a:solidFill>
          <a:ln xmlns:a="http://schemas.openxmlformats.org/drawingml/2006/main" w="11430">
            <a:solidFill>
              <a:srgbClr val="173A5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F1B16-5967-4767-91F8-83B2D78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2422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COMMON MISREAD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F99B9B-19FA-4432-8BBB-3F1779CB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BEADD-AEF6-4350-B9B5-0964BFCE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2BE333-C2DA-44AB-9F04-43B04E02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814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CB5644-EAAC-45DA-BFB1-F658EE96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99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capture register is active?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82B2A1-24F5-47F5-A0A1-72659F7E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157A1-2D7D-4788-A8A4-33542D37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99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Loads a response before the corresponding shift.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D9E64F-83E3-46B3-B6C3-AFF6D2D2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F493E1-A030-4716-98DE-920434CE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99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Treating capture as data output itself.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10B470-C742-403B-AEF9-3D3E3D49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3E9A4F-BCA3-4416-9FE6-6A741B7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820600-9BED-4542-9CEF-64323A2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243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805B9E-383D-4A72-A183-0787D05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528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serial segment is selected?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2D875A-D697-4BFC-B110-4193055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3AAD9E-427F-4F49-B594-15162E09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528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Only the active scan segment shifts on the defined scan edge.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C78D1A-6CE0-420F-9B87-56624A9D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35FAB2-63B0-43B3-AC5F-987538D0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528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Assuming every SIB / TDR shifts together.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AB43B1-E312-4984-BAB5-420EB115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791FE2-3760-461C-AD53-463E7C16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CD3F48-549D-48CC-BA24-A0998F5C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672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4A0099-818F-42E2-9C30-4F49ED2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957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update register commits?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32340C-2BB6-435D-8C25-A41F5989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672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D41F5E-BAF9-4D4C-8B95-8C9215BC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957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Makes the shifted instruction or data take effect.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9F865B-AF74-4E57-8D91-00EC37D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D25366-C52D-45E1-BAAA-9F721F4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957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Expecting functional effect during shift.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1EAAC6-58B1-4E66-93C6-A7DAA38F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BF399B-E97D-461D-80D1-88B96677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SIB state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69D447-35E3-43D6-96B7-F42813DA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101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D9319A-369B-479E-9B63-418DAD28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386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Open before the target shift?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A7D6C8-8F87-4D15-847C-65EE6A6B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01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CC1FF1-48D6-4447-A701-183088B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Controls whether the downstream segment is in the scan path.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930105-366F-42C6-ABD4-AA193C74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7BF481-3E4C-4755-A26F-9A81E998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Reading SIB toggles as random activity.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EEC3AC4-A861-40AD-8BE3-DFE812A7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E8745B-4BF5-4A60-B90F-9F764A5F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TDI / TDO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E71C417-C167-417B-87C8-3411D7C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530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89B921-4683-45AE-89B7-2C80FD2C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815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What bit order and latency apply?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D7EB18-D013-4B44-B5FD-C6116D77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CEA87CC-2A0F-4750-AB91-5BE02726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815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and response traverse the active concatenated path.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90FFBA-DD9D-47F4-9637-0E40A3B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394A09-0C95-4567-8D89-26B69F9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815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Comparing TDO with zero-cycle latency.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0EEAE3-1D88-4D7B-854F-480B2C74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C23577-BAC1-452E-B1A3-3E6FBF6C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TDO_EN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D56497-8834-44C8-9B73-61FFD8D4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FEB244-6C12-4405-819F-1271F0A5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244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Is pad enable or internal data being inspected?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353BD2-C960-40FA-961D-FF438DEE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873C8D0-E916-4474-906C-F31856EC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244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Pad-level enable can differ from internal scan-data validity.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204304-CE00-468A-AF4F-8032746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A5CA4D-DF77-4F2B-9169-DD740918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244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Using TDO_EN alone to infer internal TDO validity.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B334D65-891E-42F9-8FBF-5B3D2A9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36E25B2-FF5C-4376-959D-E14B96DB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Clock edge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AE96EC-EE0E-46C1-BD82-9794665C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388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A57923-692E-453A-8B21-1CCA2B9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6737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edge shifts and which edge is observed?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FABD92-DF10-4554-835E-85868CD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388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2EB43E-F50A-45B0-8A11-7EA288EA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6673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Checker sampling follows the generated procedure and model.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A74F15-1285-4E4E-83AD-700A79D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38800"/>
            <a:ext cx="3086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B8B71D-064C-4BC8-AE78-CAFA2A34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673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Comparing on the transition edge.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246B51B-1C21-4DC0-812A-3E4FD53F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381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B9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A8864D-89E6-4468-80F4-40F6C6F3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checker should explain every phase transition and compare point; a visually plausible waveform is not sufficient.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72263E5-18C7-4B30-A745-1B180E05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7C0E23-8927-4248-AB2E-7128EC2E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397464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2026-08-02T04:59:50.8790000Z</dcterms:created>
  <dcterms:modified xsi:type="dcterms:W3CDTF">2026-08-02T04:59:50.8790000Z</dcterms:modified>
</coreProperties>
</file>