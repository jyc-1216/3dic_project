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c440c0626544d82" /><Relationship Type="http://schemas.openxmlformats.org/officeDocument/2006/relationships/extended-properties" Target="/docProps/app.xml" Id="Ra79580d327af4e1f" /><Relationship Type="http://schemas.openxmlformats.org/officeDocument/2006/relationships/officeDocument" Target="/ppt/presentation.xml" Id="R8510b8a0b96f4df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64224836f8746c3"/>
  </p:sldMasterIdLst>
  <p:notesMasterIdLst>
    <p:notesMasterId xmlns:r="http://schemas.openxmlformats.org/officeDocument/2006/relationships" r:id="R49a2e3250c2c4f44"/>
  </p:notesMasterIdLst>
  <p:sldIdLst>
    <p:sldId xmlns:r="http://schemas.openxmlformats.org/officeDocument/2006/relationships" id="256" r:id="Rfa40835dbe68465a"/>
    <p:sldId xmlns:r="http://schemas.openxmlformats.org/officeDocument/2006/relationships" id="257" r:id="Re235519eab2b4cae"/>
    <p:sldId xmlns:r="http://schemas.openxmlformats.org/officeDocument/2006/relationships" id="258" r:id="Rd33bdac6f4044ee8"/>
    <p:sldId xmlns:r="http://schemas.openxmlformats.org/officeDocument/2006/relationships" id="259" r:id="Rcdbca2636dbd4e4d"/>
    <p:sldId xmlns:r="http://schemas.openxmlformats.org/officeDocument/2006/relationships" id="260" r:id="R9a72c8c5729f43c5"/>
    <p:sldId xmlns:r="http://schemas.openxmlformats.org/officeDocument/2006/relationships" id="261" r:id="R9df189ecee254547"/>
    <p:sldId xmlns:r="http://schemas.openxmlformats.org/officeDocument/2006/relationships" id="262" r:id="Rab48df370e4e4832"/>
    <p:sldId xmlns:r="http://schemas.openxmlformats.org/officeDocument/2006/relationships" id="263" r:id="R7ec124ba0a89483e"/>
    <p:sldId xmlns:r="http://schemas.openxmlformats.org/officeDocument/2006/relationships" id="264" r:id="Ra07443e5e1944467"/>
    <p:sldId xmlns:r="http://schemas.openxmlformats.org/officeDocument/2006/relationships" id="265" r:id="R962ab192760949a0"/>
    <p:sldId xmlns:r="http://schemas.openxmlformats.org/officeDocument/2006/relationships" id="266" r:id="Re450e94733a5413d"/>
    <p:sldId xmlns:r="http://schemas.openxmlformats.org/officeDocument/2006/relationships" id="267" r:id="R0692492be74c4e45"/>
    <p:sldId xmlns:r="http://schemas.openxmlformats.org/officeDocument/2006/relationships" id="268" r:id="Rd1103dded0e04a68"/>
    <p:sldId xmlns:r="http://schemas.openxmlformats.org/officeDocument/2006/relationships" id="269" r:id="R8d23351186f4447e"/>
    <p:sldId xmlns:r="http://schemas.openxmlformats.org/officeDocument/2006/relationships" id="270" r:id="R547b3c2d40574303"/>
    <p:sldId xmlns:r="http://schemas.openxmlformats.org/officeDocument/2006/relationships" id="271" r:id="R18706ea7b98a410d"/>
    <p:sldId xmlns:r="http://schemas.openxmlformats.org/officeDocument/2006/relationships" id="272" r:id="Rfeb9ec90ad924ecb"/>
    <p:sldId xmlns:r="http://schemas.openxmlformats.org/officeDocument/2006/relationships" id="273" r:id="R41434baf1ce24ba4"/>
    <p:sldId xmlns:r="http://schemas.openxmlformats.org/officeDocument/2006/relationships" id="274" r:id="R9c44a96a15b44303"/>
    <p:sldId xmlns:r="http://schemas.openxmlformats.org/officeDocument/2006/relationships" id="275" r:id="R58349fe9524145a3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eb887f9e5d0481a" /><Relationship Type="http://schemas.openxmlformats.org/officeDocument/2006/relationships/slideMaster" Target="/ppt/slideMasters/slideMaster1.xml" Id="R164224836f8746c3" /><Relationship Type="http://schemas.openxmlformats.org/officeDocument/2006/relationships/notesMaster" Target="/ppt/notesMasters/notesMaster1.xml" Id="R49a2e3250c2c4f44" /><Relationship Type="http://schemas.openxmlformats.org/officeDocument/2006/relationships/presProps" Target="/ppt/presProps.xml" Id="R7f086d8520f040b0" /><Relationship Type="http://schemas.openxmlformats.org/officeDocument/2006/relationships/viewProps" Target="/ppt/viewProps.xml" Id="R51ab584b5c274cda" /><Relationship Type="http://schemas.openxmlformats.org/officeDocument/2006/relationships/tableStyles" Target="/ppt/tableStyles.xml" Id="R99084bc2156c4446" /><Relationship Type="http://schemas.openxmlformats.org/officeDocument/2006/relationships/slide" Target="/ppt/slides/slide1.xml" Id="Rfa40835dbe68465a" /><Relationship Type="http://schemas.openxmlformats.org/officeDocument/2006/relationships/slide" Target="/ppt/slides/slide2.xml" Id="Re235519eab2b4cae" /><Relationship Type="http://schemas.openxmlformats.org/officeDocument/2006/relationships/slide" Target="/ppt/slides/slide3.xml" Id="Rd33bdac6f4044ee8" /><Relationship Type="http://schemas.openxmlformats.org/officeDocument/2006/relationships/slide" Target="/ppt/slides/slide4.xml" Id="Rcdbca2636dbd4e4d" /><Relationship Type="http://schemas.openxmlformats.org/officeDocument/2006/relationships/slide" Target="/ppt/slides/slide5.xml" Id="R9a72c8c5729f43c5" /><Relationship Type="http://schemas.openxmlformats.org/officeDocument/2006/relationships/slide" Target="/ppt/slides/slide6.xml" Id="R9df189ecee254547" /><Relationship Type="http://schemas.openxmlformats.org/officeDocument/2006/relationships/slide" Target="/ppt/slides/slide7.xml" Id="Rab48df370e4e4832" /><Relationship Type="http://schemas.openxmlformats.org/officeDocument/2006/relationships/slide" Target="/ppt/slides/slide8.xml" Id="R7ec124ba0a89483e" /><Relationship Type="http://schemas.openxmlformats.org/officeDocument/2006/relationships/slide" Target="/ppt/slides/slide9.xml" Id="Ra07443e5e1944467" /><Relationship Type="http://schemas.openxmlformats.org/officeDocument/2006/relationships/slide" Target="/ppt/slides/slide10.xml" Id="R962ab192760949a0" /><Relationship Type="http://schemas.openxmlformats.org/officeDocument/2006/relationships/slide" Target="/ppt/slides/slide11.xml" Id="Re450e94733a5413d" /><Relationship Type="http://schemas.openxmlformats.org/officeDocument/2006/relationships/slide" Target="/ppt/slides/slide12.xml" Id="R0692492be74c4e45" /><Relationship Type="http://schemas.openxmlformats.org/officeDocument/2006/relationships/slide" Target="/ppt/slides/slide13.xml" Id="Rd1103dded0e04a68" /><Relationship Type="http://schemas.openxmlformats.org/officeDocument/2006/relationships/slide" Target="/ppt/slides/slide14.xml" Id="R8d23351186f4447e" /><Relationship Type="http://schemas.openxmlformats.org/officeDocument/2006/relationships/slide" Target="/ppt/slides/slide15.xml" Id="R547b3c2d40574303" /><Relationship Type="http://schemas.openxmlformats.org/officeDocument/2006/relationships/slide" Target="/ppt/slides/slide16.xml" Id="R18706ea7b98a410d" /><Relationship Type="http://schemas.openxmlformats.org/officeDocument/2006/relationships/slide" Target="/ppt/slides/slide17.xml" Id="Rfeb9ec90ad924ecb" /><Relationship Type="http://schemas.openxmlformats.org/officeDocument/2006/relationships/slide" Target="/ppt/slides/slide18.xml" Id="R41434baf1ce24ba4" /><Relationship Type="http://schemas.openxmlformats.org/officeDocument/2006/relationships/slide" Target="/ppt/slides/slide19.xml" Id="R9c44a96a15b44303" /><Relationship Type="http://schemas.openxmlformats.org/officeDocument/2006/relationships/slide" Target="/ppt/slides/slide20.xml" Id="R58349fe9524145a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1a35c22801c48d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fff40976b6c43e1" /><Relationship Type="http://schemas.openxmlformats.org/officeDocument/2006/relationships/notesMaster" Target="/ppt/notesMasters/notesMaster1.xml" Id="Rcb1f8de6e2ed4f7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28d324fb9cb4cca" /><Relationship Type="http://schemas.openxmlformats.org/officeDocument/2006/relationships/notesMaster" Target="/ppt/notesMasters/notesMaster1.xml" Id="Rc98e87186427403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d849ee1c65f4a73" /><Relationship Type="http://schemas.openxmlformats.org/officeDocument/2006/relationships/notesMaster" Target="/ppt/notesMasters/notesMaster1.xml" Id="Ra4ae9251301d4ed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411f3290a264693" /><Relationship Type="http://schemas.openxmlformats.org/officeDocument/2006/relationships/notesMaster" Target="/ppt/notesMasters/notesMaster1.xml" Id="R7b48fb82546248a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777b89762e44224" /><Relationship Type="http://schemas.openxmlformats.org/officeDocument/2006/relationships/notesMaster" Target="/ppt/notesMasters/notesMaster1.xml" Id="R3a767c24ec994fe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e62ebb2868044dd" /><Relationship Type="http://schemas.openxmlformats.org/officeDocument/2006/relationships/notesMaster" Target="/ppt/notesMasters/notesMaster1.xml" Id="R72f7efa1c8354f2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07de83b873240bd" /><Relationship Type="http://schemas.openxmlformats.org/officeDocument/2006/relationships/notesMaster" Target="/ppt/notesMasters/notesMaster1.xml" Id="R62314b81daa744f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1470408cb444c0d" /><Relationship Type="http://schemas.openxmlformats.org/officeDocument/2006/relationships/notesMaster" Target="/ppt/notesMasters/notesMaster1.xml" Id="R970f8ff802044d3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96e66da16274600" /><Relationship Type="http://schemas.openxmlformats.org/officeDocument/2006/relationships/notesMaster" Target="/ppt/notesMasters/notesMaster1.xml" Id="R6db24fd5eefb4ab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1a1d73a8d15488c" /><Relationship Type="http://schemas.openxmlformats.org/officeDocument/2006/relationships/notesMaster" Target="/ppt/notesMasters/notesMaster1.xml" Id="R4e09e669e4044c3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0721b59f3aa456b" /><Relationship Type="http://schemas.openxmlformats.org/officeDocument/2006/relationships/notesMaster" Target="/ppt/notesMasters/notesMaster1.xml" Id="Rca3135c462cd40f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72677651686426d" /><Relationship Type="http://schemas.openxmlformats.org/officeDocument/2006/relationships/notesMaster" Target="/ppt/notesMasters/notesMaster1.xml" Id="R0919f2d339e84ae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f1d4f646d3845a3" /><Relationship Type="http://schemas.openxmlformats.org/officeDocument/2006/relationships/notesMaster" Target="/ppt/notesMasters/notesMaster1.xml" Id="R6cb00119545e4b2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3211d6da0724d98" /><Relationship Type="http://schemas.openxmlformats.org/officeDocument/2006/relationships/notesMaster" Target="/ppt/notesMasters/notesMaster1.xml" Id="Rf511d9bb727c49e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9af6084299c44ab" /><Relationship Type="http://schemas.openxmlformats.org/officeDocument/2006/relationships/notesMaster" Target="/ppt/notesMasters/notesMaster1.xml" Id="R38b33c4cc4d74ca8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e1a2510564f347fe" /><Relationship Type="http://schemas.openxmlformats.org/officeDocument/2006/relationships/notesMaster" Target="/ppt/notesMasters/notesMaster1.xml" Id="Rf8608abe03df45ef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dca16915b8e040a0" /><Relationship Type="http://schemas.openxmlformats.org/officeDocument/2006/relationships/notesMaster" Target="/ppt/notesMasters/notesMaster1.xml" Id="R437c17f973034705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c7ccb8678a34498b" /><Relationship Type="http://schemas.openxmlformats.org/officeDocument/2006/relationships/notesMaster" Target="/ppt/notesMasters/notesMaster1.xml" Id="Rfec4598259f247c5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62021e197c2f4859" /><Relationship Type="http://schemas.openxmlformats.org/officeDocument/2006/relationships/notesMaster" Target="/ppt/notesMasters/notesMaster1.xml" Id="R37d95a4281bc4840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471cbf77f65e4ef6" /><Relationship Type="http://schemas.openxmlformats.org/officeDocument/2006/relationships/notesMaster" Target="/ppt/notesMasters/notesMaster1.xml" Id="R411626da7af54a3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8f44140c42a427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3ee60d6f0a34673" /><Relationship Type="http://schemas.openxmlformats.org/officeDocument/2006/relationships/slideLayout" Target="/ppt/slideLayouts/slideLayout1.xml" Id="Rcdbd65b2f2a9446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dbd65b2f2a9446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f7ccbb52224798" /><Relationship Type="http://schemas.openxmlformats.org/officeDocument/2006/relationships/notesSlide" Target="/ppt/notesSlides/notesSlide1.xml" Id="R3d4b2b2c418244a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05f73469af4968" /><Relationship Type="http://schemas.openxmlformats.org/officeDocument/2006/relationships/image" Target="/ppt/media/image.png" Id="Rf7d0ac93e1c841e8" /><Relationship Type="http://schemas.openxmlformats.org/officeDocument/2006/relationships/notesSlide" Target="/ppt/notesSlides/notesSlide2.xml" Id="R19cdcecf7af7466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655b223ce944a2" /><Relationship Type="http://schemas.openxmlformats.org/officeDocument/2006/relationships/notesSlide" Target="/ppt/notesSlides/notesSlide3.xml" Id="R4cc99aedcb4a4d6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d17e0bec1d4aad" /><Relationship Type="http://schemas.openxmlformats.org/officeDocument/2006/relationships/image" Target="/ppt/media/image2.png" Id="Rf9219ffe33064358" /><Relationship Type="http://schemas.openxmlformats.org/officeDocument/2006/relationships/notesSlide" Target="/ppt/notesSlides/notesSlide4.xml" Id="R4254ef206bab4dd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dd3e12617c47a7" /><Relationship Type="http://schemas.openxmlformats.org/officeDocument/2006/relationships/notesSlide" Target="/ppt/notesSlides/notesSlide5.xml" Id="R608f3bf94936414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bd7d8e47ae47be" /><Relationship Type="http://schemas.openxmlformats.org/officeDocument/2006/relationships/notesSlide" Target="/ppt/notesSlides/notesSlide6.xml" Id="Rfefdb30ea8d844a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7ea3d521b14eb5" /><Relationship Type="http://schemas.openxmlformats.org/officeDocument/2006/relationships/notesSlide" Target="/ppt/notesSlides/notesSlide7.xml" Id="R6cac27898a6443e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4c618833a742b4" /><Relationship Type="http://schemas.openxmlformats.org/officeDocument/2006/relationships/notesSlide" Target="/ppt/notesSlides/notesSlide8.xml" Id="Re5df613516bf44f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01e658e2f94b38" /><Relationship Type="http://schemas.openxmlformats.org/officeDocument/2006/relationships/notesSlide" Target="/ppt/notesSlides/notesSlide9.xml" Id="R43b408720c10440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46a31ac0b74766" /><Relationship Type="http://schemas.openxmlformats.org/officeDocument/2006/relationships/notesSlide" Target="/ppt/notesSlides/notesSlide10.xml" Id="R197bc79d63a6401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8b75b988324f52" /><Relationship Type="http://schemas.openxmlformats.org/officeDocument/2006/relationships/notesSlide" Target="/ppt/notesSlides/notesSlide11.xml" Id="R37228b241735464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bc325b436b4e05" /><Relationship Type="http://schemas.openxmlformats.org/officeDocument/2006/relationships/notesSlide" Target="/ppt/notesSlides/notesSlide12.xml" Id="Rf9ee8423e82d4d1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fcfec92c574004" /><Relationship Type="http://schemas.openxmlformats.org/officeDocument/2006/relationships/notesSlide" Target="/ppt/notesSlides/notesSlide13.xml" Id="Ra64a0ffca638430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80c01b5e534bf6" /><Relationship Type="http://schemas.openxmlformats.org/officeDocument/2006/relationships/notesSlide" Target="/ppt/notesSlides/notesSlide14.xml" Id="R7612f66d3f494ec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767fb4d8fe4c7b" /><Relationship Type="http://schemas.openxmlformats.org/officeDocument/2006/relationships/notesSlide" Target="/ppt/notesSlides/notesSlide15.xml" Id="R7e01e722f05546d6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5e463bce6f42f1" /><Relationship Type="http://schemas.openxmlformats.org/officeDocument/2006/relationships/notesSlide" Target="/ppt/notesSlides/notesSlide16.xml" Id="Rf57f7b1393424ebc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8e7968dff64bf0" /><Relationship Type="http://schemas.openxmlformats.org/officeDocument/2006/relationships/notesSlide" Target="/ppt/notesSlides/notesSlide17.xml" Id="R6991fa03a7e34e28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7311fd08b945e2" /><Relationship Type="http://schemas.openxmlformats.org/officeDocument/2006/relationships/notesSlide" Target="/ppt/notesSlides/notesSlide18.xml" Id="R224478c2f1f641be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d6dd77e37c48ba" /><Relationship Type="http://schemas.openxmlformats.org/officeDocument/2006/relationships/notesSlide" Target="/ppt/notesSlides/notesSlide19.xml" Id="R74e2dfbc124c4b26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5b24970d644d4e" /><Relationship Type="http://schemas.openxmlformats.org/officeDocument/2006/relationships/notesSlide" Target="/ppt/notesSlides/notesSlide20.xml" Id="Re1e1d05edc8242b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30B3CEE2-F526-439C-89FA-8E70598EA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38D6C5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0F766E"/>
                </a:solidFill>
                <a:latin typeface="Noto Sans TC"/>
                <a:ea typeface="Noto Sans TC"/>
                <a:cs typeface="Noto Sans TC"/>
              </a:rPr>
              <a:t>PROJECT UPDATE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F2CFFB57-4325-47F2-A6CC-65B1A6E04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7239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900" b="1">
                <a:solidFill>
                  <a:srgbClr val="F3F8FB"/>
                </a:solidFill>
                <a:latin typeface="Noto Sans TC"/>
                <a:ea typeface="Noto Sans TC"/>
                <a:cs typeface="Noto Sans TC"/>
              </a:defRPr>
            </a:pPr>
            <a:r>
              <a:rPr sz="3900" b="1">
                <a:solidFill>
                  <a:srgbClr val="0B1F33"/>
                </a:solidFill>
                <a:latin typeface="Noto Sans TC"/>
                <a:ea typeface="Noto Sans TC"/>
                <a:cs typeface="Noto Sans TC"/>
              </a:rPr>
              <a:t>IEEE 1687 / 1838 Tessent Integration Flow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87A46C16-A141-4042-933B-2F1BEDCD8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24150"/>
            <a:ext cx="7524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725" b="0">
                <a:solidFill>
                  <a:srgbClr val="A7BDCA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0">
                <a:solidFill>
                  <a:srgbClr val="526678"/>
                </a:solidFill>
                <a:latin typeface="Noto Sans TC"/>
                <a:ea typeface="Noto Sans TC"/>
                <a:cs typeface="Noto Sans TC"/>
              </a:rPr>
              <a:t>Third-party Tessent integrated into the existing RTL-to-gate design environment.</a:t>
            </a:r>
          </a:p>
        </p:txBody>
      </p:sp>
      <p:sp>
        <p:nvSpPr>
          <p:cNvPr id="4" name="矩形: 圓角 3">
            <a:extLst xmlns:a="http://schemas.openxmlformats.org/drawingml/2006/main">
              <a:ext uri="{FF2B5EF4-FFF2-40B4-BE49-F238E27FC236}">
                <a16:creationId xmlns:a16="http://schemas.microsoft.com/office/drawing/2014/main" id="{534D699B-10AE-44BA-9332-90881C761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781050"/>
            <a:ext cx="2381250" cy="180975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E8EFF4"/>
          </a:solidFill>
          <a:ln xmlns:a="http://schemas.openxmlformats.org/drawingml/2006/main" w="9525">
            <a:solidFill>
              <a:srgbClr val="B8C7D1"/>
            </a:solidFill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A787118C-A31E-4448-848A-6E57FFA98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876300"/>
            <a:ext cx="2000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5850" b="1">
                <a:solidFill>
                  <a:srgbClr val="38D6C5"/>
                </a:solidFill>
                <a:latin typeface="Noto Sans TC"/>
                <a:ea typeface="Noto Sans TC"/>
                <a:cs typeface="Noto Sans TC"/>
              </a:defRPr>
            </a:pPr>
            <a:r>
              <a:rPr sz="5850" b="1">
                <a:solidFill>
                  <a:srgbClr val="0F766E"/>
                </a:solidFill>
                <a:latin typeface="Noto Sans TC"/>
                <a:ea typeface="Noto Sans TC"/>
                <a:cs typeface="Noto Sans TC"/>
              </a:rPr>
              <a:t>6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B4337D45-794C-4736-ADB7-4F2816CC3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8478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3F8FB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0B1F33"/>
                </a:solidFill>
                <a:latin typeface="Noto Sans TC"/>
                <a:ea typeface="Noto Sans TC"/>
                <a:cs typeface="Noto Sans TC"/>
              </a:rPr>
              <a:t>CORE STEPS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3052463A-01AA-4D42-B3F9-85F47323F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1907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0">
                <a:solidFill>
                  <a:srgbClr val="A7BDCA"/>
                </a:solidFill>
                <a:latin typeface="Noto Sans TC"/>
                <a:ea typeface="Noto Sans TC"/>
                <a:cs typeface="Noto Sans TC"/>
              </a:defRPr>
            </a:pPr>
            <a:r>
              <a:rPr sz="1050" b="0">
                <a:solidFill>
                  <a:srgbClr val="526678"/>
                </a:solidFill>
                <a:latin typeface="Noto Sans TC"/>
                <a:ea typeface="Noto Sans TC"/>
                <a:cs typeface="Noto Sans TC"/>
              </a:rPr>
              <a:t>CURRENT BASELINE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DBC4BAC4-28BD-4907-A0EB-CF7B2E7B3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67250"/>
            <a:ext cx="10344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D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橢圓 8">
            <a:extLst xmlns:a="http://schemas.openxmlformats.org/drawingml/2006/main">
              <a:ext uri="{FF2B5EF4-FFF2-40B4-BE49-F238E27FC236}">
                <a16:creationId xmlns:a16="http://schemas.microsoft.com/office/drawing/2014/main" id="{BE433239-96C0-45AC-AE80-F09EC7F48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3390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EC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FD7EFE74-0A90-46D2-9B74-70811B55D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52950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071521"/>
                </a:solidFill>
                <a:latin typeface="Noto Sans TC"/>
                <a:ea typeface="Noto Sans TC"/>
                <a:cs typeface="Noto Sans TC"/>
              </a:defRPr>
            </a:pPr>
            <a:r>
              <a:rPr sz="1050" b="1">
                <a:solidFill>
                  <a:srgbClr val="0B1F33"/>
                </a:solidFill>
                <a:latin typeface="Noto Sans TC"/>
                <a:ea typeface="Noto Sans TC"/>
                <a:cs typeface="Noto Sans TC"/>
              </a:rPr>
              <a:t>1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85C3F050-4C52-425A-A8AA-D00D5B967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5010150"/>
            <a:ext cx="1162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>
                <a:solidFill>
                  <a:srgbClr val="D8E6EE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334155"/>
                </a:solidFill>
                <a:latin typeface="Noto Sans TC"/>
                <a:ea typeface="Noto Sans TC"/>
                <a:cs typeface="Noto Sans TC"/>
              </a:rPr>
              <a:t>ENV</a:t>
            </a:r>
          </a:p>
        </p:txBody>
      </p:sp>
      <p:sp>
        <p:nvSpPr>
          <p:cNvPr id="12" name="橢圓 11">
            <a:extLst xmlns:a="http://schemas.openxmlformats.org/drawingml/2006/main">
              <a:ext uri="{FF2B5EF4-FFF2-40B4-BE49-F238E27FC236}">
                <a16:creationId xmlns:a16="http://schemas.microsoft.com/office/drawing/2014/main" id="{698CBB0F-7A03-4E01-94B8-A8CC8346B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53390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EC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E4DF7173-1461-42CD-A10B-10C88F01A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552950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071521"/>
                </a:solidFill>
                <a:latin typeface="Noto Sans TC"/>
                <a:ea typeface="Noto Sans TC"/>
                <a:cs typeface="Noto Sans TC"/>
              </a:defRPr>
            </a:pPr>
            <a:r>
              <a:rPr sz="1050" b="1">
                <a:solidFill>
                  <a:srgbClr val="0B1F33"/>
                </a:solidFill>
                <a:latin typeface="Noto Sans TC"/>
                <a:ea typeface="Noto Sans TC"/>
                <a:cs typeface="Noto Sans TC"/>
              </a:rPr>
              <a:t>2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53AAE0BD-D8B6-49ED-BDDC-E6D28F4BC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5010150"/>
            <a:ext cx="1162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>
                <a:solidFill>
                  <a:srgbClr val="D8E6EE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334155"/>
                </a:solidFill>
                <a:latin typeface="Noto Sans TC"/>
                <a:ea typeface="Noto Sans TC"/>
                <a:cs typeface="Noto Sans TC"/>
              </a:rPr>
              <a:t>INSERT</a:t>
            </a:r>
          </a:p>
        </p:txBody>
      </p:sp>
      <p:sp>
        <p:nvSpPr>
          <p:cNvPr id="15" name="橢圓 14">
            <a:extLst xmlns:a="http://schemas.openxmlformats.org/drawingml/2006/main">
              <a:ext uri="{FF2B5EF4-FFF2-40B4-BE49-F238E27FC236}">
                <a16:creationId xmlns:a16="http://schemas.microsoft.com/office/drawing/2014/main" id="{23595673-2141-4B59-9402-0EA902CE8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53390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F2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960221DC-423C-4782-87DD-4E267BD0F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552950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071521"/>
                </a:solidFill>
                <a:latin typeface="Noto Sans TC"/>
                <a:ea typeface="Noto Sans TC"/>
                <a:cs typeface="Noto Sans TC"/>
              </a:defRPr>
            </a:pPr>
            <a:r>
              <a:rPr sz="1050" b="1">
                <a:solidFill>
                  <a:srgbClr val="0B1F33"/>
                </a:solidFill>
                <a:latin typeface="Noto Sans TC"/>
                <a:ea typeface="Noto Sans TC"/>
                <a:cs typeface="Noto Sans TC"/>
              </a:rPr>
              <a:t>3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F4270B90-1B83-4A2B-97A0-8B325688F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5010150"/>
            <a:ext cx="1162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>
                <a:solidFill>
                  <a:srgbClr val="D8E6EE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334155"/>
                </a:solidFill>
                <a:latin typeface="Noto Sans TC"/>
                <a:ea typeface="Noto Sans TC"/>
                <a:cs typeface="Noto Sans TC"/>
              </a:rPr>
              <a:t>RETARGET</a:t>
            </a:r>
          </a:p>
        </p:txBody>
      </p:sp>
      <p:sp>
        <p:nvSpPr>
          <p:cNvPr id="18" name="橢圓 17">
            <a:extLst xmlns:a="http://schemas.openxmlformats.org/drawingml/2006/main">
              <a:ext uri="{FF2B5EF4-FFF2-40B4-BE49-F238E27FC236}">
                <a16:creationId xmlns:a16="http://schemas.microsoft.com/office/drawing/2014/main" id="{66ACA2E4-2183-481D-8A82-227A54DB7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53390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F4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18E6806F-D6E4-4A5A-AFFD-6518A06B5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552950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071521"/>
                </a:solidFill>
                <a:latin typeface="Noto Sans TC"/>
                <a:ea typeface="Noto Sans TC"/>
                <a:cs typeface="Noto Sans TC"/>
              </a:defRPr>
            </a:pPr>
            <a:r>
              <a:rPr sz="1050" b="1">
                <a:solidFill>
                  <a:srgbClr val="0B1F33"/>
                </a:solidFill>
                <a:latin typeface="Noto Sans TC"/>
                <a:ea typeface="Noto Sans TC"/>
                <a:cs typeface="Noto Sans TC"/>
              </a:rPr>
              <a:t>4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E27D618B-8A78-4B66-B592-41F162EB4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5010150"/>
            <a:ext cx="1162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>
                <a:solidFill>
                  <a:srgbClr val="D8E6EE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334155"/>
                </a:solidFill>
                <a:latin typeface="Noto Sans TC"/>
                <a:ea typeface="Noto Sans TC"/>
                <a:cs typeface="Noto Sans TC"/>
              </a:rPr>
              <a:t>RTL VERIFY</a:t>
            </a:r>
          </a:p>
        </p:txBody>
      </p:sp>
      <p:sp>
        <p:nvSpPr>
          <p:cNvPr id="21" name="橢圓 20">
            <a:extLst xmlns:a="http://schemas.openxmlformats.org/drawingml/2006/main">
              <a:ext uri="{FF2B5EF4-FFF2-40B4-BE49-F238E27FC236}">
                <a16:creationId xmlns:a16="http://schemas.microsoft.com/office/drawing/2014/main" id="{5C88C940-3A84-480B-8431-29CE62263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53390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EC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AE57349B-8C38-4BE5-984E-9A71A6AA9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552950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071521"/>
                </a:solidFill>
                <a:latin typeface="Noto Sans TC"/>
                <a:ea typeface="Noto Sans TC"/>
                <a:cs typeface="Noto Sans TC"/>
              </a:defRPr>
            </a:pPr>
            <a:r>
              <a:rPr sz="1050" b="1">
                <a:solidFill>
                  <a:srgbClr val="0B1F33"/>
                </a:solidFill>
                <a:latin typeface="Noto Sans TC"/>
                <a:ea typeface="Noto Sans TC"/>
                <a:cs typeface="Noto Sans TC"/>
              </a:rPr>
              <a:t>5</a:t>
            </a: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855A4CE4-B5BE-46A9-AF29-F6913D164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5010150"/>
            <a:ext cx="1162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>
                <a:solidFill>
                  <a:srgbClr val="D8E6EE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334155"/>
                </a:solidFill>
                <a:latin typeface="Noto Sans TC"/>
                <a:ea typeface="Noto Sans TC"/>
                <a:cs typeface="Noto Sans TC"/>
              </a:rPr>
              <a:t>SYNTHESIS</a:t>
            </a:r>
          </a:p>
        </p:txBody>
      </p:sp>
      <p:sp>
        <p:nvSpPr>
          <p:cNvPr id="24" name="橢圓 23">
            <a:extLst xmlns:a="http://schemas.openxmlformats.org/drawingml/2006/main">
              <a:ext uri="{FF2B5EF4-FFF2-40B4-BE49-F238E27FC236}">
                <a16:creationId xmlns:a16="http://schemas.microsoft.com/office/drawing/2014/main" id="{BDD74B53-F917-435A-A192-26CD9E476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453390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F2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F3CE2AEA-D694-459F-BBB2-F21C27046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4552950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071521"/>
                </a:solidFill>
                <a:latin typeface="Noto Sans TC"/>
                <a:ea typeface="Noto Sans TC"/>
                <a:cs typeface="Noto Sans TC"/>
              </a:defRPr>
            </a:pPr>
            <a:r>
              <a:rPr sz="1050" b="1">
                <a:solidFill>
                  <a:srgbClr val="0B1F33"/>
                </a:solidFill>
                <a:latin typeface="Noto Sans TC"/>
                <a:ea typeface="Noto Sans TC"/>
                <a:cs typeface="Noto Sans TC"/>
              </a:rPr>
              <a:t>6</a:t>
            </a:r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0140C73D-7916-427A-B703-61EAF26BA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5010150"/>
            <a:ext cx="1162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>
                <a:solidFill>
                  <a:srgbClr val="D8E6EE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334155"/>
                </a:solidFill>
                <a:latin typeface="Noto Sans TC"/>
                <a:ea typeface="Noto Sans TC"/>
                <a:cs typeface="Noto Sans TC"/>
              </a:rPr>
              <a:t>GATE VERIFY</a:t>
            </a:r>
          </a:p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B8529862-4047-4D9B-AA0A-A890DD9B2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F5B94C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1F5A85"/>
                </a:solidFill>
                <a:latin typeface="Noto Sans TC"/>
                <a:ea typeface="Noto Sans TC"/>
                <a:cs typeface="Noto Sans TC"/>
              </a:rPr>
              <a:t>Current: access flow and generated patterns verified  |  Next: ATPG and regression  |  Bonus: Steps 10–11</a:t>
            </a:r>
          </a:p>
        </p:txBody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0932FC25-1BAD-4D17-AC80-7F5E7F759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D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38B09024-D28B-4414-952B-ED9F608D6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81775"/>
            <a:ext cx="904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6F8B9D"/>
                </a:solidFill>
                <a:latin typeface="Noto Sans TC"/>
                <a:ea typeface="Noto Sans TC"/>
                <a:cs typeface="Noto Sans TC"/>
              </a:defRPr>
            </a:pPr>
            <a:r>
              <a:rPr sz="825" b="0">
                <a:solidFill>
                  <a:srgbClr val="64748B"/>
                </a:solidFill>
                <a:latin typeface="Noto Sans TC"/>
                <a:ea typeface="Noto Sans TC"/>
                <a:cs typeface="Noto Sans TC"/>
              </a:rPr>
              <a:t>IEEE 1687 / 1838 Automation Progress Review</a:t>
            </a:r>
          </a:p>
        </p:txBody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4EBBC943-BDF7-49B3-94DF-EC785CC60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6F8B9D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64748B"/>
                </a:solidFill>
                <a:latin typeface="Noto Sans TC"/>
                <a:ea typeface="Noto Sans TC"/>
                <a:cs typeface="Noto Sans TC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43946987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0BF069E9-97D7-44E7-8B88-01FF6D406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0F766E"/>
                </a:solidFill>
                <a:latin typeface="Noto Sans TC"/>
                <a:ea typeface="Noto Sans TC"/>
                <a:cs typeface="Noto Sans TC"/>
              </a:defRPr>
            </a:pPr>
            <a:r>
              <a:rPr sz="1050" b="1">
                <a:solidFill>
                  <a:srgbClr val="0F766E"/>
                </a:solidFill>
                <a:latin typeface="Noto Sans TC"/>
                <a:ea typeface="Noto Sans TC"/>
                <a:cs typeface="Noto Sans TC"/>
              </a:rPr>
              <a:t>PROJECT CONTRIBUTIONS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2AC7E650-CB6A-46DD-9890-FDB43DFB5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0B1F33"/>
                </a:solidFill>
                <a:latin typeface="Noto Sans TC"/>
                <a:ea typeface="Noto Sans TC"/>
                <a:cs typeface="Noto Sans TC"/>
              </a:defRPr>
            </a:pPr>
            <a:r>
              <a:rPr sz="2850" b="1">
                <a:solidFill>
                  <a:srgbClr val="0B1F33"/>
                </a:solidFill>
                <a:latin typeface="Noto Sans TC"/>
                <a:ea typeface="Noto Sans TC"/>
                <a:cs typeface="Noto Sans TC"/>
              </a:rPr>
              <a:t>Project Contributions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A0E112A7-D3F0-48F3-A897-B40DD8433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16AAC3A8-ED2A-4821-8A96-6CC6BBBF6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51625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650" b="0">
                <a:solidFill>
                  <a:srgbClr val="334155"/>
                </a:solidFill>
                <a:latin typeface="Noto Sans TC"/>
                <a:ea typeface="Noto Sans TC"/>
                <a:cs typeface="Noto Sans TC"/>
              </a:defRPr>
            </a:pPr>
            <a:r>
              <a:rPr sz="1650" b="0">
                <a:solidFill>
                  <a:srgbClr val="334155"/>
                </a:solidFill>
                <a:latin typeface="Noto Sans TC"/>
                <a:ea typeface="Noto Sans TC"/>
                <a:cs typeface="Noto Sans TC"/>
              </a:rPr>
              <a:t>Tessent integration establishes a verified IEEE 1687 / 1838 flow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650" b="0">
                <a:solidFill>
                  <a:srgbClr val="334155"/>
                </a:solidFill>
                <a:latin typeface="Noto Sans TC"/>
                <a:ea typeface="Noto Sans TC"/>
                <a:cs typeface="Noto Sans TC"/>
              </a:defRPr>
            </a:pPr>
            <a:r>
              <a:rPr sz="1650" b="0">
                <a:solidFill>
                  <a:srgbClr val="334155"/>
                </a:solidFill>
                <a:latin typeface="Noto Sans TC"/>
                <a:ea typeface="Noto Sans TC"/>
                <a:cs typeface="Noto Sans TC"/>
              </a:rPr>
              <a:t>without replacing the existing RTL-to-gate environment.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67086812-264E-46FF-9031-423564DB2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90800"/>
            <a:ext cx="666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2F75A958-4C0D-48B8-AD7F-A440029A8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908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1D4ED8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1D4ED8"/>
                </a:solidFill>
                <a:latin typeface="Noto Sans TC"/>
                <a:ea typeface="Noto Sans TC"/>
                <a:cs typeface="Noto Sans TC"/>
              </a:rPr>
              <a:t>01  INTEGRATE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F22020D0-EB95-4480-A543-5B0182D1A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194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0B1F33"/>
                </a:solidFill>
                <a:latin typeface="Noto Sans TC"/>
                <a:ea typeface="Noto Sans TC"/>
                <a:cs typeface="Noto Sans TC"/>
              </a:defRPr>
            </a:pPr>
            <a:r>
              <a:rPr sz="1575" b="1">
                <a:solidFill>
                  <a:srgbClr val="0B1F33"/>
                </a:solidFill>
                <a:latin typeface="Noto Sans TC"/>
                <a:ea typeface="Noto Sans TC"/>
                <a:cs typeface="Noto Sans TC"/>
              </a:rPr>
              <a:t>Flow integration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B7BDB52E-2906-4BEF-AF8B-D549B9F3F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8384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526577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0">
                <a:solidFill>
                  <a:srgbClr val="526577"/>
                </a:solidFill>
                <a:latin typeface="Noto Sans TC"/>
                <a:ea typeface="Noto Sans TC"/>
                <a:cs typeface="Noto Sans TC"/>
              </a:rPr>
              <a:t>Tessent + RTL-to-gate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738F7F39-64D9-4553-AC1D-AD57D81FC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67100"/>
            <a:ext cx="666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0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FE9230A6-3AB8-4649-9E5D-E1B0AB0A2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671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15803D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15803D"/>
                </a:solidFill>
                <a:latin typeface="Noto Sans TC"/>
                <a:ea typeface="Noto Sans TC"/>
                <a:cs typeface="Noto Sans TC"/>
              </a:rPr>
              <a:t>02  VERIFY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B17608FC-D9F6-4206-B7AE-0EEED3B68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957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0B1F33"/>
                </a:solidFill>
                <a:latin typeface="Noto Sans TC"/>
                <a:ea typeface="Noto Sans TC"/>
                <a:cs typeface="Noto Sans TC"/>
              </a:defRPr>
            </a:pPr>
            <a:r>
              <a:rPr sz="1575" b="1">
                <a:solidFill>
                  <a:srgbClr val="0B1F33"/>
                </a:solidFill>
                <a:latin typeface="Noto Sans TC"/>
                <a:ea typeface="Noto Sans TC"/>
                <a:cs typeface="Noto Sans TC"/>
              </a:rPr>
              <a:t>Three access scopes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A389F138-4576-4333-930F-CCBC61E67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7147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526577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0">
                <a:solidFill>
                  <a:srgbClr val="526577"/>
                </a:solidFill>
                <a:latin typeface="Noto Sans TC"/>
                <a:ea typeface="Noto Sans TC"/>
                <a:cs typeface="Noto Sans TC"/>
              </a:rPr>
              <a:t>1687 · +1838 · stack_top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F132FD96-89F8-4339-B945-9721F2411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43400"/>
            <a:ext cx="666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22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281EA2DB-6CA7-4D13-82E8-350F9074E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434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7E22CE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7E22CE"/>
                </a:solidFill>
                <a:latin typeface="Noto Sans TC"/>
                <a:ea typeface="Noto Sans TC"/>
                <a:cs typeface="Noto Sans TC"/>
              </a:rPr>
              <a:t>03  DELIVER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54768DEF-52B0-49F4-A517-D64F71984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720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0B1F33"/>
                </a:solidFill>
                <a:latin typeface="Noto Sans TC"/>
                <a:ea typeface="Noto Sans TC"/>
                <a:cs typeface="Noto Sans TC"/>
              </a:defRPr>
            </a:pPr>
            <a:r>
              <a:rPr sz="1575" b="1">
                <a:solidFill>
                  <a:srgbClr val="0B1F33"/>
                </a:solidFill>
                <a:latin typeface="Noto Sans TC"/>
                <a:ea typeface="Noto Sans TC"/>
                <a:cs typeface="Noto Sans TC"/>
              </a:rPr>
              <a:t>Working Tcl + evidence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D2FE37DE-893C-414A-B6B8-9D44C4C8E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5910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526577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0">
                <a:solidFill>
                  <a:srgbClr val="526577"/>
                </a:solidFill>
                <a:latin typeface="Noto Sans TC"/>
                <a:ea typeface="Noto Sans TC"/>
                <a:cs typeface="Noto Sans TC"/>
              </a:rPr>
              <a:t>scripts · compare · issue guide</a:t>
            </a:r>
          </a:p>
        </p:txBody>
      </p:sp>
      <p:sp>
        <p:nvSpPr>
          <p:cNvPr id="17" name="矩形: 圓角 16">
            <a:extLst xmlns:a="http://schemas.openxmlformats.org/drawingml/2006/main">
              <a:ext uri="{FF2B5EF4-FFF2-40B4-BE49-F238E27FC236}">
                <a16:creationId xmlns:a16="http://schemas.microsoft.com/office/drawing/2014/main" id="{C41A4D07-7FCC-4E0E-B67A-0BB7697B1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9632" y="1728787"/>
            <a:ext cx="5962650" cy="4171950"/>
          </a:xfrm>
          <a:prstGeom xmlns:a="http://schemas.openxmlformats.org/drawingml/2006/main" prst="roundRect">
            <a:avLst>
              <a:gd name="adj" fmla="val 36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7D1"/>
            </a:solidFill>
            <a:prstDash val="solid"/>
          </a:ln>
        </p:spPr>
      </p:sp>
      <p:pic>
        <p:nvPicPr>
          <p:cNvPr id="42" name="圖片 4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d0ac93e1c841e8"/>
          <a:srcRect xmlns:a="http://schemas.openxmlformats.org/drawingml/2006/main" l="4280" t="0" r="428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12032" y="1881187"/>
            <a:ext cx="5657850" cy="3867150"/>
          </a:xfrm>
          <a:prstGeom xmlns:a="http://schemas.openxmlformats.org/drawingml/2006/main" prst="roundRect">
            <a:avLst/>
          </a:prstGeom>
        </p:spPr>
      </p:pic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9B58C560-4FE2-4F03-9C44-64B108A9E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0545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0F766E"/>
                </a:solidFill>
                <a:latin typeface="Noto Sans TC"/>
                <a:ea typeface="Noto Sans TC"/>
                <a:cs typeface="Noto Sans TC"/>
              </a:defRPr>
            </a:pPr>
            <a:r>
              <a:rPr sz="1050" b="1">
                <a:solidFill>
                  <a:srgbClr val="0F766E"/>
                </a:solidFill>
                <a:latin typeface="Noto Sans TC"/>
                <a:ea typeface="Noto Sans TC"/>
                <a:cs typeface="Noto Sans TC"/>
              </a:rPr>
              <a:t>CURRENT PROOF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E9CCDE69-6C2C-4994-8036-07B0FE6E3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 lnSpcReduction="1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0B1F33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0B1F33"/>
                </a:solidFill>
                <a:latin typeface="Noto Sans TC"/>
                <a:ea typeface="Noto Sans TC"/>
                <a:cs typeface="Noto Sans TC"/>
              </a:rPr>
              <a:t>Access and pattern delivery are proven; the ATPG environment is the next milestone.</a:t>
            </a: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D0FAA8B1-E7AA-464C-AE5E-1B49D1CC7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D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DCFF74AE-1CCB-4019-8866-D27FF3F53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81775"/>
            <a:ext cx="904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6F8B9D"/>
                </a:solidFill>
                <a:latin typeface="Noto Sans TC"/>
                <a:ea typeface="Noto Sans TC"/>
                <a:cs typeface="Noto Sans TC"/>
              </a:defRPr>
            </a:pPr>
            <a:r>
              <a:rPr sz="825" b="0">
                <a:solidFill>
                  <a:srgbClr val="64748B"/>
                </a:solidFill>
                <a:latin typeface="Noto Sans TC"/>
                <a:ea typeface="Noto Sans TC"/>
                <a:cs typeface="Noto Sans TC"/>
              </a:rPr>
              <a:t>Architecture based on the current prototype and IEEE 1687-2014 / IEEE 1838-2019</a:t>
            </a: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7A035BF3-0A34-4DA4-B8E3-D07956AEA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6F8B9D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64748B"/>
                </a:solidFill>
                <a:latin typeface="Noto Sans TC"/>
                <a:ea typeface="Noto Sans TC"/>
                <a:cs typeface="Noto Sans TC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08044955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0D84BC9D-1646-470E-9DCB-9C073B948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38D6C5"/>
                </a:solidFill>
                <a:latin typeface="Noto Sans TC"/>
                <a:ea typeface="Noto Sans TC"/>
                <a:cs typeface="Noto Sans TC"/>
              </a:defRPr>
            </a:pPr>
            <a:r>
              <a:rPr sz="1050" b="1">
                <a:solidFill>
                  <a:srgbClr val="0F766E"/>
                </a:solidFill>
                <a:latin typeface="Noto Sans TC"/>
                <a:ea typeface="Noto Sans TC"/>
                <a:cs typeface="Noto Sans TC"/>
              </a:rPr>
              <a:t>HOW TO READ THE DECK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F6FB3C42-84AD-40C4-999A-7B5CAC773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F3F8FB"/>
                </a:solidFill>
                <a:latin typeface="Noto Sans TC"/>
                <a:ea typeface="Noto Sans TC"/>
                <a:cs typeface="Noto Sans TC"/>
              </a:defRPr>
            </a:pPr>
            <a:r>
              <a:rPr sz="2850" b="1">
                <a:solidFill>
                  <a:srgbClr val="0B1F33"/>
                </a:solidFill>
                <a:latin typeface="Noto Sans TC"/>
                <a:ea typeface="Noto Sans TC"/>
                <a:cs typeface="Noto Sans TC"/>
              </a:rPr>
              <a:t>Current Flow Produces Evidence and Documentation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E63F8CD4-087E-4B81-A8DB-120873689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箭號: 向右 4">
            <a:extLst xmlns:a="http://schemas.openxmlformats.org/drawingml/2006/main">
              <a:ext uri="{FF2B5EF4-FFF2-40B4-BE49-F238E27FC236}">
                <a16:creationId xmlns:a16="http://schemas.microsoft.com/office/drawing/2014/main" id="{6ED4362D-A157-4FB4-8919-40AB07C7F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7083" y="3332884"/>
            <a:ext cx="685800" cy="4191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3DD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橢圓 5">
            <a:extLst xmlns:a="http://schemas.openxmlformats.org/drawingml/2006/main">
              <a:ext uri="{FF2B5EF4-FFF2-40B4-BE49-F238E27FC236}">
                <a16:creationId xmlns:a16="http://schemas.microsoft.com/office/drawing/2014/main" id="{1693D72A-C94B-4572-90A3-FE9770856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63426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EC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22926438-09FA-4F4F-A5C8-00C2C2004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710460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071521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0B1F33"/>
                </a:solidFill>
                <a:latin typeface="Noto Sans TC"/>
                <a:ea typeface="Noto Sans TC"/>
                <a:cs typeface="Noto Sans TC"/>
              </a:rPr>
              <a:t>1</a:t>
            </a:r>
          </a:p>
        </p:txBody>
      </p:sp>
      <p:sp>
        <p:nvSpPr>
          <p:cNvPr id="8" name="矩形: 圓角 7">
            <a:extLst xmlns:a="http://schemas.openxmlformats.org/drawingml/2006/main">
              <a:ext uri="{FF2B5EF4-FFF2-40B4-BE49-F238E27FC236}">
                <a16:creationId xmlns:a16="http://schemas.microsoft.com/office/drawing/2014/main" id="{DEAA5346-44DE-45D0-8A88-98F4675FE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43150"/>
            <a:ext cx="3048000" cy="2228850"/>
          </a:xfrm>
          <a:prstGeom xmlns:a="http://schemas.openxmlformats.org/drawingml/2006/main" prst="roundRect">
            <a:avLst>
              <a:gd name="adj" fmla="val 6838"/>
            </a:avLst>
          </a:prstGeom>
          <a:solidFill xmlns:a="http://schemas.openxmlformats.org/drawingml/2006/main">
            <a:srgbClr val="F4F7F9"/>
          </a:solidFill>
          <a:ln xmlns:a="http://schemas.openxmlformats.org/drawingml/2006/main" w="19050">
            <a:solidFill>
              <a:srgbClr val="1F5A85"/>
            </a:solidFill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F68B9D72-02B0-477A-A652-563D84CCF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47950"/>
            <a:ext cx="2590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950" b="1">
                <a:solidFill>
                  <a:srgbClr val="3AA7FF"/>
                </a:solidFill>
                <a:latin typeface="Noto Sans TC"/>
                <a:ea typeface="Noto Sans TC"/>
                <a:cs typeface="Noto Sans TC"/>
              </a:defRPr>
            </a:pPr>
            <a:r>
              <a:rPr sz="1950" b="1">
                <a:solidFill>
                  <a:srgbClr val="1F5A85"/>
                </a:solidFill>
                <a:latin typeface="Noto Sans TC"/>
                <a:ea typeface="Noto Sans TC"/>
                <a:cs typeface="Noto Sans TC"/>
              </a:rPr>
              <a:t>CURRENT FLOW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6CA40B96-7436-447A-8DDD-500C827BD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67050"/>
            <a:ext cx="2590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3F8FB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0B1F33"/>
                </a:solidFill>
                <a:latin typeface="Noto Sans TC"/>
                <a:ea typeface="Noto Sans TC"/>
                <a:cs typeface="Noto Sans TC"/>
              </a:rPr>
              <a:t>Configure Each Case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65DC866A-0C11-497B-B21E-462CB4D72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07352"/>
            <a:ext cx="24003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75" b="0">
                <a:solidFill>
                  <a:srgbClr val="A7BDCA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526678"/>
                </a:solidFill>
                <a:latin typeface="Noto Sans TC"/>
                <a:ea typeface="Noto Sans TC"/>
                <a:cs typeface="Noto Sans TC"/>
              </a:rPr>
              <a:t>Working Tcl set; I/O, hierarchy, and checks remain case-specific</a:t>
            </a:r>
          </a:p>
        </p:txBody>
      </p:sp>
      <p:sp>
        <p:nvSpPr>
          <p:cNvPr id="12" name="橢圓 11">
            <a:extLst xmlns:a="http://schemas.openxmlformats.org/drawingml/2006/main">
              <a:ext uri="{FF2B5EF4-FFF2-40B4-BE49-F238E27FC236}">
                <a16:creationId xmlns:a16="http://schemas.microsoft.com/office/drawing/2014/main" id="{0EA8C1F9-3FFC-4909-83AA-59B845EB8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7838" y="163426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EC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88024246-5B98-4EB9-8FDA-A1AF86A29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7838" y="1710460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071521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0B1F33"/>
                </a:solidFill>
                <a:latin typeface="Noto Sans TC"/>
                <a:ea typeface="Noto Sans TC"/>
                <a:cs typeface="Noto Sans TC"/>
              </a:rPr>
              <a:t>2</a:t>
            </a:r>
          </a:p>
        </p:txBody>
      </p:sp>
      <p:sp>
        <p:nvSpPr>
          <p:cNvPr id="14" name="矩形: 圓角 13">
            <a:extLst xmlns:a="http://schemas.openxmlformats.org/drawingml/2006/main">
              <a:ext uri="{FF2B5EF4-FFF2-40B4-BE49-F238E27FC236}">
                <a16:creationId xmlns:a16="http://schemas.microsoft.com/office/drawing/2014/main" id="{004D0D75-BB28-4C3F-825F-02ABF4FF3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2343150"/>
            <a:ext cx="3048000" cy="2228850"/>
          </a:xfrm>
          <a:prstGeom xmlns:a="http://schemas.openxmlformats.org/drawingml/2006/main" prst="roundRect">
            <a:avLst>
              <a:gd name="adj" fmla="val 6838"/>
            </a:avLst>
          </a:prstGeom>
          <a:solidFill xmlns:a="http://schemas.openxmlformats.org/drawingml/2006/main">
            <a:srgbClr val="F4F7F9"/>
          </a:solidFill>
          <a:ln xmlns:a="http://schemas.openxmlformats.org/drawingml/2006/main" w="19050">
            <a:solidFill>
              <a:srgbClr val="1F5A85"/>
            </a:solidFill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139BE44A-6DBF-43F4-9352-5B7A313FB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6288" y="2647950"/>
            <a:ext cx="2590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950" b="1">
                <a:solidFill>
                  <a:srgbClr val="F5B94C"/>
                </a:solidFill>
                <a:latin typeface="Noto Sans TC"/>
                <a:ea typeface="Noto Sans TC"/>
                <a:cs typeface="Noto Sans TC"/>
              </a:defRPr>
            </a:pPr>
            <a:r>
              <a:rPr sz="1950" b="1">
                <a:solidFill>
                  <a:srgbClr val="1F5A85"/>
                </a:solidFill>
                <a:latin typeface="Noto Sans TC"/>
                <a:ea typeface="Noto Sans TC"/>
                <a:cs typeface="Noto Sans TC"/>
              </a:rPr>
              <a:t>AUTOMATE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517D9090-1D42-43C9-85F6-18795336C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6288" y="3067050"/>
            <a:ext cx="2590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3F8FB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0B1F33"/>
                </a:solidFill>
                <a:latin typeface="Noto Sans TC"/>
                <a:ea typeface="Noto Sans TC"/>
                <a:cs typeface="Noto Sans TC"/>
              </a:rPr>
              <a:t>Run + Check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9471EBDC-3A8D-4396-A381-60669D806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1538" y="3407352"/>
            <a:ext cx="2400300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75" b="0">
                <a:solidFill>
                  <a:srgbClr val="A7BDCA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526678"/>
                </a:solidFill>
                <a:latin typeface="Noto Sans TC"/>
                <a:ea typeface="Noto Sans TC"/>
                <a:cs typeface="Noto Sans TC"/>
              </a:rPr>
              <a:t>Run flow · DRC · path reachable · mismatch = 0</a:t>
            </a:r>
          </a:p>
        </p:txBody>
      </p:sp>
      <p:sp>
        <p:nvSpPr>
          <p:cNvPr id="18" name="橢圓 17">
            <a:extLst xmlns:a="http://schemas.openxmlformats.org/drawingml/2006/main">
              <a:ext uri="{FF2B5EF4-FFF2-40B4-BE49-F238E27FC236}">
                <a16:creationId xmlns:a16="http://schemas.microsoft.com/office/drawing/2014/main" id="{71EAB50A-7215-4431-980C-1B4BA7831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163426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F2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D7D9CC27-39D5-45F2-B87C-3AA71DF7C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1710460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071521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0B1F33"/>
                </a:solidFill>
                <a:latin typeface="Noto Sans TC"/>
                <a:ea typeface="Noto Sans TC"/>
                <a:cs typeface="Noto Sans TC"/>
              </a:rPr>
              <a:t>3</a:t>
            </a:r>
          </a:p>
        </p:txBody>
      </p:sp>
      <p:sp>
        <p:nvSpPr>
          <p:cNvPr id="20" name="矩形: 圓角 19">
            <a:extLst xmlns:a="http://schemas.openxmlformats.org/drawingml/2006/main">
              <a:ext uri="{FF2B5EF4-FFF2-40B4-BE49-F238E27FC236}">
                <a16:creationId xmlns:a16="http://schemas.microsoft.com/office/drawing/2014/main" id="{A5F99923-26F5-4249-94F1-2B99E9F2F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343150"/>
            <a:ext cx="3048000" cy="2228850"/>
          </a:xfrm>
          <a:prstGeom xmlns:a="http://schemas.openxmlformats.org/drawingml/2006/main" prst="roundRect">
            <a:avLst>
              <a:gd name="adj" fmla="val 6838"/>
            </a:avLst>
          </a:prstGeom>
          <a:solidFill xmlns:a="http://schemas.openxmlformats.org/drawingml/2006/main">
            <a:srgbClr val="F4F7F9"/>
          </a:solidFill>
          <a:ln xmlns:a="http://schemas.openxmlformats.org/drawingml/2006/main" w="19050">
            <a:solidFill>
              <a:srgbClr val="15803D"/>
            </a:solidFill>
            <a:prstDash val="solid"/>
          </a:ln>
        </p:spPr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FD43EB89-3343-41B7-8EDE-6917C6C82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647950"/>
            <a:ext cx="2590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950" b="1">
                <a:solidFill>
                  <a:srgbClr val="44D17B"/>
                </a:solidFill>
                <a:latin typeface="Noto Sans TC"/>
                <a:ea typeface="Noto Sans TC"/>
                <a:cs typeface="Noto Sans TC"/>
              </a:defRPr>
            </a:pPr>
            <a:r>
              <a:rPr sz="1950" b="1">
                <a:solidFill>
                  <a:srgbClr val="15803D"/>
                </a:solidFill>
                <a:latin typeface="Noto Sans TC"/>
                <a:ea typeface="Noto Sans TC"/>
                <a:cs typeface="Noto Sans TC"/>
              </a:rPr>
              <a:t>EVIDENCE</a:t>
            </a: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C2981EC0-1F85-4735-AC2D-9140CFA11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067050"/>
            <a:ext cx="2590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3F8FB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0B1F33"/>
                </a:solidFill>
                <a:latin typeface="Noto Sans TC"/>
                <a:ea typeface="Noto Sans TC"/>
                <a:cs typeface="Noto Sans TC"/>
              </a:rPr>
              <a:t>Save Results</a:t>
            </a: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C713435E-010A-4A45-BB9A-6E691ED4F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407352"/>
            <a:ext cx="24003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75" b="0">
                <a:solidFill>
                  <a:srgbClr val="A7BDCA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526678"/>
                </a:solidFill>
                <a:latin typeface="Noto Sans TC"/>
                <a:ea typeface="Noto Sans TC"/>
                <a:cs typeface="Noto Sans TC"/>
              </a:rPr>
              <a:t>Logs · waveforms · reports · comparisons</a:t>
            </a:r>
          </a:p>
        </p:txBody>
      </p:sp>
      <p:sp>
        <p:nvSpPr>
          <p:cNvPr id="24" name="矩形: 圓角 23">
            <a:extLst xmlns:a="http://schemas.openxmlformats.org/drawingml/2006/main">
              <a:ext uri="{FF2B5EF4-FFF2-40B4-BE49-F238E27FC236}">
                <a16:creationId xmlns:a16="http://schemas.microsoft.com/office/drawing/2014/main" id="{F7C39F6A-A26A-422C-A5F0-544D4CBA2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095875"/>
            <a:ext cx="92964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E8EFF4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BA18D6AB-3769-4498-A5AF-2D9F29FD9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52768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38D6C5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1">
                <a:solidFill>
                  <a:srgbClr val="0F766E"/>
                </a:solidFill>
                <a:latin typeface="Noto Sans TC"/>
                <a:ea typeface="Noto Sans TC"/>
                <a:cs typeface="Noto Sans TC"/>
              </a:rPr>
              <a:t>DOCUMENTED</a:t>
            </a:r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8DE48F9B-FBDD-48A3-BA7A-79B25CD00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5238750"/>
            <a:ext cx="647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867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950" b="1">
                <a:solidFill>
                  <a:srgbClr val="F3F8FB"/>
                </a:solidFill>
                <a:latin typeface="Noto Sans TC"/>
                <a:ea typeface="Noto Sans TC"/>
                <a:cs typeface="Noto Sans TC"/>
              </a:defRPr>
            </a:pPr>
            <a:r>
              <a:rPr sz="1950" b="1">
                <a:solidFill>
                  <a:srgbClr val="0B1F33"/>
                </a:solidFill>
                <a:latin typeface="Noto Sans TC"/>
                <a:ea typeface="Noto Sans TC"/>
                <a:cs typeface="Noto Sans TC"/>
              </a:rPr>
              <a:t>Tcl scripts  +  issue resolutions  +  verification evidence</a:t>
            </a:r>
          </a:p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02FCEEA9-76FA-45F9-B6ED-E94A9A326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6143625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0">
                <a:solidFill>
                  <a:srgbClr val="A7BDCA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526678"/>
                </a:solidFill>
                <a:latin typeface="Noto Sans TC"/>
                <a:ea typeface="Noto Sans TC"/>
                <a:cs typeface="Noto Sans TC"/>
              </a:rPr>
              <a:t>Step 12 will consolidate scripts, design settings, folders, and rerun rules.</a:t>
            </a:r>
          </a:p>
        </p:txBody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52B8D38E-E489-4229-B8DC-E5DBD3309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D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3EFC8552-66A9-4B7D-A0E0-F325DB050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81775"/>
            <a:ext cx="904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6F8B9D"/>
                </a:solidFill>
                <a:latin typeface="Noto Sans TC"/>
                <a:ea typeface="Noto Sans TC"/>
                <a:cs typeface="Noto Sans TC"/>
              </a:defRPr>
            </a:pPr>
            <a:r>
              <a:rPr sz="825" b="0">
                <a:solidFill>
                  <a:srgbClr val="64748B"/>
                </a:solidFill>
                <a:latin typeface="Noto Sans TC"/>
                <a:ea typeface="Noto Sans TC"/>
                <a:cs typeface="Noto Sans TC"/>
              </a:rPr>
              <a:t>Validated: IEEE 1687 · IEEE 1687 + 1838 · stack_top   |   DWR = bonus</a:t>
            </a:r>
          </a:p>
        </p:txBody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2EB08BD8-B7F4-418E-9115-FB057F19C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6F8B9D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64748B"/>
                </a:solidFill>
                <a:latin typeface="Noto Sans TC"/>
                <a:ea typeface="Noto Sans TC"/>
                <a:cs typeface="Noto Sans TC"/>
              </a:rPr>
              <a:t>03</a:t>
            </a:r>
          </a:p>
        </p:txBody>
      </p:sp>
      <p:sp>
        <p:nvSpPr>
          <p:cNvPr id="32" name="箭號: 向右 31">
            <a:extLst xmlns:a="http://schemas.openxmlformats.org/drawingml/2006/main">
              <a:ext uri="{FF2B5EF4-FFF2-40B4-BE49-F238E27FC236}">
                <a16:creationId xmlns:a16="http://schemas.microsoft.com/office/drawing/2014/main" id="{527453BE-936F-4F15-ECF9-9AE90B305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0648" y="3332884"/>
            <a:ext cx="685800" cy="4191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3DDE4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43530969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矩形 54">
            <a:extLst xmlns:a="http://schemas.openxmlformats.org/drawingml/2006/main">
              <a:ext uri="{FF2B5EF4-FFF2-40B4-BE49-F238E27FC236}">
                <a16:creationId xmlns:a16="http://schemas.microsoft.com/office/drawing/2014/main" id="{7049FFB9-66E6-49ED-9AD8-BCF188BBF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38D6C5"/>
                </a:solidFill>
                <a:latin typeface="Noto Sans TC"/>
                <a:ea typeface="Noto Sans TC"/>
                <a:cs typeface="Noto Sans TC"/>
              </a:defRPr>
            </a:pPr>
            <a:r>
              <a:rPr sz="1050" b="1">
                <a:solidFill>
                  <a:srgbClr val="0F766E"/>
                </a:solidFill>
                <a:latin typeface="Noto Sans TC"/>
                <a:ea typeface="Noto Sans TC"/>
                <a:cs typeface="Noto Sans TC"/>
              </a:rPr>
              <a:t>BASELINE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EE0A4018-9715-47AF-AEF3-B9AEE09F5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F3F8FB"/>
                </a:solidFill>
                <a:latin typeface="Noto Sans TC"/>
                <a:ea typeface="Noto Sans TC"/>
                <a:cs typeface="Noto Sans TC"/>
              </a:defRPr>
            </a:pPr>
            <a:r>
              <a:rPr sz="2850" b="1">
                <a:solidFill>
                  <a:srgbClr val="0B1F33"/>
                </a:solidFill>
                <a:latin typeface="Noto Sans TC"/>
                <a:ea typeface="Noto Sans TC"/>
                <a:cs typeface="Noto Sans TC"/>
              </a:rPr>
              <a:t>Six Core Steps Define the Current Baseline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C04103D4-7C31-4F32-AFF1-5B3C64450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箭號: 向右 3">
            <a:extLst xmlns:a="http://schemas.openxmlformats.org/drawingml/2006/main">
              <a:ext uri="{FF2B5EF4-FFF2-40B4-BE49-F238E27FC236}">
                <a16:creationId xmlns:a16="http://schemas.microsoft.com/office/drawing/2014/main" id="{62793D49-3C57-4508-8272-94FC77C3A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1984664"/>
            <a:ext cx="228600" cy="3619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3DD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箭號: 向右 4">
            <a:extLst xmlns:a="http://schemas.openxmlformats.org/drawingml/2006/main">
              <a:ext uri="{FF2B5EF4-FFF2-40B4-BE49-F238E27FC236}">
                <a16:creationId xmlns:a16="http://schemas.microsoft.com/office/drawing/2014/main" id="{ABF70E8D-E2E7-42F2-AA60-2B1FD9767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1984664"/>
            <a:ext cx="228600" cy="3619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3DD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箭號: 向右 5">
            <a:extLst xmlns:a="http://schemas.openxmlformats.org/drawingml/2006/main">
              <a:ext uri="{FF2B5EF4-FFF2-40B4-BE49-F238E27FC236}">
                <a16:creationId xmlns:a16="http://schemas.microsoft.com/office/drawing/2014/main" id="{D35DD686-3235-4071-BF85-9A74243E9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984664"/>
            <a:ext cx="228600" cy="3619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3DD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箭號: 向右 6">
            <a:extLst xmlns:a="http://schemas.openxmlformats.org/drawingml/2006/main">
              <a:ext uri="{FF2B5EF4-FFF2-40B4-BE49-F238E27FC236}">
                <a16:creationId xmlns:a16="http://schemas.microsoft.com/office/drawing/2014/main" id="{225517D6-C176-4FB7-A8F4-04B3F6920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475" y="1984664"/>
            <a:ext cx="228600" cy="3619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3DD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箭號: 向右 7">
            <a:extLst xmlns:a="http://schemas.openxmlformats.org/drawingml/2006/main">
              <a:ext uri="{FF2B5EF4-FFF2-40B4-BE49-F238E27FC236}">
                <a16:creationId xmlns:a16="http://schemas.microsoft.com/office/drawing/2014/main" id="{9D40DBE2-F2C8-43BD-AE6B-287FA5F5A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1984664"/>
            <a:ext cx="228600" cy="3619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3DD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矩形: 圓角 8">
            <a:extLst xmlns:a="http://schemas.openxmlformats.org/drawingml/2006/main">
              <a:ext uri="{FF2B5EF4-FFF2-40B4-BE49-F238E27FC236}">
                <a16:creationId xmlns:a16="http://schemas.microsoft.com/office/drawing/2014/main" id="{7FAA40AE-4EFA-429D-BE04-47FA02427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1613189"/>
            <a:ext cx="16764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4F7F9"/>
          </a:solidFill>
          <a:ln xmlns:a="http://schemas.openxmlformats.org/drawingml/2006/main" w="19050">
            <a:solidFill>
              <a:srgbClr val="1F5A85"/>
            </a:solidFill>
            <a:prstDash val="solid"/>
          </a:ln>
        </p:spPr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D7AB85AB-601B-42C6-A52F-CFD263105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1746539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3AA7FF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1F5A85"/>
                </a:solidFill>
                <a:latin typeface="Noto Sans TC"/>
                <a:ea typeface="Noto Sans TC"/>
                <a:cs typeface="Noto Sans TC"/>
              </a:rPr>
              <a:t>01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2413A551-88B6-493D-9777-47BD6A1F4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2041814"/>
            <a:ext cx="1371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F3F8FB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1">
                <a:solidFill>
                  <a:srgbClr val="0B1F33"/>
                </a:solidFill>
                <a:latin typeface="Noto Sans TC"/>
                <a:ea typeface="Noto Sans TC"/>
                <a:cs typeface="Noto Sans TC"/>
              </a:rPr>
              <a:t>Environment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4A8F801E-7138-4A5C-B30C-32330CFE2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2394239"/>
            <a:ext cx="1447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0">
                <a:solidFill>
                  <a:srgbClr val="A7BDCA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0">
                <a:solidFill>
                  <a:srgbClr val="526678"/>
                </a:solidFill>
                <a:latin typeface="Noto Sans TC"/>
                <a:ea typeface="Noto Sans TC"/>
                <a:cs typeface="Noto Sans TC"/>
              </a:rPr>
              <a:t>scripts + inputs</a:t>
            </a:r>
          </a:p>
        </p:txBody>
      </p:sp>
      <p:sp>
        <p:nvSpPr>
          <p:cNvPr id="13" name="矩形: 圓角 12">
            <a:extLst xmlns:a="http://schemas.openxmlformats.org/drawingml/2006/main">
              <a:ext uri="{FF2B5EF4-FFF2-40B4-BE49-F238E27FC236}">
                <a16:creationId xmlns:a16="http://schemas.microsoft.com/office/drawing/2014/main" id="{BCAC2995-1B00-46B6-A67E-B5C695DD8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1613189"/>
            <a:ext cx="16764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4F7F9"/>
          </a:solidFill>
          <a:ln xmlns:a="http://schemas.openxmlformats.org/drawingml/2006/main" w="19050">
            <a:solidFill>
              <a:srgbClr val="1F5A85"/>
            </a:solidFill>
            <a:prstDash val="solid"/>
          </a:ln>
        </p:spPr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E32C7429-CAD7-40FD-A5E6-948370D12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746539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4D8DFF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1F5A85"/>
                </a:solidFill>
                <a:latin typeface="Noto Sans TC"/>
                <a:ea typeface="Noto Sans TC"/>
                <a:cs typeface="Noto Sans TC"/>
              </a:rPr>
              <a:t>02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31C2D90A-9C58-44D2-9DA0-5BE6643E6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041814"/>
            <a:ext cx="1371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F3F8FB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1">
                <a:solidFill>
                  <a:srgbClr val="0B1F33"/>
                </a:solidFill>
                <a:latin typeface="Noto Sans TC"/>
                <a:ea typeface="Noto Sans TC"/>
                <a:cs typeface="Noto Sans TC"/>
              </a:rPr>
              <a:t>RTL Insertion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3E33DAFD-4F1E-490C-B47F-408045A59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394239"/>
            <a:ext cx="1447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0">
                <a:solidFill>
                  <a:srgbClr val="A7BDCA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0">
                <a:solidFill>
                  <a:srgbClr val="526678"/>
                </a:solidFill>
                <a:latin typeface="Noto Sans TC"/>
                <a:ea typeface="Noto Sans TC"/>
                <a:cs typeface="Noto Sans TC"/>
              </a:rPr>
              <a:t>1687 / 1838</a:t>
            </a:r>
          </a:p>
        </p:txBody>
      </p:sp>
      <p:sp>
        <p:nvSpPr>
          <p:cNvPr id="17" name="矩形: 圓角 16">
            <a:extLst xmlns:a="http://schemas.openxmlformats.org/drawingml/2006/main">
              <a:ext uri="{FF2B5EF4-FFF2-40B4-BE49-F238E27FC236}">
                <a16:creationId xmlns:a16="http://schemas.microsoft.com/office/drawing/2014/main" id="{952A0399-AF3B-454A-90C4-D2AD52E94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1613189"/>
            <a:ext cx="16764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4F7F9"/>
          </a:solidFill>
          <a:ln xmlns:a="http://schemas.openxmlformats.org/drawingml/2006/main" w="19050">
            <a:solidFill>
              <a:srgbClr val="0F766E"/>
            </a:solidFill>
            <a:prstDash val="solid"/>
          </a:ln>
        </p:spPr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912A60CA-C57D-442E-AC67-D40A3A1C2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1746539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38D6C5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0F766E"/>
                </a:solidFill>
                <a:latin typeface="Noto Sans TC"/>
                <a:ea typeface="Noto Sans TC"/>
                <a:cs typeface="Noto Sans TC"/>
              </a:rPr>
              <a:t>03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79635375-8401-46B8-9A79-582856170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041814"/>
            <a:ext cx="1371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F3F8FB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1">
                <a:solidFill>
                  <a:srgbClr val="0B1F33"/>
                </a:solidFill>
                <a:latin typeface="Noto Sans TC"/>
                <a:ea typeface="Noto Sans TC"/>
                <a:cs typeface="Noto Sans TC"/>
              </a:rPr>
              <a:t>ICL / PDL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F27B4F14-42A2-4545-B881-5E3AE104C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2394239"/>
            <a:ext cx="1447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0">
                <a:solidFill>
                  <a:srgbClr val="A7BDCA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0">
                <a:solidFill>
                  <a:srgbClr val="526678"/>
                </a:solidFill>
                <a:latin typeface="Noto Sans TC"/>
                <a:ea typeface="Noto Sans TC"/>
                <a:cs typeface="Noto Sans TC"/>
              </a:rPr>
              <a:t>package pattern</a:t>
            </a:r>
          </a:p>
        </p:txBody>
      </p:sp>
      <p:sp>
        <p:nvSpPr>
          <p:cNvPr id="21" name="矩形: 圓角 20">
            <a:extLst xmlns:a="http://schemas.openxmlformats.org/drawingml/2006/main">
              <a:ext uri="{FF2B5EF4-FFF2-40B4-BE49-F238E27FC236}">
                <a16:creationId xmlns:a16="http://schemas.microsoft.com/office/drawing/2014/main" id="{359F9F5C-E87D-42EE-A34B-16226FF11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613189"/>
            <a:ext cx="16764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4F7F9"/>
          </a:solidFill>
          <a:ln xmlns:a="http://schemas.openxmlformats.org/drawingml/2006/main" w="19050">
            <a:solidFill>
              <a:srgbClr val="0F766E"/>
            </a:solidFill>
            <a:prstDash val="solid"/>
          </a:ln>
        </p:spPr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E959B346-EC24-42C9-989C-4B6EBD79B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746539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7CE0D2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0F766E"/>
                </a:solidFill>
                <a:latin typeface="Noto Sans TC"/>
                <a:ea typeface="Noto Sans TC"/>
                <a:cs typeface="Noto Sans TC"/>
              </a:rPr>
              <a:t>04</a:t>
            </a: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E6A54AF1-5DF0-491C-840E-156F3A861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041814"/>
            <a:ext cx="1371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F3F8FB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1">
                <a:solidFill>
                  <a:srgbClr val="0B1F33"/>
                </a:solidFill>
                <a:latin typeface="Noto Sans TC"/>
                <a:ea typeface="Noto Sans TC"/>
                <a:cs typeface="Noto Sans TC"/>
              </a:rPr>
              <a:t>RTL Verify</a:t>
            </a:r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4DB47A0E-325A-4D4B-9708-15DEB06F5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394239"/>
            <a:ext cx="1447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0">
                <a:solidFill>
                  <a:srgbClr val="A7BDCA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0">
                <a:solidFill>
                  <a:srgbClr val="526678"/>
                </a:solidFill>
                <a:latin typeface="Noto Sans TC"/>
                <a:ea typeface="Noto Sans TC"/>
                <a:cs typeface="Noto Sans TC"/>
              </a:rPr>
              <a:t>waveform + compare</a:t>
            </a:r>
          </a:p>
        </p:txBody>
      </p:sp>
      <p:sp>
        <p:nvSpPr>
          <p:cNvPr id="25" name="矩形: 圓角 24">
            <a:extLst xmlns:a="http://schemas.openxmlformats.org/drawingml/2006/main">
              <a:ext uri="{FF2B5EF4-FFF2-40B4-BE49-F238E27FC236}">
                <a16:creationId xmlns:a16="http://schemas.microsoft.com/office/drawing/2014/main" id="{91F8082D-D9DE-49CD-A0E1-944005808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613189"/>
            <a:ext cx="16764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4F7F9"/>
          </a:solidFill>
          <a:ln xmlns:a="http://schemas.openxmlformats.org/drawingml/2006/main" w="19050">
            <a:solidFill>
              <a:srgbClr val="1F5A85"/>
            </a:solidFill>
            <a:prstDash val="solid"/>
          </a:ln>
        </p:spPr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BF6DFDD5-7F6F-43AD-93FA-2C7FB2CD1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1746539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F5B94C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1F5A85"/>
                </a:solidFill>
                <a:latin typeface="Noto Sans TC"/>
                <a:ea typeface="Noto Sans TC"/>
                <a:cs typeface="Noto Sans TC"/>
              </a:rPr>
              <a:t>05</a:t>
            </a:r>
          </a:p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572C298B-80FB-4B25-A207-2ADF85715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2041814"/>
            <a:ext cx="1371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F3F8FB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1">
                <a:solidFill>
                  <a:srgbClr val="0B1F33"/>
                </a:solidFill>
                <a:latin typeface="Noto Sans TC"/>
                <a:ea typeface="Noto Sans TC"/>
                <a:cs typeface="Noto Sans TC"/>
              </a:rPr>
              <a:t>Synthesis</a:t>
            </a:r>
          </a:p>
        </p:txBody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CDEFCF04-3E78-44D6-839B-0E96F32B7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2394239"/>
            <a:ext cx="1447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0">
                <a:solidFill>
                  <a:srgbClr val="A7BDCA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0">
                <a:solidFill>
                  <a:srgbClr val="526678"/>
                </a:solidFill>
                <a:latin typeface="Noto Sans TC"/>
                <a:ea typeface="Noto Sans TC"/>
                <a:cs typeface="Noto Sans TC"/>
              </a:rPr>
              <a:t>preserve network</a:t>
            </a:r>
          </a:p>
        </p:txBody>
      </p:sp>
      <p:sp>
        <p:nvSpPr>
          <p:cNvPr id="29" name="矩形: 圓角 28">
            <a:extLst xmlns:a="http://schemas.openxmlformats.org/drawingml/2006/main">
              <a:ext uri="{FF2B5EF4-FFF2-40B4-BE49-F238E27FC236}">
                <a16:creationId xmlns:a16="http://schemas.microsoft.com/office/drawing/2014/main" id="{E660AB29-FB8C-44D2-8D8B-FA361D157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1613189"/>
            <a:ext cx="16764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4F7F9"/>
          </a:solidFill>
          <a:ln xmlns:a="http://schemas.openxmlformats.org/drawingml/2006/main" w="19050">
            <a:solidFill>
              <a:srgbClr val="15803D"/>
            </a:solidFill>
            <a:prstDash val="solid"/>
          </a:ln>
        </p:spPr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AE2BDE4A-D5CE-4C72-B7B9-ABEADEFB9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1746539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44D17B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15803D"/>
                </a:solidFill>
                <a:latin typeface="Noto Sans TC"/>
                <a:ea typeface="Noto Sans TC"/>
                <a:cs typeface="Noto Sans TC"/>
              </a:rPr>
              <a:t>06</a:t>
            </a:r>
          </a:p>
        </p:txBody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02BC6D18-10B0-4DF1-B37A-4576988EC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2041814"/>
            <a:ext cx="1371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F3F8FB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1">
                <a:solidFill>
                  <a:srgbClr val="0B1F33"/>
                </a:solidFill>
                <a:latin typeface="Noto Sans TC"/>
                <a:ea typeface="Noto Sans TC"/>
                <a:cs typeface="Noto Sans TC"/>
              </a:rPr>
              <a:t>Gate Verify</a:t>
            </a:r>
          </a:p>
        </p:txBody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8E501967-37A4-4FF0-A74C-97FFA5DF3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2394239"/>
            <a:ext cx="1447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0">
                <a:solidFill>
                  <a:srgbClr val="A7BDCA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0">
                <a:solidFill>
                  <a:srgbClr val="526678"/>
                </a:solidFill>
                <a:latin typeface="Noto Sans TC"/>
                <a:ea typeface="Noto Sans TC"/>
                <a:cs typeface="Noto Sans TC"/>
              </a:rPr>
              <a:t>RTL = gate</a:t>
            </a: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E2CA1B09-B5BD-43C1-A108-5815DF926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2921145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0F766E"/>
                </a:solidFill>
                <a:latin typeface="Noto Sans TC"/>
                <a:ea typeface="Noto Sans TC"/>
                <a:cs typeface="Noto Sans TC"/>
              </a:defRPr>
            </a:pPr>
            <a:r>
              <a:rPr sz="1650" b="1">
                <a:solidFill>
                  <a:srgbClr val="0F766E"/>
                </a:solidFill>
                <a:latin typeface="Noto Sans TC"/>
                <a:ea typeface="Noto Sans TC"/>
                <a:cs typeface="Noto Sans TC"/>
              </a:rPr>
              <a:t>Validated Access  |  Current Deliverables</a:t>
            </a:r>
          </a:p>
        </p:txBody>
      </p:sp>
      <p:sp>
        <p:nvSpPr>
          <p:cNvPr id="39" name="矩形 38">
            <a:extLst xmlns:a="http://schemas.openxmlformats.org/drawingml/2006/main">
              <a:ext uri="{FF2B5EF4-FFF2-40B4-BE49-F238E27FC236}">
                <a16:creationId xmlns:a16="http://schemas.microsoft.com/office/drawing/2014/main" id="{9317D2F5-E7A3-4BFB-ADBA-77CB65657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741" y="3640498"/>
            <a:ext cx="5676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334155"/>
                </a:solidFill>
                <a:latin typeface="Noto Sans TC"/>
                <a:ea typeface="Noto Sans TC"/>
                <a:cs typeface="Noto Sans TC"/>
              </a:defRPr>
            </a:pPr>
            <a:r>
              <a:rPr sz="1050" b="0">
                <a:solidFill>
                  <a:srgbClr val="334155"/>
                </a:solidFill>
                <a:latin typeface="Noto Sans TC"/>
                <a:ea typeface="Noto Sans TC"/>
                <a:cs typeface="Noto Sans TC"/>
              </a:rPr>
              <a:t>FLOW INTEGRATION
Tessent linked to existing RTL, simulation, and synthesis</a:t>
            </a:r>
          </a:p>
        </p:txBody>
      </p:sp>
      <p:sp>
        <p:nvSpPr>
          <p:cNvPr id="45" name="矩形 44">
            <a:extLst xmlns:a="http://schemas.openxmlformats.org/drawingml/2006/main">
              <a:ext uri="{FF2B5EF4-FFF2-40B4-BE49-F238E27FC236}">
                <a16:creationId xmlns:a16="http://schemas.microsoft.com/office/drawing/2014/main" id="{EF109410-08FF-4FC5-88F7-C11845CF9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741" y="4231048"/>
            <a:ext cx="5676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334155"/>
                </a:solidFill>
                <a:latin typeface="Noto Sans TC"/>
                <a:ea typeface="Noto Sans TC"/>
                <a:cs typeface="Noto Sans TC"/>
              </a:defRPr>
            </a:pPr>
            <a:r>
              <a:rPr sz="1050" b="0">
                <a:solidFill>
                  <a:srgbClr val="334155"/>
                </a:solidFill>
                <a:latin typeface="Noto Sans TC"/>
                <a:ea typeface="Noto Sans TC"/>
                <a:cs typeface="Noto Sans TC"/>
              </a:rPr>
              <a:t>WORKING TCL SET
Executable scripts; design settings are still mixed in one folder</a:t>
            </a:r>
          </a:p>
        </p:txBody>
      </p:sp>
      <p:sp>
        <p:nvSpPr>
          <p:cNvPr id="51" name="矩形 50">
            <a:extLst xmlns:a="http://schemas.openxmlformats.org/drawingml/2006/main">
              <a:ext uri="{FF2B5EF4-FFF2-40B4-BE49-F238E27FC236}">
                <a16:creationId xmlns:a16="http://schemas.microsoft.com/office/drawing/2014/main" id="{90C7E3F4-A057-429A-8F14-4AD54EDA1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741" y="4821598"/>
            <a:ext cx="5676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334155"/>
                </a:solidFill>
                <a:latin typeface="Noto Sans TC"/>
                <a:ea typeface="Noto Sans TC"/>
                <a:cs typeface="Noto Sans TC"/>
              </a:defRPr>
            </a:pPr>
            <a:r>
              <a:rPr sz="1050" b="0">
                <a:solidFill>
                  <a:srgbClr val="334155"/>
                </a:solidFill>
                <a:latin typeface="Noto Sans TC"/>
                <a:ea typeface="Noto Sans TC"/>
                <a:cs typeface="Noto Sans TC"/>
              </a:rPr>
              <a:t>DOCUMENTATION
Tcl usage, integration issues, fixes, and verification evidence</a:t>
            </a:r>
          </a:p>
        </p:txBody>
      </p:sp>
      <p:sp>
        <p:nvSpPr>
          <p:cNvPr id="52" name="矩形 51">
            <a:extLst xmlns:a="http://schemas.openxmlformats.org/drawingml/2006/main">
              <a:ext uri="{FF2B5EF4-FFF2-40B4-BE49-F238E27FC236}">
                <a16:creationId xmlns:a16="http://schemas.microsoft.com/office/drawing/2014/main" id="{C8AA3FB1-77CD-4AC8-950F-7AE3CB933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D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矩形 52">
            <a:extLst xmlns:a="http://schemas.openxmlformats.org/drawingml/2006/main">
              <a:ext uri="{FF2B5EF4-FFF2-40B4-BE49-F238E27FC236}">
                <a16:creationId xmlns:a16="http://schemas.microsoft.com/office/drawing/2014/main" id="{81B6382B-352F-45FF-96B2-AAE7CE946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81775"/>
            <a:ext cx="904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6F8B9D"/>
                </a:solidFill>
                <a:latin typeface="Noto Sans TC"/>
                <a:ea typeface="Noto Sans TC"/>
                <a:cs typeface="Noto Sans TC"/>
              </a:defRPr>
            </a:pPr>
            <a:r>
              <a:rPr sz="825" b="0">
                <a:solidFill>
                  <a:srgbClr val="64748B"/>
                </a:solidFill>
                <a:latin typeface="Noto Sans TC"/>
                <a:ea typeface="Noto Sans TC"/>
                <a:cs typeface="Noto Sans TC"/>
              </a:rPr>
              <a:t>Validated: IEEE 1687 · IEEE 1687 + 1838 · stack_top   |   DWR = bonus</a:t>
            </a:r>
          </a:p>
        </p:txBody>
      </p:sp>
      <p:sp>
        <p:nvSpPr>
          <p:cNvPr id="54" name="矩形 53">
            <a:extLst xmlns:a="http://schemas.openxmlformats.org/drawingml/2006/main">
              <a:ext uri="{FF2B5EF4-FFF2-40B4-BE49-F238E27FC236}">
                <a16:creationId xmlns:a16="http://schemas.microsoft.com/office/drawing/2014/main" id="{644FB2E7-B626-459E-9EA2-DBCDE4C80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6F8B9D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64748B"/>
                </a:solidFill>
                <a:latin typeface="Noto Sans TC"/>
                <a:ea typeface="Noto Sans TC"/>
                <a:cs typeface="Noto Sans TC"/>
              </a:rPr>
              <a:t>04</a:t>
            </a:r>
          </a:p>
        </p:txBody>
      </p:sp>
      <p:pic>
        <p:nvPicPr>
          <p:cNvPr id="100" name="圖片 5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219ffe33064358"/>
          <a:srcRect xmlns:a="http://schemas.openxmlformats.org/drawingml/2006/main" l="5449" t="4905" r="11978" b="4717"/>
          <a:stretch xmlns:a="http://schemas.openxmlformats.org/drawingml/2006/main"/>
        </p:blipFill>
        <p:spPr>
          <a:xfrm xmlns:a="http://schemas.openxmlformats.org/drawingml/2006/main">
            <a:off x="665018" y="3318164"/>
            <a:ext cx="3546763" cy="3047711"/>
          </a:xfrm>
          <a:prstGeom xmlns:a="http://schemas.openxmlformats.org/drawingml/2006/main" prst="rect">
            <a:avLst/>
          </a:prstGeom>
        </p:spPr>
      </p:pic>
      <p:sp>
        <p:nvSpPr>
          <p:cNvPr id="58" name="矩形: 圓角 57">
            <a:extLst xmlns:a="http://schemas.openxmlformats.org/drawingml/2006/main">
              <a:ext uri="{FF2B5EF4-FFF2-40B4-BE49-F238E27FC236}">
                <a16:creationId xmlns:a16="http://schemas.microsoft.com/office/drawing/2014/main" id="{B6E21BF8-BDFE-2ECD-1350-4BCEE1548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741" y="5758512"/>
            <a:ext cx="6111924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E8EFF4"/>
          </a:solidFill>
          <a:ln xmlns:a="http://schemas.openxmlformats.org/drawingml/2006/main" w="9525">
            <a:solidFill>
              <a:srgbClr val="B8C7D1"/>
            </a:solidFill>
            <a:prstDash val="solid"/>
          </a:ln>
        </p:spPr>
      </p:sp>
      <p:sp>
        <p:nvSpPr>
          <p:cNvPr id="59" name="矩形 58">
            <a:extLst xmlns:a="http://schemas.openxmlformats.org/drawingml/2006/main">
              <a:ext uri="{FF2B5EF4-FFF2-40B4-BE49-F238E27FC236}">
                <a16:creationId xmlns:a16="http://schemas.microsoft.com/office/drawing/2014/main" id="{47ADFBCD-674A-64E1-CFA5-6D19966B3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9879" y="5758512"/>
            <a:ext cx="5798492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63" b="1">
                <a:solidFill>
                  <a:srgbClr val="0B1F33"/>
                </a:solidFill>
                <a:latin typeface="Noto Sans TC"/>
                <a:ea typeface="Noto Sans TC"/>
                <a:cs typeface="Noto Sans TC"/>
              </a:defRPr>
            </a:pPr>
            <a:r>
              <a:rPr sz="1163" b="1">
                <a:solidFill>
                  <a:srgbClr val="0B1F33"/>
                </a:solidFill>
                <a:latin typeface="Noto Sans TC"/>
                <a:ea typeface="Noto Sans TC"/>
                <a:cs typeface="Noto Sans TC"/>
              </a:rPr>
              <a:t>Current assets: working Tcl · ICL / PDL · simulation · synthesis
Step 12: separate common flow, design config, runs, and reports</a:t>
            </a:r>
          </a:p>
        </p:txBody>
      </p:sp>
    </p:spTree>
    <p:extLst>
      <p:ext uri="{BB962C8B-B14F-4D97-AF65-F5344CB8AC3E}">
        <p14:creationId xmlns:p14="http://schemas.microsoft.com/office/powerpoint/2010/main" val="122739679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95E5F098-4516-40DC-B22E-742B9B345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38D6C5"/>
                </a:solidFill>
                <a:latin typeface="Noto Sans TC"/>
                <a:ea typeface="Noto Sans TC"/>
                <a:cs typeface="Noto Sans TC"/>
              </a:defRPr>
            </a:pPr>
            <a:r>
              <a:rPr sz="1050" b="1">
                <a:solidFill>
                  <a:srgbClr val="0F766E"/>
                </a:solidFill>
                <a:latin typeface="Noto Sans TC"/>
                <a:ea typeface="Noto Sans TC"/>
                <a:cs typeface="Noto Sans TC"/>
              </a:rPr>
              <a:t>SCALE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656308E3-A30F-401B-B4D8-249F1A627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F3F8FB"/>
                </a:solidFill>
                <a:latin typeface="Noto Sans TC"/>
                <a:ea typeface="Noto Sans TC"/>
                <a:cs typeface="Noto Sans TC"/>
              </a:defRPr>
            </a:pPr>
            <a:r>
              <a:rPr sz="2850" b="1">
                <a:solidFill>
                  <a:srgbClr val="0B1F33"/>
                </a:solidFill>
                <a:latin typeface="Noto Sans TC"/>
                <a:ea typeface="Noto Sans TC"/>
                <a:cs typeface="Noto Sans TC"/>
              </a:rPr>
              <a:t>One Framework Supports Three Access Scopes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36CEA534-68D3-4109-B12B-A2AF3E739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矩形: 圓角 17">
            <a:extLst xmlns:a="http://schemas.openxmlformats.org/drawingml/2006/main">
              <a:ext uri="{FF2B5EF4-FFF2-40B4-BE49-F238E27FC236}">
                <a16:creationId xmlns:a16="http://schemas.microsoft.com/office/drawing/2014/main" id="{1B094306-5C87-46B7-A63B-B35457E5C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848350"/>
            <a:ext cx="104013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E8EFF4"/>
          </a:solidFill>
          <a:ln xmlns:a="http://schemas.openxmlformats.org/drawingml/2006/main" w="9525">
            <a:solidFill>
              <a:srgbClr val="B8C7D1"/>
            </a:solidFill>
            <a:prstDash val="solid"/>
          </a:ln>
        </p:spPr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5BB4CCD0-C4A6-4E45-8D13-C78216866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848350"/>
            <a:ext cx="9867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63" b="1">
                <a:solidFill>
                  <a:srgbClr val="0B1F33"/>
                </a:solidFill>
                <a:latin typeface="Noto Sans TC"/>
                <a:ea typeface="Noto Sans TC"/>
                <a:cs typeface="Noto Sans TC"/>
              </a:defRPr>
            </a:pPr>
            <a:r>
              <a:rPr sz="1163" b="1">
                <a:solidFill>
                  <a:srgbClr val="0B1F33"/>
                </a:solidFill>
                <a:latin typeface="Noto Sans TC"/>
                <a:ea typeface="Noto Sans TC"/>
                <a:cs typeface="Noto Sans TC"/>
              </a:rPr>
              <a:t>Current assets: working Tcl · ICL / PDL · simulation · synthesis
Step 12: separate common flow, design config, runs, and reports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677F2D6F-1EEA-434A-AFE1-98C976335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D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CC3EB0EF-0BD6-4B76-923C-BD19E8863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81775"/>
            <a:ext cx="904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6F8B9D"/>
                </a:solidFill>
                <a:latin typeface="Noto Sans TC"/>
                <a:ea typeface="Noto Sans TC"/>
                <a:cs typeface="Noto Sans TC"/>
              </a:defRPr>
            </a:pPr>
            <a:r>
              <a:rPr sz="825" b="0">
                <a:solidFill>
                  <a:srgbClr val="64748B"/>
                </a:solidFill>
                <a:latin typeface="Noto Sans TC"/>
                <a:ea typeface="Noto Sans TC"/>
                <a:cs typeface="Noto Sans TC"/>
              </a:rPr>
              <a:t>Validated: IEEE 1687 · IEEE 1687 + 1838 · stack_top   |   DWR = bonus</a:t>
            </a: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540109A4-E2A5-4A7F-9B39-992FC6DFF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6F8B9D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64748B"/>
                </a:solidFill>
                <a:latin typeface="Noto Sans TC"/>
                <a:ea typeface="Noto Sans TC"/>
                <a:cs typeface="Noto Sans TC"/>
              </a:rPr>
              <a:t>05</a:t>
            </a:r>
          </a:p>
        </p:txBody>
      </p:sp>
      <p:sp>
        <p:nvSpPr>
          <p:cNvPr id="24" name="矩形: 圓角 23">
            <a:extLst xmlns:a="http://schemas.openxmlformats.org/drawingml/2006/main">
              <a:ext uri="{FF2B5EF4-FFF2-40B4-BE49-F238E27FC236}">
                <a16:creationId xmlns:a16="http://schemas.microsoft.com/office/drawing/2014/main" id="{59ACCEBC-5C6C-BD02-0D62-19E5B6D36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5958" y="2008187"/>
            <a:ext cx="4114800" cy="3562350"/>
          </a:xfrm>
          <a:prstGeom xmlns:a="http://schemas.openxmlformats.org/drawingml/2006/main" prst="roundRect">
            <a:avLst>
              <a:gd name="adj" fmla="val 3209"/>
            </a:avLst>
          </a:prstGeom>
          <a:solidFill xmlns:a="http://schemas.openxmlformats.org/drawingml/2006/main">
            <a:schemeClr val="accent6">
              <a:lumMod val="20000"/>
              <a:lumOff val="80000"/>
            </a:schemeClr>
          </a:solidFill>
          <a:ln xmlns:a="http://schemas.openxmlformats.org/drawingml/2006/main" w="19050">
            <a:solidFill>
              <a:srgbClr val="44D17B"/>
            </a:solidFill>
            <a:prstDash val="solid"/>
          </a:ln>
        </p:spPr>
      </p:sp>
      <p:sp>
        <p:nvSpPr>
          <p:cNvPr id="25" name="矩形: 圓角 24">
            <a:extLst xmlns:a="http://schemas.openxmlformats.org/drawingml/2006/main">
              <a:ext uri="{FF2B5EF4-FFF2-40B4-BE49-F238E27FC236}">
                <a16:creationId xmlns:a16="http://schemas.microsoft.com/office/drawing/2014/main" id="{605DB847-5930-CA76-CF7D-4C28FBED0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5958" y="3122612"/>
            <a:ext cx="3714750" cy="2438400"/>
          </a:xfrm>
          <a:prstGeom xmlns:a="http://schemas.openxmlformats.org/drawingml/2006/main" prst="roundRect">
            <a:avLst>
              <a:gd name="adj" fmla="val 4688"/>
            </a:avLst>
          </a:prstGeom>
          <a:solidFill xmlns:a="http://schemas.openxmlformats.org/drawingml/2006/main">
            <a:schemeClr val="accent2">
              <a:lumMod val="20000"/>
              <a:lumOff val="80000"/>
            </a:schemeClr>
          </a:solidFill>
          <a:ln xmlns:a="http://schemas.openxmlformats.org/drawingml/2006/main" w="19050">
            <a:solidFill>
              <a:srgbClr val="F5B94C"/>
            </a:solidFill>
            <a:prstDash val="solid"/>
          </a:ln>
        </p:spPr>
      </p:sp>
      <p:sp>
        <p:nvSpPr>
          <p:cNvPr id="26" name="矩形: 圓角 25">
            <a:extLst xmlns:a="http://schemas.openxmlformats.org/drawingml/2006/main">
              <a:ext uri="{FF2B5EF4-FFF2-40B4-BE49-F238E27FC236}">
                <a16:creationId xmlns:a16="http://schemas.microsoft.com/office/drawing/2014/main" id="{73665FD1-8F9E-C62F-3832-85455FAD0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5958" y="4256087"/>
            <a:ext cx="3143250" cy="131445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chemeClr val="tx2">
              <a:lumMod val="10000"/>
              <a:lumOff val="90000"/>
            </a:schemeClr>
          </a:solidFill>
          <a:ln xmlns:a="http://schemas.openxmlformats.org/drawingml/2006/main" w="19050">
            <a:solidFill>
              <a:srgbClr val="3AA7FF"/>
            </a:solidFill>
            <a:prstDash val="solid"/>
          </a:ln>
        </p:spPr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74462003-717A-41EC-35C4-5EAD88EA1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4558" y="4465637"/>
            <a:ext cx="2686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3AA7FF"/>
                </a:solidFill>
                <a:latin typeface="Noto Sans TC"/>
                <a:ea typeface="Noto Sans TC"/>
                <a:cs typeface="Noto Sans TC"/>
              </a:defRPr>
            </a:pPr>
            <a:r>
              <a:rPr sz="1050" b="1">
                <a:solidFill>
                  <a:srgbClr val="3AA7FF"/>
                </a:solidFill>
                <a:latin typeface="Noto Sans TC"/>
                <a:ea typeface="Noto Sans TC"/>
                <a:cs typeface="Noto Sans TC"/>
              </a:rPr>
              <a:t>LEVEL 1</a:t>
            </a:r>
          </a:p>
        </p:txBody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0D483EB4-CE42-02AA-75BF-F538A3F74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4558" y="4751387"/>
            <a:ext cx="2686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F3F8FB"/>
                </a:solidFill>
                <a:latin typeface="Noto Sans TC"/>
                <a:ea typeface="Noto Sans TC"/>
                <a:cs typeface="Noto Sans TC"/>
              </a:defRPr>
            </a:pPr>
            <a:r>
              <a:rPr sz="1950" b="1">
                <a:solidFill>
                  <a:schemeClr val="bg2">
                    <a:lumMod val="10000"/>
                  </a:schemeClr>
                </a:solidFill>
                <a:latin typeface="Noto Sans TC"/>
                <a:ea typeface="Noto Sans TC"/>
                <a:cs typeface="Noto Sans TC"/>
              </a:rPr>
              <a:t>IEEE 1687</a:t>
            </a:r>
          </a:p>
        </p:txBody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CF1C9876-00E8-2E99-A96C-8983889FB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4558" y="5189537"/>
            <a:ext cx="2686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A7BDCA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chemeClr val="bg2">
                    <a:lumMod val="10000"/>
                  </a:schemeClr>
                </a:solidFill>
                <a:latin typeface="Noto Sans TC"/>
                <a:ea typeface="Noto Sans TC"/>
                <a:cs typeface="Noto Sans TC"/>
              </a:rPr>
              <a:t>TAP → SIB → TDR → Instrument</a:t>
            </a:r>
          </a:p>
        </p:txBody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8FBBD14C-3B9D-76D9-4C8F-ACEEEC800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4558" y="3332162"/>
            <a:ext cx="3257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F5B94C"/>
                </a:solidFill>
                <a:latin typeface="Noto Sans TC"/>
                <a:ea typeface="Noto Sans TC"/>
                <a:cs typeface="Noto Sans TC"/>
              </a:defRPr>
            </a:pPr>
            <a:r>
              <a:rPr sz="1050" b="1">
                <a:solidFill>
                  <a:srgbClr val="F5B94C"/>
                </a:solidFill>
                <a:latin typeface="Noto Sans TC"/>
                <a:ea typeface="Noto Sans TC"/>
                <a:cs typeface="Noto Sans TC"/>
              </a:rPr>
              <a:t>LEVEL 2</a:t>
            </a:r>
          </a:p>
        </p:txBody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D012EA8C-C404-453E-8456-16D10DB9A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4558" y="3589337"/>
            <a:ext cx="3257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F3F8FB"/>
                </a:solidFill>
                <a:latin typeface="Noto Sans TC"/>
                <a:ea typeface="Noto Sans TC"/>
                <a:cs typeface="Noto Sans TC"/>
              </a:defRPr>
            </a:pPr>
            <a:r>
              <a:rPr sz="1950" b="1">
                <a:solidFill>
                  <a:schemeClr val="bg2">
                    <a:lumMod val="10000"/>
                  </a:schemeClr>
                </a:solidFill>
                <a:latin typeface="Noto Sans TC"/>
                <a:ea typeface="Noto Sans TC"/>
                <a:cs typeface="Noto Sans TC"/>
              </a:rPr>
              <a:t>1687 + IEEE 1838</a:t>
            </a:r>
          </a:p>
        </p:txBody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27457079-7A6D-94AF-2E43-B573C3E2A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4558" y="4022724"/>
            <a:ext cx="32575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A7BDCA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chemeClr val="bg2">
                    <a:lumMod val="10000"/>
                  </a:schemeClr>
                </a:solidFill>
                <a:latin typeface="Noto Sans TC"/>
                <a:ea typeface="Noto Sans TC"/>
                <a:cs typeface="Noto Sans TC"/>
              </a:rPr>
              <a:t>PTAP / 3DCR / STAP + local IJTAG</a:t>
            </a: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65D644D8-DC72-0719-3EA7-23FAD367B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4558" y="2217737"/>
            <a:ext cx="3657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44D17B"/>
                </a:solidFill>
                <a:latin typeface="Noto Sans TC"/>
                <a:ea typeface="Noto Sans TC"/>
                <a:cs typeface="Noto Sans TC"/>
              </a:defRPr>
            </a:pPr>
            <a:r>
              <a:rPr sz="1050" b="1">
                <a:solidFill>
                  <a:srgbClr val="44D17B"/>
                </a:solidFill>
                <a:latin typeface="Noto Sans TC"/>
                <a:ea typeface="Noto Sans TC"/>
                <a:cs typeface="Noto Sans TC"/>
              </a:rPr>
              <a:t>LEVEL 3</a:t>
            </a:r>
          </a:p>
        </p:txBody>
      </p:sp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F7D32DB8-0881-06E9-7D32-0410080D3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4558" y="2503487"/>
            <a:ext cx="3657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F3F8FB"/>
                </a:solidFill>
                <a:latin typeface="Noto Sans TC"/>
                <a:ea typeface="Noto Sans TC"/>
                <a:cs typeface="Noto Sans TC"/>
              </a:defRPr>
            </a:pPr>
            <a:r>
              <a:rPr sz="1950" b="1">
                <a:solidFill>
                  <a:schemeClr val="bg2">
                    <a:lumMod val="10000"/>
                  </a:schemeClr>
                </a:solidFill>
                <a:latin typeface="Noto Sans TC"/>
                <a:ea typeface="Noto Sans TC"/>
                <a:cs typeface="Noto Sans TC"/>
              </a:rPr>
              <a:t>S</a:t>
            </a:r>
            <a:r>
              <a:rPr sz="1950" b="1">
                <a:solidFill>
                  <a:schemeClr val="bg2">
                    <a:lumMod val="10000"/>
                  </a:schemeClr>
                </a:solidFill>
                <a:latin typeface="Noto Sans TC"/>
                <a:ea typeface="Noto Sans TC"/>
                <a:cs typeface="Noto Sans TC"/>
              </a:rPr>
              <a:t>tack</a:t>
            </a:r>
            <a:r>
              <a:rPr sz="1950" b="1">
                <a:solidFill>
                  <a:schemeClr val="bg2">
                    <a:lumMod val="10000"/>
                  </a:schemeClr>
                </a:solidFill>
                <a:latin typeface="Noto Sans TC"/>
                <a:ea typeface="Noto Sans TC"/>
                <a:cs typeface="Noto Sans TC"/>
              </a:rPr>
              <a:t> </a:t>
            </a:r>
            <a:r>
              <a:rPr sz="1950" b="1">
                <a:solidFill>
                  <a:schemeClr val="bg2">
                    <a:lumMod val="10000"/>
                  </a:schemeClr>
                </a:solidFill>
                <a:latin typeface="Noto Sans TC"/>
                <a:ea typeface="Noto Sans TC"/>
                <a:cs typeface="Noto Sans TC"/>
              </a:rPr>
              <a:t>top</a:t>
            </a:r>
          </a:p>
        </p:txBody>
      </p:sp>
      <p:sp>
        <p:nvSpPr>
          <p:cNvPr id="35" name="矩形 34">
            <a:extLst xmlns:a="http://schemas.openxmlformats.org/drawingml/2006/main">
              <a:ext uri="{FF2B5EF4-FFF2-40B4-BE49-F238E27FC236}">
                <a16:creationId xmlns:a16="http://schemas.microsoft.com/office/drawing/2014/main" id="{303BB9D8-B73B-6A59-25C9-407E142C6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4558" y="2855912"/>
            <a:ext cx="3657600" cy="2457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A7BDCA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chemeClr val="bg2">
                    <a:lumMod val="10000"/>
                  </a:schemeClr>
                </a:solidFill>
                <a:latin typeface="Noto Sans TC"/>
                <a:ea typeface="Noto Sans TC"/>
                <a:cs typeface="Noto Sans TC"/>
              </a:rPr>
              <a:t>Multiple STAPs + hierarchical retargeting</a:t>
            </a:r>
          </a:p>
        </p:txBody>
      </p:sp>
      <p:sp>
        <p:nvSpPr>
          <p:cNvPr id="36" name="矩形 35">
            <a:extLst xmlns:a="http://schemas.openxmlformats.org/drawingml/2006/main">
              <a:ext uri="{FF2B5EF4-FFF2-40B4-BE49-F238E27FC236}">
                <a16:creationId xmlns:a16="http://schemas.microsoft.com/office/drawing/2014/main" id="{7BDB11D6-1B52-69CF-FD82-3F43EE189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1783" y="3313112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F5B94C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1">
                <a:solidFill>
                  <a:srgbClr val="FF0000"/>
                </a:solidFill>
                <a:latin typeface="Noto Sans TC"/>
                <a:ea typeface="Noto Sans TC"/>
                <a:cs typeface="Noto Sans TC"/>
              </a:rPr>
              <a:t>+ wrapper control</a:t>
            </a:r>
          </a:p>
        </p:txBody>
      </p:sp>
      <p:sp>
        <p:nvSpPr>
          <p:cNvPr id="37" name="矩形 36">
            <a:extLst xmlns:a="http://schemas.openxmlformats.org/drawingml/2006/main">
              <a:ext uri="{FF2B5EF4-FFF2-40B4-BE49-F238E27FC236}">
                <a16:creationId xmlns:a16="http://schemas.microsoft.com/office/drawing/2014/main" id="{00876483-8DC7-7898-05EC-291156C99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208" y="2189162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44D17B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1">
                <a:solidFill>
                  <a:srgbClr val="FF0000"/>
                </a:solidFill>
                <a:latin typeface="Noto Sans TC"/>
                <a:ea typeface="Noto Sans TC"/>
                <a:cs typeface="Noto Sans TC"/>
              </a:rPr>
              <a:t>+ multi-die access depth</a:t>
            </a:r>
          </a:p>
        </p:txBody>
      </p:sp>
    </p:spTree>
    <p:extLst>
      <p:ext uri="{BB962C8B-B14F-4D97-AF65-F5344CB8AC3E}">
        <p14:creationId xmlns:p14="http://schemas.microsoft.com/office/powerpoint/2010/main" val="98553172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8" name="矩形 57">
            <a:extLst xmlns:a="http://schemas.openxmlformats.org/drawingml/2006/main">
              <a:ext uri="{FF2B5EF4-FFF2-40B4-BE49-F238E27FC236}">
                <a16:creationId xmlns:a16="http://schemas.microsoft.com/office/drawing/2014/main" id="{59A2EBC4-0568-4FD3-9F1D-67D469E92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38D6C5"/>
                </a:solidFill>
                <a:latin typeface="Noto Sans TC"/>
                <a:ea typeface="Noto Sans TC"/>
                <a:cs typeface="Noto Sans TC"/>
              </a:defRPr>
            </a:pPr>
            <a:r>
              <a:rPr sz="1050" b="1">
                <a:solidFill>
                  <a:srgbClr val="0F766E"/>
                </a:solidFill>
                <a:latin typeface="Noto Sans TC"/>
                <a:ea typeface="Noto Sans TC"/>
                <a:cs typeface="Noto Sans TC"/>
              </a:rPr>
              <a:t>STAGE DETAIL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A2A2A3C5-FE3E-4DC0-BB22-A1037FE1D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F3F8FB"/>
                </a:solidFill>
                <a:latin typeface="Noto Sans TC"/>
                <a:ea typeface="Noto Sans TC"/>
                <a:cs typeface="Noto Sans TC"/>
              </a:defRPr>
            </a:pPr>
            <a:r>
              <a:rPr sz="2850" b="1">
                <a:solidFill>
                  <a:srgbClr val="0B1F33"/>
                </a:solidFill>
                <a:latin typeface="Noto Sans TC"/>
                <a:ea typeface="Noto Sans TC"/>
                <a:cs typeface="Noto Sans TC"/>
              </a:rPr>
              <a:t>Step 1 Establishes a Working Run Environment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34A7895B-2F41-4B0F-AEA6-4CC1161EA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B7C958D9-3CF1-44EC-87F7-CD943C1DE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19225"/>
            <a:ext cx="10109778" cy="742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D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橢圓 4">
            <a:extLst xmlns:a="http://schemas.openxmlformats.org/drawingml/2006/main">
              <a:ext uri="{FF2B5EF4-FFF2-40B4-BE49-F238E27FC236}">
                <a16:creationId xmlns:a16="http://schemas.microsoft.com/office/drawing/2014/main" id="{1FEE0420-F99A-4F47-93B7-FAFA2E6A5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EC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50D2AFE8-8F1A-4645-8DE6-ECC04431F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352550"/>
            <a:ext cx="1352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F3F8FB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0B1F33"/>
                </a:solidFill>
                <a:latin typeface="Noto Sans TC"/>
                <a:ea typeface="Noto Sans TC"/>
                <a:cs typeface="Noto Sans TC"/>
              </a:rPr>
              <a:t>1  ENV</a:t>
            </a:r>
          </a:p>
        </p:txBody>
      </p:sp>
      <p:sp>
        <p:nvSpPr>
          <p:cNvPr id="7" name="橢圓 6">
            <a:extLst xmlns:a="http://schemas.openxmlformats.org/drawingml/2006/main">
              <a:ext uri="{FF2B5EF4-FFF2-40B4-BE49-F238E27FC236}">
                <a16:creationId xmlns:a16="http://schemas.microsoft.com/office/drawing/2014/main" id="{EBDA9B38-0D0F-44E9-BF15-618D29973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13620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3DD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97B30C10-52E0-49FC-B92C-C3F30B444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1352550"/>
            <a:ext cx="1352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6F8B9D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0">
                <a:solidFill>
                  <a:srgbClr val="64748B"/>
                </a:solidFill>
                <a:latin typeface="Noto Sans TC"/>
                <a:ea typeface="Noto Sans TC"/>
                <a:cs typeface="Noto Sans TC"/>
              </a:rPr>
              <a:t>2  INSERT</a:t>
            </a:r>
          </a:p>
        </p:txBody>
      </p:sp>
      <p:sp>
        <p:nvSpPr>
          <p:cNvPr id="9" name="橢圓 8">
            <a:extLst xmlns:a="http://schemas.openxmlformats.org/drawingml/2006/main">
              <a:ext uri="{FF2B5EF4-FFF2-40B4-BE49-F238E27FC236}">
                <a16:creationId xmlns:a16="http://schemas.microsoft.com/office/drawing/2014/main" id="{F35D1CBD-6331-449C-A836-EBB86E1A0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3620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3DD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6919E881-E36F-4E39-8AD2-BA7B2D9CD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352550"/>
            <a:ext cx="1352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6F8B9D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0">
                <a:solidFill>
                  <a:srgbClr val="64748B"/>
                </a:solidFill>
                <a:latin typeface="Noto Sans TC"/>
                <a:ea typeface="Noto Sans TC"/>
                <a:cs typeface="Noto Sans TC"/>
              </a:rPr>
              <a:t>3  RETARGET</a:t>
            </a:r>
          </a:p>
        </p:txBody>
      </p:sp>
      <p:sp>
        <p:nvSpPr>
          <p:cNvPr id="11" name="橢圓 10">
            <a:extLst xmlns:a="http://schemas.openxmlformats.org/drawingml/2006/main">
              <a:ext uri="{FF2B5EF4-FFF2-40B4-BE49-F238E27FC236}">
                <a16:creationId xmlns:a16="http://schemas.microsoft.com/office/drawing/2014/main" id="{A1FB34D0-5650-4990-AA54-8E006B5C9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13620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3DD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689533BE-68F6-47E6-92F8-5C6DF64A0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352550"/>
            <a:ext cx="1352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6F8B9D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0">
                <a:solidFill>
                  <a:srgbClr val="64748B"/>
                </a:solidFill>
                <a:latin typeface="Noto Sans TC"/>
                <a:ea typeface="Noto Sans TC"/>
                <a:cs typeface="Noto Sans TC"/>
              </a:rPr>
              <a:t>4  RTL VERIFY</a:t>
            </a:r>
          </a:p>
        </p:txBody>
      </p:sp>
      <p:sp>
        <p:nvSpPr>
          <p:cNvPr id="13" name="橢圓 12">
            <a:extLst xmlns:a="http://schemas.openxmlformats.org/drawingml/2006/main">
              <a:ext uri="{FF2B5EF4-FFF2-40B4-BE49-F238E27FC236}">
                <a16:creationId xmlns:a16="http://schemas.microsoft.com/office/drawing/2014/main" id="{61B19447-763C-49CC-97CD-5DF1DEE05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13620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3DD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D8CA9B0F-8C5B-4DF9-B8FC-28E8FA2E3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352550"/>
            <a:ext cx="1352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6F8B9D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0">
                <a:solidFill>
                  <a:srgbClr val="64748B"/>
                </a:solidFill>
                <a:latin typeface="Noto Sans TC"/>
                <a:ea typeface="Noto Sans TC"/>
                <a:cs typeface="Noto Sans TC"/>
              </a:rPr>
              <a:t>5  SYNTHESIS</a:t>
            </a:r>
          </a:p>
        </p:txBody>
      </p:sp>
      <p:sp>
        <p:nvSpPr>
          <p:cNvPr id="15" name="橢圓 14">
            <a:extLst xmlns:a="http://schemas.openxmlformats.org/drawingml/2006/main">
              <a:ext uri="{FF2B5EF4-FFF2-40B4-BE49-F238E27FC236}">
                <a16:creationId xmlns:a16="http://schemas.microsoft.com/office/drawing/2014/main" id="{C8CE5023-25AE-450F-8A60-58B86EFC2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13620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3DD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FC3E63B4-B761-4B85-B046-361CC9BF3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352550"/>
            <a:ext cx="1352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6F8B9D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0">
                <a:solidFill>
                  <a:srgbClr val="64748B"/>
                </a:solidFill>
                <a:latin typeface="Noto Sans TC"/>
                <a:ea typeface="Noto Sans TC"/>
                <a:cs typeface="Noto Sans TC"/>
              </a:rPr>
              <a:t>6  GATE VERIFY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C9FFE5D8-C0A1-4183-A502-49B0206B6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D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9F25E86D-5AA3-4564-AD39-951E823EA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81775"/>
            <a:ext cx="904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6F8B9D"/>
                </a:solidFill>
                <a:latin typeface="Noto Sans TC"/>
                <a:ea typeface="Noto Sans TC"/>
                <a:cs typeface="Noto Sans TC"/>
              </a:defRPr>
            </a:pPr>
            <a:r>
              <a:rPr sz="825" b="0">
                <a:solidFill>
                  <a:srgbClr val="64748B"/>
                </a:solidFill>
                <a:latin typeface="Noto Sans TC"/>
                <a:ea typeface="Noto Sans TC"/>
                <a:cs typeface="Noto Sans TC"/>
              </a:rPr>
              <a:t>Validated: IEEE 1687 · IEEE 1687 + 1838 · stack_top   |   DWR = bonus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A5C34C51-8433-45DA-B260-45269AB79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6F8B9D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64748B"/>
                </a:solidFill>
                <a:latin typeface="Noto Sans TC"/>
                <a:ea typeface="Noto Sans TC"/>
                <a:cs typeface="Noto Sans TC"/>
              </a:rPr>
              <a:t>06</a:t>
            </a:r>
          </a:p>
        </p:txBody>
      </p:sp>
      <p:sp>
        <p:nvSpPr>
          <p:cNvPr id="20" name="矩形: 圓角 19">
            <a:extLst xmlns:a="http://schemas.openxmlformats.org/drawingml/2006/main">
              <a:ext uri="{FF2B5EF4-FFF2-40B4-BE49-F238E27FC236}">
                <a16:creationId xmlns:a16="http://schemas.microsoft.com/office/drawing/2014/main" id="{83ABB351-98E7-432C-96D7-D67311AC0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13716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1EC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B5E52BB7-BEA2-4B1C-BD8B-08514203A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62125"/>
            <a:ext cx="68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071521"/>
                </a:solidFill>
                <a:latin typeface="Noto Sans TC"/>
                <a:ea typeface="Noto Sans TC"/>
                <a:cs typeface="Noto Sans TC"/>
              </a:defRPr>
            </a:pPr>
            <a:r>
              <a:rPr sz="1050" b="1">
                <a:solidFill>
                  <a:srgbClr val="0B1F33"/>
                </a:solidFill>
                <a:latin typeface="Noto Sans TC"/>
                <a:ea typeface="Noto Sans TC"/>
                <a:cs typeface="Noto Sans TC"/>
              </a:rPr>
              <a:t>STAGE 1</a:t>
            </a: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600602E9-5C1A-4AD1-9878-38E6C302C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1743075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3AA7FF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1F5A85"/>
                </a:solidFill>
                <a:latin typeface="Noto Sans TC"/>
                <a:ea typeface="Noto Sans TC"/>
                <a:cs typeface="Noto Sans TC"/>
              </a:rPr>
              <a:t>Run Environment</a:t>
            </a: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1B848107-3896-48BB-8797-85B9D844B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3AA7FF"/>
                </a:solidFill>
                <a:latin typeface="Noto Sans TC"/>
                <a:ea typeface="Noto Sans TC"/>
                <a:cs typeface="Noto Sans TC"/>
              </a:defRPr>
            </a:pPr>
            <a:r>
              <a:rPr sz="1650" b="1">
                <a:solidFill>
                  <a:srgbClr val="1F5A85"/>
                </a:solidFill>
                <a:latin typeface="Noto Sans TC"/>
                <a:ea typeface="Noto Sans TC"/>
                <a:cs typeface="Noto Sans TC"/>
              </a:rPr>
              <a:t>TASK</a:t>
            </a:r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9F47C31B-0E64-421F-9A3A-035E92474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F8B9D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0">
                <a:solidFill>
                  <a:srgbClr val="64748B"/>
                </a:solidFill>
                <a:latin typeface="Noto Sans TC"/>
                <a:ea typeface="Noto Sans TC"/>
                <a:cs typeface="Noto Sans TC"/>
              </a:rPr>
              <a:t>Build</a:t>
            </a: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BB5A0D38-B8C0-4415-8B6F-7A87EECBF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190750"/>
            <a:ext cx="9525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D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2D98243D-B697-4938-8E3F-59AF25447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19075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F5B94C"/>
                </a:solidFill>
                <a:latin typeface="Noto Sans TC"/>
                <a:ea typeface="Noto Sans TC"/>
                <a:cs typeface="Noto Sans TC"/>
              </a:defRPr>
            </a:pPr>
            <a:r>
              <a:rPr sz="1650" b="1">
                <a:solidFill>
                  <a:srgbClr val="1F5A85"/>
                </a:solidFill>
                <a:latin typeface="Noto Sans TC"/>
                <a:ea typeface="Noto Sans TC"/>
                <a:cs typeface="Noto Sans TC"/>
              </a:rPr>
              <a:t>CHECKPOINT</a:t>
            </a:r>
          </a:p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407F2B91-4990-43BD-9EA3-FA6D0421C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5146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F8B9D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0">
                <a:solidFill>
                  <a:srgbClr val="64748B"/>
                </a:solidFill>
                <a:latin typeface="Noto Sans TC"/>
                <a:ea typeface="Noto Sans TC"/>
                <a:cs typeface="Noto Sans TC"/>
              </a:rPr>
              <a:t>Must Pass</a:t>
            </a:r>
          </a:p>
        </p:txBody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E096542E-7716-4EAA-9093-131F41F46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190750"/>
            <a:ext cx="9525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D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D535DAF3-FE45-439C-9A35-61E1EF826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190750"/>
            <a:ext cx="3543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44D17B"/>
                </a:solidFill>
                <a:latin typeface="Noto Sans TC"/>
                <a:ea typeface="Noto Sans TC"/>
                <a:cs typeface="Noto Sans TC"/>
              </a:defRPr>
            </a:pPr>
            <a:r>
              <a:rPr sz="1650" b="1">
                <a:solidFill>
                  <a:srgbClr val="15803D"/>
                </a:solidFill>
                <a:latin typeface="Noto Sans TC"/>
                <a:ea typeface="Noto Sans TC"/>
                <a:cs typeface="Noto Sans TC"/>
              </a:rPr>
              <a:t>EVIDENCE</a:t>
            </a:r>
          </a:p>
        </p:txBody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739EA065-8960-4713-9A5D-2A3560ED0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514600"/>
            <a:ext cx="3543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F8B9D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0">
                <a:solidFill>
                  <a:srgbClr val="64748B"/>
                </a:solidFill>
                <a:latin typeface="Noto Sans TC"/>
                <a:ea typeface="Noto Sans TC"/>
                <a:cs typeface="Noto Sans TC"/>
              </a:rPr>
              <a:t>Show</a:t>
            </a:r>
          </a:p>
        </p:txBody>
      </p:sp>
      <p:sp>
        <p:nvSpPr>
          <p:cNvPr id="31" name="橢圓 30">
            <a:extLst xmlns:a="http://schemas.openxmlformats.org/drawingml/2006/main">
              <a:ext uri="{FF2B5EF4-FFF2-40B4-BE49-F238E27FC236}">
                <a16:creationId xmlns:a16="http://schemas.microsoft.com/office/drawing/2014/main" id="{A422C9C6-3D8B-4CBB-9B98-9E997A197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384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EC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A8F9F040-DCCD-4762-A50A-7641925F3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71800"/>
            <a:ext cx="2695575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D8E6EE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334155"/>
                </a:solidFill>
                <a:latin typeface="Noto Sans TC"/>
                <a:ea typeface="Noto Sans TC"/>
                <a:cs typeface="Noto Sans TC"/>
              </a:rPr>
              <a:t>Organize RTL, libraries, and file lists</a:t>
            </a:r>
          </a:p>
        </p:txBody>
      </p:sp>
      <p:sp>
        <p:nvSpPr>
          <p:cNvPr id="33" name="橢圓 32">
            <a:extLst xmlns:a="http://schemas.openxmlformats.org/drawingml/2006/main">
              <a:ext uri="{FF2B5EF4-FFF2-40B4-BE49-F238E27FC236}">
                <a16:creationId xmlns:a16="http://schemas.microsoft.com/office/drawing/2014/main" id="{D5CC8CE1-9BD4-4FE9-B9EB-499CC15A6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480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EC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1B359F21-0B2B-487A-9ACE-876E195DE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81400"/>
            <a:ext cx="2695575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D8E6EE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334155"/>
                </a:solidFill>
                <a:latin typeface="Noto Sans TC"/>
                <a:ea typeface="Noto Sans TC"/>
                <a:cs typeface="Noto Sans TC"/>
              </a:rPr>
              <a:t>Run the existing Tcl scripts from one working folder</a:t>
            </a:r>
          </a:p>
        </p:txBody>
      </p:sp>
      <p:sp>
        <p:nvSpPr>
          <p:cNvPr id="35" name="橢圓 34">
            <a:extLst xmlns:a="http://schemas.openxmlformats.org/drawingml/2006/main">
              <a:ext uri="{FF2B5EF4-FFF2-40B4-BE49-F238E27FC236}">
                <a16:creationId xmlns:a16="http://schemas.microsoft.com/office/drawing/2014/main" id="{761A9FB8-E984-432C-AC01-26C4FD89A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576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EC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矩形 35">
            <a:extLst xmlns:a="http://schemas.openxmlformats.org/drawingml/2006/main">
              <a:ext uri="{FF2B5EF4-FFF2-40B4-BE49-F238E27FC236}">
                <a16:creationId xmlns:a16="http://schemas.microsoft.com/office/drawing/2014/main" id="{2B806286-F450-45BE-A73A-BAD194995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191000"/>
            <a:ext cx="2695575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D8E6EE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334155"/>
                </a:solidFill>
                <a:latin typeface="Noto Sans TC"/>
                <a:ea typeface="Noto Sans TC"/>
                <a:cs typeface="Noto Sans TC"/>
              </a:rPr>
              <a:t>Edit design I/O, hierarchy, and checks case by case</a:t>
            </a:r>
          </a:p>
        </p:txBody>
      </p:sp>
      <p:sp>
        <p:nvSpPr>
          <p:cNvPr id="37" name="橢圓 36">
            <a:extLst xmlns:a="http://schemas.openxmlformats.org/drawingml/2006/main">
              <a:ext uri="{FF2B5EF4-FFF2-40B4-BE49-F238E27FC236}">
                <a16:creationId xmlns:a16="http://schemas.microsoft.com/office/drawing/2014/main" id="{D6F29494-FEEF-446D-933A-1D46F6D4D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9908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F2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矩形 37">
            <a:extLst xmlns:a="http://schemas.openxmlformats.org/drawingml/2006/main">
              <a:ext uri="{FF2B5EF4-FFF2-40B4-BE49-F238E27FC236}">
                <a16:creationId xmlns:a16="http://schemas.microsoft.com/office/drawing/2014/main" id="{DD029C96-EA80-4482-B725-2AD174D81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97180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071521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0B1F33"/>
                </a:solidFill>
                <a:latin typeface="Noto Sans TC"/>
                <a:ea typeface="Noto Sans TC"/>
                <a:cs typeface="Noto Sans TC"/>
              </a:rPr>
              <a:t>✓</a:t>
            </a:r>
          </a:p>
        </p:txBody>
      </p:sp>
      <p:sp>
        <p:nvSpPr>
          <p:cNvPr id="39" name="矩形 38">
            <a:extLst xmlns:a="http://schemas.openxmlformats.org/drawingml/2006/main">
              <a:ext uri="{FF2B5EF4-FFF2-40B4-BE49-F238E27FC236}">
                <a16:creationId xmlns:a16="http://schemas.microsoft.com/office/drawing/2014/main" id="{AE26145F-C534-4894-A198-AFE2967B0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971800"/>
            <a:ext cx="29337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D8E6EE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334155"/>
                </a:solidFill>
                <a:latin typeface="Noto Sans TC"/>
                <a:ea typeface="Noto Sans TC"/>
                <a:cs typeface="Noto Sans TC"/>
              </a:rPr>
              <a:t>RTL elaborates cleanly</a:t>
            </a:r>
          </a:p>
        </p:txBody>
      </p:sp>
      <p:sp>
        <p:nvSpPr>
          <p:cNvPr id="40" name="橢圓 39">
            <a:extLst xmlns:a="http://schemas.openxmlformats.org/drawingml/2006/main">
              <a:ext uri="{FF2B5EF4-FFF2-40B4-BE49-F238E27FC236}">
                <a16:creationId xmlns:a16="http://schemas.microsoft.com/office/drawing/2014/main" id="{480ADEDA-396D-4CB6-AA7C-6CC5C778F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6004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F2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矩形 40">
            <a:extLst xmlns:a="http://schemas.openxmlformats.org/drawingml/2006/main">
              <a:ext uri="{FF2B5EF4-FFF2-40B4-BE49-F238E27FC236}">
                <a16:creationId xmlns:a16="http://schemas.microsoft.com/office/drawing/2014/main" id="{50139EE4-2276-4CE5-96D2-1DBC45CBF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58140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071521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0B1F33"/>
                </a:solidFill>
                <a:latin typeface="Noto Sans TC"/>
                <a:ea typeface="Noto Sans TC"/>
                <a:cs typeface="Noto Sans TC"/>
              </a:rPr>
              <a:t>✓</a:t>
            </a:r>
          </a:p>
        </p:txBody>
      </p:sp>
      <p:sp>
        <p:nvSpPr>
          <p:cNvPr id="42" name="矩形 41">
            <a:extLst xmlns:a="http://schemas.openxmlformats.org/drawingml/2006/main">
              <a:ext uri="{FF2B5EF4-FFF2-40B4-BE49-F238E27FC236}">
                <a16:creationId xmlns:a16="http://schemas.microsoft.com/office/drawing/2014/main" id="{1916683D-702E-4F42-B5D9-BE92275B3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581400"/>
            <a:ext cx="29337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D8E6EE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334155"/>
                </a:solidFill>
                <a:latin typeface="Noto Sans TC"/>
                <a:ea typeface="Noto Sans TC"/>
                <a:cs typeface="Noto Sans TC"/>
              </a:rPr>
              <a:t>Required Tcl sequence runs successfully</a:t>
            </a:r>
          </a:p>
        </p:txBody>
      </p:sp>
      <p:sp>
        <p:nvSpPr>
          <p:cNvPr id="43" name="橢圓 42">
            <a:extLst xmlns:a="http://schemas.openxmlformats.org/drawingml/2006/main">
              <a:ext uri="{FF2B5EF4-FFF2-40B4-BE49-F238E27FC236}">
                <a16:creationId xmlns:a16="http://schemas.microsoft.com/office/drawing/2014/main" id="{FF56E540-EA3A-447E-B457-A7DEC8083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2100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F2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矩形 43">
            <a:extLst xmlns:a="http://schemas.openxmlformats.org/drawingml/2006/main">
              <a:ext uri="{FF2B5EF4-FFF2-40B4-BE49-F238E27FC236}">
                <a16:creationId xmlns:a16="http://schemas.microsoft.com/office/drawing/2014/main" id="{9217C2EB-5D6A-4044-B1D2-6B35A02D0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19100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071521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0B1F33"/>
                </a:solidFill>
                <a:latin typeface="Noto Sans TC"/>
                <a:ea typeface="Noto Sans TC"/>
                <a:cs typeface="Noto Sans TC"/>
              </a:rPr>
              <a:t>✓</a:t>
            </a:r>
          </a:p>
        </p:txBody>
      </p:sp>
      <p:sp>
        <p:nvSpPr>
          <p:cNvPr id="45" name="矩形 44">
            <a:extLst xmlns:a="http://schemas.openxmlformats.org/drawingml/2006/main">
              <a:ext uri="{FF2B5EF4-FFF2-40B4-BE49-F238E27FC236}">
                <a16:creationId xmlns:a16="http://schemas.microsoft.com/office/drawing/2014/main" id="{C6298EEB-F761-4AB3-A9FB-6C31B11B4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191000"/>
            <a:ext cx="29337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D8E6EE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334155"/>
                </a:solidFill>
                <a:latin typeface="Noto Sans TC"/>
                <a:ea typeface="Noto Sans TC"/>
                <a:cs typeface="Noto Sans TC"/>
              </a:rPr>
              <a:t>Expected artifacts are generated</a:t>
            </a:r>
          </a:p>
        </p:txBody>
      </p:sp>
      <p:sp>
        <p:nvSpPr>
          <p:cNvPr id="46" name="矩形: 圓角 45">
            <a:extLst xmlns:a="http://schemas.openxmlformats.org/drawingml/2006/main">
              <a:ext uri="{FF2B5EF4-FFF2-40B4-BE49-F238E27FC236}">
                <a16:creationId xmlns:a16="http://schemas.microsoft.com/office/drawing/2014/main" id="{92F5CC29-36CD-43E9-9358-F9F2B4760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859232"/>
            <a:ext cx="35433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E8EFF4"/>
          </a:solidFill>
          <a:ln xmlns:a="http://schemas.openxmlformats.org/drawingml/2006/main" w="9525">
            <a:solidFill>
              <a:srgbClr val="B8C7D1"/>
            </a:solidFill>
            <a:prstDash val="solid"/>
          </a:ln>
        </p:spPr>
      </p:sp>
      <p:sp>
        <p:nvSpPr>
          <p:cNvPr id="48" name="矩形 47">
            <a:extLst xmlns:a="http://schemas.openxmlformats.org/drawingml/2006/main">
              <a:ext uri="{FF2B5EF4-FFF2-40B4-BE49-F238E27FC236}">
                <a16:creationId xmlns:a16="http://schemas.microsoft.com/office/drawing/2014/main" id="{A3925CEA-BCBA-49B8-8C17-42AF1EB05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954482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44D17B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15803D"/>
                </a:solidFill>
                <a:latin typeface="Noto Sans TC"/>
                <a:ea typeface="Noto Sans TC"/>
                <a:cs typeface="Noto Sans TC"/>
              </a:rPr>
              <a:t>Current run log</a:t>
            </a:r>
          </a:p>
        </p:txBody>
      </p:sp>
      <p:sp>
        <p:nvSpPr>
          <p:cNvPr id="49" name="矩形 48">
            <a:extLst xmlns:a="http://schemas.openxmlformats.org/drawingml/2006/main">
              <a:ext uri="{FF2B5EF4-FFF2-40B4-BE49-F238E27FC236}">
                <a16:creationId xmlns:a16="http://schemas.microsoft.com/office/drawing/2014/main" id="{422B0029-6639-4999-BC8D-4E1FDCAC2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221182"/>
            <a:ext cx="323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A7BDCA"/>
                </a:solidFill>
                <a:latin typeface="Noto Sans TC"/>
                <a:ea typeface="Noto Sans TC"/>
                <a:cs typeface="Noto Sans TC"/>
              </a:defRPr>
            </a:pPr>
            <a:r>
              <a:rPr sz="1050" b="0">
                <a:solidFill>
                  <a:srgbClr val="526678"/>
                </a:solidFill>
                <a:latin typeface="Noto Sans TC"/>
                <a:ea typeface="Noto Sans TC"/>
                <a:cs typeface="Noto Sans TC"/>
              </a:rPr>
              <a:t>Executed script sequence + outputs</a:t>
            </a:r>
          </a:p>
        </p:txBody>
      </p:sp>
      <p:sp>
        <p:nvSpPr>
          <p:cNvPr id="50" name="矩形: 圓角 49">
            <a:extLst xmlns:a="http://schemas.openxmlformats.org/drawingml/2006/main">
              <a:ext uri="{FF2B5EF4-FFF2-40B4-BE49-F238E27FC236}">
                <a16:creationId xmlns:a16="http://schemas.microsoft.com/office/drawing/2014/main" id="{9D35DA9A-B29F-4040-9670-8307DE5CD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735532"/>
            <a:ext cx="35433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E8EFF4"/>
          </a:solidFill>
          <a:ln xmlns:a="http://schemas.openxmlformats.org/drawingml/2006/main" w="9525">
            <a:solidFill>
              <a:srgbClr val="B8C7D1"/>
            </a:solidFill>
            <a:prstDash val="solid"/>
          </a:ln>
        </p:spPr>
      </p:sp>
      <p:sp>
        <p:nvSpPr>
          <p:cNvPr id="52" name="矩形 51">
            <a:extLst xmlns:a="http://schemas.openxmlformats.org/drawingml/2006/main">
              <a:ext uri="{FF2B5EF4-FFF2-40B4-BE49-F238E27FC236}">
                <a16:creationId xmlns:a16="http://schemas.microsoft.com/office/drawing/2014/main" id="{29F7B0E6-43D1-4B03-8E14-E6097D8AE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830782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44D17B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15803D"/>
                </a:solidFill>
                <a:latin typeface="Noto Sans TC"/>
                <a:ea typeface="Noto Sans TC"/>
                <a:cs typeface="Noto Sans TC"/>
              </a:rPr>
              <a:t>Working Tcl folder</a:t>
            </a:r>
          </a:p>
        </p:txBody>
      </p:sp>
      <p:sp>
        <p:nvSpPr>
          <p:cNvPr id="53" name="矩形 52">
            <a:extLst xmlns:a="http://schemas.openxmlformats.org/drawingml/2006/main">
              <a:ext uri="{FF2B5EF4-FFF2-40B4-BE49-F238E27FC236}">
                <a16:creationId xmlns:a16="http://schemas.microsoft.com/office/drawing/2014/main" id="{1D84C963-83E0-450B-9EFE-65CF9C16F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097482"/>
            <a:ext cx="323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A7BDCA"/>
                </a:solidFill>
                <a:latin typeface="Noto Sans TC"/>
                <a:ea typeface="Noto Sans TC"/>
                <a:cs typeface="Noto Sans TC"/>
              </a:defRPr>
            </a:pPr>
            <a:r>
              <a:rPr sz="1050" b="0">
                <a:solidFill>
                  <a:srgbClr val="526678"/>
                </a:solidFill>
                <a:latin typeface="Noto Sans TC"/>
                <a:ea typeface="Noto Sans TC"/>
                <a:cs typeface="Noto Sans TC"/>
              </a:rPr>
              <a:t>Scripts + design-specific edits together</a:t>
            </a:r>
          </a:p>
        </p:txBody>
      </p:sp>
      <p:sp>
        <p:nvSpPr>
          <p:cNvPr id="54" name="矩形: 圓角 53">
            <a:extLst xmlns:a="http://schemas.openxmlformats.org/drawingml/2006/main">
              <a:ext uri="{FF2B5EF4-FFF2-40B4-BE49-F238E27FC236}">
                <a16:creationId xmlns:a16="http://schemas.microsoft.com/office/drawing/2014/main" id="{69B99AB9-E9B0-4FE7-B240-AD680E5CE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611832"/>
            <a:ext cx="35433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E8EFF4"/>
          </a:solidFill>
          <a:ln xmlns:a="http://schemas.openxmlformats.org/drawingml/2006/main" w="9525">
            <a:solidFill>
              <a:srgbClr val="B8C7D1"/>
            </a:solidFill>
            <a:prstDash val="solid"/>
          </a:ln>
        </p:spPr>
      </p:sp>
      <p:sp>
        <p:nvSpPr>
          <p:cNvPr id="56" name="矩形 55">
            <a:extLst xmlns:a="http://schemas.openxmlformats.org/drawingml/2006/main">
              <a:ext uri="{FF2B5EF4-FFF2-40B4-BE49-F238E27FC236}">
                <a16:creationId xmlns:a16="http://schemas.microsoft.com/office/drawing/2014/main" id="{3960F870-7B31-4C33-B893-FA25CADDE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707082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44D17B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15803D"/>
                </a:solidFill>
                <a:latin typeface="Noto Sans TC"/>
                <a:ea typeface="Noto Sans TC"/>
                <a:cs typeface="Noto Sans TC"/>
              </a:rPr>
              <a:t>Generated artifacts</a:t>
            </a:r>
          </a:p>
        </p:txBody>
      </p:sp>
      <p:sp>
        <p:nvSpPr>
          <p:cNvPr id="57" name="矩形 56">
            <a:extLst xmlns:a="http://schemas.openxmlformats.org/drawingml/2006/main">
              <a:ext uri="{FF2B5EF4-FFF2-40B4-BE49-F238E27FC236}">
                <a16:creationId xmlns:a16="http://schemas.microsoft.com/office/drawing/2014/main" id="{D57F4BEE-D29B-4571-AED4-BC4E91068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973782"/>
            <a:ext cx="323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A7BDCA"/>
                </a:solidFill>
                <a:latin typeface="Noto Sans TC"/>
                <a:ea typeface="Noto Sans TC"/>
                <a:cs typeface="Noto Sans TC"/>
              </a:defRPr>
            </a:pPr>
            <a:r>
              <a:rPr sz="1050" b="0">
                <a:solidFill>
                  <a:srgbClr val="526678"/>
                </a:solidFill>
                <a:latin typeface="Noto Sans TC"/>
                <a:ea typeface="Noto Sans TC"/>
                <a:cs typeface="Noto Sans TC"/>
              </a:rPr>
              <a:t>RTL · ICL · patterns · reports</a:t>
            </a:r>
          </a:p>
        </p:txBody>
      </p:sp>
    </p:spTree>
    <p:extLst>
      <p:ext uri="{BB962C8B-B14F-4D97-AF65-F5344CB8AC3E}">
        <p14:creationId xmlns:p14="http://schemas.microsoft.com/office/powerpoint/2010/main" val="126171480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6" name="矩形 55">
            <a:extLst xmlns:a="http://schemas.openxmlformats.org/drawingml/2006/main">
              <a:ext uri="{FF2B5EF4-FFF2-40B4-BE49-F238E27FC236}">
                <a16:creationId xmlns:a16="http://schemas.microsoft.com/office/drawing/2014/main" id="{5CA40315-261D-48C8-8DF7-3051D8DCA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38D6C5"/>
                </a:solidFill>
                <a:latin typeface="Noto Sans TC"/>
                <a:ea typeface="Noto Sans TC"/>
                <a:cs typeface="Noto Sans TC"/>
              </a:defRPr>
            </a:pPr>
            <a:r>
              <a:rPr sz="1050" b="1">
                <a:solidFill>
                  <a:srgbClr val="0F766E"/>
                </a:solidFill>
                <a:latin typeface="Noto Sans TC"/>
                <a:ea typeface="Noto Sans TC"/>
                <a:cs typeface="Noto Sans TC"/>
              </a:rPr>
              <a:t>STAGE DETAIL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6450DFBE-9CAC-414C-ABA5-950258B86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F3F8FB"/>
                </a:solidFill>
                <a:latin typeface="Noto Sans TC"/>
                <a:ea typeface="Noto Sans TC"/>
                <a:cs typeface="Noto Sans TC"/>
              </a:defRPr>
            </a:pPr>
            <a:r>
              <a:rPr sz="2850" b="1">
                <a:solidFill>
                  <a:srgbClr val="0B1F33"/>
                </a:solidFill>
                <a:latin typeface="Noto Sans TC"/>
                <a:ea typeface="Noto Sans TC"/>
                <a:cs typeface="Noto Sans TC"/>
              </a:rPr>
              <a:t>Step 2 Inserts Tessent Test Logic into Existing RTL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717B45F9-54B8-4BAD-A71C-AB06A5B06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787775C2-AB5A-4B37-8F50-36D374883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710334" y="1402081"/>
            <a:ext cx="9944100" cy="742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D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橢圓 4">
            <a:extLst xmlns:a="http://schemas.openxmlformats.org/drawingml/2006/main">
              <a:ext uri="{FF2B5EF4-FFF2-40B4-BE49-F238E27FC236}">
                <a16:creationId xmlns:a16="http://schemas.microsoft.com/office/drawing/2014/main" id="{B9AB8863-67B4-42A6-857A-C456EB81A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EC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3AADAE80-E3F5-4889-B09E-45A905A9E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352550"/>
            <a:ext cx="1352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6F8B9D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0">
                <a:solidFill>
                  <a:srgbClr val="64748B"/>
                </a:solidFill>
                <a:latin typeface="Noto Sans TC"/>
                <a:ea typeface="Noto Sans TC"/>
                <a:cs typeface="Noto Sans TC"/>
              </a:rPr>
              <a:t>1  ENV</a:t>
            </a:r>
          </a:p>
        </p:txBody>
      </p:sp>
      <p:sp>
        <p:nvSpPr>
          <p:cNvPr id="7" name="橢圓 6">
            <a:extLst xmlns:a="http://schemas.openxmlformats.org/drawingml/2006/main">
              <a:ext uri="{FF2B5EF4-FFF2-40B4-BE49-F238E27FC236}">
                <a16:creationId xmlns:a16="http://schemas.microsoft.com/office/drawing/2014/main" id="{43D97B7A-F222-4433-AADC-1E86AE4E0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13620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EC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D054297C-8102-40AF-A27C-FF4BD360E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1352550"/>
            <a:ext cx="1352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F3F8FB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0B1F33"/>
                </a:solidFill>
                <a:latin typeface="Noto Sans TC"/>
                <a:ea typeface="Noto Sans TC"/>
                <a:cs typeface="Noto Sans TC"/>
              </a:rPr>
              <a:t>2  INSERT</a:t>
            </a:r>
          </a:p>
        </p:txBody>
      </p:sp>
      <p:sp>
        <p:nvSpPr>
          <p:cNvPr id="9" name="橢圓 8">
            <a:extLst xmlns:a="http://schemas.openxmlformats.org/drawingml/2006/main">
              <a:ext uri="{FF2B5EF4-FFF2-40B4-BE49-F238E27FC236}">
                <a16:creationId xmlns:a16="http://schemas.microsoft.com/office/drawing/2014/main" id="{43AD51A1-8FB0-42C1-9856-328E01658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3620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3DD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F21581C8-CE16-421A-8F45-547357EEC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352550"/>
            <a:ext cx="1352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6F8B9D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0">
                <a:solidFill>
                  <a:srgbClr val="64748B"/>
                </a:solidFill>
                <a:latin typeface="Noto Sans TC"/>
                <a:ea typeface="Noto Sans TC"/>
                <a:cs typeface="Noto Sans TC"/>
              </a:rPr>
              <a:t>3  RETARGET</a:t>
            </a:r>
          </a:p>
        </p:txBody>
      </p:sp>
      <p:sp>
        <p:nvSpPr>
          <p:cNvPr id="11" name="橢圓 10">
            <a:extLst xmlns:a="http://schemas.openxmlformats.org/drawingml/2006/main">
              <a:ext uri="{FF2B5EF4-FFF2-40B4-BE49-F238E27FC236}">
                <a16:creationId xmlns:a16="http://schemas.microsoft.com/office/drawing/2014/main" id="{E2F319D7-6B4F-4172-9A7C-A3F6AC939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13620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3DD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06A451FB-60C6-45FF-B0D2-3B4C2A493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352550"/>
            <a:ext cx="1352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6F8B9D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0">
                <a:solidFill>
                  <a:srgbClr val="64748B"/>
                </a:solidFill>
                <a:latin typeface="Noto Sans TC"/>
                <a:ea typeface="Noto Sans TC"/>
                <a:cs typeface="Noto Sans TC"/>
              </a:rPr>
              <a:t>4  RTL VERIFY</a:t>
            </a:r>
          </a:p>
        </p:txBody>
      </p:sp>
      <p:sp>
        <p:nvSpPr>
          <p:cNvPr id="13" name="橢圓 12">
            <a:extLst xmlns:a="http://schemas.openxmlformats.org/drawingml/2006/main">
              <a:ext uri="{FF2B5EF4-FFF2-40B4-BE49-F238E27FC236}">
                <a16:creationId xmlns:a16="http://schemas.microsoft.com/office/drawing/2014/main" id="{A9108F2F-B02E-441C-A8E8-4FF4D5A13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13620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3DD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391CF678-20D9-4B71-AE6F-BD5153225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352550"/>
            <a:ext cx="1352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6F8B9D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0">
                <a:solidFill>
                  <a:srgbClr val="64748B"/>
                </a:solidFill>
                <a:latin typeface="Noto Sans TC"/>
                <a:ea typeface="Noto Sans TC"/>
                <a:cs typeface="Noto Sans TC"/>
              </a:rPr>
              <a:t>5  SYNTHESIS</a:t>
            </a:r>
          </a:p>
        </p:txBody>
      </p:sp>
      <p:sp>
        <p:nvSpPr>
          <p:cNvPr id="15" name="橢圓 14">
            <a:extLst xmlns:a="http://schemas.openxmlformats.org/drawingml/2006/main">
              <a:ext uri="{FF2B5EF4-FFF2-40B4-BE49-F238E27FC236}">
                <a16:creationId xmlns:a16="http://schemas.microsoft.com/office/drawing/2014/main" id="{4951195A-91F2-4F67-98A6-D09F788EE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13620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3DD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3DE33A19-AC5C-47D6-BB34-85A768FEF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352550"/>
            <a:ext cx="1352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6F8B9D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0">
                <a:solidFill>
                  <a:srgbClr val="64748B"/>
                </a:solidFill>
                <a:latin typeface="Noto Sans TC"/>
                <a:ea typeface="Noto Sans TC"/>
                <a:cs typeface="Noto Sans TC"/>
              </a:rPr>
              <a:t>6  GATE VERIFY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4045AFEB-29F8-4C77-BB81-983DCE830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D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09FC2976-2CED-4D32-855B-B51E5B47D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81775"/>
            <a:ext cx="904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6F8B9D"/>
                </a:solidFill>
                <a:latin typeface="Noto Sans TC"/>
                <a:ea typeface="Noto Sans TC"/>
                <a:cs typeface="Noto Sans TC"/>
              </a:defRPr>
            </a:pPr>
            <a:r>
              <a:rPr sz="825" b="0">
                <a:solidFill>
                  <a:srgbClr val="64748B"/>
                </a:solidFill>
                <a:latin typeface="Noto Sans TC"/>
                <a:ea typeface="Noto Sans TC"/>
                <a:cs typeface="Noto Sans TC"/>
              </a:rPr>
              <a:t>Validated: IEEE 1687 · IEEE 1687 + 1838 · stack_top   |   DWR = bonus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7C82186E-9620-43AF-A14F-3BBCE6D5C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6F8B9D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64748B"/>
                </a:solidFill>
                <a:latin typeface="Noto Sans TC"/>
                <a:ea typeface="Noto Sans TC"/>
                <a:cs typeface="Noto Sans TC"/>
              </a:rPr>
              <a:t>07</a:t>
            </a:r>
          </a:p>
        </p:txBody>
      </p:sp>
      <p:sp>
        <p:nvSpPr>
          <p:cNvPr id="20" name="矩形: 圓角 19">
            <a:extLst xmlns:a="http://schemas.openxmlformats.org/drawingml/2006/main">
              <a:ext uri="{FF2B5EF4-FFF2-40B4-BE49-F238E27FC236}">
                <a16:creationId xmlns:a16="http://schemas.microsoft.com/office/drawing/2014/main" id="{30852FAE-F900-4D25-9C99-731B72126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13716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1EC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A23079CD-2DFF-4E12-B092-F72CFCD6B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62125"/>
            <a:ext cx="68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071521"/>
                </a:solidFill>
                <a:latin typeface="Noto Sans TC"/>
                <a:ea typeface="Noto Sans TC"/>
                <a:cs typeface="Noto Sans TC"/>
              </a:defRPr>
            </a:pPr>
            <a:r>
              <a:rPr sz="1050" b="1">
                <a:solidFill>
                  <a:srgbClr val="0B1F33"/>
                </a:solidFill>
                <a:latin typeface="Noto Sans TC"/>
                <a:ea typeface="Noto Sans TC"/>
                <a:cs typeface="Noto Sans TC"/>
              </a:rPr>
              <a:t>STAGE 2</a:t>
            </a: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AD249E86-98A7-4E5B-8FAF-E76C90854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1743075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4D8DFF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1F5A85"/>
                </a:solidFill>
                <a:latin typeface="Noto Sans TC"/>
                <a:ea typeface="Noto Sans TC"/>
                <a:cs typeface="Noto Sans TC"/>
              </a:rPr>
              <a:t>RTL Insertion</a:t>
            </a:r>
          </a:p>
        </p:txBody>
      </p:sp>
      <p:sp>
        <p:nvSpPr>
          <p:cNvPr id="23" name="箭號: 向右 22">
            <a:extLst xmlns:a="http://schemas.openxmlformats.org/drawingml/2006/main">
              <a:ext uri="{FF2B5EF4-FFF2-40B4-BE49-F238E27FC236}">
                <a16:creationId xmlns:a16="http://schemas.microsoft.com/office/drawing/2014/main" id="{A0269A0B-6295-497E-B41A-29C20D367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943225"/>
            <a:ext cx="647700" cy="3429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3DD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矩形: 圓角 23">
            <a:extLst xmlns:a="http://schemas.openxmlformats.org/drawingml/2006/main">
              <a:ext uri="{FF2B5EF4-FFF2-40B4-BE49-F238E27FC236}">
                <a16:creationId xmlns:a16="http://schemas.microsoft.com/office/drawing/2014/main" id="{86F96D7E-E77A-40BA-A7CE-BE8EC87D5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19350"/>
            <a:ext cx="2286000" cy="1447800"/>
          </a:xfrm>
          <a:prstGeom xmlns:a="http://schemas.openxmlformats.org/drawingml/2006/main" prst="roundRect">
            <a:avLst>
              <a:gd name="adj" fmla="val 7895"/>
            </a:avLst>
          </a:prstGeom>
          <a:solidFill xmlns:a="http://schemas.openxmlformats.org/drawingml/2006/main">
            <a:srgbClr val="F4F7F9"/>
          </a:solidFill>
          <a:ln xmlns:a="http://schemas.openxmlformats.org/drawingml/2006/main" w="9525">
            <a:solidFill>
              <a:srgbClr val="94A3B8"/>
            </a:solidFill>
            <a:prstDash val="solid"/>
          </a:ln>
        </p:spPr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E44684AB-1FCB-4B15-A2D7-D0AEA4DAD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38425"/>
            <a:ext cx="1790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25" b="1">
                <a:solidFill>
                  <a:srgbClr val="F3F8FB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1">
                <a:solidFill>
                  <a:srgbClr val="0B1F33"/>
                </a:solidFill>
                <a:latin typeface="Noto Sans TC"/>
                <a:ea typeface="Noto Sans TC"/>
                <a:cs typeface="Noto Sans TC"/>
              </a:rPr>
              <a:t>Existing RTL</a:t>
            </a:r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6BB5894E-A284-49C7-BBF6-A6613348E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95625"/>
            <a:ext cx="1790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0">
                <a:solidFill>
                  <a:srgbClr val="A7BDCA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526678"/>
                </a:solidFill>
                <a:latin typeface="Noto Sans TC"/>
                <a:ea typeface="Noto Sans TC"/>
                <a:cs typeface="Noto Sans TC"/>
              </a:rPr>
              <a:t>RTL + libraries + instrument ports</a:t>
            </a:r>
          </a:p>
        </p:txBody>
      </p:sp>
      <p:sp>
        <p:nvSpPr>
          <p:cNvPr id="27" name="矩形: 圓角 26">
            <a:extLst xmlns:a="http://schemas.openxmlformats.org/drawingml/2006/main">
              <a:ext uri="{FF2B5EF4-FFF2-40B4-BE49-F238E27FC236}">
                <a16:creationId xmlns:a16="http://schemas.microsoft.com/office/drawing/2014/main" id="{F67899C0-80FC-4110-ABEE-CD848F8D1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190750"/>
            <a:ext cx="4114800" cy="1924050"/>
          </a:xfrm>
          <a:prstGeom xmlns:a="http://schemas.openxmlformats.org/drawingml/2006/main" prst="roundRect">
            <a:avLst>
              <a:gd name="adj" fmla="val 5941"/>
            </a:avLst>
          </a:prstGeom>
          <a:solidFill xmlns:a="http://schemas.openxmlformats.org/drawingml/2006/main">
            <a:srgbClr val="E8EFF4"/>
          </a:solidFill>
          <a:ln xmlns:a="http://schemas.openxmlformats.org/drawingml/2006/main" w="19050">
            <a:solidFill>
              <a:srgbClr val="1F5A85"/>
            </a:solidFill>
            <a:prstDash val="solid"/>
          </a:ln>
        </p:spPr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AF0EC2E9-95E0-4ABA-8731-940490E0D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400300"/>
            <a:ext cx="3581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75" b="1">
                <a:solidFill>
                  <a:srgbClr val="4D8DFF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1F5A85"/>
                </a:solidFill>
                <a:latin typeface="Noto Sans TC"/>
                <a:ea typeface="Noto Sans TC"/>
                <a:cs typeface="Noto Sans TC"/>
              </a:rPr>
              <a:t>Tessent Test Network</a:t>
            </a:r>
          </a:p>
        </p:txBody>
      </p:sp>
      <p:sp>
        <p:nvSpPr>
          <p:cNvPr id="29" name="矩形: 圓角 28">
            <a:extLst xmlns:a="http://schemas.openxmlformats.org/drawingml/2006/main">
              <a:ext uri="{FF2B5EF4-FFF2-40B4-BE49-F238E27FC236}">
                <a16:creationId xmlns:a16="http://schemas.microsoft.com/office/drawing/2014/main" id="{45CAF5A2-444C-43B7-A036-90119D49F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971800"/>
            <a:ext cx="9906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8C7D1"/>
            </a:solidFill>
            <a:prstDash val="solid"/>
          </a:ln>
        </p:spPr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8D822B35-D1DB-4BC4-8794-E4AD72AC8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019425"/>
            <a:ext cx="990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3AA7FF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1F5A85"/>
                </a:solidFill>
                <a:latin typeface="Noto Sans TC"/>
                <a:ea typeface="Noto Sans TC"/>
                <a:cs typeface="Noto Sans TC"/>
              </a:rPr>
              <a:t>TAP / PTAP</a:t>
            </a:r>
          </a:p>
        </p:txBody>
      </p:sp>
      <p:sp>
        <p:nvSpPr>
          <p:cNvPr id="31" name="矩形: 圓角 30">
            <a:extLst xmlns:a="http://schemas.openxmlformats.org/drawingml/2006/main">
              <a:ext uri="{FF2B5EF4-FFF2-40B4-BE49-F238E27FC236}">
                <a16:creationId xmlns:a16="http://schemas.microsoft.com/office/drawing/2014/main" id="{7DAAF571-BFC5-4785-B3F4-E0ADC9FBE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971800"/>
            <a:ext cx="9906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8C7D1"/>
            </a:solidFill>
            <a:prstDash val="solid"/>
          </a:ln>
        </p:spPr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E8ECC017-4E6E-447A-BF0C-772E2F126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019425"/>
            <a:ext cx="990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3AA7FF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1F5A85"/>
                </a:solidFill>
                <a:latin typeface="Noto Sans TC"/>
                <a:ea typeface="Noto Sans TC"/>
                <a:cs typeface="Noto Sans TC"/>
              </a:rPr>
              <a:t>SIB</a:t>
            </a:r>
          </a:p>
        </p:txBody>
      </p:sp>
      <p:sp>
        <p:nvSpPr>
          <p:cNvPr id="33" name="矩形: 圓角 32">
            <a:extLst xmlns:a="http://schemas.openxmlformats.org/drawingml/2006/main">
              <a:ext uri="{FF2B5EF4-FFF2-40B4-BE49-F238E27FC236}">
                <a16:creationId xmlns:a16="http://schemas.microsoft.com/office/drawing/2014/main" id="{A2D8C354-70B6-403C-916D-692FD8FBF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971800"/>
            <a:ext cx="9906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8C7D1"/>
            </a:solidFill>
            <a:prstDash val="solid"/>
          </a:ln>
        </p:spPr>
      </p:sp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F9485B92-A6FC-4320-A933-6B85E1CB9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019425"/>
            <a:ext cx="990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3AA7FF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1F5A85"/>
                </a:solidFill>
                <a:latin typeface="Noto Sans TC"/>
                <a:ea typeface="Noto Sans TC"/>
                <a:cs typeface="Noto Sans TC"/>
              </a:rPr>
              <a:t>TDR</a:t>
            </a:r>
          </a:p>
        </p:txBody>
      </p:sp>
      <p:sp>
        <p:nvSpPr>
          <p:cNvPr id="35" name="矩形: 圓角 34">
            <a:extLst xmlns:a="http://schemas.openxmlformats.org/drawingml/2006/main">
              <a:ext uri="{FF2B5EF4-FFF2-40B4-BE49-F238E27FC236}">
                <a16:creationId xmlns:a16="http://schemas.microsoft.com/office/drawing/2014/main" id="{66769BB9-5DF8-4B04-8A7D-AE7B0719D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467100"/>
            <a:ext cx="9906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8C7D1"/>
            </a:solidFill>
            <a:prstDash val="solid"/>
          </a:ln>
        </p:spPr>
      </p:sp>
      <p:sp>
        <p:nvSpPr>
          <p:cNvPr id="36" name="矩形 35">
            <a:extLst xmlns:a="http://schemas.openxmlformats.org/drawingml/2006/main">
              <a:ext uri="{FF2B5EF4-FFF2-40B4-BE49-F238E27FC236}">
                <a16:creationId xmlns:a16="http://schemas.microsoft.com/office/drawing/2014/main" id="{6B1D69CC-48A6-4D9F-A335-E97ACE370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514725"/>
            <a:ext cx="990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F5B94C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1F5A85"/>
                </a:solidFill>
                <a:latin typeface="Noto Sans TC"/>
                <a:ea typeface="Noto Sans TC"/>
                <a:cs typeface="Noto Sans TC"/>
              </a:rPr>
              <a:t>3DCR</a:t>
            </a:r>
          </a:p>
        </p:txBody>
      </p:sp>
      <p:sp>
        <p:nvSpPr>
          <p:cNvPr id="37" name="矩形: 圓角 36">
            <a:extLst xmlns:a="http://schemas.openxmlformats.org/drawingml/2006/main">
              <a:ext uri="{FF2B5EF4-FFF2-40B4-BE49-F238E27FC236}">
                <a16:creationId xmlns:a16="http://schemas.microsoft.com/office/drawing/2014/main" id="{EA90727F-64A1-4BC4-BD73-6AC8F6387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467100"/>
            <a:ext cx="9906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8C7D1"/>
            </a:solidFill>
            <a:prstDash val="solid"/>
          </a:ln>
        </p:spPr>
      </p:sp>
      <p:sp>
        <p:nvSpPr>
          <p:cNvPr id="38" name="矩形 37">
            <a:extLst xmlns:a="http://schemas.openxmlformats.org/drawingml/2006/main">
              <a:ext uri="{FF2B5EF4-FFF2-40B4-BE49-F238E27FC236}">
                <a16:creationId xmlns:a16="http://schemas.microsoft.com/office/drawing/2014/main" id="{CCEF74BA-E1AA-49A9-9591-B1D757954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514725"/>
            <a:ext cx="990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F5B94C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1F5A85"/>
                </a:solidFill>
                <a:latin typeface="Noto Sans TC"/>
                <a:ea typeface="Noto Sans TC"/>
                <a:cs typeface="Noto Sans TC"/>
              </a:rPr>
              <a:t>STAP</a:t>
            </a:r>
          </a:p>
        </p:txBody>
      </p:sp>
      <p:sp>
        <p:nvSpPr>
          <p:cNvPr id="39" name="矩形 38">
            <a:extLst xmlns:a="http://schemas.openxmlformats.org/drawingml/2006/main">
              <a:ext uri="{FF2B5EF4-FFF2-40B4-BE49-F238E27FC236}">
                <a16:creationId xmlns:a16="http://schemas.microsoft.com/office/drawing/2014/main" id="{6ECD6520-2DB0-4AAF-8457-C7A99882B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28600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F5B94C"/>
                </a:solidFill>
                <a:latin typeface="Noto Sans TC"/>
                <a:ea typeface="Noto Sans TC"/>
                <a:cs typeface="Noto Sans TC"/>
              </a:defRPr>
            </a:pPr>
            <a:r>
              <a:rPr sz="1650" b="1">
                <a:solidFill>
                  <a:srgbClr val="1F5A85"/>
                </a:solidFill>
                <a:latin typeface="Noto Sans TC"/>
                <a:ea typeface="Noto Sans TC"/>
                <a:cs typeface="Noto Sans TC"/>
              </a:rPr>
              <a:t>Checkpoint</a:t>
            </a:r>
          </a:p>
        </p:txBody>
      </p:sp>
      <p:sp>
        <p:nvSpPr>
          <p:cNvPr id="40" name="橢圓 39">
            <a:extLst xmlns:a="http://schemas.openxmlformats.org/drawingml/2006/main">
              <a:ext uri="{FF2B5EF4-FFF2-40B4-BE49-F238E27FC236}">
                <a16:creationId xmlns:a16="http://schemas.microsoft.com/office/drawing/2014/main" id="{7BDBEFE7-B775-472C-9265-313CA60B3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7432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F2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矩形 40">
            <a:extLst xmlns:a="http://schemas.openxmlformats.org/drawingml/2006/main">
              <a:ext uri="{FF2B5EF4-FFF2-40B4-BE49-F238E27FC236}">
                <a16:creationId xmlns:a16="http://schemas.microsoft.com/office/drawing/2014/main" id="{BF40E2EE-A1F1-4035-AA1B-9BD1BE289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72415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071521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0B1F33"/>
                </a:solidFill>
                <a:latin typeface="Noto Sans TC"/>
                <a:ea typeface="Noto Sans TC"/>
                <a:cs typeface="Noto Sans TC"/>
              </a:rPr>
              <a:t>✓</a:t>
            </a:r>
          </a:p>
        </p:txBody>
      </p:sp>
      <p:sp>
        <p:nvSpPr>
          <p:cNvPr id="42" name="矩形 41">
            <a:extLst xmlns:a="http://schemas.openxmlformats.org/drawingml/2006/main">
              <a:ext uri="{FF2B5EF4-FFF2-40B4-BE49-F238E27FC236}">
                <a16:creationId xmlns:a16="http://schemas.microsoft.com/office/drawing/2014/main" id="{59249B3E-29D5-4B1A-BEE9-9FA4F50ED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724150"/>
            <a:ext cx="27241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D8E6EE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334155"/>
                </a:solidFill>
                <a:latin typeface="Noto Sans TC"/>
                <a:ea typeface="Noto Sans TC"/>
                <a:cs typeface="Noto Sans TC"/>
              </a:rPr>
              <a:t>Insertion DRC passes</a:t>
            </a:r>
          </a:p>
        </p:txBody>
      </p:sp>
      <p:sp>
        <p:nvSpPr>
          <p:cNvPr id="43" name="橢圓 42">
            <a:extLst xmlns:a="http://schemas.openxmlformats.org/drawingml/2006/main">
              <a:ext uri="{FF2B5EF4-FFF2-40B4-BE49-F238E27FC236}">
                <a16:creationId xmlns:a16="http://schemas.microsoft.com/office/drawing/2014/main" id="{0C607188-0CF7-4215-9901-DC5DA17B6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2575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F2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矩形 43">
            <a:extLst xmlns:a="http://schemas.openxmlformats.org/drawingml/2006/main">
              <a:ext uri="{FF2B5EF4-FFF2-40B4-BE49-F238E27FC236}">
                <a16:creationId xmlns:a16="http://schemas.microsoft.com/office/drawing/2014/main" id="{0811E19E-9FB9-41EE-9F44-F72BC7DCF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23850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071521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0B1F33"/>
                </a:solidFill>
                <a:latin typeface="Noto Sans TC"/>
                <a:ea typeface="Noto Sans TC"/>
                <a:cs typeface="Noto Sans TC"/>
              </a:rPr>
              <a:t>✓</a:t>
            </a:r>
          </a:p>
        </p:txBody>
      </p:sp>
      <p:sp>
        <p:nvSpPr>
          <p:cNvPr id="45" name="矩形 44">
            <a:extLst xmlns:a="http://schemas.openxmlformats.org/drawingml/2006/main">
              <a:ext uri="{FF2B5EF4-FFF2-40B4-BE49-F238E27FC236}">
                <a16:creationId xmlns:a16="http://schemas.microsoft.com/office/drawing/2014/main" id="{F48EF8B7-42D5-4BC0-9195-C004E8B58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238500"/>
            <a:ext cx="27241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D8E6EE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334155"/>
                </a:solidFill>
                <a:latin typeface="Noto Sans TC"/>
                <a:ea typeface="Noto Sans TC"/>
                <a:cs typeface="Noto Sans TC"/>
              </a:rPr>
              <a:t>All instruments are reachable</a:t>
            </a:r>
          </a:p>
        </p:txBody>
      </p:sp>
      <p:sp>
        <p:nvSpPr>
          <p:cNvPr id="46" name="橢圓 45">
            <a:extLst xmlns:a="http://schemas.openxmlformats.org/drawingml/2006/main">
              <a:ext uri="{FF2B5EF4-FFF2-40B4-BE49-F238E27FC236}">
                <a16:creationId xmlns:a16="http://schemas.microsoft.com/office/drawing/2014/main" id="{FD9603D3-46DD-40B6-9FD0-5F06C67E7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7719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F2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D8F06701-46C3-4A63-93FC-E1D2DCE36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75285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071521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0B1F33"/>
                </a:solidFill>
                <a:latin typeface="Noto Sans TC"/>
                <a:ea typeface="Noto Sans TC"/>
                <a:cs typeface="Noto Sans TC"/>
              </a:rPr>
              <a:t>✓</a:t>
            </a:r>
          </a:p>
        </p:txBody>
      </p:sp>
      <p:sp>
        <p:nvSpPr>
          <p:cNvPr id="48" name="矩形 47">
            <a:extLst xmlns:a="http://schemas.openxmlformats.org/drawingml/2006/main">
              <a:ext uri="{FF2B5EF4-FFF2-40B4-BE49-F238E27FC236}">
                <a16:creationId xmlns:a16="http://schemas.microsoft.com/office/drawing/2014/main" id="{9BC72189-011E-4A25-9C5B-A858775EB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752850"/>
            <a:ext cx="27241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D8E6EE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334155"/>
                </a:solidFill>
                <a:latin typeface="Noto Sans TC"/>
                <a:ea typeface="Noto Sans TC"/>
                <a:cs typeface="Noto Sans TC"/>
              </a:rPr>
              <a:t>Hierarchy matches the architecture</a:t>
            </a:r>
          </a:p>
        </p:txBody>
      </p:sp>
      <p:sp>
        <p:nvSpPr>
          <p:cNvPr id="49" name="矩形: 圓角 48">
            <a:extLst xmlns:a="http://schemas.openxmlformats.org/drawingml/2006/main">
              <a:ext uri="{FF2B5EF4-FFF2-40B4-BE49-F238E27FC236}">
                <a16:creationId xmlns:a16="http://schemas.microsoft.com/office/drawing/2014/main" id="{5A31F29E-FF3D-465A-B8E2-6708EB705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29150"/>
            <a:ext cx="1061085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4F7F9"/>
          </a:solidFill>
          <a:ln xmlns:a="http://schemas.openxmlformats.org/drawingml/2006/main" w="9525">
            <a:solidFill>
              <a:srgbClr val="B8C7D1"/>
            </a:solidFill>
            <a:prstDash val="solid"/>
          </a:ln>
        </p:spPr>
      </p:sp>
      <p:sp>
        <p:nvSpPr>
          <p:cNvPr id="50" name="矩形 49">
            <a:extLst xmlns:a="http://schemas.openxmlformats.org/drawingml/2006/main">
              <a:ext uri="{FF2B5EF4-FFF2-40B4-BE49-F238E27FC236}">
                <a16:creationId xmlns:a16="http://schemas.microsoft.com/office/drawing/2014/main" id="{5207822E-B0E7-43F8-8F1F-C7D14806C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48225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44D17B"/>
                </a:solidFill>
                <a:latin typeface="Noto Sans TC"/>
                <a:ea typeface="Noto Sans TC"/>
                <a:cs typeface="Noto Sans TC"/>
              </a:defRPr>
            </a:pPr>
            <a:r>
              <a:rPr sz="1575" b="1">
                <a:solidFill>
                  <a:srgbClr val="15803D"/>
                </a:solidFill>
                <a:latin typeface="Noto Sans TC"/>
                <a:ea typeface="Noto Sans TC"/>
                <a:cs typeface="Noto Sans TC"/>
              </a:rPr>
              <a:t>Evidence</a:t>
            </a:r>
          </a:p>
        </p:txBody>
      </p:sp>
      <p:sp>
        <p:nvSpPr>
          <p:cNvPr id="51" name="矩形 50">
            <a:extLst xmlns:a="http://schemas.openxmlformats.org/drawingml/2006/main">
              <a:ext uri="{FF2B5EF4-FFF2-40B4-BE49-F238E27FC236}">
                <a16:creationId xmlns:a16="http://schemas.microsoft.com/office/drawing/2014/main" id="{1B11617B-D7D8-48A5-AF11-25111C56B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84822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D8E6EE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334155"/>
                </a:solidFill>
                <a:latin typeface="Noto Sans TC"/>
                <a:ea typeface="Noto Sans TC"/>
                <a:cs typeface="Noto Sans TC"/>
              </a:rPr>
              <a:t>Insertion summary</a:t>
            </a:r>
          </a:p>
        </p:txBody>
      </p:sp>
      <p:sp>
        <p:nvSpPr>
          <p:cNvPr id="52" name="矩形 51">
            <a:extLst xmlns:a="http://schemas.openxmlformats.org/drawingml/2006/main">
              <a:ext uri="{FF2B5EF4-FFF2-40B4-BE49-F238E27FC236}">
                <a16:creationId xmlns:a16="http://schemas.microsoft.com/office/drawing/2014/main" id="{C218DF38-7DE6-4986-B82B-EBCD739AD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4822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D8E6EE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334155"/>
                </a:solidFill>
                <a:latin typeface="Noto Sans TC"/>
                <a:ea typeface="Noto Sans TC"/>
                <a:cs typeface="Noto Sans TC"/>
              </a:rPr>
              <a:t>Hierarchy report</a:t>
            </a:r>
          </a:p>
        </p:txBody>
      </p:sp>
      <p:sp>
        <p:nvSpPr>
          <p:cNvPr id="53" name="矩形 52">
            <a:extLst xmlns:a="http://schemas.openxmlformats.org/drawingml/2006/main">
              <a:ext uri="{FF2B5EF4-FFF2-40B4-BE49-F238E27FC236}">
                <a16:creationId xmlns:a16="http://schemas.microsoft.com/office/drawing/2014/main" id="{0C7A60DC-696B-44FA-A839-52B57F5E3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848225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D8E6EE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334155"/>
                </a:solidFill>
                <a:latin typeface="Noto Sans TC"/>
                <a:ea typeface="Noto Sans TC"/>
                <a:cs typeface="Noto Sans TC"/>
              </a:rPr>
              <a:t>Connectivity report</a:t>
            </a:r>
          </a:p>
        </p:txBody>
      </p:sp>
      <p:sp>
        <p:nvSpPr>
          <p:cNvPr id="54" name="矩形 53">
            <a:extLst xmlns:a="http://schemas.openxmlformats.org/drawingml/2006/main">
              <a:ext uri="{FF2B5EF4-FFF2-40B4-BE49-F238E27FC236}">
                <a16:creationId xmlns:a16="http://schemas.microsoft.com/office/drawing/2014/main" id="{CFF8335D-3F77-4AA9-A3EC-16B046EFA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5248275"/>
            <a:ext cx="8248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D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矩形 54">
            <a:extLst xmlns:a="http://schemas.openxmlformats.org/drawingml/2006/main">
              <a:ext uri="{FF2B5EF4-FFF2-40B4-BE49-F238E27FC236}">
                <a16:creationId xmlns:a16="http://schemas.microsoft.com/office/drawing/2014/main" id="{DB89AD59-1385-46F3-BCF7-ACB9C7AA9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81625"/>
            <a:ext cx="9677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3F8FB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0B1F33"/>
                </a:solidFill>
                <a:latin typeface="Noto Sans TC"/>
                <a:ea typeface="Noto Sans TC"/>
                <a:cs typeface="Noto Sans TC"/>
              </a:rPr>
              <a:t>Insertion is complete only when reachability is proven.</a:t>
            </a:r>
          </a:p>
        </p:txBody>
      </p:sp>
    </p:spTree>
    <p:extLst>
      <p:ext uri="{BB962C8B-B14F-4D97-AF65-F5344CB8AC3E}">
        <p14:creationId xmlns:p14="http://schemas.microsoft.com/office/powerpoint/2010/main" val="104170332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矩形 50">
            <a:extLst xmlns:a="http://schemas.openxmlformats.org/drawingml/2006/main">
              <a:ext uri="{FF2B5EF4-FFF2-40B4-BE49-F238E27FC236}">
                <a16:creationId xmlns:a16="http://schemas.microsoft.com/office/drawing/2014/main" id="{E21F2E43-388C-4F06-8FEA-E40F7EA6F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38D6C5"/>
                </a:solidFill>
                <a:latin typeface="Noto Sans TC"/>
                <a:ea typeface="Noto Sans TC"/>
                <a:cs typeface="Noto Sans TC"/>
              </a:defRPr>
            </a:pPr>
            <a:r>
              <a:rPr sz="1050" b="1">
                <a:solidFill>
                  <a:srgbClr val="0F766E"/>
                </a:solidFill>
                <a:latin typeface="Noto Sans TC"/>
                <a:ea typeface="Noto Sans TC"/>
                <a:cs typeface="Noto Sans TC"/>
              </a:rPr>
              <a:t>STAGE DETAIL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07F98702-465C-4E00-BF4B-BBF81F627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0B1F33"/>
                </a:solidFill>
                <a:latin typeface="Noto Sans TC"/>
                <a:ea typeface="Noto Sans TC"/>
                <a:cs typeface="Noto Sans TC"/>
              </a:defRPr>
            </a:pPr>
            <a:r>
              <a:rPr sz="2850" b="1">
                <a:solidFill>
                  <a:srgbClr val="0B1F33"/>
                </a:solidFill>
                <a:latin typeface="Noto Sans TC"/>
                <a:ea typeface="Noto Sans TC"/>
                <a:cs typeface="Noto Sans TC"/>
              </a:rPr>
              <a:t>Step 3 Retargets PDL to the Package Path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BC2B32D2-3B34-4B91-A9FC-7050B733B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227607E8-1852-4D1D-823B-3DBC847D3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00175"/>
            <a:ext cx="9795741" cy="838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D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橢圓 4">
            <a:extLst xmlns:a="http://schemas.openxmlformats.org/drawingml/2006/main">
              <a:ext uri="{FF2B5EF4-FFF2-40B4-BE49-F238E27FC236}">
                <a16:creationId xmlns:a16="http://schemas.microsoft.com/office/drawing/2014/main" id="{A24EBCB0-2416-4EEE-9FC7-D0AB71F1D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EC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B9110697-A1B2-45D0-BC58-C6B8F8A6B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352550"/>
            <a:ext cx="1352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6F8B9D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0">
                <a:solidFill>
                  <a:srgbClr val="64748B"/>
                </a:solidFill>
                <a:latin typeface="Noto Sans TC"/>
                <a:ea typeface="Noto Sans TC"/>
                <a:cs typeface="Noto Sans TC"/>
              </a:rPr>
              <a:t>1  ENV</a:t>
            </a:r>
          </a:p>
        </p:txBody>
      </p:sp>
      <p:sp>
        <p:nvSpPr>
          <p:cNvPr id="7" name="橢圓 6">
            <a:extLst xmlns:a="http://schemas.openxmlformats.org/drawingml/2006/main">
              <a:ext uri="{FF2B5EF4-FFF2-40B4-BE49-F238E27FC236}">
                <a16:creationId xmlns:a16="http://schemas.microsoft.com/office/drawing/2014/main" id="{DF6FCF68-754F-470C-870D-4DA9FC924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13620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EC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8A643842-F371-4DF4-80BF-746502BCB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1352550"/>
            <a:ext cx="1352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6F8B9D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0">
                <a:solidFill>
                  <a:srgbClr val="64748B"/>
                </a:solidFill>
                <a:latin typeface="Noto Sans TC"/>
                <a:ea typeface="Noto Sans TC"/>
                <a:cs typeface="Noto Sans TC"/>
              </a:rPr>
              <a:t>2  INSERT</a:t>
            </a:r>
          </a:p>
        </p:txBody>
      </p:sp>
      <p:sp>
        <p:nvSpPr>
          <p:cNvPr id="9" name="橢圓 8">
            <a:extLst xmlns:a="http://schemas.openxmlformats.org/drawingml/2006/main">
              <a:ext uri="{FF2B5EF4-FFF2-40B4-BE49-F238E27FC236}">
                <a16:creationId xmlns:a16="http://schemas.microsoft.com/office/drawing/2014/main" id="{CBF45D2A-4252-415A-85EC-466696200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3620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F2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EC7C181D-1A4E-4BA9-8EFF-26CFAC51C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352550"/>
            <a:ext cx="1352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F3F8FB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0B1F33"/>
                </a:solidFill>
                <a:latin typeface="Noto Sans TC"/>
                <a:ea typeface="Noto Sans TC"/>
                <a:cs typeface="Noto Sans TC"/>
              </a:rPr>
              <a:t>3  RETARGET</a:t>
            </a:r>
          </a:p>
        </p:txBody>
      </p:sp>
      <p:sp>
        <p:nvSpPr>
          <p:cNvPr id="11" name="橢圓 10">
            <a:extLst xmlns:a="http://schemas.openxmlformats.org/drawingml/2006/main">
              <a:ext uri="{FF2B5EF4-FFF2-40B4-BE49-F238E27FC236}">
                <a16:creationId xmlns:a16="http://schemas.microsoft.com/office/drawing/2014/main" id="{09BBEDE9-D98E-43EF-BACE-14D22ACA0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13620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3DD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B9A337EE-309B-4DC0-8485-559A421BF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352550"/>
            <a:ext cx="1352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6F8B9D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0">
                <a:solidFill>
                  <a:srgbClr val="64748B"/>
                </a:solidFill>
                <a:latin typeface="Noto Sans TC"/>
                <a:ea typeface="Noto Sans TC"/>
                <a:cs typeface="Noto Sans TC"/>
              </a:rPr>
              <a:t>4  RTL VERIFY</a:t>
            </a:r>
          </a:p>
        </p:txBody>
      </p:sp>
      <p:sp>
        <p:nvSpPr>
          <p:cNvPr id="13" name="橢圓 12">
            <a:extLst xmlns:a="http://schemas.openxmlformats.org/drawingml/2006/main">
              <a:ext uri="{FF2B5EF4-FFF2-40B4-BE49-F238E27FC236}">
                <a16:creationId xmlns:a16="http://schemas.microsoft.com/office/drawing/2014/main" id="{2999B3B4-2169-4D33-B9FB-BB427402E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13620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3DD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418FFDB3-6D57-4BBF-89CD-810497B7E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352550"/>
            <a:ext cx="1352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6F8B9D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0">
                <a:solidFill>
                  <a:srgbClr val="64748B"/>
                </a:solidFill>
                <a:latin typeface="Noto Sans TC"/>
                <a:ea typeface="Noto Sans TC"/>
                <a:cs typeface="Noto Sans TC"/>
              </a:rPr>
              <a:t>5  SYNTHESIS</a:t>
            </a:r>
          </a:p>
        </p:txBody>
      </p:sp>
      <p:sp>
        <p:nvSpPr>
          <p:cNvPr id="15" name="橢圓 14">
            <a:extLst xmlns:a="http://schemas.openxmlformats.org/drawingml/2006/main">
              <a:ext uri="{FF2B5EF4-FFF2-40B4-BE49-F238E27FC236}">
                <a16:creationId xmlns:a16="http://schemas.microsoft.com/office/drawing/2014/main" id="{C18FCCF4-4345-446D-BE03-DC8B0324B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13620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3DD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A3CA2603-1FC6-46DD-8279-3A6846DDC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352550"/>
            <a:ext cx="1352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6F8B9D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0">
                <a:solidFill>
                  <a:srgbClr val="64748B"/>
                </a:solidFill>
                <a:latin typeface="Noto Sans TC"/>
                <a:ea typeface="Noto Sans TC"/>
                <a:cs typeface="Noto Sans TC"/>
              </a:rPr>
              <a:t>6  GATE VERIFY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8EF847D3-EACE-4E7A-8B03-6472CDE46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D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1268BCCB-B87D-428D-AF13-8A3E9932E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81775"/>
            <a:ext cx="904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6F8B9D"/>
                </a:solidFill>
                <a:latin typeface="Noto Sans TC"/>
                <a:ea typeface="Noto Sans TC"/>
                <a:cs typeface="Noto Sans TC"/>
              </a:defRPr>
            </a:pPr>
            <a:r>
              <a:rPr sz="825" b="0">
                <a:solidFill>
                  <a:srgbClr val="64748B"/>
                </a:solidFill>
                <a:latin typeface="Noto Sans TC"/>
                <a:ea typeface="Noto Sans TC"/>
                <a:cs typeface="Noto Sans TC"/>
              </a:rPr>
              <a:t>Validated: IEEE 1687 · IEEE 1687 + 1838 · stack_top   |   DWR = bonus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23C16FE4-C9B6-41FA-85F9-51D5BA608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6F8B9D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64748B"/>
                </a:solidFill>
                <a:latin typeface="Noto Sans TC"/>
                <a:ea typeface="Noto Sans TC"/>
                <a:cs typeface="Noto Sans TC"/>
              </a:rPr>
              <a:t>08</a:t>
            </a:r>
          </a:p>
        </p:txBody>
      </p:sp>
      <p:sp>
        <p:nvSpPr>
          <p:cNvPr id="20" name="矩形: 圓角 19">
            <a:extLst xmlns:a="http://schemas.openxmlformats.org/drawingml/2006/main">
              <a:ext uri="{FF2B5EF4-FFF2-40B4-BE49-F238E27FC236}">
                <a16:creationId xmlns:a16="http://schemas.microsoft.com/office/drawing/2014/main" id="{F3F39B07-BD02-4077-A8D6-53D269D38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13716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DDF2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CE3529EC-71CD-4703-950B-F33E9C16A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62125"/>
            <a:ext cx="68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071521"/>
                </a:solidFill>
                <a:latin typeface="Noto Sans TC"/>
                <a:ea typeface="Noto Sans TC"/>
                <a:cs typeface="Noto Sans TC"/>
              </a:defRPr>
            </a:pPr>
            <a:r>
              <a:rPr sz="1050" b="1">
                <a:solidFill>
                  <a:srgbClr val="0B1F33"/>
                </a:solidFill>
                <a:latin typeface="Noto Sans TC"/>
                <a:ea typeface="Noto Sans TC"/>
                <a:cs typeface="Noto Sans TC"/>
              </a:rPr>
              <a:t>STAGE 3</a:t>
            </a: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E5C64DFD-85D6-4594-B892-E2E5629DD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1743075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38D6C5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0F766E"/>
                </a:solidFill>
                <a:latin typeface="Noto Sans TC"/>
                <a:ea typeface="Noto Sans TC"/>
                <a:cs typeface="Noto Sans TC"/>
              </a:rPr>
              <a:t>PDL Retargeting</a:t>
            </a:r>
          </a:p>
        </p:txBody>
      </p:sp>
      <p:sp>
        <p:nvSpPr>
          <p:cNvPr id="23" name="箭號: 向右 22">
            <a:extLst xmlns:a="http://schemas.openxmlformats.org/drawingml/2006/main">
              <a:ext uri="{FF2B5EF4-FFF2-40B4-BE49-F238E27FC236}">
                <a16:creationId xmlns:a16="http://schemas.microsoft.com/office/drawing/2014/main" id="{4B4FB9F4-2000-401C-BA82-DE16E3621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971800"/>
            <a:ext cx="590550" cy="3429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3DD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箭號: 向右 23">
            <a:extLst xmlns:a="http://schemas.openxmlformats.org/drawingml/2006/main">
              <a:ext uri="{FF2B5EF4-FFF2-40B4-BE49-F238E27FC236}">
                <a16:creationId xmlns:a16="http://schemas.microsoft.com/office/drawing/2014/main" id="{F3103CCA-4B2D-4463-814A-2DF001EA6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971800"/>
            <a:ext cx="590550" cy="3429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3DD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箭號: 向右 24">
            <a:extLst xmlns:a="http://schemas.openxmlformats.org/drawingml/2006/main">
              <a:ext uri="{FF2B5EF4-FFF2-40B4-BE49-F238E27FC236}">
                <a16:creationId xmlns:a16="http://schemas.microsoft.com/office/drawing/2014/main" id="{216DBD61-5A34-4BA3-8866-4E430BED1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971800"/>
            <a:ext cx="590550" cy="3429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3DD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矩形: 圓角 25">
            <a:extLst xmlns:a="http://schemas.openxmlformats.org/drawingml/2006/main">
              <a:ext uri="{FF2B5EF4-FFF2-40B4-BE49-F238E27FC236}">
                <a16:creationId xmlns:a16="http://schemas.microsoft.com/office/drawing/2014/main" id="{61199774-9010-4EF6-BA3D-306FDF447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09850"/>
            <a:ext cx="21336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4F7F9"/>
          </a:solidFill>
          <a:ln xmlns:a="http://schemas.openxmlformats.org/drawingml/2006/main" w="19050">
            <a:solidFill>
              <a:srgbClr val="1F5A85"/>
            </a:solidFill>
            <a:prstDash val="solid"/>
          </a:ln>
        </p:spPr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8F48A1FB-3D0E-4A41-909C-848267599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19400"/>
            <a:ext cx="1828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3AA7FF"/>
                </a:solidFill>
                <a:latin typeface="Noto Sans TC"/>
                <a:ea typeface="Noto Sans TC"/>
                <a:cs typeface="Noto Sans TC"/>
              </a:defRPr>
            </a:pPr>
            <a:r>
              <a:rPr sz="1575" b="1">
                <a:solidFill>
                  <a:srgbClr val="1F5A85"/>
                </a:solidFill>
                <a:latin typeface="Noto Sans TC"/>
                <a:ea typeface="Noto Sans TC"/>
                <a:cs typeface="Noto Sans TC"/>
              </a:rPr>
              <a:t>Instrument PDL</a:t>
            </a:r>
          </a:p>
        </p:txBody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DD443336-3472-411E-9F08-4BFA4F5FE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38500"/>
            <a:ext cx="1828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0">
                <a:solidFill>
                  <a:srgbClr val="A7BDCA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0">
                <a:solidFill>
                  <a:srgbClr val="526678"/>
                </a:solidFill>
                <a:latin typeface="Noto Sans TC"/>
                <a:ea typeface="Noto Sans TC"/>
                <a:cs typeface="Noto Sans TC"/>
              </a:rPr>
              <a:t>write · run · read</a:t>
            </a:r>
          </a:p>
        </p:txBody>
      </p:sp>
      <p:sp>
        <p:nvSpPr>
          <p:cNvPr id="29" name="矩形: 圓角 28">
            <a:extLst xmlns:a="http://schemas.openxmlformats.org/drawingml/2006/main">
              <a:ext uri="{FF2B5EF4-FFF2-40B4-BE49-F238E27FC236}">
                <a16:creationId xmlns:a16="http://schemas.microsoft.com/office/drawing/2014/main" id="{AF439899-4855-4AE2-9D61-362D20E0F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609850"/>
            <a:ext cx="21336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4F7F9"/>
          </a:solidFill>
          <a:ln xmlns:a="http://schemas.openxmlformats.org/drawingml/2006/main" w="19050">
            <a:solidFill>
              <a:srgbClr val="1F5A85"/>
            </a:solidFill>
            <a:prstDash val="solid"/>
          </a:ln>
        </p:spPr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337098D0-98C8-40C5-8609-A28ED6875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819400"/>
            <a:ext cx="1828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F5B94C"/>
                </a:solidFill>
                <a:latin typeface="Noto Sans TC"/>
                <a:ea typeface="Noto Sans TC"/>
                <a:cs typeface="Noto Sans TC"/>
              </a:defRPr>
            </a:pPr>
            <a:r>
              <a:rPr sz="1575" b="1">
                <a:solidFill>
                  <a:srgbClr val="1F5A85"/>
                </a:solidFill>
                <a:latin typeface="Noto Sans TC"/>
                <a:ea typeface="Noto Sans TC"/>
                <a:cs typeface="Noto Sans TC"/>
              </a:rPr>
              <a:t>Post-insertion ICL</a:t>
            </a:r>
          </a:p>
        </p:txBody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336D1E25-B0DB-46AB-9E9D-28767A8C1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238500"/>
            <a:ext cx="1828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0">
                <a:solidFill>
                  <a:srgbClr val="A7BDCA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0">
                <a:solidFill>
                  <a:srgbClr val="526678"/>
                </a:solidFill>
                <a:latin typeface="Noto Sans TC"/>
                <a:ea typeface="Noto Sans TC"/>
                <a:cs typeface="Noto Sans TC"/>
              </a:rPr>
              <a:t>network hierarchy</a:t>
            </a:r>
          </a:p>
        </p:txBody>
      </p:sp>
      <p:sp>
        <p:nvSpPr>
          <p:cNvPr id="32" name="矩形: 圓角 31">
            <a:extLst xmlns:a="http://schemas.openxmlformats.org/drawingml/2006/main">
              <a:ext uri="{FF2B5EF4-FFF2-40B4-BE49-F238E27FC236}">
                <a16:creationId xmlns:a16="http://schemas.microsoft.com/office/drawing/2014/main" id="{A3E93DDA-1039-4AA6-B62C-334189EDB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609850"/>
            <a:ext cx="21336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4F7F9"/>
          </a:solidFill>
          <a:ln xmlns:a="http://schemas.openxmlformats.org/drawingml/2006/main" w="19050">
            <a:solidFill>
              <a:srgbClr val="0F766E"/>
            </a:solidFill>
            <a:prstDash val="solid"/>
          </a:ln>
        </p:spPr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B086B3BD-ABDF-45CF-828D-A480CF80E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819400"/>
            <a:ext cx="1828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38D6C5"/>
                </a:solidFill>
                <a:latin typeface="Noto Sans TC"/>
                <a:ea typeface="Noto Sans TC"/>
                <a:cs typeface="Noto Sans TC"/>
              </a:defRPr>
            </a:pPr>
            <a:r>
              <a:rPr sz="1575" b="1">
                <a:solidFill>
                  <a:srgbClr val="0F766E"/>
                </a:solidFill>
                <a:latin typeface="Noto Sans TC"/>
                <a:ea typeface="Noto Sans TC"/>
                <a:cs typeface="Noto Sans TC"/>
              </a:rPr>
              <a:t>Retargeting</a:t>
            </a:r>
          </a:p>
        </p:txBody>
      </p:sp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85B69017-851F-45B3-8825-792EA33DA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238500"/>
            <a:ext cx="1828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0">
                <a:solidFill>
                  <a:srgbClr val="A7BDCA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0">
                <a:solidFill>
                  <a:srgbClr val="526678"/>
                </a:solidFill>
                <a:latin typeface="Noto Sans TC"/>
                <a:ea typeface="Noto Sans TC"/>
                <a:cs typeface="Noto Sans TC"/>
              </a:rPr>
              <a:t>resolve path</a:t>
            </a:r>
          </a:p>
        </p:txBody>
      </p:sp>
      <p:sp>
        <p:nvSpPr>
          <p:cNvPr id="35" name="矩形: 圓角 34">
            <a:extLst xmlns:a="http://schemas.openxmlformats.org/drawingml/2006/main">
              <a:ext uri="{FF2B5EF4-FFF2-40B4-BE49-F238E27FC236}">
                <a16:creationId xmlns:a16="http://schemas.microsoft.com/office/drawing/2014/main" id="{6E6EB44D-91B3-4C56-BC71-E0949ED13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609850"/>
            <a:ext cx="21336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4F7F9"/>
          </a:solidFill>
          <a:ln xmlns:a="http://schemas.openxmlformats.org/drawingml/2006/main" w="19050">
            <a:solidFill>
              <a:srgbClr val="15803D"/>
            </a:solidFill>
            <a:prstDash val="solid"/>
          </a:ln>
        </p:spPr>
      </p:sp>
      <p:sp>
        <p:nvSpPr>
          <p:cNvPr id="36" name="矩形 35">
            <a:extLst xmlns:a="http://schemas.openxmlformats.org/drawingml/2006/main">
              <a:ext uri="{FF2B5EF4-FFF2-40B4-BE49-F238E27FC236}">
                <a16:creationId xmlns:a16="http://schemas.microsoft.com/office/drawing/2014/main" id="{065E583C-D437-4E2D-A0EF-CE81A8392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819400"/>
            <a:ext cx="1828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44D17B"/>
                </a:solidFill>
                <a:latin typeface="Noto Sans TC"/>
                <a:ea typeface="Noto Sans TC"/>
                <a:cs typeface="Noto Sans TC"/>
              </a:defRPr>
            </a:pPr>
            <a:r>
              <a:rPr sz="1575" b="1">
                <a:solidFill>
                  <a:srgbClr val="15803D"/>
                </a:solidFill>
                <a:latin typeface="Noto Sans TC"/>
                <a:ea typeface="Noto Sans TC"/>
                <a:cs typeface="Noto Sans TC"/>
              </a:rPr>
              <a:t>Top-level Pattern</a:t>
            </a:r>
          </a:p>
        </p:txBody>
      </p:sp>
      <p:sp>
        <p:nvSpPr>
          <p:cNvPr id="37" name="矩形 36">
            <a:extLst xmlns:a="http://schemas.openxmlformats.org/drawingml/2006/main">
              <a:ext uri="{FF2B5EF4-FFF2-40B4-BE49-F238E27FC236}">
                <a16:creationId xmlns:a16="http://schemas.microsoft.com/office/drawing/2014/main" id="{3E676692-31F2-4228-8808-92801470F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238500"/>
            <a:ext cx="1828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0">
                <a:solidFill>
                  <a:srgbClr val="A7BDCA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0">
                <a:solidFill>
                  <a:srgbClr val="526678"/>
                </a:solidFill>
                <a:latin typeface="Noto Sans TC"/>
                <a:ea typeface="Noto Sans TC"/>
                <a:cs typeface="Noto Sans TC"/>
              </a:rPr>
              <a:t>package pattern</a:t>
            </a:r>
          </a:p>
        </p:txBody>
      </p:sp>
      <p:sp>
        <p:nvSpPr>
          <p:cNvPr id="38" name="矩形 37">
            <a:extLst xmlns:a="http://schemas.openxmlformats.org/drawingml/2006/main">
              <a:ext uri="{FF2B5EF4-FFF2-40B4-BE49-F238E27FC236}">
                <a16:creationId xmlns:a16="http://schemas.microsoft.com/office/drawing/2014/main" id="{25407233-7D2D-4AF7-A493-72F1E0185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481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F5B94C"/>
                </a:solidFill>
                <a:latin typeface="Noto Sans TC"/>
                <a:ea typeface="Noto Sans TC"/>
                <a:cs typeface="Noto Sans TC"/>
              </a:defRPr>
            </a:pPr>
            <a:r>
              <a:rPr sz="1650" b="1">
                <a:solidFill>
                  <a:srgbClr val="1F5A85"/>
                </a:solidFill>
                <a:latin typeface="Noto Sans TC"/>
                <a:ea typeface="Noto Sans TC"/>
                <a:cs typeface="Noto Sans TC"/>
              </a:rPr>
              <a:t>Checkpoint</a:t>
            </a:r>
          </a:p>
        </p:txBody>
      </p:sp>
      <p:sp>
        <p:nvSpPr>
          <p:cNvPr id="39" name="橢圓 38">
            <a:extLst xmlns:a="http://schemas.openxmlformats.org/drawingml/2006/main">
              <a:ext uri="{FF2B5EF4-FFF2-40B4-BE49-F238E27FC236}">
                <a16:creationId xmlns:a16="http://schemas.microsoft.com/office/drawing/2014/main" id="{2AF94E5D-0EC8-42FC-B26D-FED048D3A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863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F2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矩形 39">
            <a:extLst xmlns:a="http://schemas.openxmlformats.org/drawingml/2006/main">
              <a:ext uri="{FF2B5EF4-FFF2-40B4-BE49-F238E27FC236}">
                <a16:creationId xmlns:a16="http://schemas.microsoft.com/office/drawing/2014/main" id="{E6B04B98-2854-4417-8E8E-C628BB522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6725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071521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0B1F33"/>
                </a:solidFill>
                <a:latin typeface="Noto Sans TC"/>
                <a:ea typeface="Noto Sans TC"/>
                <a:cs typeface="Noto Sans TC"/>
              </a:rPr>
              <a:t>✓</a:t>
            </a:r>
          </a:p>
        </p:txBody>
      </p:sp>
      <p:sp>
        <p:nvSpPr>
          <p:cNvPr id="41" name="矩形 40">
            <a:extLst xmlns:a="http://schemas.openxmlformats.org/drawingml/2006/main">
              <a:ext uri="{FF2B5EF4-FFF2-40B4-BE49-F238E27FC236}">
                <a16:creationId xmlns:a16="http://schemas.microsoft.com/office/drawing/2014/main" id="{3FAD2DCF-CA19-4D99-97E9-F4F1C0F58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67250"/>
            <a:ext cx="44005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D8E6EE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334155"/>
                </a:solidFill>
                <a:latin typeface="Noto Sans TC"/>
                <a:ea typeface="Noto Sans TC"/>
                <a:cs typeface="Noto Sans TC"/>
              </a:rPr>
              <a:t>ICL checks pass</a:t>
            </a:r>
          </a:p>
        </p:txBody>
      </p:sp>
      <p:sp>
        <p:nvSpPr>
          <p:cNvPr id="42" name="橢圓 41">
            <a:extLst xmlns:a="http://schemas.openxmlformats.org/drawingml/2006/main">
              <a:ext uri="{FF2B5EF4-FFF2-40B4-BE49-F238E27FC236}">
                <a16:creationId xmlns:a16="http://schemas.microsoft.com/office/drawing/2014/main" id="{BEBA9A44-C87F-48E2-B208-97321FCDD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625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F2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矩形 42">
            <a:extLst xmlns:a="http://schemas.openxmlformats.org/drawingml/2006/main">
              <a:ext uri="{FF2B5EF4-FFF2-40B4-BE49-F238E27FC236}">
                <a16:creationId xmlns:a16="http://schemas.microsoft.com/office/drawing/2014/main" id="{988FFA9E-3E2C-49C4-B8C9-91629EA4C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071521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0B1F33"/>
                </a:solidFill>
                <a:latin typeface="Noto Sans TC"/>
                <a:ea typeface="Noto Sans TC"/>
                <a:cs typeface="Noto Sans TC"/>
              </a:rPr>
              <a:t>✓</a:t>
            </a:r>
          </a:p>
        </p:txBody>
      </p:sp>
      <p:sp>
        <p:nvSpPr>
          <p:cNvPr id="44" name="矩形 43">
            <a:extLst xmlns:a="http://schemas.openxmlformats.org/drawingml/2006/main">
              <a:ext uri="{FF2B5EF4-FFF2-40B4-BE49-F238E27FC236}">
                <a16:creationId xmlns:a16="http://schemas.microsoft.com/office/drawing/2014/main" id="{A68A13C8-44AE-4CBD-8594-23987364A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143500"/>
            <a:ext cx="44005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D8E6EE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334155"/>
                </a:solidFill>
                <a:latin typeface="Noto Sans TC"/>
                <a:ea typeface="Noto Sans TC"/>
                <a:cs typeface="Noto Sans TC"/>
              </a:rPr>
              <a:t>No unresolved paths</a:t>
            </a:r>
          </a:p>
        </p:txBody>
      </p:sp>
      <p:sp>
        <p:nvSpPr>
          <p:cNvPr id="45" name="橢圓 44">
            <a:extLst xmlns:a="http://schemas.openxmlformats.org/drawingml/2006/main">
              <a:ext uri="{FF2B5EF4-FFF2-40B4-BE49-F238E27FC236}">
                <a16:creationId xmlns:a16="http://schemas.microsoft.com/office/drawing/2014/main" id="{80769182-CACD-4A75-A826-15F62BBF8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388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F2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矩形 45">
            <a:extLst xmlns:a="http://schemas.openxmlformats.org/drawingml/2006/main">
              <a:ext uri="{FF2B5EF4-FFF2-40B4-BE49-F238E27FC236}">
                <a16:creationId xmlns:a16="http://schemas.microsoft.com/office/drawing/2014/main" id="{2C2D3738-7220-4D29-808F-85F6AB441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1975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071521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0B1F33"/>
                </a:solidFill>
                <a:latin typeface="Noto Sans TC"/>
                <a:ea typeface="Noto Sans TC"/>
                <a:cs typeface="Noto Sans TC"/>
              </a:rPr>
              <a:t>✓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0A97F9D1-6C12-4E35-A569-67469E666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619750"/>
            <a:ext cx="44005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D8E6EE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334155"/>
                </a:solidFill>
                <a:latin typeface="Noto Sans TC"/>
                <a:ea typeface="Noto Sans TC"/>
                <a:cs typeface="Noto Sans TC"/>
              </a:rPr>
              <a:t>Scan length matches the network</a:t>
            </a:r>
          </a:p>
        </p:txBody>
      </p:sp>
      <p:sp>
        <p:nvSpPr>
          <p:cNvPr id="48" name="矩形 47">
            <a:extLst xmlns:a="http://schemas.openxmlformats.org/drawingml/2006/main">
              <a:ext uri="{FF2B5EF4-FFF2-40B4-BE49-F238E27FC236}">
                <a16:creationId xmlns:a16="http://schemas.microsoft.com/office/drawing/2014/main" id="{A7558D5E-8827-41B3-9D12-A6CF5FA13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2481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38D6C5"/>
                </a:solidFill>
                <a:latin typeface="Noto Sans TC"/>
                <a:ea typeface="Noto Sans TC"/>
                <a:cs typeface="Noto Sans TC"/>
              </a:defRPr>
            </a:pPr>
            <a:r>
              <a:rPr sz="1650" b="1">
                <a:solidFill>
                  <a:srgbClr val="0F766E"/>
                </a:solidFill>
                <a:latin typeface="Noto Sans TC"/>
                <a:ea typeface="Noto Sans TC"/>
                <a:cs typeface="Noto Sans TC"/>
              </a:rPr>
              <a:t>Why it matters</a:t>
            </a:r>
          </a:p>
        </p:txBody>
      </p:sp>
      <p:sp>
        <p:nvSpPr>
          <p:cNvPr id="49" name="矩形: 圓角 48">
            <a:extLst xmlns:a="http://schemas.openxmlformats.org/drawingml/2006/main">
              <a:ext uri="{FF2B5EF4-FFF2-40B4-BE49-F238E27FC236}">
                <a16:creationId xmlns:a16="http://schemas.microsoft.com/office/drawing/2014/main" id="{0304C44C-F3FF-4546-828A-C393DAEDA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629150"/>
            <a:ext cx="46863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E8EFF4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50" name="矩形 49">
            <a:extLst xmlns:a="http://schemas.openxmlformats.org/drawingml/2006/main">
              <a:ext uri="{FF2B5EF4-FFF2-40B4-BE49-F238E27FC236}">
                <a16:creationId xmlns:a16="http://schemas.microsoft.com/office/drawing/2014/main" id="{6ABC8E3B-641C-45FD-A5EB-C8C4EAE8C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876800"/>
            <a:ext cx="4114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661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500" b="1">
                <a:solidFill>
                  <a:srgbClr val="F3F8FB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1">
                <a:solidFill>
                  <a:srgbClr val="0B1F33"/>
                </a:solidFill>
                <a:latin typeface="Noto Sans TC"/>
                <a:ea typeface="Noto Sans TC"/>
                <a:cs typeface="Noto Sans TC"/>
              </a:rPr>
              <a:t>Tessent resolves the access hierarchy; design-specific Tcl maps each design's ports and instruments.</a:t>
            </a:r>
          </a:p>
        </p:txBody>
      </p:sp>
    </p:spTree>
    <p:extLst>
      <p:ext uri="{BB962C8B-B14F-4D97-AF65-F5344CB8AC3E}">
        <p14:creationId xmlns:p14="http://schemas.microsoft.com/office/powerpoint/2010/main" val="113369303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4" name="矩形 63">
            <a:extLst xmlns:a="http://schemas.openxmlformats.org/drawingml/2006/main">
              <a:ext uri="{FF2B5EF4-FFF2-40B4-BE49-F238E27FC236}">
                <a16:creationId xmlns:a16="http://schemas.microsoft.com/office/drawing/2014/main" id="{467C0C54-79A7-48B1-950D-8B5A2332D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38D6C5"/>
                </a:solidFill>
                <a:latin typeface="Noto Sans TC"/>
                <a:ea typeface="Noto Sans TC"/>
                <a:cs typeface="Noto Sans TC"/>
              </a:defRPr>
            </a:pPr>
            <a:r>
              <a:rPr sz="1050" b="1">
                <a:solidFill>
                  <a:srgbClr val="0F766E"/>
                </a:solidFill>
                <a:latin typeface="Noto Sans TC"/>
                <a:ea typeface="Noto Sans TC"/>
                <a:cs typeface="Noto Sans TC"/>
              </a:rPr>
              <a:t>STAGE DETAIL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085EEC5E-80D1-4910-ACA3-FD3E0B99F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0B1F33"/>
                </a:solidFill>
                <a:latin typeface="Noto Sans TC"/>
                <a:ea typeface="Noto Sans TC"/>
                <a:cs typeface="Noto Sans TC"/>
              </a:defRPr>
            </a:pPr>
            <a:r>
              <a:rPr sz="2850" b="1">
                <a:solidFill>
                  <a:srgbClr val="0B1F33"/>
                </a:solidFill>
                <a:latin typeface="Noto Sans TC"/>
                <a:ea typeface="Noto Sans TC"/>
                <a:cs typeface="Noto Sans TC"/>
              </a:rPr>
              <a:t>Step 4 Verifies the Full Access Sequence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8F6EDA6A-B519-4CF1-997B-74F1BE810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70E0EE81-0E7F-4C55-933B-69866335A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19225"/>
            <a:ext cx="97345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D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橢圓 4">
            <a:extLst xmlns:a="http://schemas.openxmlformats.org/drawingml/2006/main">
              <a:ext uri="{FF2B5EF4-FFF2-40B4-BE49-F238E27FC236}">
                <a16:creationId xmlns:a16="http://schemas.microsoft.com/office/drawing/2014/main" id="{F3067A24-9F43-4608-89E3-62F968975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EC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9CAF7224-C18C-4CE3-B81C-9A3A69EC7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352550"/>
            <a:ext cx="1352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6F8B9D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0">
                <a:solidFill>
                  <a:srgbClr val="64748B"/>
                </a:solidFill>
                <a:latin typeface="Noto Sans TC"/>
                <a:ea typeface="Noto Sans TC"/>
                <a:cs typeface="Noto Sans TC"/>
              </a:rPr>
              <a:t>1  ENV</a:t>
            </a:r>
          </a:p>
        </p:txBody>
      </p:sp>
      <p:sp>
        <p:nvSpPr>
          <p:cNvPr id="7" name="橢圓 6">
            <a:extLst xmlns:a="http://schemas.openxmlformats.org/drawingml/2006/main">
              <a:ext uri="{FF2B5EF4-FFF2-40B4-BE49-F238E27FC236}">
                <a16:creationId xmlns:a16="http://schemas.microsoft.com/office/drawing/2014/main" id="{55C417B3-B043-41E1-843F-49BB7039B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13620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EC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E925ADE9-48F0-4B09-A96E-206BA67BB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1352550"/>
            <a:ext cx="1352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6F8B9D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0">
                <a:solidFill>
                  <a:srgbClr val="64748B"/>
                </a:solidFill>
                <a:latin typeface="Noto Sans TC"/>
                <a:ea typeface="Noto Sans TC"/>
                <a:cs typeface="Noto Sans TC"/>
              </a:rPr>
              <a:t>2  INSERT</a:t>
            </a:r>
          </a:p>
        </p:txBody>
      </p:sp>
      <p:sp>
        <p:nvSpPr>
          <p:cNvPr id="9" name="橢圓 8">
            <a:extLst xmlns:a="http://schemas.openxmlformats.org/drawingml/2006/main">
              <a:ext uri="{FF2B5EF4-FFF2-40B4-BE49-F238E27FC236}">
                <a16:creationId xmlns:a16="http://schemas.microsoft.com/office/drawing/2014/main" id="{FC5730BE-B363-4C55-A2F3-AFC3B1C7B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3620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F2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EDE57128-65B8-4FA4-BA80-BD97D45EA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352550"/>
            <a:ext cx="1352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6F8B9D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0">
                <a:solidFill>
                  <a:srgbClr val="64748B"/>
                </a:solidFill>
                <a:latin typeface="Noto Sans TC"/>
                <a:ea typeface="Noto Sans TC"/>
                <a:cs typeface="Noto Sans TC"/>
              </a:rPr>
              <a:t>3  RETARGET</a:t>
            </a:r>
          </a:p>
        </p:txBody>
      </p:sp>
      <p:sp>
        <p:nvSpPr>
          <p:cNvPr id="11" name="橢圓 10">
            <a:extLst xmlns:a="http://schemas.openxmlformats.org/drawingml/2006/main">
              <a:ext uri="{FF2B5EF4-FFF2-40B4-BE49-F238E27FC236}">
                <a16:creationId xmlns:a16="http://schemas.microsoft.com/office/drawing/2014/main" id="{FE40A764-EF07-4BD5-A17F-C7528507D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13620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F4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C52CBCA3-0D64-4715-B32D-3B3201731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352550"/>
            <a:ext cx="1352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F3F8FB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0B1F33"/>
                </a:solidFill>
                <a:latin typeface="Noto Sans TC"/>
                <a:ea typeface="Noto Sans TC"/>
                <a:cs typeface="Noto Sans TC"/>
              </a:rPr>
              <a:t>4  RTL VERIFY</a:t>
            </a:r>
          </a:p>
        </p:txBody>
      </p:sp>
      <p:sp>
        <p:nvSpPr>
          <p:cNvPr id="13" name="橢圓 12">
            <a:extLst xmlns:a="http://schemas.openxmlformats.org/drawingml/2006/main">
              <a:ext uri="{FF2B5EF4-FFF2-40B4-BE49-F238E27FC236}">
                <a16:creationId xmlns:a16="http://schemas.microsoft.com/office/drawing/2014/main" id="{6C3BD54C-5D2C-4963-8C20-214A586C5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13620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3DD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97597B2D-F6EA-41F8-AD1D-AD989DA84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352550"/>
            <a:ext cx="1352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6F8B9D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0">
                <a:solidFill>
                  <a:srgbClr val="64748B"/>
                </a:solidFill>
                <a:latin typeface="Noto Sans TC"/>
                <a:ea typeface="Noto Sans TC"/>
                <a:cs typeface="Noto Sans TC"/>
              </a:rPr>
              <a:t>5  SYNTHESIS</a:t>
            </a:r>
          </a:p>
        </p:txBody>
      </p:sp>
      <p:sp>
        <p:nvSpPr>
          <p:cNvPr id="15" name="橢圓 14">
            <a:extLst xmlns:a="http://schemas.openxmlformats.org/drawingml/2006/main">
              <a:ext uri="{FF2B5EF4-FFF2-40B4-BE49-F238E27FC236}">
                <a16:creationId xmlns:a16="http://schemas.microsoft.com/office/drawing/2014/main" id="{78D52A2A-FEC8-4816-94D0-8E45BAEC5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13620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3DD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C4BFC3BB-85A2-40C2-ACBD-4E99BE9B2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352550"/>
            <a:ext cx="1352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6F8B9D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0">
                <a:solidFill>
                  <a:srgbClr val="64748B"/>
                </a:solidFill>
                <a:latin typeface="Noto Sans TC"/>
                <a:ea typeface="Noto Sans TC"/>
                <a:cs typeface="Noto Sans TC"/>
              </a:rPr>
              <a:t>6  GATE VERIFY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4D2FA4E4-F9F3-4CB5-8C64-D82227906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D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0B98A705-25B1-4566-8239-C16CB69A5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81775"/>
            <a:ext cx="904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6F8B9D"/>
                </a:solidFill>
                <a:latin typeface="Noto Sans TC"/>
                <a:ea typeface="Noto Sans TC"/>
                <a:cs typeface="Noto Sans TC"/>
              </a:defRPr>
            </a:pPr>
            <a:r>
              <a:rPr sz="825" b="0">
                <a:solidFill>
                  <a:srgbClr val="64748B"/>
                </a:solidFill>
                <a:latin typeface="Noto Sans TC"/>
                <a:ea typeface="Noto Sans TC"/>
                <a:cs typeface="Noto Sans TC"/>
              </a:rPr>
              <a:t>Validated: IEEE 1687 · IEEE 1687 + 1838 · stack_top   |   DWR = bonus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9D22B958-98B8-4F6F-8747-D0B885B03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6F8B9D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64748B"/>
                </a:solidFill>
                <a:latin typeface="Noto Sans TC"/>
                <a:ea typeface="Noto Sans TC"/>
                <a:cs typeface="Noto Sans TC"/>
              </a:rPr>
              <a:t>09</a:t>
            </a:r>
          </a:p>
        </p:txBody>
      </p:sp>
      <p:sp>
        <p:nvSpPr>
          <p:cNvPr id="20" name="矩形: 圓角 19">
            <a:extLst xmlns:a="http://schemas.openxmlformats.org/drawingml/2006/main">
              <a:ext uri="{FF2B5EF4-FFF2-40B4-BE49-F238E27FC236}">
                <a16:creationId xmlns:a16="http://schemas.microsoft.com/office/drawing/2014/main" id="{69C4784C-3075-48D1-A191-52046DB95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13716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3F4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8F6D0B66-5C6A-4B56-9DBF-8B5B10A9A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62125"/>
            <a:ext cx="68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071521"/>
                </a:solidFill>
                <a:latin typeface="Noto Sans TC"/>
                <a:ea typeface="Noto Sans TC"/>
                <a:cs typeface="Noto Sans TC"/>
              </a:defRPr>
            </a:pPr>
            <a:r>
              <a:rPr sz="1050" b="1">
                <a:solidFill>
                  <a:srgbClr val="0B1F33"/>
                </a:solidFill>
                <a:latin typeface="Noto Sans TC"/>
                <a:ea typeface="Noto Sans TC"/>
                <a:cs typeface="Noto Sans TC"/>
              </a:rPr>
              <a:t>STAGE 4</a:t>
            </a: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1C604580-525A-48FA-9824-0FA5B8AF0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1743075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7CE0D2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0F766E"/>
                </a:solidFill>
                <a:latin typeface="Noto Sans TC"/>
                <a:ea typeface="Noto Sans TC"/>
                <a:cs typeface="Noto Sans TC"/>
              </a:rPr>
              <a:t>RTL Access Verification</a:t>
            </a:r>
          </a:p>
        </p:txBody>
      </p:sp>
      <p:sp>
        <p:nvSpPr>
          <p:cNvPr id="23" name="箭號: 向右 22">
            <a:extLst xmlns:a="http://schemas.openxmlformats.org/drawingml/2006/main">
              <a:ext uri="{FF2B5EF4-FFF2-40B4-BE49-F238E27FC236}">
                <a16:creationId xmlns:a16="http://schemas.microsoft.com/office/drawing/2014/main" id="{322DFBCF-5959-4F71-BA78-43C03ABE2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2924175"/>
            <a:ext cx="22860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3DD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箭號: 向右 23">
            <a:extLst xmlns:a="http://schemas.openxmlformats.org/drawingml/2006/main">
              <a:ext uri="{FF2B5EF4-FFF2-40B4-BE49-F238E27FC236}">
                <a16:creationId xmlns:a16="http://schemas.microsoft.com/office/drawing/2014/main" id="{B4415680-7B50-4BF0-B662-4C7EBF21A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2924175"/>
            <a:ext cx="22860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3DD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箭號: 向右 24">
            <a:extLst xmlns:a="http://schemas.openxmlformats.org/drawingml/2006/main">
              <a:ext uri="{FF2B5EF4-FFF2-40B4-BE49-F238E27FC236}">
                <a16:creationId xmlns:a16="http://schemas.microsoft.com/office/drawing/2014/main" id="{C2BFAB1C-F5D5-486C-9B47-3E05EE77A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924175"/>
            <a:ext cx="22860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3DD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箭號: 向右 25">
            <a:extLst xmlns:a="http://schemas.openxmlformats.org/drawingml/2006/main">
              <a:ext uri="{FF2B5EF4-FFF2-40B4-BE49-F238E27FC236}">
                <a16:creationId xmlns:a16="http://schemas.microsoft.com/office/drawing/2014/main" id="{3BA8EC8F-27F1-48C1-9BF2-E4ECE2977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924175"/>
            <a:ext cx="22860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3DD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箭號: 向右 26">
            <a:extLst xmlns:a="http://schemas.openxmlformats.org/drawingml/2006/main">
              <a:ext uri="{FF2B5EF4-FFF2-40B4-BE49-F238E27FC236}">
                <a16:creationId xmlns:a16="http://schemas.microsoft.com/office/drawing/2014/main" id="{8EE399CF-D384-4850-AF5D-E1A44D081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2924175"/>
            <a:ext cx="22860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3DD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矩形: 圓角 27">
            <a:extLst xmlns:a="http://schemas.openxmlformats.org/drawingml/2006/main">
              <a:ext uri="{FF2B5EF4-FFF2-40B4-BE49-F238E27FC236}">
                <a16:creationId xmlns:a16="http://schemas.microsoft.com/office/drawing/2014/main" id="{053E71BF-AAA4-4046-B660-48F86D5C2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600325"/>
            <a:ext cx="167640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4F7F9"/>
          </a:solidFill>
          <a:ln xmlns:a="http://schemas.openxmlformats.org/drawingml/2006/main" w="9525">
            <a:solidFill>
              <a:srgbClr val="1F5A85"/>
            </a:solidFill>
            <a:prstDash val="solid"/>
          </a:ln>
        </p:spPr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8C56FD8F-EFBB-4ED0-ABEB-8ECD0A52C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790825"/>
            <a:ext cx="1485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F3F8FB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1">
                <a:solidFill>
                  <a:srgbClr val="0B1F33"/>
                </a:solidFill>
                <a:latin typeface="Noto Sans TC"/>
                <a:ea typeface="Noto Sans TC"/>
                <a:cs typeface="Noto Sans TC"/>
              </a:rPr>
              <a:t>TMS / TCK</a:t>
            </a:r>
          </a:p>
        </p:txBody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0A0425D0-C422-4630-A25A-8835C619C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209925"/>
            <a:ext cx="1485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0">
                <a:solidFill>
                  <a:srgbClr val="A7BDCA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0">
                <a:solidFill>
                  <a:srgbClr val="526678"/>
                </a:solidFill>
                <a:latin typeface="Noto Sans TC"/>
                <a:ea typeface="Noto Sans TC"/>
                <a:cs typeface="Noto Sans TC"/>
              </a:rPr>
              <a:t>drive state</a:t>
            </a:r>
          </a:p>
        </p:txBody>
      </p:sp>
      <p:sp>
        <p:nvSpPr>
          <p:cNvPr id="31" name="矩形: 圓角 30">
            <a:extLst xmlns:a="http://schemas.openxmlformats.org/drawingml/2006/main">
              <a:ext uri="{FF2B5EF4-FFF2-40B4-BE49-F238E27FC236}">
                <a16:creationId xmlns:a16="http://schemas.microsoft.com/office/drawing/2014/main" id="{86B3240C-B6EC-46ED-A16E-D8056DEDE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600325"/>
            <a:ext cx="167640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4F7F9"/>
          </a:solidFill>
          <a:ln xmlns:a="http://schemas.openxmlformats.org/drawingml/2006/main" w="9525">
            <a:solidFill>
              <a:srgbClr val="1F5A85"/>
            </a:solidFill>
            <a:prstDash val="solid"/>
          </a:ln>
        </p:spPr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BF8E2DCB-825C-4AB2-B596-27AC4B984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790825"/>
            <a:ext cx="1485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F3F8FB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1">
                <a:solidFill>
                  <a:srgbClr val="0B1F33"/>
                </a:solidFill>
                <a:latin typeface="Noto Sans TC"/>
                <a:ea typeface="Noto Sans TC"/>
                <a:cs typeface="Noto Sans TC"/>
              </a:rPr>
              <a:t>TAP / PTAP</a:t>
            </a: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0885B08F-3C67-4F0C-A0E1-A4C5768D3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209925"/>
            <a:ext cx="1485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0">
                <a:solidFill>
                  <a:srgbClr val="A7BDCA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0">
                <a:solidFill>
                  <a:srgbClr val="526678"/>
                </a:solidFill>
                <a:latin typeface="Noto Sans TC"/>
                <a:ea typeface="Noto Sans TC"/>
                <a:cs typeface="Noto Sans TC"/>
              </a:rPr>
              <a:t>change state</a:t>
            </a:r>
          </a:p>
        </p:txBody>
      </p:sp>
      <p:sp>
        <p:nvSpPr>
          <p:cNvPr id="34" name="矩形: 圓角 33">
            <a:extLst xmlns:a="http://schemas.openxmlformats.org/drawingml/2006/main">
              <a:ext uri="{FF2B5EF4-FFF2-40B4-BE49-F238E27FC236}">
                <a16:creationId xmlns:a16="http://schemas.microsoft.com/office/drawing/2014/main" id="{72073275-748A-4ABA-BD99-FAF6068E6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600325"/>
            <a:ext cx="167640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4F7F9"/>
          </a:solidFill>
          <a:ln xmlns:a="http://schemas.openxmlformats.org/drawingml/2006/main" w="9525">
            <a:solidFill>
              <a:srgbClr val="1F5A85"/>
            </a:solidFill>
            <a:prstDash val="solid"/>
          </a:ln>
        </p:spPr>
      </p:sp>
      <p:sp>
        <p:nvSpPr>
          <p:cNvPr id="35" name="矩形 34">
            <a:extLst xmlns:a="http://schemas.openxmlformats.org/drawingml/2006/main">
              <a:ext uri="{FF2B5EF4-FFF2-40B4-BE49-F238E27FC236}">
                <a16:creationId xmlns:a16="http://schemas.microsoft.com/office/drawing/2014/main" id="{2C9F22FA-D5FC-4BC9-9958-8618C68A8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790825"/>
            <a:ext cx="1485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F3F8FB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1">
                <a:solidFill>
                  <a:srgbClr val="0B1F33"/>
                </a:solidFill>
                <a:latin typeface="Noto Sans TC"/>
                <a:ea typeface="Noto Sans TC"/>
                <a:cs typeface="Noto Sans TC"/>
              </a:rPr>
              <a:t>IR decode</a:t>
            </a:r>
          </a:p>
        </p:txBody>
      </p:sp>
      <p:sp>
        <p:nvSpPr>
          <p:cNvPr id="36" name="矩形 35">
            <a:extLst xmlns:a="http://schemas.openxmlformats.org/drawingml/2006/main">
              <a:ext uri="{FF2B5EF4-FFF2-40B4-BE49-F238E27FC236}">
                <a16:creationId xmlns:a16="http://schemas.microsoft.com/office/drawing/2014/main" id="{359FD76E-7528-46D7-BC40-BD4194DE8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209925"/>
            <a:ext cx="1485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0">
                <a:solidFill>
                  <a:srgbClr val="A7BDCA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0">
                <a:solidFill>
                  <a:srgbClr val="526678"/>
                </a:solidFill>
                <a:latin typeface="Noto Sans TC"/>
                <a:ea typeface="Noto Sans TC"/>
                <a:cs typeface="Noto Sans TC"/>
              </a:rPr>
              <a:t>select path</a:t>
            </a:r>
          </a:p>
        </p:txBody>
      </p:sp>
      <p:sp>
        <p:nvSpPr>
          <p:cNvPr id="37" name="矩形: 圓角 36">
            <a:extLst xmlns:a="http://schemas.openxmlformats.org/drawingml/2006/main">
              <a:ext uri="{FF2B5EF4-FFF2-40B4-BE49-F238E27FC236}">
                <a16:creationId xmlns:a16="http://schemas.microsoft.com/office/drawing/2014/main" id="{10E652BC-8619-4017-9A61-BE705C7D5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600325"/>
            <a:ext cx="167640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4F7F9"/>
          </a:solidFill>
          <a:ln xmlns:a="http://schemas.openxmlformats.org/drawingml/2006/main" w="9525">
            <a:solidFill>
              <a:srgbClr val="1F5A85"/>
            </a:solidFill>
            <a:prstDash val="solid"/>
          </a:ln>
        </p:spPr>
      </p:sp>
      <p:sp>
        <p:nvSpPr>
          <p:cNvPr id="38" name="矩形 37">
            <a:extLst xmlns:a="http://schemas.openxmlformats.org/drawingml/2006/main">
              <a:ext uri="{FF2B5EF4-FFF2-40B4-BE49-F238E27FC236}">
                <a16:creationId xmlns:a16="http://schemas.microsoft.com/office/drawing/2014/main" id="{247363F3-38AE-431A-8D28-8A38DF0E6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790825"/>
            <a:ext cx="1485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7097" lnSpcReduction="2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F3F8FB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1">
                <a:solidFill>
                  <a:srgbClr val="0B1F33"/>
                </a:solidFill>
                <a:latin typeface="Noto Sans TC"/>
                <a:ea typeface="Noto Sans TC"/>
                <a:cs typeface="Noto Sans TC"/>
              </a:rPr>
              <a:t>Capture / Shift / Update</a:t>
            </a:r>
          </a:p>
        </p:txBody>
      </p:sp>
      <p:sp>
        <p:nvSpPr>
          <p:cNvPr id="39" name="矩形 38">
            <a:extLst xmlns:a="http://schemas.openxmlformats.org/drawingml/2006/main">
              <a:ext uri="{FF2B5EF4-FFF2-40B4-BE49-F238E27FC236}">
                <a16:creationId xmlns:a16="http://schemas.microsoft.com/office/drawing/2014/main" id="{9141F3AF-4F7C-4817-A1DD-860690880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209925"/>
            <a:ext cx="1485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0">
                <a:solidFill>
                  <a:srgbClr val="A7BDCA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0">
                <a:solidFill>
                  <a:srgbClr val="526678"/>
                </a:solidFill>
                <a:latin typeface="Noto Sans TC"/>
                <a:ea typeface="Noto Sans TC"/>
                <a:cs typeface="Noto Sans TC"/>
              </a:rPr>
              <a:t>apply controls</a:t>
            </a:r>
          </a:p>
        </p:txBody>
      </p:sp>
      <p:sp>
        <p:nvSpPr>
          <p:cNvPr id="40" name="矩形: 圓角 39">
            <a:extLst xmlns:a="http://schemas.openxmlformats.org/drawingml/2006/main">
              <a:ext uri="{FF2B5EF4-FFF2-40B4-BE49-F238E27FC236}">
                <a16:creationId xmlns:a16="http://schemas.microsoft.com/office/drawing/2014/main" id="{AACCDD65-EE55-4F90-AA1B-BFFAFEF9B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600325"/>
            <a:ext cx="167640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4F7F9"/>
          </a:solidFill>
          <a:ln xmlns:a="http://schemas.openxmlformats.org/drawingml/2006/main" w="9525">
            <a:solidFill>
              <a:srgbClr val="1F5A85"/>
            </a:solidFill>
            <a:prstDash val="solid"/>
          </a:ln>
        </p:spPr>
      </p:sp>
      <p:sp>
        <p:nvSpPr>
          <p:cNvPr id="41" name="矩形 40">
            <a:extLst xmlns:a="http://schemas.openxmlformats.org/drawingml/2006/main">
              <a:ext uri="{FF2B5EF4-FFF2-40B4-BE49-F238E27FC236}">
                <a16:creationId xmlns:a16="http://schemas.microsoft.com/office/drawing/2014/main" id="{6A25578E-A6F1-4694-BF74-2825EC91D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790825"/>
            <a:ext cx="1485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F3F8FB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1">
                <a:solidFill>
                  <a:srgbClr val="0B1F33"/>
                </a:solidFill>
                <a:latin typeface="Noto Sans TC"/>
                <a:ea typeface="Noto Sans TC"/>
                <a:cs typeface="Noto Sans TC"/>
              </a:rPr>
              <a:t>SIB / 3DCR / STAP</a:t>
            </a:r>
          </a:p>
        </p:txBody>
      </p:sp>
      <p:sp>
        <p:nvSpPr>
          <p:cNvPr id="42" name="矩形 41">
            <a:extLst xmlns:a="http://schemas.openxmlformats.org/drawingml/2006/main">
              <a:ext uri="{FF2B5EF4-FFF2-40B4-BE49-F238E27FC236}">
                <a16:creationId xmlns:a16="http://schemas.microsoft.com/office/drawing/2014/main" id="{35D53DF1-42FF-431A-9016-0CAE64657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209925"/>
            <a:ext cx="1485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0">
                <a:solidFill>
                  <a:srgbClr val="A7BDCA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0">
                <a:solidFill>
                  <a:srgbClr val="526678"/>
                </a:solidFill>
                <a:latin typeface="Noto Sans TC"/>
                <a:ea typeface="Noto Sans TC"/>
                <a:cs typeface="Noto Sans TC"/>
              </a:rPr>
              <a:t>open network</a:t>
            </a:r>
          </a:p>
        </p:txBody>
      </p:sp>
      <p:sp>
        <p:nvSpPr>
          <p:cNvPr id="43" name="矩形: 圓角 42">
            <a:extLst xmlns:a="http://schemas.openxmlformats.org/drawingml/2006/main">
              <a:ext uri="{FF2B5EF4-FFF2-40B4-BE49-F238E27FC236}">
                <a16:creationId xmlns:a16="http://schemas.microsoft.com/office/drawing/2014/main" id="{9E58CB92-EF15-4332-A963-64FBEE837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2600325"/>
            <a:ext cx="167640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4F7F9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</p:sp>
      <p:sp>
        <p:nvSpPr>
          <p:cNvPr id="44" name="矩形 43">
            <a:extLst xmlns:a="http://schemas.openxmlformats.org/drawingml/2006/main">
              <a:ext uri="{FF2B5EF4-FFF2-40B4-BE49-F238E27FC236}">
                <a16:creationId xmlns:a16="http://schemas.microsoft.com/office/drawing/2014/main" id="{E3A2966C-0322-4E6B-B62B-CAA7D6E26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2790825"/>
            <a:ext cx="1485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F3F8FB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1">
                <a:solidFill>
                  <a:srgbClr val="0B1F33"/>
                </a:solidFill>
                <a:latin typeface="Noto Sans TC"/>
                <a:ea typeface="Noto Sans TC"/>
                <a:cs typeface="Noto Sans TC"/>
              </a:rPr>
              <a:t>TDR / shadow</a:t>
            </a:r>
          </a:p>
        </p:txBody>
      </p:sp>
      <p:sp>
        <p:nvSpPr>
          <p:cNvPr id="45" name="矩形 44">
            <a:extLst xmlns:a="http://schemas.openxmlformats.org/drawingml/2006/main">
              <a:ext uri="{FF2B5EF4-FFF2-40B4-BE49-F238E27FC236}">
                <a16:creationId xmlns:a16="http://schemas.microsoft.com/office/drawing/2014/main" id="{5D8549FC-F173-47D2-92F3-355134F54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3209925"/>
            <a:ext cx="1485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0">
                <a:solidFill>
                  <a:srgbClr val="A7BDCA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0">
                <a:solidFill>
                  <a:srgbClr val="526678"/>
                </a:solidFill>
                <a:latin typeface="Noto Sans TC"/>
                <a:ea typeface="Noto Sans TC"/>
                <a:cs typeface="Noto Sans TC"/>
              </a:rPr>
              <a:t>write &amp; read</a:t>
            </a:r>
          </a:p>
        </p:txBody>
      </p:sp>
      <p:sp>
        <p:nvSpPr>
          <p:cNvPr id="46" name="矩形: 圓角 45">
            <a:extLst xmlns:a="http://schemas.openxmlformats.org/drawingml/2006/main">
              <a:ext uri="{FF2B5EF4-FFF2-40B4-BE49-F238E27FC236}">
                <a16:creationId xmlns:a16="http://schemas.microsoft.com/office/drawing/2014/main" id="{9C46DA07-DBEC-4876-9559-A4650F890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71950"/>
            <a:ext cx="10972800" cy="1847850"/>
          </a:xfrm>
          <a:prstGeom xmlns:a="http://schemas.openxmlformats.org/drawingml/2006/main" prst="roundRect">
            <a:avLst>
              <a:gd name="adj" fmla="val 6186"/>
            </a:avLst>
          </a:prstGeom>
          <a:solidFill xmlns:a="http://schemas.openxmlformats.org/drawingml/2006/main">
            <a:srgbClr val="E8EFF4"/>
          </a:solidFill>
          <a:ln xmlns:a="http://schemas.openxmlformats.org/drawingml/2006/main" w="9525">
            <a:solidFill>
              <a:srgbClr val="B8C7D1"/>
            </a:solidFill>
            <a:prstDash val="solid"/>
          </a:ln>
        </p:spPr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DC476931-0075-48D8-9256-633B8B19A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005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20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44D17B"/>
                </a:solidFill>
                <a:latin typeface="Noto Sans TC"/>
                <a:ea typeface="Noto Sans TC"/>
                <a:cs typeface="Noto Sans TC"/>
              </a:defRPr>
            </a:pPr>
            <a:r>
              <a:rPr sz="1650" b="1">
                <a:solidFill>
                  <a:srgbClr val="15803D"/>
                </a:solidFill>
                <a:latin typeface="Noto Sans TC"/>
                <a:ea typeface="Noto Sans TC"/>
                <a:cs typeface="Noto Sans TC"/>
              </a:rPr>
              <a:t>PASS criteria</a:t>
            </a:r>
          </a:p>
        </p:txBody>
      </p:sp>
      <p:sp>
        <p:nvSpPr>
          <p:cNvPr id="48" name="橢圓 47">
            <a:extLst xmlns:a="http://schemas.openxmlformats.org/drawingml/2006/main">
              <a:ext uri="{FF2B5EF4-FFF2-40B4-BE49-F238E27FC236}">
                <a16:creationId xmlns:a16="http://schemas.microsoft.com/office/drawing/2014/main" id="{7FAF903E-A533-417B-BC5D-1E54BE05E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387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F2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矩形 48">
            <a:extLst xmlns:a="http://schemas.openxmlformats.org/drawingml/2006/main">
              <a:ext uri="{FF2B5EF4-FFF2-40B4-BE49-F238E27FC236}">
                <a16:creationId xmlns:a16="http://schemas.microsoft.com/office/drawing/2014/main" id="{0808D770-B59D-4537-8DA0-E60AFA632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1965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071521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0B1F33"/>
                </a:solidFill>
                <a:latin typeface="Noto Sans TC"/>
                <a:ea typeface="Noto Sans TC"/>
                <a:cs typeface="Noto Sans TC"/>
              </a:rPr>
              <a:t>✓</a:t>
            </a:r>
          </a:p>
        </p:txBody>
      </p:sp>
      <p:sp>
        <p:nvSpPr>
          <p:cNvPr id="50" name="矩形 49">
            <a:extLst xmlns:a="http://schemas.openxmlformats.org/drawingml/2006/main">
              <a:ext uri="{FF2B5EF4-FFF2-40B4-BE49-F238E27FC236}">
                <a16:creationId xmlns:a16="http://schemas.microsoft.com/office/drawing/2014/main" id="{B84BBBEB-2C29-4025-AABA-9661F743C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819650"/>
            <a:ext cx="44386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D8E6EE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334155"/>
                </a:solidFill>
                <a:latin typeface="Noto Sans TC"/>
                <a:ea typeface="Noto Sans TC"/>
                <a:cs typeface="Noto Sans TC"/>
              </a:rPr>
              <a:t>All care bits match</a:t>
            </a:r>
          </a:p>
        </p:txBody>
      </p:sp>
      <p:sp>
        <p:nvSpPr>
          <p:cNvPr id="51" name="橢圓 50">
            <a:extLst xmlns:a="http://schemas.openxmlformats.org/drawingml/2006/main">
              <a:ext uri="{FF2B5EF4-FFF2-40B4-BE49-F238E27FC236}">
                <a16:creationId xmlns:a16="http://schemas.microsoft.com/office/drawing/2014/main" id="{8E8E97F4-F742-4244-BF07-0C2B329D7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387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F2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矩形 51">
            <a:extLst xmlns:a="http://schemas.openxmlformats.org/drawingml/2006/main">
              <a:ext uri="{FF2B5EF4-FFF2-40B4-BE49-F238E27FC236}">
                <a16:creationId xmlns:a16="http://schemas.microsoft.com/office/drawing/2014/main" id="{05841F48-F524-4500-B275-ECCCB6979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1970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071521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0B1F33"/>
                </a:solidFill>
                <a:latin typeface="Noto Sans TC"/>
                <a:ea typeface="Noto Sans TC"/>
                <a:cs typeface="Noto Sans TC"/>
              </a:rPr>
              <a:t>✓</a:t>
            </a:r>
          </a:p>
        </p:txBody>
      </p:sp>
      <p:sp>
        <p:nvSpPr>
          <p:cNvPr id="53" name="矩形 52">
            <a:extLst xmlns:a="http://schemas.openxmlformats.org/drawingml/2006/main">
              <a:ext uri="{FF2B5EF4-FFF2-40B4-BE49-F238E27FC236}">
                <a16:creationId xmlns:a16="http://schemas.microsoft.com/office/drawing/2014/main" id="{3DE30724-E6E5-48C8-93C4-4687DD381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219700"/>
            <a:ext cx="44386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D8E6EE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334155"/>
                </a:solidFill>
                <a:latin typeface="Noto Sans TC"/>
                <a:ea typeface="Noto Sans TC"/>
                <a:cs typeface="Noto Sans TC"/>
              </a:rPr>
              <a:t>Instrument response is correct</a:t>
            </a:r>
          </a:p>
        </p:txBody>
      </p:sp>
      <p:sp>
        <p:nvSpPr>
          <p:cNvPr id="54" name="橢圓 53">
            <a:extLst xmlns:a="http://schemas.openxmlformats.org/drawingml/2006/main">
              <a:ext uri="{FF2B5EF4-FFF2-40B4-BE49-F238E27FC236}">
                <a16:creationId xmlns:a16="http://schemas.microsoft.com/office/drawing/2014/main" id="{60C3F81B-CDC8-42F8-B156-C635B190D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6388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F2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矩形 54">
            <a:extLst xmlns:a="http://schemas.openxmlformats.org/drawingml/2006/main">
              <a:ext uri="{FF2B5EF4-FFF2-40B4-BE49-F238E27FC236}">
                <a16:creationId xmlns:a16="http://schemas.microsoft.com/office/drawing/2014/main" id="{A2E75CD0-FBA1-4B06-9A16-CE6A6C8A1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61975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071521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0B1F33"/>
                </a:solidFill>
                <a:latin typeface="Noto Sans TC"/>
                <a:ea typeface="Noto Sans TC"/>
                <a:cs typeface="Noto Sans TC"/>
              </a:rPr>
              <a:t>✓</a:t>
            </a:r>
          </a:p>
        </p:txBody>
      </p:sp>
      <p:sp>
        <p:nvSpPr>
          <p:cNvPr id="56" name="矩形 55">
            <a:extLst xmlns:a="http://schemas.openxmlformats.org/drawingml/2006/main">
              <a:ext uri="{FF2B5EF4-FFF2-40B4-BE49-F238E27FC236}">
                <a16:creationId xmlns:a16="http://schemas.microsoft.com/office/drawing/2014/main" id="{88F8BFF7-FD7A-4E0C-ACFE-E2E849398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619750"/>
            <a:ext cx="44386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D8E6EE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334155"/>
                </a:solidFill>
                <a:latin typeface="Noto Sans TC"/>
                <a:ea typeface="Noto Sans TC"/>
                <a:cs typeface="Noto Sans TC"/>
              </a:rPr>
              <a:t>Unselected instruments stay unchanged</a:t>
            </a:r>
          </a:p>
        </p:txBody>
      </p:sp>
      <p:sp>
        <p:nvSpPr>
          <p:cNvPr id="57" name="矩形 56">
            <a:extLst xmlns:a="http://schemas.openxmlformats.org/drawingml/2006/main">
              <a:ext uri="{FF2B5EF4-FFF2-40B4-BE49-F238E27FC236}">
                <a16:creationId xmlns:a16="http://schemas.microsoft.com/office/drawing/2014/main" id="{FA05FFBC-C9E7-4559-AFDE-4AB967164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4005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20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38D6C5"/>
                </a:solidFill>
                <a:latin typeface="Noto Sans TC"/>
                <a:ea typeface="Noto Sans TC"/>
                <a:cs typeface="Noto Sans TC"/>
              </a:defRPr>
            </a:pPr>
            <a:r>
              <a:rPr sz="1650" b="1">
                <a:solidFill>
                  <a:srgbClr val="0F766E"/>
                </a:solidFill>
                <a:latin typeface="Noto Sans TC"/>
                <a:ea typeface="Noto Sans TC"/>
                <a:cs typeface="Noto Sans TC"/>
              </a:rPr>
              <a:t>Evidence</a:t>
            </a:r>
          </a:p>
        </p:txBody>
      </p:sp>
      <p:sp>
        <p:nvSpPr>
          <p:cNvPr id="58" name="橢圓 57">
            <a:extLst xmlns:a="http://schemas.openxmlformats.org/drawingml/2006/main">
              <a:ext uri="{FF2B5EF4-FFF2-40B4-BE49-F238E27FC236}">
                <a16:creationId xmlns:a16="http://schemas.microsoft.com/office/drawing/2014/main" id="{38598BF9-7138-4F8A-90C9-27A65224D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8863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F2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矩形 58">
            <a:extLst xmlns:a="http://schemas.openxmlformats.org/drawingml/2006/main">
              <a:ext uri="{FF2B5EF4-FFF2-40B4-BE49-F238E27FC236}">
                <a16:creationId xmlns:a16="http://schemas.microsoft.com/office/drawing/2014/main" id="{ABAB9132-FE5F-48C6-B783-26843BD87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819650"/>
            <a:ext cx="42672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0">
                <a:solidFill>
                  <a:srgbClr val="D8E6EE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334155"/>
                </a:solidFill>
                <a:latin typeface="Noto Sans TC"/>
                <a:ea typeface="Noto Sans TC"/>
                <a:cs typeface="Noto Sans TC"/>
              </a:rPr>
              <a:t>Waveform with event markers</a:t>
            </a:r>
          </a:p>
        </p:txBody>
      </p:sp>
      <p:sp>
        <p:nvSpPr>
          <p:cNvPr id="60" name="橢圓 59">
            <a:extLst xmlns:a="http://schemas.openxmlformats.org/drawingml/2006/main">
              <a:ext uri="{FF2B5EF4-FFF2-40B4-BE49-F238E27FC236}">
                <a16:creationId xmlns:a16="http://schemas.microsoft.com/office/drawing/2014/main" id="{B4BBBC44-1A4F-4301-BA3C-2FF376358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2863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F2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矩形 60">
            <a:extLst xmlns:a="http://schemas.openxmlformats.org/drawingml/2006/main">
              <a:ext uri="{FF2B5EF4-FFF2-40B4-BE49-F238E27FC236}">
                <a16:creationId xmlns:a16="http://schemas.microsoft.com/office/drawing/2014/main" id="{4B1B5FBF-08B1-49BB-81F4-1B9BB723D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219700"/>
            <a:ext cx="42672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0">
                <a:solidFill>
                  <a:srgbClr val="D8E6EE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334155"/>
                </a:solidFill>
                <a:latin typeface="Noto Sans TC"/>
                <a:ea typeface="Noto Sans TC"/>
                <a:cs typeface="Noto Sans TC"/>
              </a:rPr>
              <a:t>PASS summary · mismatch = 0</a:t>
            </a:r>
          </a:p>
        </p:txBody>
      </p:sp>
      <p:sp>
        <p:nvSpPr>
          <p:cNvPr id="62" name="橢圓 61">
            <a:extLst xmlns:a="http://schemas.openxmlformats.org/drawingml/2006/main">
              <a:ext uri="{FF2B5EF4-FFF2-40B4-BE49-F238E27FC236}">
                <a16:creationId xmlns:a16="http://schemas.microsoft.com/office/drawing/2014/main" id="{9BA55A0B-49F7-48EE-B288-7470DBDBA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6864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F2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矩形 62">
            <a:extLst xmlns:a="http://schemas.openxmlformats.org/drawingml/2006/main">
              <a:ext uri="{FF2B5EF4-FFF2-40B4-BE49-F238E27FC236}">
                <a16:creationId xmlns:a16="http://schemas.microsoft.com/office/drawing/2014/main" id="{89D2E2DE-5F8E-4C47-AF2D-480F1D5AB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619750"/>
            <a:ext cx="42672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0">
                <a:solidFill>
                  <a:srgbClr val="D8E6EE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334155"/>
                </a:solidFill>
                <a:latin typeface="Noto Sans TC"/>
                <a:ea typeface="Noto Sans TC"/>
                <a:cs typeface="Noto Sans TC"/>
              </a:rPr>
              <a:t>Reset · SIB / STAP close</a:t>
            </a:r>
          </a:p>
        </p:txBody>
      </p:sp>
    </p:spTree>
    <p:extLst>
      <p:ext uri="{BB962C8B-B14F-4D97-AF65-F5344CB8AC3E}">
        <p14:creationId xmlns:p14="http://schemas.microsoft.com/office/powerpoint/2010/main" val="144130286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矩形 44">
            <a:extLst xmlns:a="http://schemas.openxmlformats.org/drawingml/2006/main">
              <a:ext uri="{FF2B5EF4-FFF2-40B4-BE49-F238E27FC236}">
                <a16:creationId xmlns:a16="http://schemas.microsoft.com/office/drawing/2014/main" id="{9DD0DB55-D4BA-4980-BE27-0740EB7EA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38D6C5"/>
                </a:solidFill>
                <a:latin typeface="Noto Sans TC"/>
                <a:ea typeface="Noto Sans TC"/>
                <a:cs typeface="Noto Sans TC"/>
              </a:defRPr>
            </a:pPr>
            <a:r>
              <a:rPr sz="1050" b="1">
                <a:solidFill>
                  <a:srgbClr val="0F766E"/>
                </a:solidFill>
                <a:latin typeface="Noto Sans TC"/>
                <a:ea typeface="Noto Sans TC"/>
                <a:cs typeface="Noto Sans TC"/>
              </a:rPr>
              <a:t>RTL RESULTS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D6D8F934-06DF-4219-9956-7A57478C8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F3F8FB"/>
                </a:solidFill>
                <a:latin typeface="Noto Sans TC"/>
                <a:ea typeface="Noto Sans TC"/>
                <a:cs typeface="Noto Sans TC"/>
              </a:defRPr>
            </a:pPr>
            <a:r>
              <a:rPr sz="2850" b="1">
                <a:solidFill>
                  <a:srgbClr val="0B1F33"/>
                </a:solidFill>
                <a:latin typeface="Noto Sans TC"/>
                <a:ea typeface="Noto Sans TC"/>
                <a:cs typeface="Noto Sans TC"/>
              </a:rPr>
              <a:t>One Pattern Flow Covers All Three Levels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CA2384A2-8D64-4197-83B5-45BECC649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152CEB97-48BE-4D84-93CF-033434333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09700"/>
            <a:ext cx="99441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D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橢圓 4">
            <a:extLst xmlns:a="http://schemas.openxmlformats.org/drawingml/2006/main">
              <a:ext uri="{FF2B5EF4-FFF2-40B4-BE49-F238E27FC236}">
                <a16:creationId xmlns:a16="http://schemas.microsoft.com/office/drawing/2014/main" id="{A06B3899-DCCB-4DB0-85F1-164256212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EC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14ED3835-7CD0-4C23-861C-808E1BAC6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352550"/>
            <a:ext cx="1352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6F8B9D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0">
                <a:solidFill>
                  <a:srgbClr val="64748B"/>
                </a:solidFill>
                <a:latin typeface="Noto Sans TC"/>
                <a:ea typeface="Noto Sans TC"/>
                <a:cs typeface="Noto Sans TC"/>
              </a:rPr>
              <a:t>1  ENV</a:t>
            </a:r>
          </a:p>
        </p:txBody>
      </p:sp>
      <p:sp>
        <p:nvSpPr>
          <p:cNvPr id="7" name="橢圓 6">
            <a:extLst xmlns:a="http://schemas.openxmlformats.org/drawingml/2006/main">
              <a:ext uri="{FF2B5EF4-FFF2-40B4-BE49-F238E27FC236}">
                <a16:creationId xmlns:a16="http://schemas.microsoft.com/office/drawing/2014/main" id="{13E21C7E-7972-4407-A853-6F3CA4187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13620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EC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74C44B34-ADAE-4E6B-90B9-B181B1F64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1352550"/>
            <a:ext cx="1352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6F8B9D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0">
                <a:solidFill>
                  <a:srgbClr val="64748B"/>
                </a:solidFill>
                <a:latin typeface="Noto Sans TC"/>
                <a:ea typeface="Noto Sans TC"/>
                <a:cs typeface="Noto Sans TC"/>
              </a:rPr>
              <a:t>2  INSERT</a:t>
            </a:r>
          </a:p>
        </p:txBody>
      </p:sp>
      <p:sp>
        <p:nvSpPr>
          <p:cNvPr id="9" name="橢圓 8">
            <a:extLst xmlns:a="http://schemas.openxmlformats.org/drawingml/2006/main">
              <a:ext uri="{FF2B5EF4-FFF2-40B4-BE49-F238E27FC236}">
                <a16:creationId xmlns:a16="http://schemas.microsoft.com/office/drawing/2014/main" id="{EBD724A2-EB13-4999-B014-ACC7F0006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3620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F2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7AAA2D86-F36C-4163-AA09-3A0C56B3B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352550"/>
            <a:ext cx="1352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6F8B9D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0">
                <a:solidFill>
                  <a:srgbClr val="64748B"/>
                </a:solidFill>
                <a:latin typeface="Noto Sans TC"/>
                <a:ea typeface="Noto Sans TC"/>
                <a:cs typeface="Noto Sans TC"/>
              </a:rPr>
              <a:t>3  RETARGET</a:t>
            </a:r>
          </a:p>
        </p:txBody>
      </p:sp>
      <p:sp>
        <p:nvSpPr>
          <p:cNvPr id="11" name="橢圓 10">
            <a:extLst xmlns:a="http://schemas.openxmlformats.org/drawingml/2006/main">
              <a:ext uri="{FF2B5EF4-FFF2-40B4-BE49-F238E27FC236}">
                <a16:creationId xmlns:a16="http://schemas.microsoft.com/office/drawing/2014/main" id="{0CF41688-1A86-4807-8D2D-4EB1D023B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13620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F4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F9A02A39-02C0-4B6F-987F-55F0E7F34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352550"/>
            <a:ext cx="1352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F3F8FB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0B1F33"/>
                </a:solidFill>
                <a:latin typeface="Noto Sans TC"/>
                <a:ea typeface="Noto Sans TC"/>
                <a:cs typeface="Noto Sans TC"/>
              </a:rPr>
              <a:t>4  RTL VERIFY</a:t>
            </a:r>
          </a:p>
        </p:txBody>
      </p:sp>
      <p:sp>
        <p:nvSpPr>
          <p:cNvPr id="13" name="橢圓 12">
            <a:extLst xmlns:a="http://schemas.openxmlformats.org/drawingml/2006/main">
              <a:ext uri="{FF2B5EF4-FFF2-40B4-BE49-F238E27FC236}">
                <a16:creationId xmlns:a16="http://schemas.microsoft.com/office/drawing/2014/main" id="{1B6E6075-3A3F-4DA3-AB08-4409E4F9B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13620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3DD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FEC59115-D243-4131-949C-30838765C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352550"/>
            <a:ext cx="1352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6F8B9D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0">
                <a:solidFill>
                  <a:srgbClr val="64748B"/>
                </a:solidFill>
                <a:latin typeface="Noto Sans TC"/>
                <a:ea typeface="Noto Sans TC"/>
                <a:cs typeface="Noto Sans TC"/>
              </a:rPr>
              <a:t>5  SYNTHESIS</a:t>
            </a:r>
          </a:p>
        </p:txBody>
      </p:sp>
      <p:sp>
        <p:nvSpPr>
          <p:cNvPr id="15" name="橢圓 14">
            <a:extLst xmlns:a="http://schemas.openxmlformats.org/drawingml/2006/main">
              <a:ext uri="{FF2B5EF4-FFF2-40B4-BE49-F238E27FC236}">
                <a16:creationId xmlns:a16="http://schemas.microsoft.com/office/drawing/2014/main" id="{F975EDC3-7422-421B-B498-AA8D15317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13620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3DD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58FBE34A-5FA4-40D6-B38D-37DA82817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352550"/>
            <a:ext cx="1352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6F8B9D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0">
                <a:solidFill>
                  <a:srgbClr val="64748B"/>
                </a:solidFill>
                <a:latin typeface="Noto Sans TC"/>
                <a:ea typeface="Noto Sans TC"/>
                <a:cs typeface="Noto Sans TC"/>
              </a:rPr>
              <a:t>6  GATE VERIFY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C1223C2B-9E8F-442F-AE4A-DF59938FB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D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038F45ED-30A9-4843-9EC1-42656329C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81775"/>
            <a:ext cx="904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6F8B9D"/>
                </a:solidFill>
                <a:latin typeface="Noto Sans TC"/>
                <a:ea typeface="Noto Sans TC"/>
                <a:cs typeface="Noto Sans TC"/>
              </a:defRPr>
            </a:pPr>
            <a:r>
              <a:rPr sz="825" b="0">
                <a:solidFill>
                  <a:srgbClr val="64748B"/>
                </a:solidFill>
                <a:latin typeface="Noto Sans TC"/>
                <a:ea typeface="Noto Sans TC"/>
                <a:cs typeface="Noto Sans TC"/>
              </a:rPr>
              <a:t>Validated: IEEE 1687 · IEEE 1687 + 1838 · stack_top   |   DWR = bonus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9DFE18E7-00DA-4815-9F9D-58B52698E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6F8B9D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64748B"/>
                </a:solidFill>
                <a:latin typeface="Noto Sans TC"/>
                <a:ea typeface="Noto Sans TC"/>
                <a:cs typeface="Noto Sans TC"/>
              </a:rPr>
              <a:t>10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3DD51714-6FC4-41E2-A19A-9D03895BA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514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 b="1">
                <a:solidFill>
                  <a:srgbClr val="3AA7FF"/>
                </a:solidFill>
                <a:latin typeface="Noto Sans TC"/>
                <a:ea typeface="Noto Sans TC"/>
                <a:cs typeface="Noto Sans TC"/>
              </a:defRPr>
            </a:pPr>
            <a:r>
              <a:rPr sz="2100" b="1">
                <a:solidFill>
                  <a:srgbClr val="1F5A85"/>
                </a:solidFill>
                <a:latin typeface="Noto Sans TC"/>
                <a:ea typeface="Noto Sans TC"/>
                <a:cs typeface="Noto Sans TC"/>
              </a:rPr>
              <a:t>01</a:t>
            </a: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6B2E0720-2361-479E-821C-78663F532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171700"/>
            <a:ext cx="571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C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2CF87275-45D5-461E-9AD9-7604CE9C5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1717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F3F8FB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0B1F33"/>
                </a:solidFill>
                <a:latin typeface="Noto Sans TC"/>
                <a:ea typeface="Noto Sans TC"/>
                <a:cs typeface="Noto Sans TC"/>
              </a:rPr>
              <a:t>IEEE 1687</a:t>
            </a: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8AFE4592-E3D9-4721-B14E-10651AAC2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590800"/>
            <a:ext cx="628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D8E6EE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334155"/>
                </a:solidFill>
                <a:latin typeface="Noto Sans TC"/>
                <a:ea typeface="Noto Sans TC"/>
                <a:cs typeface="Noto Sans TC"/>
              </a:rPr>
              <a:t>TAP → SIB → TDR → Instrument</a:t>
            </a:r>
          </a:p>
        </p:txBody>
      </p:sp>
      <p:sp>
        <p:nvSpPr>
          <p:cNvPr id="24" name="矩形: 圓角 23">
            <a:extLst xmlns:a="http://schemas.openxmlformats.org/drawingml/2006/main">
              <a:ext uri="{FF2B5EF4-FFF2-40B4-BE49-F238E27FC236}">
                <a16:creationId xmlns:a16="http://schemas.microsoft.com/office/drawing/2014/main" id="{9E5A3DB3-DEC4-43FF-8437-7271C8003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162175"/>
            <a:ext cx="314325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4F7F9"/>
          </a:solidFill>
          <a:ln xmlns:a="http://schemas.openxmlformats.org/drawingml/2006/main" w="9525">
            <a:solidFill>
              <a:srgbClr val="1F5A85"/>
            </a:solidFill>
            <a:prstDash val="solid"/>
          </a:ln>
        </p:spPr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CB89969C-1448-40DE-9F9C-6605E446D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305050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3AA7FF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1">
                <a:solidFill>
                  <a:srgbClr val="1F5A85"/>
                </a:solidFill>
                <a:latin typeface="Noto Sans TC"/>
                <a:ea typeface="Noto Sans TC"/>
                <a:cs typeface="Noto Sans TC"/>
              </a:rPr>
              <a:t>Local access confirmed</a:t>
            </a:r>
          </a:p>
        </p:txBody>
      </p:sp>
      <p:sp>
        <p:nvSpPr>
          <p:cNvPr id="26" name="橢圓 25">
            <a:extLst xmlns:a="http://schemas.openxmlformats.org/drawingml/2006/main">
              <a:ext uri="{FF2B5EF4-FFF2-40B4-BE49-F238E27FC236}">
                <a16:creationId xmlns:a16="http://schemas.microsoft.com/office/drawing/2014/main" id="{7585CF01-31EE-4602-9D66-F3A7C7585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24384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F2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0E3C7C27-7CD9-457C-93DB-3D7142E06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24384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071521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0B1F33"/>
                </a:solidFill>
                <a:latin typeface="Noto Sans TC"/>
                <a:ea typeface="Noto Sans TC"/>
                <a:cs typeface="Noto Sans TC"/>
              </a:rPr>
              <a:t>✓</a:t>
            </a:r>
          </a:p>
        </p:txBody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A5613F14-B2A7-41E5-9DD3-698012F78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00450"/>
            <a:ext cx="514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 b="1">
                <a:solidFill>
                  <a:srgbClr val="F5B94C"/>
                </a:solidFill>
                <a:latin typeface="Noto Sans TC"/>
                <a:ea typeface="Noto Sans TC"/>
                <a:cs typeface="Noto Sans TC"/>
              </a:defRPr>
            </a:pPr>
            <a:r>
              <a:rPr sz="2100" b="1">
                <a:solidFill>
                  <a:srgbClr val="1F5A85"/>
                </a:solidFill>
                <a:latin typeface="Noto Sans TC"/>
                <a:ea typeface="Noto Sans TC"/>
                <a:cs typeface="Noto Sans TC"/>
              </a:rPr>
              <a:t>02</a:t>
            </a:r>
          </a:p>
        </p:txBody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772FCC05-80AB-4134-87A7-5EEE4A77B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524250"/>
            <a:ext cx="571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C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4E4DFB82-EC24-45A7-9390-8FFB15C43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5242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F3F8FB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0B1F33"/>
                </a:solidFill>
                <a:latin typeface="Noto Sans TC"/>
                <a:ea typeface="Noto Sans TC"/>
                <a:cs typeface="Noto Sans TC"/>
              </a:rPr>
              <a:t>1687 + IEEE 1838</a:t>
            </a:r>
          </a:p>
        </p:txBody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F764F1DB-D144-4403-84F1-2BF7EEA1C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943350"/>
            <a:ext cx="628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D8E6EE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334155"/>
                </a:solidFill>
                <a:latin typeface="Noto Sans TC"/>
                <a:ea typeface="Noto Sans TC"/>
                <a:cs typeface="Noto Sans TC"/>
              </a:rPr>
              <a:t>PTAP → local SIB → TDR</a:t>
            </a:r>
          </a:p>
        </p:txBody>
      </p:sp>
      <p:sp>
        <p:nvSpPr>
          <p:cNvPr id="32" name="矩形: 圓角 31">
            <a:extLst xmlns:a="http://schemas.openxmlformats.org/drawingml/2006/main">
              <a:ext uri="{FF2B5EF4-FFF2-40B4-BE49-F238E27FC236}">
                <a16:creationId xmlns:a16="http://schemas.microsoft.com/office/drawing/2014/main" id="{0304E9BE-E428-4002-BA10-A08811091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514725"/>
            <a:ext cx="314325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4F7F9"/>
          </a:solidFill>
          <a:ln xmlns:a="http://schemas.openxmlformats.org/drawingml/2006/main" w="9525">
            <a:solidFill>
              <a:srgbClr val="1F5A85"/>
            </a:solidFill>
            <a:prstDash val="solid"/>
          </a:ln>
        </p:spPr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5C35EB13-D65D-4C51-8D54-70CE36D03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657600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F5B94C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1">
                <a:solidFill>
                  <a:srgbClr val="1F5A85"/>
                </a:solidFill>
                <a:latin typeface="Noto Sans TC"/>
                <a:ea typeface="Noto Sans TC"/>
                <a:cs typeface="Noto Sans TC"/>
              </a:rPr>
              <a:t>Wrapper controls confirmed</a:t>
            </a:r>
          </a:p>
        </p:txBody>
      </p:sp>
      <p:sp>
        <p:nvSpPr>
          <p:cNvPr id="34" name="橢圓 33">
            <a:extLst xmlns:a="http://schemas.openxmlformats.org/drawingml/2006/main">
              <a:ext uri="{FF2B5EF4-FFF2-40B4-BE49-F238E27FC236}">
                <a16:creationId xmlns:a16="http://schemas.microsoft.com/office/drawing/2014/main" id="{FC705399-FCDA-4FC4-8898-8BA7C4090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37909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F2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矩形 34">
            <a:extLst xmlns:a="http://schemas.openxmlformats.org/drawingml/2006/main">
              <a:ext uri="{FF2B5EF4-FFF2-40B4-BE49-F238E27FC236}">
                <a16:creationId xmlns:a16="http://schemas.microsoft.com/office/drawing/2014/main" id="{A587C396-AB2C-4DCB-8D6A-A25A6E76B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37909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071521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0B1F33"/>
                </a:solidFill>
                <a:latin typeface="Noto Sans TC"/>
                <a:ea typeface="Noto Sans TC"/>
                <a:cs typeface="Noto Sans TC"/>
              </a:rPr>
              <a:t>✓</a:t>
            </a:r>
          </a:p>
        </p:txBody>
      </p:sp>
      <p:sp>
        <p:nvSpPr>
          <p:cNvPr id="36" name="矩形 35">
            <a:extLst xmlns:a="http://schemas.openxmlformats.org/drawingml/2006/main">
              <a:ext uri="{FF2B5EF4-FFF2-40B4-BE49-F238E27FC236}">
                <a16:creationId xmlns:a16="http://schemas.microsoft.com/office/drawing/2014/main" id="{6BC1E503-CA21-46A8-AC1F-C26CC94BD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514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 b="1">
                <a:solidFill>
                  <a:srgbClr val="44D17B"/>
                </a:solidFill>
                <a:latin typeface="Noto Sans TC"/>
                <a:ea typeface="Noto Sans TC"/>
                <a:cs typeface="Noto Sans TC"/>
              </a:defRPr>
            </a:pPr>
            <a:r>
              <a:rPr sz="2100" b="1">
                <a:solidFill>
                  <a:srgbClr val="15803D"/>
                </a:solidFill>
                <a:latin typeface="Noto Sans TC"/>
                <a:ea typeface="Noto Sans TC"/>
                <a:cs typeface="Noto Sans TC"/>
              </a:rPr>
              <a:t>03</a:t>
            </a:r>
          </a:p>
        </p:txBody>
      </p:sp>
      <p:sp>
        <p:nvSpPr>
          <p:cNvPr id="37" name="矩形 36">
            <a:extLst xmlns:a="http://schemas.openxmlformats.org/drawingml/2006/main">
              <a:ext uri="{FF2B5EF4-FFF2-40B4-BE49-F238E27FC236}">
                <a16:creationId xmlns:a16="http://schemas.microsoft.com/office/drawing/2014/main" id="{2326D603-98F3-4EFE-BB43-7CA95656E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876800"/>
            <a:ext cx="571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矩形 37">
            <a:extLst xmlns:a="http://schemas.openxmlformats.org/drawingml/2006/main">
              <a:ext uri="{FF2B5EF4-FFF2-40B4-BE49-F238E27FC236}">
                <a16:creationId xmlns:a16="http://schemas.microsoft.com/office/drawing/2014/main" id="{A9F8B451-AB9B-4A8D-88DC-905341611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8768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F3F8FB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0B1F33"/>
                </a:solidFill>
                <a:latin typeface="Noto Sans TC"/>
                <a:ea typeface="Noto Sans TC"/>
                <a:cs typeface="Noto Sans TC"/>
              </a:rPr>
              <a:t>stack_top</a:t>
            </a:r>
          </a:p>
        </p:txBody>
      </p:sp>
      <p:sp>
        <p:nvSpPr>
          <p:cNvPr id="39" name="矩形 38">
            <a:extLst xmlns:a="http://schemas.openxmlformats.org/drawingml/2006/main">
              <a:ext uri="{FF2B5EF4-FFF2-40B4-BE49-F238E27FC236}">
                <a16:creationId xmlns:a16="http://schemas.microsoft.com/office/drawing/2014/main" id="{51A63F8A-A6DA-4C1F-B941-DB7C72DDC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295900"/>
            <a:ext cx="628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D8E6EE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334155"/>
                </a:solidFill>
                <a:latin typeface="Noto Sans TC"/>
                <a:ea typeface="Noto Sans TC"/>
                <a:cs typeface="Noto Sans TC"/>
              </a:rPr>
              <a:t>Package → Basic STAP → Sensor STAP → SIB → TDR</a:t>
            </a:r>
          </a:p>
        </p:txBody>
      </p:sp>
      <p:sp>
        <p:nvSpPr>
          <p:cNvPr id="40" name="矩形: 圓角 39">
            <a:extLst xmlns:a="http://schemas.openxmlformats.org/drawingml/2006/main">
              <a:ext uri="{FF2B5EF4-FFF2-40B4-BE49-F238E27FC236}">
                <a16:creationId xmlns:a16="http://schemas.microsoft.com/office/drawing/2014/main" id="{765CCC79-6CC4-4EBF-8025-B3BBA6934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867275"/>
            <a:ext cx="314325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4F7F9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</p:sp>
      <p:sp>
        <p:nvSpPr>
          <p:cNvPr id="41" name="矩形 40">
            <a:extLst xmlns:a="http://schemas.openxmlformats.org/drawingml/2006/main">
              <a:ext uri="{FF2B5EF4-FFF2-40B4-BE49-F238E27FC236}">
                <a16:creationId xmlns:a16="http://schemas.microsoft.com/office/drawing/2014/main" id="{4549331D-B0CD-4B46-9E8E-953FC05D2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010150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44D17B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1">
                <a:solidFill>
                  <a:srgbClr val="15803D"/>
                </a:solidFill>
                <a:latin typeface="Noto Sans TC"/>
                <a:ea typeface="Noto Sans TC"/>
                <a:cs typeface="Noto Sans TC"/>
              </a:rPr>
              <a:t>Stack path + return confirmed</a:t>
            </a:r>
          </a:p>
        </p:txBody>
      </p:sp>
      <p:sp>
        <p:nvSpPr>
          <p:cNvPr id="42" name="橢圓 41">
            <a:extLst xmlns:a="http://schemas.openxmlformats.org/drawingml/2006/main">
              <a:ext uri="{FF2B5EF4-FFF2-40B4-BE49-F238E27FC236}">
                <a16:creationId xmlns:a16="http://schemas.microsoft.com/office/drawing/2014/main" id="{3F72E03F-B8A7-4C78-9D40-9E41C52EB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51435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F2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矩形 42">
            <a:extLst xmlns:a="http://schemas.openxmlformats.org/drawingml/2006/main">
              <a:ext uri="{FF2B5EF4-FFF2-40B4-BE49-F238E27FC236}">
                <a16:creationId xmlns:a16="http://schemas.microsoft.com/office/drawing/2014/main" id="{5C4E62CB-BF62-4398-A471-8945D5425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51435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071521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0B1F33"/>
                </a:solidFill>
                <a:latin typeface="Noto Sans TC"/>
                <a:ea typeface="Noto Sans TC"/>
                <a:cs typeface="Noto Sans TC"/>
              </a:rPr>
              <a:t>✓</a:t>
            </a:r>
          </a:p>
        </p:txBody>
      </p:sp>
      <p:sp>
        <p:nvSpPr>
          <p:cNvPr id="44" name="矩形 43">
            <a:extLst xmlns:a="http://schemas.openxmlformats.org/drawingml/2006/main">
              <a:ext uri="{FF2B5EF4-FFF2-40B4-BE49-F238E27FC236}">
                <a16:creationId xmlns:a16="http://schemas.microsoft.com/office/drawing/2014/main" id="{30919FAE-607D-4B8C-BD51-96B1347FA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6048375"/>
            <a:ext cx="7696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25" b="1">
                <a:solidFill>
                  <a:srgbClr val="38D6C5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1">
                <a:solidFill>
                  <a:srgbClr val="0F766E"/>
                </a:solidFill>
                <a:latin typeface="Noto Sans TC"/>
                <a:ea typeface="Noto Sans TC"/>
                <a:cs typeface="Noto Sans TC"/>
              </a:rPr>
              <a:t>Access depth grows; pattern authoring stays simple.</a:t>
            </a:r>
          </a:p>
        </p:txBody>
      </p:sp>
    </p:spTree>
    <p:extLst>
      <p:ext uri="{BB962C8B-B14F-4D97-AF65-F5344CB8AC3E}">
        <p14:creationId xmlns:p14="http://schemas.microsoft.com/office/powerpoint/2010/main" val="5969873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" name="矩形 52">
            <a:extLst xmlns:a="http://schemas.openxmlformats.org/drawingml/2006/main">
              <a:ext uri="{FF2B5EF4-FFF2-40B4-BE49-F238E27FC236}">
                <a16:creationId xmlns:a16="http://schemas.microsoft.com/office/drawing/2014/main" id="{BE41C4BF-6606-432C-86BC-E55D261C6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38D6C5"/>
                </a:solidFill>
                <a:latin typeface="Noto Sans TC"/>
                <a:ea typeface="Noto Sans TC"/>
                <a:cs typeface="Noto Sans TC"/>
              </a:defRPr>
            </a:pPr>
            <a:r>
              <a:rPr sz="1050" b="1">
                <a:solidFill>
                  <a:srgbClr val="0F766E"/>
                </a:solidFill>
                <a:latin typeface="Noto Sans TC"/>
                <a:ea typeface="Noto Sans TC"/>
                <a:cs typeface="Noto Sans TC"/>
              </a:rPr>
              <a:t>WAVEFORM EVIDENCE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365C0DF8-75B3-4196-B282-7586800EC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F3F8FB"/>
                </a:solidFill>
                <a:latin typeface="Noto Sans TC"/>
                <a:ea typeface="Noto Sans TC"/>
                <a:cs typeface="Noto Sans TC"/>
              </a:defRPr>
            </a:pPr>
            <a:r>
              <a:rPr sz="2850" b="1">
                <a:solidFill>
                  <a:srgbClr val="0B1F33"/>
                </a:solidFill>
                <a:latin typeface="Noto Sans TC"/>
                <a:ea typeface="Noto Sans TC"/>
                <a:cs typeface="Noto Sans TC"/>
              </a:rPr>
              <a:t>Event Markers Make Stack Traces Debuggable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3D80E224-B9CD-4679-91F0-B4E45F5DC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BF829B38-6F43-460E-A074-AA47B9A33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09700"/>
            <a:ext cx="9997017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D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橢圓 4">
            <a:extLst xmlns:a="http://schemas.openxmlformats.org/drawingml/2006/main">
              <a:ext uri="{FF2B5EF4-FFF2-40B4-BE49-F238E27FC236}">
                <a16:creationId xmlns:a16="http://schemas.microsoft.com/office/drawing/2014/main" id="{191F55EF-D7BD-437A-8AAE-30CF18394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EC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EE75F1DB-E99B-4533-8555-30C0584B5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352550"/>
            <a:ext cx="1352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6F8B9D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0">
                <a:solidFill>
                  <a:srgbClr val="64748B"/>
                </a:solidFill>
                <a:latin typeface="Noto Sans TC"/>
                <a:ea typeface="Noto Sans TC"/>
                <a:cs typeface="Noto Sans TC"/>
              </a:rPr>
              <a:t>1  ENV</a:t>
            </a:r>
          </a:p>
        </p:txBody>
      </p:sp>
      <p:sp>
        <p:nvSpPr>
          <p:cNvPr id="7" name="橢圓 6">
            <a:extLst xmlns:a="http://schemas.openxmlformats.org/drawingml/2006/main">
              <a:ext uri="{FF2B5EF4-FFF2-40B4-BE49-F238E27FC236}">
                <a16:creationId xmlns:a16="http://schemas.microsoft.com/office/drawing/2014/main" id="{6EFE6135-26E0-434C-A645-2996F04E0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13620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EC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51C58555-E9D9-4E83-BB96-886DDA567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1352550"/>
            <a:ext cx="1352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6F8B9D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0">
                <a:solidFill>
                  <a:srgbClr val="64748B"/>
                </a:solidFill>
                <a:latin typeface="Noto Sans TC"/>
                <a:ea typeface="Noto Sans TC"/>
                <a:cs typeface="Noto Sans TC"/>
              </a:rPr>
              <a:t>2  INSERT</a:t>
            </a:r>
          </a:p>
        </p:txBody>
      </p:sp>
      <p:sp>
        <p:nvSpPr>
          <p:cNvPr id="9" name="橢圓 8">
            <a:extLst xmlns:a="http://schemas.openxmlformats.org/drawingml/2006/main">
              <a:ext uri="{FF2B5EF4-FFF2-40B4-BE49-F238E27FC236}">
                <a16:creationId xmlns:a16="http://schemas.microsoft.com/office/drawing/2014/main" id="{E5280D72-DF8D-4F92-AE3D-44C11A122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3620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F2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55737FB6-4445-42F0-B18A-32F0B3D22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352550"/>
            <a:ext cx="1352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6F8B9D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0">
                <a:solidFill>
                  <a:srgbClr val="64748B"/>
                </a:solidFill>
                <a:latin typeface="Noto Sans TC"/>
                <a:ea typeface="Noto Sans TC"/>
                <a:cs typeface="Noto Sans TC"/>
              </a:rPr>
              <a:t>3  RETARGET</a:t>
            </a:r>
          </a:p>
        </p:txBody>
      </p:sp>
      <p:sp>
        <p:nvSpPr>
          <p:cNvPr id="11" name="橢圓 10">
            <a:extLst xmlns:a="http://schemas.openxmlformats.org/drawingml/2006/main">
              <a:ext uri="{FF2B5EF4-FFF2-40B4-BE49-F238E27FC236}">
                <a16:creationId xmlns:a16="http://schemas.microsoft.com/office/drawing/2014/main" id="{C4ED95AE-CBAF-4E63-B9C5-E8BEF86B2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13620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F4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B7424B3A-FF8E-48CA-A707-88908700B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352550"/>
            <a:ext cx="1352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F3F8FB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0B1F33"/>
                </a:solidFill>
                <a:latin typeface="Noto Sans TC"/>
                <a:ea typeface="Noto Sans TC"/>
                <a:cs typeface="Noto Sans TC"/>
              </a:rPr>
              <a:t>4  RTL VERIFY</a:t>
            </a:r>
          </a:p>
        </p:txBody>
      </p:sp>
      <p:sp>
        <p:nvSpPr>
          <p:cNvPr id="13" name="橢圓 12">
            <a:extLst xmlns:a="http://schemas.openxmlformats.org/drawingml/2006/main">
              <a:ext uri="{FF2B5EF4-FFF2-40B4-BE49-F238E27FC236}">
                <a16:creationId xmlns:a16="http://schemas.microsoft.com/office/drawing/2014/main" id="{E3FD0836-ECFA-41E9-A46C-A7DE0F627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13620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3DD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E0192C09-E89C-45C1-9AFF-6509113E6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352550"/>
            <a:ext cx="1352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6F8B9D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0">
                <a:solidFill>
                  <a:srgbClr val="64748B"/>
                </a:solidFill>
                <a:latin typeface="Noto Sans TC"/>
                <a:ea typeface="Noto Sans TC"/>
                <a:cs typeface="Noto Sans TC"/>
              </a:rPr>
              <a:t>5  SYNTHESIS</a:t>
            </a:r>
          </a:p>
        </p:txBody>
      </p:sp>
      <p:sp>
        <p:nvSpPr>
          <p:cNvPr id="15" name="橢圓 14">
            <a:extLst xmlns:a="http://schemas.openxmlformats.org/drawingml/2006/main">
              <a:ext uri="{FF2B5EF4-FFF2-40B4-BE49-F238E27FC236}">
                <a16:creationId xmlns:a16="http://schemas.microsoft.com/office/drawing/2014/main" id="{5D045F44-3224-41C8-B579-89D8B7554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13620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3DD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33C34D82-DEED-4134-AA86-6DC547680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352550"/>
            <a:ext cx="1352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6F8B9D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0">
                <a:solidFill>
                  <a:srgbClr val="64748B"/>
                </a:solidFill>
                <a:latin typeface="Noto Sans TC"/>
                <a:ea typeface="Noto Sans TC"/>
                <a:cs typeface="Noto Sans TC"/>
              </a:rPr>
              <a:t>6  GATE VERIFY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CC701162-0E26-46A3-A8EA-F629A205A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D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9B71472E-B074-414F-928C-3D645C525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81775"/>
            <a:ext cx="904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6F8B9D"/>
                </a:solidFill>
                <a:latin typeface="Noto Sans TC"/>
                <a:ea typeface="Noto Sans TC"/>
                <a:cs typeface="Noto Sans TC"/>
              </a:defRPr>
            </a:pPr>
            <a:r>
              <a:rPr sz="825" b="0">
                <a:solidFill>
                  <a:srgbClr val="64748B"/>
                </a:solidFill>
                <a:latin typeface="Noto Sans TC"/>
                <a:ea typeface="Noto Sans TC"/>
                <a:cs typeface="Noto Sans TC"/>
              </a:rPr>
              <a:t>Validated: IEEE 1687 · IEEE 1687 + 1838 · stack_top   |   DWR = bonus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873F2D1E-092C-46E5-B19C-66217A5B9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6F8B9D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64748B"/>
                </a:solidFill>
                <a:latin typeface="Noto Sans TC"/>
                <a:ea typeface="Noto Sans TC"/>
                <a:cs typeface="Noto Sans TC"/>
              </a:rPr>
              <a:t>11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DEBA5DE1-54D2-4403-9D35-B5EDC439B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38575"/>
            <a:ext cx="10668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D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橢圓 20">
            <a:extLst xmlns:a="http://schemas.openxmlformats.org/drawingml/2006/main">
              <a:ext uri="{FF2B5EF4-FFF2-40B4-BE49-F238E27FC236}">
                <a16:creationId xmlns:a16="http://schemas.microsoft.com/office/drawing/2014/main" id="{B7F6E7DF-D99F-4D14-A8E1-4B57E3FAB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EC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39D278BC-47BF-4C95-91B9-1E7AAE70B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293370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3AA7FF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1F5A85"/>
                </a:solidFill>
                <a:latin typeface="Noto Sans TC"/>
                <a:ea typeface="Noto Sans TC"/>
                <a:cs typeface="Noto Sans TC"/>
              </a:rPr>
              <a:t>M0</a:t>
            </a: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7A10D5C3-21C8-48EE-A231-3303D4EFB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3181350"/>
            <a:ext cx="1028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0">
                <a:solidFill>
                  <a:srgbClr val="D8E6EE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0">
                <a:solidFill>
                  <a:srgbClr val="334155"/>
                </a:solidFill>
                <a:latin typeface="Noto Sans TC"/>
                <a:ea typeface="Noto Sans TC"/>
                <a:cs typeface="Noto Sans TC"/>
              </a:rPr>
              <a:t>Reset</a:t>
            </a:r>
          </a:p>
        </p:txBody>
      </p:sp>
      <p:sp>
        <p:nvSpPr>
          <p:cNvPr id="24" name="橢圓 23">
            <a:extLst xmlns:a="http://schemas.openxmlformats.org/drawingml/2006/main">
              <a:ext uri="{FF2B5EF4-FFF2-40B4-BE49-F238E27FC236}">
                <a16:creationId xmlns:a16="http://schemas.microsoft.com/office/drawing/2014/main" id="{212417A5-52CE-47B9-B06B-555B47C79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4933" y="37147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EC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4A9CAD63-8200-4BC6-BBA9-073FCA6FF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4908" y="411480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F5B94C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1F5A85"/>
                </a:solidFill>
                <a:latin typeface="Noto Sans TC"/>
                <a:ea typeface="Noto Sans TC"/>
                <a:cs typeface="Noto Sans TC"/>
              </a:rPr>
              <a:t>M1</a:t>
            </a:r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719F322F-0994-4682-8102-AB2C4C9ED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3933" y="4362450"/>
            <a:ext cx="1028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0">
                <a:solidFill>
                  <a:srgbClr val="D8E6EE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0">
                <a:solidFill>
                  <a:srgbClr val="334155"/>
                </a:solidFill>
                <a:latin typeface="Noto Sans TC"/>
                <a:ea typeface="Noto Sans TC"/>
                <a:cs typeface="Noto Sans TC"/>
              </a:rPr>
              <a:t>Basic 3DCR</a:t>
            </a:r>
          </a:p>
        </p:txBody>
      </p:sp>
      <p:sp>
        <p:nvSpPr>
          <p:cNvPr id="27" name="橢圓 26">
            <a:extLst xmlns:a="http://schemas.openxmlformats.org/drawingml/2006/main">
              <a:ext uri="{FF2B5EF4-FFF2-40B4-BE49-F238E27FC236}">
                <a16:creationId xmlns:a16="http://schemas.microsoft.com/office/drawing/2014/main" id="{310245D6-BDD6-4548-81A3-405568DF9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0267" y="37147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EC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554D6516-4434-4717-80D7-9CE969221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0242" y="293370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F5B94C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1F5A85"/>
                </a:solidFill>
                <a:latin typeface="Noto Sans TC"/>
                <a:ea typeface="Noto Sans TC"/>
                <a:cs typeface="Noto Sans TC"/>
              </a:rPr>
              <a:t>M2</a:t>
            </a:r>
          </a:p>
        </p:txBody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DE9544EE-9095-46CF-88BB-75B4EB4A8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9267" y="3181350"/>
            <a:ext cx="1028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0">
                <a:solidFill>
                  <a:srgbClr val="D8E6EE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0">
                <a:solidFill>
                  <a:srgbClr val="334155"/>
                </a:solidFill>
                <a:latin typeface="Noto Sans TC"/>
                <a:ea typeface="Noto Sans TC"/>
                <a:cs typeface="Noto Sans TC"/>
              </a:rPr>
              <a:t>Sensor0 3DCR</a:t>
            </a:r>
          </a:p>
        </p:txBody>
      </p:sp>
      <p:sp>
        <p:nvSpPr>
          <p:cNvPr id="30" name="橢圓 29">
            <a:extLst xmlns:a="http://schemas.openxmlformats.org/drawingml/2006/main">
              <a:ext uri="{FF2B5EF4-FFF2-40B4-BE49-F238E27FC236}">
                <a16:creationId xmlns:a16="http://schemas.microsoft.com/office/drawing/2014/main" id="{5A295E3E-4E33-4840-AD56-791760992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5600" y="37147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EC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6C02D34E-F0D5-4195-97D1-0741C5361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5575" y="411480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F5B94C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1F5A85"/>
                </a:solidFill>
                <a:latin typeface="Noto Sans TC"/>
                <a:ea typeface="Noto Sans TC"/>
                <a:cs typeface="Noto Sans TC"/>
              </a:rPr>
              <a:t>M3</a:t>
            </a:r>
          </a:p>
        </p:txBody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86BF74D7-F05C-4626-9761-180662CFF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4600" y="4362450"/>
            <a:ext cx="1028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0">
                <a:solidFill>
                  <a:srgbClr val="D8E6EE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0">
                <a:solidFill>
                  <a:srgbClr val="334155"/>
                </a:solidFill>
                <a:latin typeface="Noto Sans TC"/>
                <a:ea typeface="Noto Sans TC"/>
                <a:cs typeface="Noto Sans TC"/>
              </a:rPr>
              <a:t>Sensor1 SIB</a:t>
            </a:r>
          </a:p>
        </p:txBody>
      </p:sp>
      <p:sp>
        <p:nvSpPr>
          <p:cNvPr id="33" name="橢圓 32">
            <a:extLst xmlns:a="http://schemas.openxmlformats.org/drawingml/2006/main">
              <a:ext uri="{FF2B5EF4-FFF2-40B4-BE49-F238E27FC236}">
                <a16:creationId xmlns:a16="http://schemas.microsoft.com/office/drawing/2014/main" id="{D5B0E4D8-DA43-4AA1-91F5-CD4B63E5D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0933" y="37147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F2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37F481AA-BFA0-4304-8E42-E5C7D0404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0908" y="293370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38D6C5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0F766E"/>
                </a:solidFill>
                <a:latin typeface="Noto Sans TC"/>
                <a:ea typeface="Noto Sans TC"/>
                <a:cs typeface="Noto Sans TC"/>
              </a:rPr>
              <a:t>M4</a:t>
            </a:r>
          </a:p>
        </p:txBody>
      </p:sp>
      <p:sp>
        <p:nvSpPr>
          <p:cNvPr id="35" name="矩形 34">
            <a:extLst xmlns:a="http://schemas.openxmlformats.org/drawingml/2006/main">
              <a:ext uri="{FF2B5EF4-FFF2-40B4-BE49-F238E27FC236}">
                <a16:creationId xmlns:a16="http://schemas.microsoft.com/office/drawing/2014/main" id="{F9466C10-B375-4227-BF66-25CCBF7EC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9933" y="3181350"/>
            <a:ext cx="1028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0">
                <a:solidFill>
                  <a:srgbClr val="D8E6EE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0">
                <a:solidFill>
                  <a:srgbClr val="334155"/>
                </a:solidFill>
                <a:latin typeface="Noto Sans TC"/>
                <a:ea typeface="Noto Sans TC"/>
                <a:cs typeface="Noto Sans TC"/>
              </a:rPr>
              <a:t>TDR Update</a:t>
            </a:r>
          </a:p>
        </p:txBody>
      </p:sp>
      <p:sp>
        <p:nvSpPr>
          <p:cNvPr id="36" name="橢圓 35">
            <a:extLst xmlns:a="http://schemas.openxmlformats.org/drawingml/2006/main">
              <a:ext uri="{FF2B5EF4-FFF2-40B4-BE49-F238E27FC236}">
                <a16:creationId xmlns:a16="http://schemas.microsoft.com/office/drawing/2014/main" id="{D4089903-D297-4EB5-8AA1-355A2FD34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6267" y="37147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EC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矩形 36">
            <a:extLst xmlns:a="http://schemas.openxmlformats.org/drawingml/2006/main">
              <a:ext uri="{FF2B5EF4-FFF2-40B4-BE49-F238E27FC236}">
                <a16:creationId xmlns:a16="http://schemas.microsoft.com/office/drawing/2014/main" id="{ABA0C7FF-481F-4B1C-B1A9-EAA61E76F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6242" y="411480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3AA7FF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1F5A85"/>
                </a:solidFill>
                <a:latin typeface="Noto Sans TC"/>
                <a:ea typeface="Noto Sans TC"/>
                <a:cs typeface="Noto Sans TC"/>
              </a:rPr>
              <a:t>M5</a:t>
            </a:r>
          </a:p>
        </p:txBody>
      </p:sp>
      <p:sp>
        <p:nvSpPr>
          <p:cNvPr id="38" name="矩形 37">
            <a:extLst xmlns:a="http://schemas.openxmlformats.org/drawingml/2006/main">
              <a:ext uri="{FF2B5EF4-FFF2-40B4-BE49-F238E27FC236}">
                <a16:creationId xmlns:a16="http://schemas.microsoft.com/office/drawing/2014/main" id="{D3CE322C-B2CC-457D-97E8-16CBB03D9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5267" y="4362450"/>
            <a:ext cx="1028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0">
                <a:solidFill>
                  <a:srgbClr val="D8E6EE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0">
                <a:solidFill>
                  <a:srgbClr val="334155"/>
                </a:solidFill>
                <a:latin typeface="Noto Sans TC"/>
                <a:ea typeface="Noto Sans TC"/>
                <a:cs typeface="Noto Sans TC"/>
              </a:rPr>
              <a:t>Start</a:t>
            </a:r>
          </a:p>
        </p:txBody>
      </p:sp>
      <p:sp>
        <p:nvSpPr>
          <p:cNvPr id="39" name="橢圓 38">
            <a:extLst xmlns:a="http://schemas.openxmlformats.org/drawingml/2006/main">
              <a:ext uri="{FF2B5EF4-FFF2-40B4-BE49-F238E27FC236}">
                <a16:creationId xmlns:a16="http://schemas.microsoft.com/office/drawing/2014/main" id="{B5ADE33D-774B-4086-A2AC-6F523B8D4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1600" y="37147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EC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矩形 39">
            <a:extLst xmlns:a="http://schemas.openxmlformats.org/drawingml/2006/main">
              <a:ext uri="{FF2B5EF4-FFF2-40B4-BE49-F238E27FC236}">
                <a16:creationId xmlns:a16="http://schemas.microsoft.com/office/drawing/2014/main" id="{B7FC2158-041E-4684-9C46-6078F0354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1575" y="293370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3AA7FF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1F5A85"/>
                </a:solidFill>
                <a:latin typeface="Noto Sans TC"/>
                <a:ea typeface="Noto Sans TC"/>
                <a:cs typeface="Noto Sans TC"/>
              </a:rPr>
              <a:t>M7</a:t>
            </a:r>
          </a:p>
        </p:txBody>
      </p:sp>
      <p:sp>
        <p:nvSpPr>
          <p:cNvPr id="41" name="矩形 40">
            <a:extLst xmlns:a="http://schemas.openxmlformats.org/drawingml/2006/main">
              <a:ext uri="{FF2B5EF4-FFF2-40B4-BE49-F238E27FC236}">
                <a16:creationId xmlns:a16="http://schemas.microsoft.com/office/drawing/2014/main" id="{B6AA5A0E-F9FC-494B-B565-2954EE404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0600" y="3181350"/>
            <a:ext cx="1028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0">
                <a:solidFill>
                  <a:srgbClr val="D8E6EE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0">
                <a:solidFill>
                  <a:srgbClr val="334155"/>
                </a:solidFill>
                <a:latin typeface="Noto Sans TC"/>
                <a:ea typeface="Noto Sans TC"/>
                <a:cs typeface="Noto Sans TC"/>
              </a:rPr>
              <a:t>Valid</a:t>
            </a:r>
          </a:p>
        </p:txBody>
      </p:sp>
      <p:sp>
        <p:nvSpPr>
          <p:cNvPr id="42" name="橢圓 41">
            <a:extLst xmlns:a="http://schemas.openxmlformats.org/drawingml/2006/main">
              <a:ext uri="{FF2B5EF4-FFF2-40B4-BE49-F238E27FC236}">
                <a16:creationId xmlns:a16="http://schemas.microsoft.com/office/drawing/2014/main" id="{E6B71DF8-5739-4DBB-B312-DBE75E0A1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6933" y="37147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F2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矩形 42">
            <a:extLst xmlns:a="http://schemas.openxmlformats.org/drawingml/2006/main">
              <a:ext uri="{FF2B5EF4-FFF2-40B4-BE49-F238E27FC236}">
                <a16:creationId xmlns:a16="http://schemas.microsoft.com/office/drawing/2014/main" id="{ECFA6088-01A7-412E-8621-21CF39850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6908" y="411480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38D6C5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0F766E"/>
                </a:solidFill>
                <a:latin typeface="Noto Sans TC"/>
                <a:ea typeface="Noto Sans TC"/>
                <a:cs typeface="Noto Sans TC"/>
              </a:rPr>
              <a:t>M8</a:t>
            </a:r>
          </a:p>
        </p:txBody>
      </p:sp>
      <p:sp>
        <p:nvSpPr>
          <p:cNvPr id="44" name="矩形 43">
            <a:extLst xmlns:a="http://schemas.openxmlformats.org/drawingml/2006/main">
              <a:ext uri="{FF2B5EF4-FFF2-40B4-BE49-F238E27FC236}">
                <a16:creationId xmlns:a16="http://schemas.microsoft.com/office/drawing/2014/main" id="{691DB43A-A53F-4DBB-BA56-02B594A26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5933" y="4362450"/>
            <a:ext cx="1028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0">
                <a:solidFill>
                  <a:srgbClr val="D8E6EE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0">
                <a:solidFill>
                  <a:srgbClr val="334155"/>
                </a:solidFill>
                <a:latin typeface="Noto Sans TC"/>
                <a:ea typeface="Noto Sans TC"/>
                <a:cs typeface="Noto Sans TC"/>
              </a:rPr>
              <a:t>Capture</a:t>
            </a:r>
          </a:p>
        </p:txBody>
      </p:sp>
      <p:sp>
        <p:nvSpPr>
          <p:cNvPr id="45" name="橢圓 44">
            <a:extLst xmlns:a="http://schemas.openxmlformats.org/drawingml/2006/main">
              <a:ext uri="{FF2B5EF4-FFF2-40B4-BE49-F238E27FC236}">
                <a16:creationId xmlns:a16="http://schemas.microsoft.com/office/drawing/2014/main" id="{CA94417A-42C2-4C65-93EC-F13D22813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2267" y="37147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EC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矩形 45">
            <a:extLst xmlns:a="http://schemas.openxmlformats.org/drawingml/2006/main">
              <a:ext uri="{FF2B5EF4-FFF2-40B4-BE49-F238E27FC236}">
                <a16:creationId xmlns:a16="http://schemas.microsoft.com/office/drawing/2014/main" id="{8D2DA5E3-34CA-400B-B417-8B3C9B1FC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2242" y="293370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3AA7FF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1F5A85"/>
                </a:solidFill>
                <a:latin typeface="Noto Sans TC"/>
                <a:ea typeface="Noto Sans TC"/>
                <a:cs typeface="Noto Sans TC"/>
              </a:rPr>
              <a:t>M9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C093313C-69D8-4002-8C50-1C4B84AAD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1267" y="3181350"/>
            <a:ext cx="1028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0">
                <a:solidFill>
                  <a:srgbClr val="D8E6EE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0">
                <a:solidFill>
                  <a:srgbClr val="334155"/>
                </a:solidFill>
                <a:latin typeface="Noto Sans TC"/>
                <a:ea typeface="Noto Sans TC"/>
                <a:cs typeface="Noto Sans TC"/>
              </a:rPr>
              <a:t>Compare</a:t>
            </a:r>
          </a:p>
        </p:txBody>
      </p:sp>
      <p:sp>
        <p:nvSpPr>
          <p:cNvPr id="48" name="橢圓 47">
            <a:extLst xmlns:a="http://schemas.openxmlformats.org/drawingml/2006/main">
              <a:ext uri="{FF2B5EF4-FFF2-40B4-BE49-F238E27FC236}">
                <a16:creationId xmlns:a16="http://schemas.microsoft.com/office/drawing/2014/main" id="{0334BB96-02E1-41BD-A021-F4C6DFBC9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37147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F2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矩形 48">
            <a:extLst xmlns:a="http://schemas.openxmlformats.org/drawingml/2006/main">
              <a:ext uri="{FF2B5EF4-FFF2-40B4-BE49-F238E27FC236}">
                <a16:creationId xmlns:a16="http://schemas.microsoft.com/office/drawing/2014/main" id="{C34DAAE6-51B8-4F7C-9953-8B9A7F814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411480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44D17B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15803D"/>
                </a:solidFill>
                <a:latin typeface="Noto Sans TC"/>
                <a:ea typeface="Noto Sans TC"/>
                <a:cs typeface="Noto Sans TC"/>
              </a:rPr>
              <a:t>M10</a:t>
            </a:r>
          </a:p>
        </p:txBody>
      </p:sp>
      <p:sp>
        <p:nvSpPr>
          <p:cNvPr id="50" name="矩形 49">
            <a:extLst xmlns:a="http://schemas.openxmlformats.org/drawingml/2006/main">
              <a:ext uri="{FF2B5EF4-FFF2-40B4-BE49-F238E27FC236}">
                <a16:creationId xmlns:a16="http://schemas.microsoft.com/office/drawing/2014/main" id="{9EF69779-3D69-4455-9555-CC5BE4B14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4362450"/>
            <a:ext cx="1028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0">
                <a:solidFill>
                  <a:srgbClr val="D8E6EE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0">
                <a:solidFill>
                  <a:srgbClr val="334155"/>
                </a:solidFill>
                <a:latin typeface="Noto Sans TC"/>
                <a:ea typeface="Noto Sans TC"/>
                <a:cs typeface="Noto Sans TC"/>
              </a:rPr>
              <a:t>Pass</a:t>
            </a:r>
          </a:p>
        </p:txBody>
      </p:sp>
      <p:sp>
        <p:nvSpPr>
          <p:cNvPr id="51" name="矩形: 圓角 50">
            <a:extLst xmlns:a="http://schemas.openxmlformats.org/drawingml/2006/main">
              <a:ext uri="{FF2B5EF4-FFF2-40B4-BE49-F238E27FC236}">
                <a16:creationId xmlns:a16="http://schemas.microsoft.com/office/drawing/2014/main" id="{FC721D93-090C-4D97-AEFA-069B2A62D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295900"/>
            <a:ext cx="98298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E8EFF4"/>
          </a:solidFill>
          <a:ln xmlns:a="http://schemas.openxmlformats.org/drawingml/2006/main" w="9525">
            <a:solidFill>
              <a:srgbClr val="B8C7D1"/>
            </a:solidFill>
            <a:prstDash val="solid"/>
          </a:ln>
        </p:spPr>
      </p:sp>
      <p:sp>
        <p:nvSpPr>
          <p:cNvPr id="52" name="矩形 51">
            <a:extLst xmlns:a="http://schemas.openxmlformats.org/drawingml/2006/main">
              <a:ext uri="{FF2B5EF4-FFF2-40B4-BE49-F238E27FC236}">
                <a16:creationId xmlns:a16="http://schemas.microsoft.com/office/drawing/2014/main" id="{B4FF0226-E390-4179-865A-701FD8E06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438775"/>
            <a:ext cx="9258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3F8FB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0B1F33"/>
                </a:solidFill>
                <a:latin typeface="Noto Sans TC"/>
                <a:ea typeface="Noto Sans TC"/>
                <a:cs typeface="Noto Sans TC"/>
              </a:rPr>
              <a:t>Markers localize failures to 1838 access, 1687 selection, or instrument response.</a:t>
            </a:r>
          </a:p>
        </p:txBody>
      </p:sp>
    </p:spTree>
    <p:extLst>
      <p:ext uri="{BB962C8B-B14F-4D97-AF65-F5344CB8AC3E}">
        <p14:creationId xmlns:p14="http://schemas.microsoft.com/office/powerpoint/2010/main" val="69095270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矩形 54">
            <a:extLst xmlns:a="http://schemas.openxmlformats.org/drawingml/2006/main">
              <a:ext uri="{FF2B5EF4-FFF2-40B4-BE49-F238E27FC236}">
                <a16:creationId xmlns:a16="http://schemas.microsoft.com/office/drawing/2014/main" id="{5F25B329-89D0-49A6-A5B6-7247827EE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38D6C5"/>
                </a:solidFill>
                <a:latin typeface="Noto Sans TC"/>
                <a:ea typeface="Noto Sans TC"/>
                <a:cs typeface="Noto Sans TC"/>
              </a:defRPr>
            </a:pPr>
            <a:r>
              <a:rPr sz="1050" b="1">
                <a:solidFill>
                  <a:srgbClr val="0F766E"/>
                </a:solidFill>
                <a:latin typeface="Noto Sans TC"/>
                <a:ea typeface="Noto Sans TC"/>
                <a:cs typeface="Noto Sans TC"/>
              </a:rPr>
              <a:t>STAGE DETAIL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99F54853-E2D2-4C50-80A9-310896CA0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F3F8FB"/>
                </a:solidFill>
                <a:latin typeface="Noto Sans TC"/>
                <a:ea typeface="Noto Sans TC"/>
                <a:cs typeface="Noto Sans TC"/>
              </a:defRPr>
            </a:pPr>
            <a:r>
              <a:rPr sz="2850" b="1">
                <a:solidFill>
                  <a:srgbClr val="0B1F33"/>
                </a:solidFill>
                <a:latin typeface="Noto Sans TC"/>
                <a:ea typeface="Noto Sans TC"/>
                <a:cs typeface="Noto Sans TC"/>
              </a:rPr>
              <a:t>Step 5 Preserves the Test Network Through Synthesis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CACA54AF-FF5E-4863-ADB6-923765D4D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CFAF8C7D-10D0-47B7-8B01-E725ED471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09700"/>
            <a:ext cx="99441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D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橢圓 4">
            <a:extLst xmlns:a="http://schemas.openxmlformats.org/drawingml/2006/main">
              <a:ext uri="{FF2B5EF4-FFF2-40B4-BE49-F238E27FC236}">
                <a16:creationId xmlns:a16="http://schemas.microsoft.com/office/drawing/2014/main" id="{FC3EC1DD-2AC6-44B3-9587-FD859A47E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EC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E3C32B81-A8E6-47C2-825D-CF0DA7396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352550"/>
            <a:ext cx="1352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6F8B9D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0">
                <a:solidFill>
                  <a:srgbClr val="64748B"/>
                </a:solidFill>
                <a:latin typeface="Noto Sans TC"/>
                <a:ea typeface="Noto Sans TC"/>
                <a:cs typeface="Noto Sans TC"/>
              </a:rPr>
              <a:t>1  ENV</a:t>
            </a:r>
          </a:p>
        </p:txBody>
      </p:sp>
      <p:sp>
        <p:nvSpPr>
          <p:cNvPr id="7" name="橢圓 6">
            <a:extLst xmlns:a="http://schemas.openxmlformats.org/drawingml/2006/main">
              <a:ext uri="{FF2B5EF4-FFF2-40B4-BE49-F238E27FC236}">
                <a16:creationId xmlns:a16="http://schemas.microsoft.com/office/drawing/2014/main" id="{4823822F-8FBE-4B28-BCB2-4A2BA62D1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13620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EC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1980E0C9-7A86-4B6B-946D-DB8B67A83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1352550"/>
            <a:ext cx="1352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6F8B9D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0">
                <a:solidFill>
                  <a:srgbClr val="64748B"/>
                </a:solidFill>
                <a:latin typeface="Noto Sans TC"/>
                <a:ea typeface="Noto Sans TC"/>
                <a:cs typeface="Noto Sans TC"/>
              </a:rPr>
              <a:t>2  INSERT</a:t>
            </a:r>
          </a:p>
        </p:txBody>
      </p:sp>
      <p:sp>
        <p:nvSpPr>
          <p:cNvPr id="9" name="橢圓 8">
            <a:extLst xmlns:a="http://schemas.openxmlformats.org/drawingml/2006/main">
              <a:ext uri="{FF2B5EF4-FFF2-40B4-BE49-F238E27FC236}">
                <a16:creationId xmlns:a16="http://schemas.microsoft.com/office/drawing/2014/main" id="{99B742F4-A576-4982-92A5-B46A4776A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3620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F2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93E3A78C-F6E7-4ACD-A040-8F2D4F046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352550"/>
            <a:ext cx="1352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6F8B9D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0">
                <a:solidFill>
                  <a:srgbClr val="64748B"/>
                </a:solidFill>
                <a:latin typeface="Noto Sans TC"/>
                <a:ea typeface="Noto Sans TC"/>
                <a:cs typeface="Noto Sans TC"/>
              </a:rPr>
              <a:t>3  RETARGET</a:t>
            </a:r>
          </a:p>
        </p:txBody>
      </p:sp>
      <p:sp>
        <p:nvSpPr>
          <p:cNvPr id="11" name="橢圓 10">
            <a:extLst xmlns:a="http://schemas.openxmlformats.org/drawingml/2006/main">
              <a:ext uri="{FF2B5EF4-FFF2-40B4-BE49-F238E27FC236}">
                <a16:creationId xmlns:a16="http://schemas.microsoft.com/office/drawing/2014/main" id="{42816DB8-7D19-45E5-8BC2-CB5F5C2B3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13620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F4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A6829C4E-78A6-490B-9876-D37E660FD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352550"/>
            <a:ext cx="1352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6F8B9D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0">
                <a:solidFill>
                  <a:srgbClr val="64748B"/>
                </a:solidFill>
                <a:latin typeface="Noto Sans TC"/>
                <a:ea typeface="Noto Sans TC"/>
                <a:cs typeface="Noto Sans TC"/>
              </a:rPr>
              <a:t>4  RTL VERIFY</a:t>
            </a:r>
          </a:p>
        </p:txBody>
      </p:sp>
      <p:sp>
        <p:nvSpPr>
          <p:cNvPr id="13" name="橢圓 12">
            <a:extLst xmlns:a="http://schemas.openxmlformats.org/drawingml/2006/main">
              <a:ext uri="{FF2B5EF4-FFF2-40B4-BE49-F238E27FC236}">
                <a16:creationId xmlns:a16="http://schemas.microsoft.com/office/drawing/2014/main" id="{C9CFE661-0690-4BE4-87E8-1B5161C9F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13620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EC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F6B1D232-7DA8-49E6-9002-BAA3A27CF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352550"/>
            <a:ext cx="1352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F3F8FB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0B1F33"/>
                </a:solidFill>
                <a:latin typeface="Noto Sans TC"/>
                <a:ea typeface="Noto Sans TC"/>
                <a:cs typeface="Noto Sans TC"/>
              </a:rPr>
              <a:t>5  SYNTHESIS</a:t>
            </a:r>
          </a:p>
        </p:txBody>
      </p:sp>
      <p:sp>
        <p:nvSpPr>
          <p:cNvPr id="15" name="橢圓 14">
            <a:extLst xmlns:a="http://schemas.openxmlformats.org/drawingml/2006/main">
              <a:ext uri="{FF2B5EF4-FFF2-40B4-BE49-F238E27FC236}">
                <a16:creationId xmlns:a16="http://schemas.microsoft.com/office/drawing/2014/main" id="{48DDE1D4-70D2-4650-8B39-5EEDF1D7F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13620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3DD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96DCB49A-34FF-4229-B2C6-FF6E1BAFC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352550"/>
            <a:ext cx="1352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6F8B9D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0">
                <a:solidFill>
                  <a:srgbClr val="64748B"/>
                </a:solidFill>
                <a:latin typeface="Noto Sans TC"/>
                <a:ea typeface="Noto Sans TC"/>
                <a:cs typeface="Noto Sans TC"/>
              </a:rPr>
              <a:t>6  GATE VERIFY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9BE6C79D-1C60-462C-9C61-D03DC28F3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D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DD8E502F-2D59-4C6F-BE19-E265D8929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81775"/>
            <a:ext cx="904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6F8B9D"/>
                </a:solidFill>
                <a:latin typeface="Noto Sans TC"/>
                <a:ea typeface="Noto Sans TC"/>
                <a:cs typeface="Noto Sans TC"/>
              </a:defRPr>
            </a:pPr>
            <a:r>
              <a:rPr sz="825" b="0">
                <a:solidFill>
                  <a:srgbClr val="64748B"/>
                </a:solidFill>
                <a:latin typeface="Noto Sans TC"/>
                <a:ea typeface="Noto Sans TC"/>
                <a:cs typeface="Noto Sans TC"/>
              </a:rPr>
              <a:t>Validated: IEEE 1687 · IEEE 1687 + 1838 · stack_top   |   DWR = bonus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3211482E-2231-4860-91AE-EB7FDD38D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6F8B9D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64748B"/>
                </a:solidFill>
                <a:latin typeface="Noto Sans TC"/>
                <a:ea typeface="Noto Sans TC"/>
                <a:cs typeface="Noto Sans TC"/>
              </a:rPr>
              <a:t>12</a:t>
            </a:r>
          </a:p>
        </p:txBody>
      </p:sp>
      <p:sp>
        <p:nvSpPr>
          <p:cNvPr id="20" name="矩形: 圓角 19">
            <a:extLst xmlns:a="http://schemas.openxmlformats.org/drawingml/2006/main">
              <a:ext uri="{FF2B5EF4-FFF2-40B4-BE49-F238E27FC236}">
                <a16:creationId xmlns:a16="http://schemas.microsoft.com/office/drawing/2014/main" id="{AA7A4CFE-DAF3-47DA-95AE-5445E1B29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13716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1EC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4217FD64-161A-495F-A378-D1BFE9A73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62125"/>
            <a:ext cx="68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071521"/>
                </a:solidFill>
                <a:latin typeface="Noto Sans TC"/>
                <a:ea typeface="Noto Sans TC"/>
                <a:cs typeface="Noto Sans TC"/>
              </a:defRPr>
            </a:pPr>
            <a:r>
              <a:rPr sz="1050" b="1">
                <a:solidFill>
                  <a:srgbClr val="0B1F33"/>
                </a:solidFill>
                <a:latin typeface="Noto Sans TC"/>
                <a:ea typeface="Noto Sans TC"/>
                <a:cs typeface="Noto Sans TC"/>
              </a:rPr>
              <a:t>STAGE 5</a:t>
            </a: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2501AAEC-D0F8-43E0-A897-3B6F7A545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1743075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F5B94C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1F5A85"/>
                </a:solidFill>
                <a:latin typeface="Noto Sans TC"/>
                <a:ea typeface="Noto Sans TC"/>
                <a:cs typeface="Noto Sans TC"/>
              </a:rPr>
              <a:t>Synthesis</a:t>
            </a:r>
          </a:p>
        </p:txBody>
      </p:sp>
      <p:sp>
        <p:nvSpPr>
          <p:cNvPr id="23" name="箭號: 向右 22">
            <a:extLst xmlns:a="http://schemas.openxmlformats.org/drawingml/2006/main">
              <a:ext uri="{FF2B5EF4-FFF2-40B4-BE49-F238E27FC236}">
                <a16:creationId xmlns:a16="http://schemas.microsoft.com/office/drawing/2014/main" id="{9BED345A-38A7-482D-A3E2-6D0841889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943225"/>
            <a:ext cx="333375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3DD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箭號: 向右 23">
            <a:extLst xmlns:a="http://schemas.openxmlformats.org/drawingml/2006/main">
              <a:ext uri="{FF2B5EF4-FFF2-40B4-BE49-F238E27FC236}">
                <a16:creationId xmlns:a16="http://schemas.microsoft.com/office/drawing/2014/main" id="{8EF9DBAC-E286-4A08-8314-72C53B482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2943225"/>
            <a:ext cx="333375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3DD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箭號: 向右 24">
            <a:extLst xmlns:a="http://schemas.openxmlformats.org/drawingml/2006/main">
              <a:ext uri="{FF2B5EF4-FFF2-40B4-BE49-F238E27FC236}">
                <a16:creationId xmlns:a16="http://schemas.microsoft.com/office/drawing/2014/main" id="{D67BF3DE-089C-4D5E-A8C2-D1FFB7416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943225"/>
            <a:ext cx="333375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3DD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箭號: 向右 25">
            <a:extLst xmlns:a="http://schemas.openxmlformats.org/drawingml/2006/main">
              <a:ext uri="{FF2B5EF4-FFF2-40B4-BE49-F238E27FC236}">
                <a16:creationId xmlns:a16="http://schemas.microsoft.com/office/drawing/2014/main" id="{BD920AF8-F813-4D33-BEF6-ED6355B09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2943225"/>
            <a:ext cx="333375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3DD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矩形: 圓角 26">
            <a:extLst xmlns:a="http://schemas.openxmlformats.org/drawingml/2006/main">
              <a:ext uri="{FF2B5EF4-FFF2-40B4-BE49-F238E27FC236}">
                <a16:creationId xmlns:a16="http://schemas.microsoft.com/office/drawing/2014/main" id="{32CB81E0-9B61-4F7A-A3B7-F56001E05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71750"/>
            <a:ext cx="18097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4F7F9"/>
          </a:solidFill>
          <a:ln xmlns:a="http://schemas.openxmlformats.org/drawingml/2006/main" w="9525">
            <a:solidFill>
              <a:srgbClr val="1F5A85"/>
            </a:solidFill>
            <a:prstDash val="solid"/>
          </a:ln>
        </p:spPr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D1C34FF0-49BD-4380-AFEE-1DBD66F76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62250"/>
            <a:ext cx="1543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>
                <a:solidFill>
                  <a:srgbClr val="F3F8FB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0B1F33"/>
                </a:solidFill>
                <a:latin typeface="Noto Sans TC"/>
                <a:ea typeface="Noto Sans TC"/>
                <a:cs typeface="Noto Sans TC"/>
              </a:rPr>
              <a:t>Tessent RTL</a:t>
            </a:r>
          </a:p>
        </p:txBody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EE3D15B0-CB04-4E41-80BA-CBCDA502A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00400"/>
            <a:ext cx="1543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0">
                <a:solidFill>
                  <a:srgbClr val="A7BDCA"/>
                </a:solidFill>
                <a:latin typeface="Noto Sans TC"/>
                <a:ea typeface="Noto Sans TC"/>
                <a:cs typeface="Noto Sans TC"/>
              </a:defRPr>
            </a:pPr>
            <a:r>
              <a:rPr sz="1050" b="0">
                <a:solidFill>
                  <a:srgbClr val="526678"/>
                </a:solidFill>
                <a:latin typeface="Noto Sans TC"/>
                <a:ea typeface="Noto Sans TC"/>
                <a:cs typeface="Noto Sans TC"/>
              </a:rPr>
              <a:t>test logic</a:t>
            </a:r>
          </a:p>
        </p:txBody>
      </p:sp>
      <p:sp>
        <p:nvSpPr>
          <p:cNvPr id="30" name="矩形: 圓角 29">
            <a:extLst xmlns:a="http://schemas.openxmlformats.org/drawingml/2006/main">
              <a:ext uri="{FF2B5EF4-FFF2-40B4-BE49-F238E27FC236}">
                <a16:creationId xmlns:a16="http://schemas.microsoft.com/office/drawing/2014/main" id="{CE44A68F-85B1-4561-B699-3056DDB1E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2571750"/>
            <a:ext cx="18097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4F7F9"/>
          </a:solidFill>
          <a:ln xmlns:a="http://schemas.openxmlformats.org/drawingml/2006/main" w="9525">
            <a:solidFill>
              <a:srgbClr val="1F5A85"/>
            </a:solidFill>
            <a:prstDash val="solid"/>
          </a:ln>
        </p:spPr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83513E47-17B4-4935-82E0-77F31CA61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2762250"/>
            <a:ext cx="1543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50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>
                <a:solidFill>
                  <a:srgbClr val="F3F8FB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0B1F33"/>
                </a:solidFill>
                <a:latin typeface="Noto Sans TC"/>
                <a:ea typeface="Noto Sans TC"/>
                <a:cs typeface="Noto Sans TC"/>
              </a:rPr>
              <a:t>Compile test block</a:t>
            </a:r>
          </a:p>
        </p:txBody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67752F95-490C-46E1-9D73-B3137BF9B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3200400"/>
            <a:ext cx="1543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0">
                <a:solidFill>
                  <a:srgbClr val="A7BDCA"/>
                </a:solidFill>
                <a:latin typeface="Noto Sans TC"/>
                <a:ea typeface="Noto Sans TC"/>
                <a:cs typeface="Noto Sans TC"/>
              </a:defRPr>
            </a:pPr>
            <a:r>
              <a:rPr sz="1050" b="0">
                <a:solidFill>
                  <a:srgbClr val="526678"/>
                </a:solidFill>
                <a:latin typeface="Noto Sans TC"/>
                <a:ea typeface="Noto Sans TC"/>
                <a:cs typeface="Noto Sans TC"/>
              </a:rPr>
              <a:t>separate block</a:t>
            </a:r>
          </a:p>
        </p:txBody>
      </p:sp>
      <p:sp>
        <p:nvSpPr>
          <p:cNvPr id="33" name="矩形: 圓角 32">
            <a:extLst xmlns:a="http://schemas.openxmlformats.org/drawingml/2006/main">
              <a:ext uri="{FF2B5EF4-FFF2-40B4-BE49-F238E27FC236}">
                <a16:creationId xmlns:a16="http://schemas.microsoft.com/office/drawing/2014/main" id="{3B3DA401-34C9-43FA-94CC-14C76A82A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571750"/>
            <a:ext cx="18097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4F7F9"/>
          </a:solidFill>
          <a:ln xmlns:a="http://schemas.openxmlformats.org/drawingml/2006/main" w="19050">
            <a:solidFill>
              <a:srgbClr val="1F5A85"/>
            </a:solidFill>
            <a:prstDash val="solid"/>
          </a:ln>
        </p:spPr>
      </p:sp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263716B0-29FF-4795-A692-99CEDB2C0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762250"/>
            <a:ext cx="1543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986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>
                <a:solidFill>
                  <a:srgbClr val="F5B94C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1F5A85"/>
                </a:solidFill>
                <a:latin typeface="Noto Sans TC"/>
                <a:ea typeface="Noto Sans TC"/>
                <a:cs typeface="Noto Sans TC"/>
              </a:rPr>
              <a:t>dont_touch + SDC</a:t>
            </a:r>
          </a:p>
        </p:txBody>
      </p:sp>
      <p:sp>
        <p:nvSpPr>
          <p:cNvPr id="35" name="矩形 34">
            <a:extLst xmlns:a="http://schemas.openxmlformats.org/drawingml/2006/main">
              <a:ext uri="{FF2B5EF4-FFF2-40B4-BE49-F238E27FC236}">
                <a16:creationId xmlns:a16="http://schemas.microsoft.com/office/drawing/2014/main" id="{DE089457-2E31-49CB-9BB3-690714581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200400"/>
            <a:ext cx="1543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0">
                <a:solidFill>
                  <a:srgbClr val="A7BDCA"/>
                </a:solidFill>
                <a:latin typeface="Noto Sans TC"/>
                <a:ea typeface="Noto Sans TC"/>
                <a:cs typeface="Noto Sans TC"/>
              </a:defRPr>
            </a:pPr>
            <a:r>
              <a:rPr sz="1050" b="0">
                <a:solidFill>
                  <a:srgbClr val="526678"/>
                </a:solidFill>
                <a:latin typeface="Noto Sans TC"/>
                <a:ea typeface="Noto Sans TC"/>
                <a:cs typeface="Noto Sans TC"/>
              </a:rPr>
              <a:t>preserve + constrain</a:t>
            </a:r>
          </a:p>
        </p:txBody>
      </p:sp>
      <p:sp>
        <p:nvSpPr>
          <p:cNvPr id="36" name="矩形: 圓角 35">
            <a:extLst xmlns:a="http://schemas.openxmlformats.org/drawingml/2006/main">
              <a:ext uri="{FF2B5EF4-FFF2-40B4-BE49-F238E27FC236}">
                <a16:creationId xmlns:a16="http://schemas.microsoft.com/office/drawing/2014/main" id="{2156F9AD-E2D0-4E86-8DF4-DCAD464B7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2571750"/>
            <a:ext cx="18097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4F7F9"/>
          </a:solidFill>
          <a:ln xmlns:a="http://schemas.openxmlformats.org/drawingml/2006/main" w="9525">
            <a:solidFill>
              <a:srgbClr val="1F5A85"/>
            </a:solidFill>
            <a:prstDash val="solid"/>
          </a:ln>
        </p:spPr>
      </p:sp>
      <p:sp>
        <p:nvSpPr>
          <p:cNvPr id="37" name="矩形 36">
            <a:extLst xmlns:a="http://schemas.openxmlformats.org/drawingml/2006/main">
              <a:ext uri="{FF2B5EF4-FFF2-40B4-BE49-F238E27FC236}">
                <a16:creationId xmlns:a16="http://schemas.microsoft.com/office/drawing/2014/main" id="{C2FC6272-2AD5-4C7A-99B5-EB1BD4B04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2762250"/>
            <a:ext cx="1543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>
                <a:solidFill>
                  <a:srgbClr val="F3F8FB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0B1F33"/>
                </a:solidFill>
                <a:latin typeface="Noto Sans TC"/>
                <a:ea typeface="Noto Sans TC"/>
                <a:cs typeface="Noto Sans TC"/>
              </a:rPr>
              <a:t>Top synthesis</a:t>
            </a:r>
          </a:p>
        </p:txBody>
      </p:sp>
      <p:sp>
        <p:nvSpPr>
          <p:cNvPr id="38" name="矩形 37">
            <a:extLst xmlns:a="http://schemas.openxmlformats.org/drawingml/2006/main">
              <a:ext uri="{FF2B5EF4-FFF2-40B4-BE49-F238E27FC236}">
                <a16:creationId xmlns:a16="http://schemas.microsoft.com/office/drawing/2014/main" id="{76DD39CC-0482-4A4E-B5A8-28A1CF72F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3200400"/>
            <a:ext cx="1543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0">
                <a:solidFill>
                  <a:srgbClr val="A7BDCA"/>
                </a:solidFill>
                <a:latin typeface="Noto Sans TC"/>
                <a:ea typeface="Noto Sans TC"/>
                <a:cs typeface="Noto Sans TC"/>
              </a:defRPr>
            </a:pPr>
            <a:r>
              <a:rPr sz="1050" b="0">
                <a:solidFill>
                  <a:srgbClr val="526678"/>
                </a:solidFill>
                <a:latin typeface="Noto Sans TC"/>
                <a:ea typeface="Noto Sans TC"/>
                <a:cs typeface="Noto Sans TC"/>
              </a:rPr>
              <a:t>full design</a:t>
            </a:r>
          </a:p>
        </p:txBody>
      </p:sp>
      <p:sp>
        <p:nvSpPr>
          <p:cNvPr id="39" name="矩形: 圓角 38">
            <a:extLst xmlns:a="http://schemas.openxmlformats.org/drawingml/2006/main">
              <a:ext uri="{FF2B5EF4-FFF2-40B4-BE49-F238E27FC236}">
                <a16:creationId xmlns:a16="http://schemas.microsoft.com/office/drawing/2014/main" id="{2CBEC557-A010-432A-A011-C81E8B877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571750"/>
            <a:ext cx="18097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4F7F9"/>
          </a:solidFill>
          <a:ln xmlns:a="http://schemas.openxmlformats.org/drawingml/2006/main" w="9525">
            <a:solidFill>
              <a:srgbClr val="1F5A85"/>
            </a:solidFill>
            <a:prstDash val="solid"/>
          </a:ln>
        </p:spPr>
      </p:sp>
      <p:sp>
        <p:nvSpPr>
          <p:cNvPr id="40" name="矩形 39">
            <a:extLst xmlns:a="http://schemas.openxmlformats.org/drawingml/2006/main">
              <a:ext uri="{FF2B5EF4-FFF2-40B4-BE49-F238E27FC236}">
                <a16:creationId xmlns:a16="http://schemas.microsoft.com/office/drawing/2014/main" id="{54F53CF3-584B-41E3-BC84-55815EDCF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762250"/>
            <a:ext cx="1543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>
                <a:solidFill>
                  <a:srgbClr val="F3F8FB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0B1F33"/>
                </a:solidFill>
                <a:latin typeface="Noto Sans TC"/>
                <a:ea typeface="Noto Sans TC"/>
                <a:cs typeface="Noto Sans TC"/>
              </a:rPr>
              <a:t>Gate netlist</a:t>
            </a:r>
          </a:p>
        </p:txBody>
      </p:sp>
      <p:sp>
        <p:nvSpPr>
          <p:cNvPr id="41" name="矩形 40">
            <a:extLst xmlns:a="http://schemas.openxmlformats.org/drawingml/2006/main">
              <a:ext uri="{FF2B5EF4-FFF2-40B4-BE49-F238E27FC236}">
                <a16:creationId xmlns:a16="http://schemas.microsoft.com/office/drawing/2014/main" id="{39E9BF35-C64E-4789-8FC5-F6DB5E1E3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3200400"/>
            <a:ext cx="1543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0">
                <a:solidFill>
                  <a:srgbClr val="A7BDCA"/>
                </a:solidFill>
                <a:latin typeface="Noto Sans TC"/>
                <a:ea typeface="Noto Sans TC"/>
                <a:cs typeface="Noto Sans TC"/>
              </a:defRPr>
            </a:pPr>
            <a:r>
              <a:rPr sz="1050" b="0">
                <a:solidFill>
                  <a:srgbClr val="526678"/>
                </a:solidFill>
                <a:latin typeface="Noto Sans TC"/>
                <a:ea typeface="Noto Sans TC"/>
                <a:cs typeface="Noto Sans TC"/>
              </a:rPr>
              <a:t>GLS ready</a:t>
            </a:r>
          </a:p>
        </p:txBody>
      </p:sp>
      <p:sp>
        <p:nvSpPr>
          <p:cNvPr id="42" name="矩形: 圓角 41">
            <a:extLst xmlns:a="http://schemas.openxmlformats.org/drawingml/2006/main">
              <a:ext uri="{FF2B5EF4-FFF2-40B4-BE49-F238E27FC236}">
                <a16:creationId xmlns:a16="http://schemas.microsoft.com/office/drawing/2014/main" id="{E5A6043F-E516-42B2-9A09-10444E0C1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14859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E8EFF4"/>
          </a:solidFill>
          <a:ln xmlns:a="http://schemas.openxmlformats.org/drawingml/2006/main" w="9525">
            <a:solidFill>
              <a:srgbClr val="B8C7D1"/>
            </a:solidFill>
            <a:prstDash val="solid"/>
          </a:ln>
        </p:spPr>
      </p:sp>
      <p:sp>
        <p:nvSpPr>
          <p:cNvPr id="43" name="矩形 42">
            <a:extLst xmlns:a="http://schemas.openxmlformats.org/drawingml/2006/main">
              <a:ext uri="{FF2B5EF4-FFF2-40B4-BE49-F238E27FC236}">
                <a16:creationId xmlns:a16="http://schemas.microsoft.com/office/drawing/2014/main" id="{109C2982-BD24-497B-B7D2-F96D805C7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767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20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F5B94C"/>
                </a:solidFill>
                <a:latin typeface="Noto Sans TC"/>
                <a:ea typeface="Noto Sans TC"/>
                <a:cs typeface="Noto Sans TC"/>
              </a:defRPr>
            </a:pPr>
            <a:r>
              <a:rPr sz="1650" b="1">
                <a:solidFill>
                  <a:srgbClr val="1F5A85"/>
                </a:solidFill>
                <a:latin typeface="Noto Sans TC"/>
                <a:ea typeface="Noto Sans TC"/>
                <a:cs typeface="Noto Sans TC"/>
              </a:rPr>
              <a:t>Checkpoint</a:t>
            </a:r>
          </a:p>
        </p:txBody>
      </p:sp>
      <p:sp>
        <p:nvSpPr>
          <p:cNvPr id="44" name="橢圓 43">
            <a:extLst xmlns:a="http://schemas.openxmlformats.org/drawingml/2006/main">
              <a:ext uri="{FF2B5EF4-FFF2-40B4-BE49-F238E27FC236}">
                <a16:creationId xmlns:a16="http://schemas.microsoft.com/office/drawing/2014/main" id="{4807C1DF-A987-45AF-A161-3D80D0967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339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F2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矩形 44">
            <a:extLst xmlns:a="http://schemas.openxmlformats.org/drawingml/2006/main">
              <a:ext uri="{FF2B5EF4-FFF2-40B4-BE49-F238E27FC236}">
                <a16:creationId xmlns:a16="http://schemas.microsoft.com/office/drawing/2014/main" id="{FE21BFBB-FB8A-46BB-95DF-AFAB64928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1490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071521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0B1F33"/>
                </a:solidFill>
                <a:latin typeface="Noto Sans TC"/>
                <a:ea typeface="Noto Sans TC"/>
                <a:cs typeface="Noto Sans TC"/>
              </a:rPr>
              <a:t>✓</a:t>
            </a:r>
          </a:p>
        </p:txBody>
      </p:sp>
      <p:sp>
        <p:nvSpPr>
          <p:cNvPr id="46" name="矩形 45">
            <a:extLst xmlns:a="http://schemas.openxmlformats.org/drawingml/2006/main">
              <a:ext uri="{FF2B5EF4-FFF2-40B4-BE49-F238E27FC236}">
                <a16:creationId xmlns:a16="http://schemas.microsoft.com/office/drawing/2014/main" id="{9EF8C5F2-4F41-4D3D-8151-72641B02E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914900"/>
            <a:ext cx="45339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D8E6EE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334155"/>
                </a:solidFill>
                <a:latin typeface="Noto Sans TC"/>
                <a:ea typeface="Noto Sans TC"/>
                <a:cs typeface="Noto Sans TC"/>
              </a:rPr>
              <a:t>Test network survives optimization</a:t>
            </a:r>
          </a:p>
        </p:txBody>
      </p:sp>
      <p:sp>
        <p:nvSpPr>
          <p:cNvPr id="47" name="橢圓 46">
            <a:extLst xmlns:a="http://schemas.openxmlformats.org/drawingml/2006/main">
              <a:ext uri="{FF2B5EF4-FFF2-40B4-BE49-F238E27FC236}">
                <a16:creationId xmlns:a16="http://schemas.microsoft.com/office/drawing/2014/main" id="{7BD0E90E-34AF-414B-906C-5D72C9D68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911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F2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矩形 47">
            <a:extLst xmlns:a="http://schemas.openxmlformats.org/drawingml/2006/main">
              <a:ext uri="{FF2B5EF4-FFF2-40B4-BE49-F238E27FC236}">
                <a16:creationId xmlns:a16="http://schemas.microsoft.com/office/drawing/2014/main" id="{FCCD1D40-E866-44C6-85CC-1E43E4BA2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7210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071521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0B1F33"/>
                </a:solidFill>
                <a:latin typeface="Noto Sans TC"/>
                <a:ea typeface="Noto Sans TC"/>
                <a:cs typeface="Noto Sans TC"/>
              </a:rPr>
              <a:t>✓</a:t>
            </a:r>
          </a:p>
        </p:txBody>
      </p:sp>
      <p:sp>
        <p:nvSpPr>
          <p:cNvPr id="49" name="矩形 48">
            <a:extLst xmlns:a="http://schemas.openxmlformats.org/drawingml/2006/main">
              <a:ext uri="{FF2B5EF4-FFF2-40B4-BE49-F238E27FC236}">
                <a16:creationId xmlns:a16="http://schemas.microsoft.com/office/drawing/2014/main" id="{B6C25244-1272-42BE-A34C-9DF4F81DA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372100"/>
            <a:ext cx="45339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D8E6EE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334155"/>
                </a:solidFill>
                <a:latin typeface="Noto Sans TC"/>
                <a:ea typeface="Noto Sans TC"/>
                <a:cs typeface="Noto Sans TC"/>
              </a:rPr>
              <a:t>Test clocks, resets, and constraints are applied</a:t>
            </a:r>
          </a:p>
        </p:txBody>
      </p:sp>
      <p:sp>
        <p:nvSpPr>
          <p:cNvPr id="50" name="矩形 49">
            <a:extLst xmlns:a="http://schemas.openxmlformats.org/drawingml/2006/main">
              <a:ext uri="{FF2B5EF4-FFF2-40B4-BE49-F238E27FC236}">
                <a16:creationId xmlns:a16="http://schemas.microsoft.com/office/drawing/2014/main" id="{D5C367D5-5D4F-4E98-8A8F-F6B071FF2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4767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20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44D17B"/>
                </a:solidFill>
                <a:latin typeface="Noto Sans TC"/>
                <a:ea typeface="Noto Sans TC"/>
                <a:cs typeface="Noto Sans TC"/>
              </a:defRPr>
            </a:pPr>
            <a:r>
              <a:rPr sz="1650" b="1">
                <a:solidFill>
                  <a:srgbClr val="15803D"/>
                </a:solidFill>
                <a:latin typeface="Noto Sans TC"/>
                <a:ea typeface="Noto Sans TC"/>
                <a:cs typeface="Noto Sans TC"/>
              </a:rPr>
              <a:t>Evidence</a:t>
            </a:r>
          </a:p>
        </p:txBody>
      </p:sp>
      <p:sp>
        <p:nvSpPr>
          <p:cNvPr id="51" name="橢圓 50">
            <a:extLst xmlns:a="http://schemas.openxmlformats.org/drawingml/2006/main">
              <a:ext uri="{FF2B5EF4-FFF2-40B4-BE49-F238E27FC236}">
                <a16:creationId xmlns:a16="http://schemas.microsoft.com/office/drawing/2014/main" id="{4E640A9C-0579-4969-A107-A7F7F730B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9815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F2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矩形 51">
            <a:extLst xmlns:a="http://schemas.openxmlformats.org/drawingml/2006/main">
              <a:ext uri="{FF2B5EF4-FFF2-40B4-BE49-F238E27FC236}">
                <a16:creationId xmlns:a16="http://schemas.microsoft.com/office/drawing/2014/main" id="{5F194A31-3571-4408-849E-19E3D02BD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914900"/>
            <a:ext cx="426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0">
                <a:solidFill>
                  <a:srgbClr val="D8E6EE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334155"/>
                </a:solidFill>
                <a:latin typeface="Noto Sans TC"/>
                <a:ea typeface="Noto Sans TC"/>
                <a:cs typeface="Noto Sans TC"/>
              </a:rPr>
              <a:t>Pre/post hierarchy comparison</a:t>
            </a:r>
          </a:p>
        </p:txBody>
      </p:sp>
      <p:sp>
        <p:nvSpPr>
          <p:cNvPr id="53" name="橢圓 52">
            <a:extLst xmlns:a="http://schemas.openxmlformats.org/drawingml/2006/main">
              <a:ext uri="{FF2B5EF4-FFF2-40B4-BE49-F238E27FC236}">
                <a16:creationId xmlns:a16="http://schemas.microsoft.com/office/drawing/2014/main" id="{C1BD6E53-8560-4115-A0F2-6FF75E54F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4387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F2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矩形 53">
            <a:extLst xmlns:a="http://schemas.openxmlformats.org/drawingml/2006/main">
              <a:ext uri="{FF2B5EF4-FFF2-40B4-BE49-F238E27FC236}">
                <a16:creationId xmlns:a16="http://schemas.microsoft.com/office/drawing/2014/main" id="{EB668AEB-D33A-4097-9920-1B1932BC5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372100"/>
            <a:ext cx="426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0">
                <a:solidFill>
                  <a:srgbClr val="D8E6EE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334155"/>
                </a:solidFill>
                <a:latin typeface="Noto Sans TC"/>
                <a:ea typeface="Noto Sans TC"/>
                <a:cs typeface="Noto Sans TC"/>
              </a:rPr>
              <a:t>Log · constraints · gate netlist</a:t>
            </a:r>
          </a:p>
        </p:txBody>
      </p:sp>
    </p:spTree>
    <p:extLst>
      <p:ext uri="{BB962C8B-B14F-4D97-AF65-F5344CB8AC3E}">
        <p14:creationId xmlns:p14="http://schemas.microsoft.com/office/powerpoint/2010/main" val="132027693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96248554-7E18-491F-B1FD-054BDBB2F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38D6C5"/>
                </a:solidFill>
                <a:latin typeface="Noto Sans TC"/>
                <a:ea typeface="Noto Sans TC"/>
                <a:cs typeface="Noto Sans TC"/>
              </a:defRPr>
            </a:pPr>
            <a:r>
              <a:rPr sz="1050" b="1">
                <a:solidFill>
                  <a:srgbClr val="0F766E"/>
                </a:solidFill>
                <a:latin typeface="Noto Sans TC"/>
                <a:ea typeface="Noto Sans TC"/>
                <a:cs typeface="Noto Sans TC"/>
              </a:rPr>
              <a:t>STAGE DETAIL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7344FCF9-B953-4BB3-840D-88578D1D6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0B1F33"/>
                </a:solidFill>
                <a:latin typeface="Noto Sans TC"/>
                <a:ea typeface="Noto Sans TC"/>
                <a:cs typeface="Noto Sans TC"/>
              </a:defRPr>
            </a:pPr>
            <a:r>
              <a:rPr sz="2850" b="1">
                <a:solidFill>
                  <a:srgbClr val="0B1F33"/>
                </a:solidFill>
                <a:latin typeface="Noto Sans TC"/>
                <a:ea typeface="Noto Sans TC"/>
                <a:cs typeface="Noto Sans TC"/>
              </a:rPr>
              <a:t>Step 6 Verifies RTL–Gate Response Matching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9F1B403F-BD38-4DBD-BE6B-B9690A656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1B839636-425D-4DBF-B668-AC18BE918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09700"/>
            <a:ext cx="99441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D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橢圓 4">
            <a:extLst xmlns:a="http://schemas.openxmlformats.org/drawingml/2006/main">
              <a:ext uri="{FF2B5EF4-FFF2-40B4-BE49-F238E27FC236}">
                <a16:creationId xmlns:a16="http://schemas.microsoft.com/office/drawing/2014/main" id="{CBD620F4-2487-43C3-80D6-288B8C7C9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EC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3D543E2F-D2EA-4444-A778-B6125354A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352550"/>
            <a:ext cx="1352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6F8B9D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0">
                <a:solidFill>
                  <a:srgbClr val="64748B"/>
                </a:solidFill>
                <a:latin typeface="Noto Sans TC"/>
                <a:ea typeface="Noto Sans TC"/>
                <a:cs typeface="Noto Sans TC"/>
              </a:rPr>
              <a:t>1  ENV</a:t>
            </a:r>
          </a:p>
        </p:txBody>
      </p:sp>
      <p:sp>
        <p:nvSpPr>
          <p:cNvPr id="7" name="橢圓 6">
            <a:extLst xmlns:a="http://schemas.openxmlformats.org/drawingml/2006/main">
              <a:ext uri="{FF2B5EF4-FFF2-40B4-BE49-F238E27FC236}">
                <a16:creationId xmlns:a16="http://schemas.microsoft.com/office/drawing/2014/main" id="{1CF1EF1B-9643-423E-A11A-5514EC727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13620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EC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7DEC7D3D-0706-4381-B810-F2ACFDA86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1352550"/>
            <a:ext cx="1352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6F8B9D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0">
                <a:solidFill>
                  <a:srgbClr val="64748B"/>
                </a:solidFill>
                <a:latin typeface="Noto Sans TC"/>
                <a:ea typeface="Noto Sans TC"/>
                <a:cs typeface="Noto Sans TC"/>
              </a:rPr>
              <a:t>2  INSERT</a:t>
            </a:r>
          </a:p>
        </p:txBody>
      </p:sp>
      <p:sp>
        <p:nvSpPr>
          <p:cNvPr id="9" name="橢圓 8">
            <a:extLst xmlns:a="http://schemas.openxmlformats.org/drawingml/2006/main">
              <a:ext uri="{FF2B5EF4-FFF2-40B4-BE49-F238E27FC236}">
                <a16:creationId xmlns:a16="http://schemas.microsoft.com/office/drawing/2014/main" id="{A6412D2D-38C5-469A-B993-5404B12EC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3620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F2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7F00CCC9-50F9-4036-A06A-27A46B0DC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352550"/>
            <a:ext cx="1352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6F8B9D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0">
                <a:solidFill>
                  <a:srgbClr val="64748B"/>
                </a:solidFill>
                <a:latin typeface="Noto Sans TC"/>
                <a:ea typeface="Noto Sans TC"/>
                <a:cs typeface="Noto Sans TC"/>
              </a:rPr>
              <a:t>3  RETARGET</a:t>
            </a:r>
          </a:p>
        </p:txBody>
      </p:sp>
      <p:sp>
        <p:nvSpPr>
          <p:cNvPr id="11" name="橢圓 10">
            <a:extLst xmlns:a="http://schemas.openxmlformats.org/drawingml/2006/main">
              <a:ext uri="{FF2B5EF4-FFF2-40B4-BE49-F238E27FC236}">
                <a16:creationId xmlns:a16="http://schemas.microsoft.com/office/drawing/2014/main" id="{B0003B90-295C-45C4-82F2-A0DE74488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13620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F4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95AFBDC5-1F30-403F-A13D-1712B9BAA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352550"/>
            <a:ext cx="1352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6F8B9D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0">
                <a:solidFill>
                  <a:srgbClr val="64748B"/>
                </a:solidFill>
                <a:latin typeface="Noto Sans TC"/>
                <a:ea typeface="Noto Sans TC"/>
                <a:cs typeface="Noto Sans TC"/>
              </a:rPr>
              <a:t>4  RTL VERIFY</a:t>
            </a:r>
          </a:p>
        </p:txBody>
      </p:sp>
      <p:sp>
        <p:nvSpPr>
          <p:cNvPr id="13" name="橢圓 12">
            <a:extLst xmlns:a="http://schemas.openxmlformats.org/drawingml/2006/main">
              <a:ext uri="{FF2B5EF4-FFF2-40B4-BE49-F238E27FC236}">
                <a16:creationId xmlns:a16="http://schemas.microsoft.com/office/drawing/2014/main" id="{4D1BB109-3405-49D1-BE3D-9B7F4D7BA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13620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EC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F0D10EAA-C8DF-4370-86FE-48837BB7B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352550"/>
            <a:ext cx="1352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6F8B9D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0">
                <a:solidFill>
                  <a:srgbClr val="64748B"/>
                </a:solidFill>
                <a:latin typeface="Noto Sans TC"/>
                <a:ea typeface="Noto Sans TC"/>
                <a:cs typeface="Noto Sans TC"/>
              </a:rPr>
              <a:t>5  SYNTHESIS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C7CC296E-2F22-4305-B261-5C35E225B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352550"/>
            <a:ext cx="1352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F3F8FB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0B1F33"/>
                </a:solidFill>
                <a:latin typeface="Noto Sans TC"/>
                <a:ea typeface="Noto Sans TC"/>
                <a:cs typeface="Noto Sans TC"/>
              </a:rPr>
              <a:t>6  GATE VERIFY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9055E273-33CC-4915-8E99-6F3E3C454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D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62C85CC5-3639-4CEE-9391-F1F5914BB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81775"/>
            <a:ext cx="904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6F8B9D"/>
                </a:solidFill>
                <a:latin typeface="Noto Sans TC"/>
                <a:ea typeface="Noto Sans TC"/>
                <a:cs typeface="Noto Sans TC"/>
              </a:defRPr>
            </a:pPr>
            <a:r>
              <a:rPr sz="825" b="0">
                <a:solidFill>
                  <a:srgbClr val="64748B"/>
                </a:solidFill>
                <a:latin typeface="Noto Sans TC"/>
                <a:ea typeface="Noto Sans TC"/>
                <a:cs typeface="Noto Sans TC"/>
              </a:rPr>
              <a:t>Validated: IEEE 1687 · IEEE 1687 + 1838 · stack_top   |   DWR = bonus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807C0818-CA26-4BA5-8341-260FA08FB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6F8B9D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64748B"/>
                </a:solidFill>
                <a:latin typeface="Noto Sans TC"/>
                <a:ea typeface="Noto Sans TC"/>
                <a:cs typeface="Noto Sans TC"/>
              </a:rPr>
              <a:t>13</a:t>
            </a:r>
          </a:p>
        </p:txBody>
      </p:sp>
      <p:sp>
        <p:nvSpPr>
          <p:cNvPr id="20" name="矩形: 圓角 19">
            <a:extLst xmlns:a="http://schemas.openxmlformats.org/drawingml/2006/main">
              <a:ext uri="{FF2B5EF4-FFF2-40B4-BE49-F238E27FC236}">
                <a16:creationId xmlns:a16="http://schemas.microsoft.com/office/drawing/2014/main" id="{401CC702-064D-4AA5-953B-2F5FDA8F6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13716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DDF2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D4759812-ADAC-4C2D-B6B4-281F7D65F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62125"/>
            <a:ext cx="68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071521"/>
                </a:solidFill>
                <a:latin typeface="Noto Sans TC"/>
                <a:ea typeface="Noto Sans TC"/>
                <a:cs typeface="Noto Sans TC"/>
              </a:defRPr>
            </a:pPr>
            <a:r>
              <a:rPr sz="1050" b="1">
                <a:solidFill>
                  <a:srgbClr val="0B1F33"/>
                </a:solidFill>
                <a:latin typeface="Noto Sans TC"/>
                <a:ea typeface="Noto Sans TC"/>
                <a:cs typeface="Noto Sans TC"/>
              </a:rPr>
              <a:t>STAGE 6</a:t>
            </a: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F1C0FDF5-832E-4189-A50D-57628F763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1743075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44D17B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15803D"/>
                </a:solidFill>
                <a:latin typeface="Noto Sans TC"/>
                <a:ea typeface="Noto Sans TC"/>
                <a:cs typeface="Noto Sans TC"/>
              </a:rPr>
              <a:t>Gate Verification</a:t>
            </a: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7D09DF3D-7B5B-4997-B668-2BE910BC4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3AA7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1F5A85"/>
                </a:solidFill>
                <a:latin typeface="Noto Sans TC"/>
                <a:ea typeface="Noto Sans TC"/>
                <a:cs typeface="Noto Sans TC"/>
              </a:rPr>
              <a:t>RTL lane</a:t>
            </a:r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A85975F2-852B-4857-9960-9AA04CE78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44D17B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15803D"/>
                </a:solidFill>
                <a:latin typeface="Noto Sans TC"/>
                <a:ea typeface="Noto Sans TC"/>
                <a:cs typeface="Noto Sans TC"/>
              </a:rPr>
              <a:t>Gate lane</a:t>
            </a:r>
          </a:p>
        </p:txBody>
      </p:sp>
      <p:sp>
        <p:nvSpPr>
          <p:cNvPr id="25" name="箭號: 向右 24">
            <a:extLst xmlns:a="http://schemas.openxmlformats.org/drawingml/2006/main">
              <a:ext uri="{FF2B5EF4-FFF2-40B4-BE49-F238E27FC236}">
                <a16:creationId xmlns:a16="http://schemas.microsoft.com/office/drawing/2014/main" id="{2331D135-C859-4ADE-8033-C7486A504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905125"/>
            <a:ext cx="49530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3DD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箭號: 向右 25">
            <a:extLst xmlns:a="http://schemas.openxmlformats.org/drawingml/2006/main">
              <a:ext uri="{FF2B5EF4-FFF2-40B4-BE49-F238E27FC236}">
                <a16:creationId xmlns:a16="http://schemas.microsoft.com/office/drawing/2014/main" id="{E70A2FD9-EA81-4989-BF7B-6EE83ED5C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905125"/>
            <a:ext cx="49530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3DD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矩形: 圓角 26">
            <a:extLst xmlns:a="http://schemas.openxmlformats.org/drawingml/2006/main">
              <a:ext uri="{FF2B5EF4-FFF2-40B4-BE49-F238E27FC236}">
                <a16:creationId xmlns:a16="http://schemas.microsoft.com/office/drawing/2014/main" id="{3C769625-50C1-451D-A9DD-2E5112EC6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676525"/>
            <a:ext cx="21907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4F7F9"/>
          </a:solidFill>
          <a:ln xmlns:a="http://schemas.openxmlformats.org/drawingml/2006/main" w="9525">
            <a:solidFill>
              <a:srgbClr val="1F5A85"/>
            </a:solidFill>
            <a:prstDash val="solid"/>
          </a:ln>
        </p:spPr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B502C17E-6BAE-4B59-9654-019272A22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2886075"/>
            <a:ext cx="1847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3AA7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1F5A85"/>
                </a:solidFill>
                <a:latin typeface="Noto Sans TC"/>
                <a:ea typeface="Noto Sans TC"/>
                <a:cs typeface="Noto Sans TC"/>
              </a:rPr>
              <a:t>Inserted RTL</a:t>
            </a:r>
          </a:p>
        </p:txBody>
      </p:sp>
      <p:sp>
        <p:nvSpPr>
          <p:cNvPr id="29" name="矩形: 圓角 28">
            <a:extLst xmlns:a="http://schemas.openxmlformats.org/drawingml/2006/main">
              <a:ext uri="{FF2B5EF4-FFF2-40B4-BE49-F238E27FC236}">
                <a16:creationId xmlns:a16="http://schemas.microsoft.com/office/drawing/2014/main" id="{E3BDB5DD-933B-4221-8FBA-DDD92C76E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676525"/>
            <a:ext cx="21907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4F7F9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F4413362-40B3-4D9A-91F0-8661B43CF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886075"/>
            <a:ext cx="1847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38D6C5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0F766E"/>
                </a:solidFill>
                <a:latin typeface="Noto Sans TC"/>
                <a:ea typeface="Noto Sans TC"/>
                <a:cs typeface="Noto Sans TC"/>
              </a:rPr>
              <a:t>Same pattern</a:t>
            </a:r>
          </a:p>
        </p:txBody>
      </p:sp>
      <p:sp>
        <p:nvSpPr>
          <p:cNvPr id="31" name="矩形: 圓角 30">
            <a:extLst xmlns:a="http://schemas.openxmlformats.org/drawingml/2006/main">
              <a:ext uri="{FF2B5EF4-FFF2-40B4-BE49-F238E27FC236}">
                <a16:creationId xmlns:a16="http://schemas.microsoft.com/office/drawing/2014/main" id="{4C522236-8C89-441A-AE62-0EF999959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676525"/>
            <a:ext cx="21907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4F7F9"/>
          </a:solidFill>
          <a:ln xmlns:a="http://schemas.openxmlformats.org/drawingml/2006/main" w="9525">
            <a:solidFill>
              <a:srgbClr val="1F5A85"/>
            </a:solidFill>
            <a:prstDash val="solid"/>
          </a:ln>
        </p:spPr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F008B886-8408-4BFD-B5E2-DBC9AC091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886075"/>
            <a:ext cx="1847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3AA7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1F5A85"/>
                </a:solidFill>
                <a:latin typeface="Noto Sans TC"/>
                <a:ea typeface="Noto Sans TC"/>
                <a:cs typeface="Noto Sans TC"/>
              </a:rPr>
              <a:t>Expected response</a:t>
            </a:r>
          </a:p>
        </p:txBody>
      </p:sp>
      <p:sp>
        <p:nvSpPr>
          <p:cNvPr id="33" name="箭號: 向右 32">
            <a:extLst xmlns:a="http://schemas.openxmlformats.org/drawingml/2006/main">
              <a:ext uri="{FF2B5EF4-FFF2-40B4-BE49-F238E27FC236}">
                <a16:creationId xmlns:a16="http://schemas.microsoft.com/office/drawing/2014/main" id="{C5DDCD03-42C1-41A4-AD27-140369C50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4238625"/>
            <a:ext cx="49530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3DD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箭號: 向右 33">
            <a:extLst xmlns:a="http://schemas.openxmlformats.org/drawingml/2006/main">
              <a:ext uri="{FF2B5EF4-FFF2-40B4-BE49-F238E27FC236}">
                <a16:creationId xmlns:a16="http://schemas.microsoft.com/office/drawing/2014/main" id="{63ACD901-0C81-46E2-B6D6-F455B6766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238625"/>
            <a:ext cx="49530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3DD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矩形: 圓角 34">
            <a:extLst xmlns:a="http://schemas.openxmlformats.org/drawingml/2006/main">
              <a:ext uri="{FF2B5EF4-FFF2-40B4-BE49-F238E27FC236}">
                <a16:creationId xmlns:a16="http://schemas.microsoft.com/office/drawing/2014/main" id="{E98C2BF8-3FBD-46BD-B48B-37BC068FA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010025"/>
            <a:ext cx="21907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4F7F9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</p:sp>
      <p:sp>
        <p:nvSpPr>
          <p:cNvPr id="36" name="矩形 35">
            <a:extLst xmlns:a="http://schemas.openxmlformats.org/drawingml/2006/main">
              <a:ext uri="{FF2B5EF4-FFF2-40B4-BE49-F238E27FC236}">
                <a16:creationId xmlns:a16="http://schemas.microsoft.com/office/drawing/2014/main" id="{37EC3C50-1BB9-4EB0-8140-3BB36CEEA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4219575"/>
            <a:ext cx="1847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44D17B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15803D"/>
                </a:solidFill>
                <a:latin typeface="Noto Sans TC"/>
                <a:ea typeface="Noto Sans TC"/>
                <a:cs typeface="Noto Sans TC"/>
              </a:rPr>
              <a:t>Gate netlist + libs</a:t>
            </a:r>
          </a:p>
        </p:txBody>
      </p:sp>
      <p:sp>
        <p:nvSpPr>
          <p:cNvPr id="37" name="矩形: 圓角 36">
            <a:extLst xmlns:a="http://schemas.openxmlformats.org/drawingml/2006/main">
              <a:ext uri="{FF2B5EF4-FFF2-40B4-BE49-F238E27FC236}">
                <a16:creationId xmlns:a16="http://schemas.microsoft.com/office/drawing/2014/main" id="{2CB5522E-834E-4C3D-BD31-649358AD2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010025"/>
            <a:ext cx="21907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4F7F9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38" name="矩形 37">
            <a:extLst xmlns:a="http://schemas.openxmlformats.org/drawingml/2006/main">
              <a:ext uri="{FF2B5EF4-FFF2-40B4-BE49-F238E27FC236}">
                <a16:creationId xmlns:a16="http://schemas.microsoft.com/office/drawing/2014/main" id="{14BD2B23-3A26-4D93-951B-1DEBE5012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219575"/>
            <a:ext cx="1847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38D6C5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0F766E"/>
                </a:solidFill>
                <a:latin typeface="Noto Sans TC"/>
                <a:ea typeface="Noto Sans TC"/>
                <a:cs typeface="Noto Sans TC"/>
              </a:rPr>
              <a:t>Same pattern</a:t>
            </a:r>
          </a:p>
        </p:txBody>
      </p:sp>
      <p:sp>
        <p:nvSpPr>
          <p:cNvPr id="39" name="矩形: 圓角 38">
            <a:extLst xmlns:a="http://schemas.openxmlformats.org/drawingml/2006/main">
              <a:ext uri="{FF2B5EF4-FFF2-40B4-BE49-F238E27FC236}">
                <a16:creationId xmlns:a16="http://schemas.microsoft.com/office/drawing/2014/main" id="{C6D12E0E-83A0-4219-8203-D24CD4A9E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010025"/>
            <a:ext cx="21907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4F7F9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</p:sp>
      <p:sp>
        <p:nvSpPr>
          <p:cNvPr id="40" name="矩形 39">
            <a:extLst xmlns:a="http://schemas.openxmlformats.org/drawingml/2006/main">
              <a:ext uri="{FF2B5EF4-FFF2-40B4-BE49-F238E27FC236}">
                <a16:creationId xmlns:a16="http://schemas.microsoft.com/office/drawing/2014/main" id="{677D71E4-2663-4BA4-810A-051C5575D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219575"/>
            <a:ext cx="1847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44D17B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15803D"/>
                </a:solidFill>
                <a:latin typeface="Noto Sans TC"/>
                <a:ea typeface="Noto Sans TC"/>
                <a:cs typeface="Noto Sans TC"/>
              </a:rPr>
              <a:t>Observed response</a:t>
            </a:r>
          </a:p>
        </p:txBody>
      </p:sp>
      <p:sp>
        <p:nvSpPr>
          <p:cNvPr id="41" name="箭號: 向右 40">
            <a:extLst xmlns:a="http://schemas.openxmlformats.org/drawingml/2006/main">
              <a:ext uri="{FF2B5EF4-FFF2-40B4-BE49-F238E27FC236}">
                <a16:creationId xmlns:a16="http://schemas.microsoft.com/office/drawing/2014/main" id="{36330F48-8FE8-43F6-A94F-79106FBD6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225" y="3524250"/>
            <a:ext cx="514350" cy="3619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3DD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矩形: 圓角 41">
            <a:extLst xmlns:a="http://schemas.openxmlformats.org/drawingml/2006/main">
              <a:ext uri="{FF2B5EF4-FFF2-40B4-BE49-F238E27FC236}">
                <a16:creationId xmlns:a16="http://schemas.microsoft.com/office/drawing/2014/main" id="{BAE417A5-C122-41C5-9A6D-885AB2EFD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3009900"/>
            <a:ext cx="14668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E8EFF4"/>
          </a:solidFill>
          <a:ln xmlns:a="http://schemas.openxmlformats.org/drawingml/2006/main" w="19050">
            <a:solidFill>
              <a:srgbClr val="15803D"/>
            </a:solidFill>
            <a:prstDash val="solid"/>
          </a:ln>
        </p:spPr>
      </p:sp>
      <p:sp>
        <p:nvSpPr>
          <p:cNvPr id="43" name="矩形 42">
            <a:extLst xmlns:a="http://schemas.openxmlformats.org/drawingml/2006/main">
              <a:ext uri="{FF2B5EF4-FFF2-40B4-BE49-F238E27FC236}">
                <a16:creationId xmlns:a16="http://schemas.microsoft.com/office/drawing/2014/main" id="{77E6BAC2-C005-408A-909A-ED2624F3D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3238500"/>
            <a:ext cx="1162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>
                <a:solidFill>
                  <a:srgbClr val="44D17B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15803D"/>
                </a:solidFill>
                <a:latin typeface="Noto Sans TC"/>
                <a:ea typeface="Noto Sans TC"/>
                <a:cs typeface="Noto Sans TC"/>
              </a:rPr>
              <a:t>COMPARE</a:t>
            </a:r>
          </a:p>
        </p:txBody>
      </p:sp>
      <p:sp>
        <p:nvSpPr>
          <p:cNvPr id="44" name="矩形 43">
            <a:extLst xmlns:a="http://schemas.openxmlformats.org/drawingml/2006/main">
              <a:ext uri="{FF2B5EF4-FFF2-40B4-BE49-F238E27FC236}">
                <a16:creationId xmlns:a16="http://schemas.microsoft.com/office/drawing/2014/main" id="{F2577B45-2959-4B4C-8595-0CA299C16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3619500"/>
            <a:ext cx="116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F3F8FB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0B1F33"/>
                </a:solidFill>
                <a:latin typeface="Noto Sans TC"/>
                <a:ea typeface="Noto Sans TC"/>
                <a:cs typeface="Noto Sans TC"/>
              </a:rPr>
              <a:t>care-bit mismatch = 0</a:t>
            </a:r>
          </a:p>
        </p:txBody>
      </p:sp>
      <p:sp>
        <p:nvSpPr>
          <p:cNvPr id="45" name="矩形: 圓角 44">
            <a:extLst xmlns:a="http://schemas.openxmlformats.org/drawingml/2006/main">
              <a:ext uri="{FF2B5EF4-FFF2-40B4-BE49-F238E27FC236}">
                <a16:creationId xmlns:a16="http://schemas.microsoft.com/office/drawing/2014/main" id="{8144A985-E7A7-4F35-9023-2436A04F9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295900"/>
            <a:ext cx="96393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E8EFF4"/>
          </a:solidFill>
          <a:ln xmlns:a="http://schemas.openxmlformats.org/drawingml/2006/main" w="9525">
            <a:solidFill>
              <a:srgbClr val="B8C7D1"/>
            </a:solidFill>
            <a:prstDash val="solid"/>
          </a:ln>
        </p:spPr>
      </p:sp>
      <p:sp>
        <p:nvSpPr>
          <p:cNvPr id="46" name="矩形 45">
            <a:extLst xmlns:a="http://schemas.openxmlformats.org/drawingml/2006/main">
              <a:ext uri="{FF2B5EF4-FFF2-40B4-BE49-F238E27FC236}">
                <a16:creationId xmlns:a16="http://schemas.microsoft.com/office/drawing/2014/main" id="{6F12B796-B97C-4CBB-8E2B-29E8F8B2C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5448300"/>
            <a:ext cx="9105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3F8FB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0B1F33"/>
                </a:solidFill>
                <a:latin typeface="Noto Sans TC"/>
                <a:ea typeface="Noto Sans TC"/>
                <a:cs typeface="Noto Sans TC"/>
              </a:rPr>
              <a:t>Netlist compiles  •  pattern completes  •  care-bit mismatch = 0</a:t>
            </a:r>
          </a:p>
        </p:txBody>
      </p:sp>
      <p:sp>
        <p:nvSpPr>
          <p:cNvPr id="48" name="橢圓 47">
            <a:extLst xmlns:a="http://schemas.openxmlformats.org/drawingml/2006/main">
              <a:ext uri="{FF2B5EF4-FFF2-40B4-BE49-F238E27FC236}">
                <a16:creationId xmlns:a16="http://schemas.microsoft.com/office/drawing/2014/main" id="{D61D634D-36AC-6B52-24AA-77D7DE251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13716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ECF5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44710245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F916E12A-EC6D-4393-8445-E12FFDB7B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38D6C5"/>
                </a:solidFill>
                <a:latin typeface="Noto Sans TC"/>
                <a:ea typeface="Noto Sans TC"/>
                <a:cs typeface="Noto Sans TC"/>
              </a:defRPr>
            </a:pPr>
            <a:r>
              <a:rPr sz="1050" b="1">
                <a:solidFill>
                  <a:srgbClr val="0F766E"/>
                </a:solidFill>
                <a:latin typeface="Noto Sans TC"/>
                <a:ea typeface="Noto Sans TC"/>
                <a:cs typeface="Noto Sans TC"/>
              </a:rPr>
              <a:t>FLOW VALIDATION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3F41689C-4757-4E28-956D-8E43CBFE9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F3F8FB"/>
                </a:solidFill>
                <a:latin typeface="Noto Sans TC"/>
                <a:ea typeface="Noto Sans TC"/>
                <a:cs typeface="Noto Sans TC"/>
              </a:defRPr>
            </a:pPr>
            <a:r>
              <a:rPr sz="2850" b="1">
                <a:solidFill>
                  <a:srgbClr val="0B1F33"/>
                </a:solidFill>
                <a:latin typeface="Noto Sans TC"/>
                <a:ea typeface="Noto Sans TC"/>
                <a:cs typeface="Noto Sans TC"/>
              </a:rPr>
              <a:t>The Current Six-Step Baseline Is Verified at All Levels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B13FB93F-971F-4DCB-9C16-B3D9D4AA7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592F9C8B-DCCC-4871-B941-D480B4256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838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A7BDCA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526678"/>
                </a:solidFill>
                <a:latin typeface="Noto Sans TC"/>
                <a:ea typeface="Noto Sans TC"/>
                <a:cs typeface="Noto Sans TC"/>
              </a:rPr>
              <a:t>Columns = access levels   ·   rows = accepted deliverables</a:t>
            </a:r>
          </a:p>
        </p:txBody>
      </p:sp>
      <p:sp>
        <p:nvSpPr>
          <p:cNvPr id="5" name="矩形: 圓角 4">
            <a:extLst xmlns:a="http://schemas.openxmlformats.org/drawingml/2006/main">
              <a:ext uri="{FF2B5EF4-FFF2-40B4-BE49-F238E27FC236}">
                <a16:creationId xmlns:a16="http://schemas.microsoft.com/office/drawing/2014/main" id="{3756ED85-A593-4754-BF91-B90FC7615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1333500"/>
            <a:ext cx="18669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8EFF4"/>
          </a:solidFill>
          <a:ln xmlns:a="http://schemas.openxmlformats.org/drawingml/2006/main" w="9525">
            <a:solidFill>
              <a:srgbClr val="1F5A85"/>
            </a:solidFill>
            <a:prstDash val="solid"/>
          </a:ln>
        </p:spPr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041563C5-1EBD-4EF8-8FAE-E510B135D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1390650"/>
            <a:ext cx="1866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F5B94C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1F5A85"/>
                </a:solidFill>
                <a:latin typeface="Noto Sans TC"/>
                <a:ea typeface="Noto Sans TC"/>
                <a:cs typeface="Noto Sans TC"/>
              </a:rPr>
              <a:t>DWR bonus</a:t>
            </a:r>
          </a:p>
        </p:txBody>
      </p:sp>
      <p:graphicFrame>
        <p:nvGraphicFramePr>
          <p:cNvPr id="19" name="表格 18"/>
          <p:cNvGraphicFramePr/>
          <p:nvPr/>
        </p:nvGraphicFramePr>
        <p:xfrm>
          <a:off xmlns:a="http://schemas.openxmlformats.org/drawingml/2006/main" x="609600" y="1943100"/>
          <a:ext xmlns:a="http://schemas.openxmlformats.org/drawingml/2006/main" cx="10972800" cy="3905248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667250"/>
                <a:gridCol w="1809750"/>
                <a:gridCol w="2247900"/>
                <a:gridCol w="2247900"/>
              </a:tblGrid>
              <a:tr h="48815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0B1F33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Verification item</a:t>
                      </a:r>
                    </a:p>
                  </a:txBody>
                  <a:tcPr marL="91440" marR="91440" marT="45720" marB="45720">
                    <a:solidFill>
                      <a:srgbClr val="E8EF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0B1F33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1687</a:t>
                      </a:r>
                    </a:p>
                  </a:txBody>
                  <a:tcPr marL="91440" marR="91440" marT="45720" marB="45720">
                    <a:solidFill>
                      <a:srgbClr val="E8EF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0B1F33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1687 + 1838</a:t>
                      </a:r>
                    </a:p>
                  </a:txBody>
                  <a:tcPr marL="91440" marR="91440" marT="45720" marB="45720">
                    <a:solidFill>
                      <a:srgbClr val="E8EF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0B1F33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stack_top</a:t>
                      </a:r>
                    </a:p>
                  </a:txBody>
                  <a:tcPr marL="91440" marR="91440" marT="45720" marB="45720">
                    <a:solidFill>
                      <a:srgbClr val="E8EFF4"/>
                    </a:solidFill>
                  </a:tcPr>
                </a:tc>
              </a:tr>
              <a:tr h="48815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75">
                          <a:solidFill>
                            <a:srgbClr val="334155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Automated RTL insertion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50" b="1">
                          <a:solidFill>
                            <a:srgbClr val="15803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✓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50" b="1">
                          <a:solidFill>
                            <a:srgbClr val="15803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✓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50" b="1">
                          <a:solidFill>
                            <a:srgbClr val="15803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✓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8815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75">
                          <a:solidFill>
                            <a:srgbClr val="334155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ICL generation / check</a:t>
                      </a:r>
                    </a:p>
                  </a:txBody>
                  <a:tcPr marL="91440" marR="91440" marT="45720" marB="45720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50" b="1">
                          <a:solidFill>
                            <a:srgbClr val="15803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✓</a:t>
                      </a:r>
                    </a:p>
                  </a:txBody>
                  <a:tcPr marL="91440" marR="91440" marT="45720" marB="45720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50" b="1">
                          <a:solidFill>
                            <a:srgbClr val="15803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✓</a:t>
                      </a:r>
                    </a:p>
                  </a:txBody>
                  <a:tcPr marL="91440" marR="91440" marT="45720" marB="45720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50" b="1">
                          <a:solidFill>
                            <a:srgbClr val="15803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✓</a:t>
                      </a:r>
                    </a:p>
                  </a:txBody>
                  <a:tcPr marL="91440" marR="91440" marT="45720" marB="45720">
                    <a:solidFill>
                      <a:srgbClr val="F7F9FA"/>
                    </a:solidFill>
                  </a:tcPr>
                </a:tc>
              </a:tr>
              <a:tr h="48815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75">
                          <a:solidFill>
                            <a:srgbClr val="334155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PDL retargeting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50" b="1">
                          <a:solidFill>
                            <a:srgbClr val="15803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✓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50" b="1">
                          <a:solidFill>
                            <a:srgbClr val="15803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✓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50" b="1">
                          <a:solidFill>
                            <a:srgbClr val="15803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✓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8815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75">
                          <a:solidFill>
                            <a:srgbClr val="334155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RTL pattern simulation</a:t>
                      </a:r>
                    </a:p>
                  </a:txBody>
                  <a:tcPr marL="91440" marR="91440" marT="45720" marB="45720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50" b="1">
                          <a:solidFill>
                            <a:srgbClr val="15803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✓</a:t>
                      </a:r>
                    </a:p>
                  </a:txBody>
                  <a:tcPr marL="91440" marR="91440" marT="45720" marB="45720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50" b="1">
                          <a:solidFill>
                            <a:srgbClr val="15803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✓</a:t>
                      </a:r>
                    </a:p>
                  </a:txBody>
                  <a:tcPr marL="91440" marR="91440" marT="45720" marB="45720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50" b="1">
                          <a:solidFill>
                            <a:srgbClr val="15803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✓</a:t>
                      </a:r>
                    </a:p>
                  </a:txBody>
                  <a:tcPr marL="91440" marR="91440" marT="45720" marB="45720">
                    <a:solidFill>
                      <a:srgbClr val="F7F9FA"/>
                    </a:solidFill>
                  </a:tcPr>
                </a:tc>
              </a:tr>
              <a:tr h="48815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75">
                          <a:solidFill>
                            <a:srgbClr val="334155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Synthesis integration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50" b="1">
                          <a:solidFill>
                            <a:srgbClr val="15803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✓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50" b="1">
                          <a:solidFill>
                            <a:srgbClr val="15803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✓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50" b="1">
                          <a:solidFill>
                            <a:srgbClr val="15803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✓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8815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75">
                          <a:solidFill>
                            <a:srgbClr val="334155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Gate-level pattern simulation</a:t>
                      </a:r>
                    </a:p>
                  </a:txBody>
                  <a:tcPr marL="91440" marR="91440" marT="45720" marB="45720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50" b="1">
                          <a:solidFill>
                            <a:srgbClr val="15803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✓</a:t>
                      </a:r>
                    </a:p>
                  </a:txBody>
                  <a:tcPr marL="91440" marR="91440" marT="45720" marB="45720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50" b="1">
                          <a:solidFill>
                            <a:srgbClr val="15803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✓</a:t>
                      </a:r>
                    </a:p>
                  </a:txBody>
                  <a:tcPr marL="91440" marR="91440" marT="45720" marB="45720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50" b="1">
                          <a:solidFill>
                            <a:srgbClr val="15803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✓</a:t>
                      </a:r>
                    </a:p>
                  </a:txBody>
                  <a:tcPr marL="91440" marR="91440" marT="45720" marB="45720">
                    <a:solidFill>
                      <a:srgbClr val="F7F9FA"/>
                    </a:solidFill>
                  </a:tcPr>
                </a:tc>
              </a:tr>
              <a:tr h="48815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75">
                          <a:solidFill>
                            <a:srgbClr val="334155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Hierarchical access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64748B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N/A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1F5A85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Local die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F766E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Multi-die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90647D12-F986-464C-8329-BBB8D25E8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076950"/>
            <a:ext cx="1043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F3F8FB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1">
                <a:solidFill>
                  <a:srgbClr val="0B1F33"/>
                </a:solidFill>
                <a:latin typeface="Noto Sans TC"/>
                <a:ea typeface="Noto Sans TC"/>
                <a:cs typeface="Noto Sans TC"/>
              </a:rPr>
              <a:t>Auto-generated patterns are verified across the current access scopes.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2E8D125D-1260-4BF0-A3A4-9CAD9BC83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D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5672639B-09B3-4C56-B9FF-6F959B6A4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81775"/>
            <a:ext cx="904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6F8B9D"/>
                </a:solidFill>
                <a:latin typeface="Noto Sans TC"/>
                <a:ea typeface="Noto Sans TC"/>
                <a:cs typeface="Noto Sans TC"/>
              </a:defRPr>
            </a:pPr>
            <a:r>
              <a:rPr sz="825" b="0">
                <a:solidFill>
                  <a:srgbClr val="64748B"/>
                </a:solidFill>
                <a:latin typeface="Noto Sans TC"/>
                <a:ea typeface="Noto Sans TC"/>
                <a:cs typeface="Noto Sans TC"/>
              </a:rPr>
              <a:t>Validated: IEEE 1687 · IEEE 1687 + 1838 · stack_top   |   DWR = bonus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52CF1DE3-FE21-49BD-BBCF-7C34FC636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6F8B9D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64748B"/>
                </a:solidFill>
                <a:latin typeface="Noto Sans TC"/>
                <a:ea typeface="Noto Sans TC"/>
                <a:cs typeface="Noto Sans TC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55266894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2D08814C-91E4-4BD3-8B0C-20A2D8325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38D6C5"/>
                </a:solidFill>
                <a:latin typeface="Noto Sans TC"/>
                <a:ea typeface="Noto Sans TC"/>
                <a:cs typeface="Noto Sans TC"/>
              </a:defRPr>
            </a:pPr>
            <a:r>
              <a:rPr sz="1050" b="1">
                <a:solidFill>
                  <a:srgbClr val="0F766E"/>
                </a:solidFill>
                <a:latin typeface="Noto Sans TC"/>
                <a:ea typeface="Noto Sans TC"/>
                <a:cs typeface="Noto Sans TC"/>
              </a:rPr>
              <a:t>ENGINEERING VALUE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0E781347-0922-49BD-B41D-43672C445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0B1F33"/>
                </a:solidFill>
                <a:latin typeface="Noto Sans TC"/>
                <a:ea typeface="Noto Sans TC"/>
                <a:cs typeface="Noto Sans TC"/>
              </a:defRPr>
            </a:pPr>
            <a:r>
              <a:rPr sz="2850" b="1">
                <a:solidFill>
                  <a:srgbClr val="0B1F33"/>
                </a:solidFill>
                <a:latin typeface="Noto Sans TC"/>
                <a:ea typeface="Noto Sans TC"/>
                <a:cs typeface="Noto Sans TC"/>
              </a:rPr>
              <a:t>The Baseline Is Integrated, Verified, and Documented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C04A1924-B9B5-4B55-A85C-B3BE230FC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11F5D27D-CCA3-47CD-9500-C02AD610F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95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4050" b="1">
                <a:solidFill>
                  <a:srgbClr val="3AA7FF"/>
                </a:solidFill>
                <a:latin typeface="Noto Sans TC"/>
                <a:ea typeface="Noto Sans TC"/>
                <a:cs typeface="Noto Sans TC"/>
              </a:defRPr>
            </a:pPr>
            <a:r>
              <a:rPr sz="4050" b="1">
                <a:solidFill>
                  <a:srgbClr val="1F5A85"/>
                </a:solidFill>
                <a:latin typeface="Noto Sans TC"/>
                <a:ea typeface="Noto Sans TC"/>
                <a:cs typeface="Noto Sans TC"/>
              </a:rPr>
              <a:t>01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8DDD53EE-D6E1-42F0-91B4-CC6A1C589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F3F8FB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1">
                <a:solidFill>
                  <a:srgbClr val="0B1F33"/>
                </a:solidFill>
                <a:latin typeface="Noto Sans TC"/>
                <a:ea typeface="Noto Sans TC"/>
                <a:cs typeface="Noto Sans TC"/>
              </a:rPr>
              <a:t>INTEGRATED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6CF14CBA-F238-4AC4-83CB-E615D5500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0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C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6C704163-C5E5-48F2-A0D4-A0BED6FC9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0"/>
            <a:ext cx="3143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425" b="0">
                <a:solidFill>
                  <a:srgbClr val="A7BDCA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0">
                <a:solidFill>
                  <a:srgbClr val="526678"/>
                </a:solidFill>
                <a:latin typeface="Noto Sans TC"/>
                <a:ea typeface="Noto Sans TC"/>
                <a:cs typeface="Noto Sans TC"/>
              </a:rPr>
              <a:t>Tessent works inside the existing RTL-to-gate environment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FB55DA2A-A988-4FC0-8275-B69469F31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790700"/>
            <a:ext cx="95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4050" b="1">
                <a:solidFill>
                  <a:srgbClr val="F5B94C"/>
                </a:solidFill>
                <a:latin typeface="Noto Sans TC"/>
                <a:ea typeface="Noto Sans TC"/>
                <a:cs typeface="Noto Sans TC"/>
              </a:defRPr>
            </a:pPr>
            <a:r>
              <a:rPr sz="4050" b="1">
                <a:solidFill>
                  <a:srgbClr val="1F5A85"/>
                </a:solidFill>
                <a:latin typeface="Noto Sans TC"/>
                <a:ea typeface="Noto Sans TC"/>
                <a:cs typeface="Noto Sans TC"/>
              </a:rPr>
              <a:t>02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B44E7298-2136-4747-954D-D6A67F5E7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5146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F3F8FB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1">
                <a:solidFill>
                  <a:srgbClr val="0B1F33"/>
                </a:solidFill>
                <a:latin typeface="Noto Sans TC"/>
                <a:ea typeface="Noto Sans TC"/>
                <a:cs typeface="Noto Sans TC"/>
              </a:rPr>
              <a:t>VERIFIED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B614F722-B346-44E6-8BC8-09FDA722B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952750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C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87E3FE26-D4CE-49C2-A8FD-461D2537C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238500"/>
            <a:ext cx="3143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425" b="0">
                <a:solidFill>
                  <a:srgbClr val="A7BDCA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0">
                <a:solidFill>
                  <a:srgbClr val="526678"/>
                </a:solidFill>
                <a:latin typeface="Noto Sans TC"/>
                <a:ea typeface="Noto Sans TC"/>
                <a:cs typeface="Noto Sans TC"/>
              </a:rPr>
              <a:t>Generated patterns pass through local, wrapper, and stack access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9C1193F6-9AF9-4346-ACD9-A438ACD5E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790700"/>
            <a:ext cx="95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4050" b="1">
                <a:solidFill>
                  <a:srgbClr val="44D17B"/>
                </a:solidFill>
                <a:latin typeface="Noto Sans TC"/>
                <a:ea typeface="Noto Sans TC"/>
                <a:cs typeface="Noto Sans TC"/>
              </a:defRPr>
            </a:pPr>
            <a:r>
              <a:rPr sz="4050" b="1">
                <a:solidFill>
                  <a:srgbClr val="15803D"/>
                </a:solidFill>
                <a:latin typeface="Noto Sans TC"/>
                <a:ea typeface="Noto Sans TC"/>
                <a:cs typeface="Noto Sans TC"/>
              </a:rPr>
              <a:t>03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DBC02205-2A7D-4C65-9D24-52A575054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5146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F3F8FB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1">
                <a:solidFill>
                  <a:srgbClr val="0B1F33"/>
                </a:solidFill>
                <a:latin typeface="Noto Sans TC"/>
                <a:ea typeface="Noto Sans TC"/>
                <a:cs typeface="Noto Sans TC"/>
              </a:rPr>
              <a:t>DOCUMENTED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912BD2B4-0787-48B1-A265-0E27B8426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952750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1FA976E7-477D-4821-8CC5-EF3AC4DC1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238500"/>
            <a:ext cx="3143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425" b="0">
                <a:solidFill>
                  <a:srgbClr val="A7BDCA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0">
                <a:solidFill>
                  <a:srgbClr val="526678"/>
                </a:solidFill>
                <a:latin typeface="Noto Sans TC"/>
                <a:ea typeface="Noto Sans TC"/>
                <a:cs typeface="Noto Sans TC"/>
              </a:rPr>
              <a:t>Capture scripts, issues, fixes, checkpoints, and evidence</a:t>
            </a:r>
          </a:p>
        </p:txBody>
      </p:sp>
      <p:sp>
        <p:nvSpPr>
          <p:cNvPr id="16" name="矩形: 圓角 15">
            <a:extLst xmlns:a="http://schemas.openxmlformats.org/drawingml/2006/main">
              <a:ext uri="{FF2B5EF4-FFF2-40B4-BE49-F238E27FC236}">
                <a16:creationId xmlns:a16="http://schemas.microsoft.com/office/drawing/2014/main" id="{1362D30C-9379-4F30-BF16-A687E1296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05350"/>
            <a:ext cx="109728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8EFF4"/>
          </a:solidFill>
          <a:ln xmlns:a="http://schemas.openxmlformats.org/drawingml/2006/main" w="9525">
            <a:solidFill>
              <a:srgbClr val="B8C7D1"/>
            </a:solidFill>
            <a:prstDash val="solid"/>
          </a:ln>
        </p:spPr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5CC40B19-1C1C-4044-9D87-0EF8B7A8C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339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25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38D6C5"/>
                </a:solidFill>
                <a:latin typeface="Noto Sans TC"/>
                <a:ea typeface="Noto Sans TC"/>
                <a:cs typeface="Noto Sans TC"/>
              </a:defRPr>
            </a:pPr>
            <a:r>
              <a:rPr sz="1575" b="1">
                <a:solidFill>
                  <a:srgbClr val="0F766E"/>
                </a:solidFill>
                <a:latin typeface="Noto Sans TC"/>
                <a:ea typeface="Noto Sans TC"/>
                <a:cs typeface="Noto Sans TC"/>
              </a:rPr>
              <a:t>Packaged Deliverables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7BD09D51-1567-460B-8573-4BD18AA99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895850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25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F5B94C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1F5A85"/>
                </a:solidFill>
                <a:latin typeface="Noto Sans TC"/>
                <a:ea typeface="Noto Sans TC"/>
                <a:cs typeface="Noto Sans TC"/>
              </a:rPr>
              <a:t>Integration flow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5135D968-2DD8-4C01-9C08-5C5CF312C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191125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D8E6EE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0">
                <a:solidFill>
                  <a:srgbClr val="334155"/>
                </a:solidFill>
                <a:latin typeface="Noto Sans TC"/>
                <a:ea typeface="Noto Sans TC"/>
                <a:cs typeface="Noto Sans TC"/>
              </a:rPr>
              <a:t>Tessent + simulation + synthesis handoff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07A9DC94-2C60-418E-9F19-1696577E6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895850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6767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44D17B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15803D"/>
                </a:solidFill>
                <a:latin typeface="Noto Sans TC"/>
                <a:ea typeface="Noto Sans TC"/>
                <a:cs typeface="Noto Sans TC"/>
              </a:rPr>
              <a:t>Working Tcl + document</a:t>
            </a: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09AC0A11-70CE-47F3-A647-1297AFDB1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5191125"/>
            <a:ext cx="3543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D8E6EE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0">
                <a:solidFill>
                  <a:srgbClr val="334155"/>
                </a:solidFill>
                <a:latin typeface="Noto Sans TC"/>
                <a:ea typeface="Noto Sans TC"/>
                <a:cs typeface="Noto Sans TC"/>
              </a:rPr>
              <a:t>scripts + issue / solution guide + evidence</a:t>
            </a: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81A35270-0878-41B1-AD0F-A65D6885D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619750"/>
            <a:ext cx="9925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3F8FB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0B1F33"/>
                </a:solidFill>
                <a:latin typeface="Noto Sans TC"/>
                <a:ea typeface="Noto Sans TC"/>
                <a:cs typeface="Noto Sans TC"/>
              </a:rPr>
              <a:t>Step 12 will organize the working Tcl set into a maintainable handoff environment.</a:t>
            </a: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7FB1A603-E876-46D8-9805-41F4EB235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D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DE8E4DB6-DA75-4485-BE32-090DF37C4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81775"/>
            <a:ext cx="904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6F8B9D"/>
                </a:solidFill>
                <a:latin typeface="Noto Sans TC"/>
                <a:ea typeface="Noto Sans TC"/>
                <a:cs typeface="Noto Sans TC"/>
              </a:defRPr>
            </a:pPr>
            <a:r>
              <a:rPr sz="825" b="0">
                <a:solidFill>
                  <a:srgbClr val="64748B"/>
                </a:solidFill>
                <a:latin typeface="Noto Sans TC"/>
                <a:ea typeface="Noto Sans TC"/>
                <a:cs typeface="Noto Sans TC"/>
              </a:rPr>
              <a:t>Validated: IEEE 1687 · IEEE 1687 + 1838 · stack_top   |   DWR = bonus</a:t>
            </a: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A80E8239-9073-4583-9343-A6306EA90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6F8B9D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64748B"/>
                </a:solidFill>
                <a:latin typeface="Noto Sans TC"/>
                <a:ea typeface="Noto Sans TC"/>
                <a:cs typeface="Noto Sans TC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81960686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7049FFB9-66E6-49ED-9AD8-BCF188BBF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38D6C5"/>
                </a:solidFill>
                <a:latin typeface="Noto Sans TC"/>
                <a:ea typeface="Noto Sans TC"/>
                <a:cs typeface="Noto Sans TC"/>
              </a:defRPr>
            </a:pPr>
            <a:r>
              <a:rPr sz="1050" b="1">
                <a:solidFill>
                  <a:srgbClr val="0F766E"/>
                </a:solidFill>
                <a:latin typeface="Noto Sans TC"/>
                <a:ea typeface="Noto Sans TC"/>
                <a:cs typeface="Noto Sans TC"/>
              </a:rPr>
              <a:t>ROADMAP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EE0A4018-9715-47AF-AEF3-B9AEE09F5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F3F8FB"/>
                </a:solidFill>
                <a:latin typeface="Noto Sans TC"/>
                <a:ea typeface="Noto Sans TC"/>
                <a:cs typeface="Noto Sans TC"/>
              </a:defRPr>
            </a:pPr>
            <a:r>
              <a:rPr sz="2850" b="1">
                <a:solidFill>
                  <a:srgbClr val="0B1F33"/>
                </a:solidFill>
                <a:latin typeface="Noto Sans TC"/>
                <a:ea typeface="Noto Sans TC"/>
                <a:cs typeface="Noto Sans TC"/>
              </a:rPr>
              <a:t>Pattern Verification Leads to ATPG and Flow Consolidation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C04103D4-7C31-4F32-AFF1-5B3C64450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矩形 51">
            <a:extLst xmlns:a="http://schemas.openxmlformats.org/drawingml/2006/main">
              <a:ext uri="{FF2B5EF4-FFF2-40B4-BE49-F238E27FC236}">
                <a16:creationId xmlns:a16="http://schemas.microsoft.com/office/drawing/2014/main" id="{C8AA3FB1-77CD-4AC8-950F-7AE3CB933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D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矩形 52">
            <a:extLst xmlns:a="http://schemas.openxmlformats.org/drawingml/2006/main">
              <a:ext uri="{FF2B5EF4-FFF2-40B4-BE49-F238E27FC236}">
                <a16:creationId xmlns:a16="http://schemas.microsoft.com/office/drawing/2014/main" id="{81B6382B-352F-45FF-96B2-AAE7CE946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29350"/>
            <a:ext cx="1009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6F8B9D"/>
                </a:solidFill>
                <a:latin typeface="Noto Sans TC"/>
                <a:ea typeface="Noto Sans TC"/>
                <a:cs typeface="Noto Sans TC"/>
              </a:defRPr>
            </a:pPr>
            <a:r>
              <a:rPr sz="825" b="0">
                <a:solidFill>
                  <a:srgbClr val="64748B"/>
                </a:solidFill>
                <a:latin typeface="Noto Sans TC"/>
                <a:ea typeface="Noto Sans TC"/>
                <a:cs typeface="Noto Sans TC"/>
              </a:rPr>
              <a:t>Next: build the ATPG environment; Steps 10–11 are bonus; Step 12 organizes the execution flow.</a:t>
            </a:r>
          </a:p>
        </p:txBody>
      </p:sp>
      <p:sp>
        <p:nvSpPr>
          <p:cNvPr id="54" name="矩形 53">
            <a:extLst xmlns:a="http://schemas.openxmlformats.org/drawingml/2006/main">
              <a:ext uri="{FF2B5EF4-FFF2-40B4-BE49-F238E27FC236}">
                <a16:creationId xmlns:a16="http://schemas.microsoft.com/office/drawing/2014/main" id="{644FB2E7-B626-459E-9EA2-DBCDE4C80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6F8B9D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64748B"/>
                </a:solidFill>
                <a:latin typeface="Noto Sans TC"/>
                <a:ea typeface="Noto Sans TC"/>
                <a:cs typeface="Noto Sans TC"/>
              </a:rPr>
              <a:t>16</a:t>
            </a:r>
          </a:p>
        </p:txBody>
      </p:sp>
      <p:sp>
        <p:nvSpPr>
          <p:cNvPr id="55" name="箭號: 向右 54">
            <a:extLst xmlns:a="http://schemas.openxmlformats.org/drawingml/2006/main">
              <a:ext uri="{FF2B5EF4-FFF2-40B4-BE49-F238E27FC236}">
                <a16:creationId xmlns:a16="http://schemas.microsoft.com/office/drawing/2014/main" id="{10DC12B1-D7FE-4C54-88C3-2408E18BF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9325" y="1895475"/>
            <a:ext cx="2286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6B7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箭號: 向右 55">
            <a:extLst xmlns:a="http://schemas.openxmlformats.org/drawingml/2006/main">
              <a:ext uri="{FF2B5EF4-FFF2-40B4-BE49-F238E27FC236}">
                <a16:creationId xmlns:a16="http://schemas.microsoft.com/office/drawing/2014/main" id="{BA1D333C-3763-4AAF-BE36-2B42F91AE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895475"/>
            <a:ext cx="2286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6B7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箭號: 向右 56">
            <a:extLst xmlns:a="http://schemas.openxmlformats.org/drawingml/2006/main">
              <a:ext uri="{FF2B5EF4-FFF2-40B4-BE49-F238E27FC236}">
                <a16:creationId xmlns:a16="http://schemas.microsoft.com/office/drawing/2014/main" id="{D5314817-2A04-4D49-A777-8BA48FAB8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1895475"/>
            <a:ext cx="2286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6B7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箭號: 向右 57">
            <a:extLst xmlns:a="http://schemas.openxmlformats.org/drawingml/2006/main">
              <a:ext uri="{FF2B5EF4-FFF2-40B4-BE49-F238E27FC236}">
                <a16:creationId xmlns:a16="http://schemas.microsoft.com/office/drawing/2014/main" id="{086D4D33-FC95-4E3E-BCE0-0A00F5D81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895475"/>
            <a:ext cx="2286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6B7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箭號: 向右 58">
            <a:extLst xmlns:a="http://schemas.openxmlformats.org/drawingml/2006/main">
              <a:ext uri="{FF2B5EF4-FFF2-40B4-BE49-F238E27FC236}">
                <a16:creationId xmlns:a16="http://schemas.microsoft.com/office/drawing/2014/main" id="{556DEFD6-3295-426B-9009-00614EC5D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6025" y="1895475"/>
            <a:ext cx="2286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6B7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箭號: 向下 59">
            <a:extLst xmlns:a="http://schemas.openxmlformats.org/drawingml/2006/main">
              <a:ext uri="{FF2B5EF4-FFF2-40B4-BE49-F238E27FC236}">
                <a16:creationId xmlns:a16="http://schemas.microsoft.com/office/drawing/2014/main" id="{CB3BCFEC-D803-4464-8132-A848528C3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39475" y="2514600"/>
            <a:ext cx="304800" cy="7239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1580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箭號: 向左 60">
            <a:extLst xmlns:a="http://schemas.openxmlformats.org/drawingml/2006/main">
              <a:ext uri="{FF2B5EF4-FFF2-40B4-BE49-F238E27FC236}">
                <a16:creationId xmlns:a16="http://schemas.microsoft.com/office/drawing/2014/main" id="{16316457-4D4B-40CE-A17E-7438A4C7C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6025" y="3667125"/>
            <a:ext cx="228600" cy="28575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箭號: 向左 61">
            <a:extLst xmlns:a="http://schemas.openxmlformats.org/drawingml/2006/main">
              <a:ext uri="{FF2B5EF4-FFF2-40B4-BE49-F238E27FC236}">
                <a16:creationId xmlns:a16="http://schemas.microsoft.com/office/drawing/2014/main" id="{C4620B05-8804-459A-8DAD-210B1A7E9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667125"/>
            <a:ext cx="228600" cy="28575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箭號: 向左 62">
            <a:extLst xmlns:a="http://schemas.openxmlformats.org/drawingml/2006/main">
              <a:ext uri="{FF2B5EF4-FFF2-40B4-BE49-F238E27FC236}">
                <a16:creationId xmlns:a16="http://schemas.microsoft.com/office/drawing/2014/main" id="{2EEA63A4-C6D4-45BD-B016-F6A3B7AFF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667125"/>
            <a:ext cx="228600" cy="28575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7E22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箭號: 向左 63">
            <a:extLst xmlns:a="http://schemas.openxmlformats.org/drawingml/2006/main">
              <a:ext uri="{FF2B5EF4-FFF2-40B4-BE49-F238E27FC236}">
                <a16:creationId xmlns:a16="http://schemas.microsoft.com/office/drawing/2014/main" id="{4A0CAE95-85D7-465E-BA34-F97288D0F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667125"/>
            <a:ext cx="228600" cy="28575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7E22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箭號: 向左 64">
            <a:extLst xmlns:a="http://schemas.openxmlformats.org/drawingml/2006/main">
              <a:ext uri="{FF2B5EF4-FFF2-40B4-BE49-F238E27FC236}">
                <a16:creationId xmlns:a16="http://schemas.microsoft.com/office/drawing/2014/main" id="{9AB6F87B-81B0-4571-9DF7-C99FA119A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9325" y="3667125"/>
            <a:ext cx="228600" cy="28575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箭號: 向下 65">
            <a:extLst xmlns:a="http://schemas.openxmlformats.org/drawingml/2006/main">
              <a:ext uri="{FF2B5EF4-FFF2-40B4-BE49-F238E27FC236}">
                <a16:creationId xmlns:a16="http://schemas.microsoft.com/office/drawing/2014/main" id="{A36D1BD5-D6D2-42A8-8542-BDF0F8961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305300"/>
            <a:ext cx="304800" cy="4572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矩形 66">
            <a:extLst xmlns:a="http://schemas.openxmlformats.org/drawingml/2006/main">
              <a:ext uri="{FF2B5EF4-FFF2-40B4-BE49-F238E27FC236}">
                <a16:creationId xmlns:a16="http://schemas.microsoft.com/office/drawing/2014/main" id="{0FB8E8E9-9A2A-41BD-BC85-38F3226BB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573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5803D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15803D"/>
                </a:solidFill>
                <a:latin typeface="Noto Sans TC"/>
                <a:ea typeface="Noto Sans TC"/>
                <a:cs typeface="Noto Sans TC"/>
              </a:rPr>
              <a:t>VERIFIED ACCESS BASELINE</a:t>
            </a:r>
          </a:p>
        </p:txBody>
      </p:sp>
      <p:sp>
        <p:nvSpPr>
          <p:cNvPr id="68" name="矩形 67">
            <a:extLst xmlns:a="http://schemas.openxmlformats.org/drawingml/2006/main">
              <a:ext uri="{FF2B5EF4-FFF2-40B4-BE49-F238E27FC236}">
                <a16:creationId xmlns:a16="http://schemas.microsoft.com/office/drawing/2014/main" id="{822389D2-9D4D-492E-8484-18585B6A0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0289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563EB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2563EB"/>
                </a:solidFill>
                <a:latin typeface="Noto Sans TC"/>
                <a:ea typeface="Noto Sans TC"/>
                <a:cs typeface="Noto Sans TC"/>
              </a:rPr>
              <a:t>STEP 12 · FLOW CONSOLIDATION</a:t>
            </a:r>
          </a:p>
        </p:txBody>
      </p:sp>
      <p:sp>
        <p:nvSpPr>
          <p:cNvPr id="69" name="矩形 68">
            <a:extLst xmlns:a="http://schemas.openxmlformats.org/drawingml/2006/main">
              <a:ext uri="{FF2B5EF4-FFF2-40B4-BE49-F238E27FC236}">
                <a16:creationId xmlns:a16="http://schemas.microsoft.com/office/drawing/2014/main" id="{D987DCC2-D4C2-441D-8E1A-BBA52ECF8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30289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D97706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D97706"/>
                </a:solidFill>
                <a:latin typeface="Noto Sans TC"/>
                <a:ea typeface="Noto Sans TC"/>
                <a:cs typeface="Noto Sans TC"/>
              </a:rPr>
              <a:t>NEXT TARGET · ATPG FLOW</a:t>
            </a:r>
          </a:p>
        </p:txBody>
      </p:sp>
      <p:sp>
        <p:nvSpPr>
          <p:cNvPr id="70" name="矩形: 圓角 69">
            <a:extLst xmlns:a="http://schemas.openxmlformats.org/drawingml/2006/main">
              <a:ext uri="{FF2B5EF4-FFF2-40B4-BE49-F238E27FC236}">
                <a16:creationId xmlns:a16="http://schemas.microsoft.com/office/drawing/2014/main" id="{5E14F353-9F0C-47D4-B70D-ADFF3C99C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00200"/>
            <a:ext cx="16764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1F4E8"/>
          </a:solidFill>
          <a:ln xmlns:a="http://schemas.openxmlformats.org/drawingml/2006/main" w="14288">
            <a:solidFill>
              <a:srgbClr val="15803D"/>
            </a:solidFill>
            <a:prstDash val="solid"/>
          </a:ln>
        </p:spPr>
      </p:sp>
      <p:sp>
        <p:nvSpPr>
          <p:cNvPr id="71" name="矩形 70">
            <a:extLst xmlns:a="http://schemas.openxmlformats.org/drawingml/2006/main">
              <a:ext uri="{FF2B5EF4-FFF2-40B4-BE49-F238E27FC236}">
                <a16:creationId xmlns:a16="http://schemas.microsoft.com/office/drawing/2014/main" id="{48888BDA-0275-481A-925A-762D331B0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954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5803D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15803D"/>
                </a:solidFill>
                <a:latin typeface="Noto Sans TC"/>
                <a:ea typeface="Noto Sans TC"/>
                <a:cs typeface="Noto Sans TC"/>
              </a:rPr>
              <a:t>01</a:t>
            </a:r>
          </a:p>
        </p:txBody>
      </p:sp>
      <p:sp>
        <p:nvSpPr>
          <p:cNvPr id="72" name="橢圓 71">
            <a:extLst xmlns:a="http://schemas.openxmlformats.org/drawingml/2006/main">
              <a:ext uri="{FF2B5EF4-FFF2-40B4-BE49-F238E27FC236}">
                <a16:creationId xmlns:a16="http://schemas.microsoft.com/office/drawing/2014/main" id="{8851323E-D63D-429F-9F93-6A8E4996C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16954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F2E5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</p:sp>
      <p:sp>
        <p:nvSpPr>
          <p:cNvPr id="73" name="矩形 72">
            <a:extLst xmlns:a="http://schemas.openxmlformats.org/drawingml/2006/main">
              <a:ext uri="{FF2B5EF4-FFF2-40B4-BE49-F238E27FC236}">
                <a16:creationId xmlns:a16="http://schemas.microsoft.com/office/drawing/2014/main" id="{CC4EB528-1F93-45F4-9879-E07E3398F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1685925"/>
            <a:ext cx="19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15803D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15803D"/>
                </a:solidFill>
                <a:latin typeface="Noto Sans TC"/>
                <a:ea typeface="Noto Sans TC"/>
                <a:cs typeface="Noto Sans TC"/>
              </a:rPr>
              <a:t>✓</a:t>
            </a:r>
          </a:p>
        </p:txBody>
      </p:sp>
      <p:sp>
        <p:nvSpPr>
          <p:cNvPr id="74" name="矩形 73">
            <a:extLst xmlns:a="http://schemas.openxmlformats.org/drawingml/2006/main">
              <a:ext uri="{FF2B5EF4-FFF2-40B4-BE49-F238E27FC236}">
                <a16:creationId xmlns:a16="http://schemas.microsoft.com/office/drawing/2014/main" id="{67584DB2-BC4F-4371-8EBA-E7CBEE0EA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24050"/>
            <a:ext cx="1409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4532D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1">
                <a:solidFill>
                  <a:srgbClr val="14532D"/>
                </a:solidFill>
                <a:latin typeface="Noto Sans TC"/>
                <a:ea typeface="Noto Sans TC"/>
                <a:cs typeface="Noto Sans TC"/>
              </a:rPr>
              <a:t>Environment</a:t>
            </a:r>
          </a:p>
        </p:txBody>
      </p:sp>
      <p:sp>
        <p:nvSpPr>
          <p:cNvPr id="75" name="矩形 74">
            <a:extLst xmlns:a="http://schemas.openxmlformats.org/drawingml/2006/main">
              <a:ext uri="{FF2B5EF4-FFF2-40B4-BE49-F238E27FC236}">
                <a16:creationId xmlns:a16="http://schemas.microsoft.com/office/drawing/2014/main" id="{EF55CB52-80FA-4683-BC82-3298D3DEB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90750"/>
            <a:ext cx="1409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3F6650"/>
                </a:solidFill>
                <a:latin typeface="Noto Sans TC"/>
                <a:ea typeface="Noto Sans TC"/>
                <a:cs typeface="Noto Sans TC"/>
              </a:defRPr>
            </a:pPr>
            <a:r>
              <a:rPr sz="825" b="0">
                <a:solidFill>
                  <a:srgbClr val="3F6650"/>
                </a:solidFill>
                <a:latin typeface="Noto Sans TC"/>
                <a:ea typeface="Noto Sans TC"/>
                <a:cs typeface="Noto Sans TC"/>
              </a:rPr>
              <a:t>scripts ready</a:t>
            </a:r>
          </a:p>
        </p:txBody>
      </p:sp>
      <p:sp>
        <p:nvSpPr>
          <p:cNvPr id="76" name="矩形: 圓角 75">
            <a:extLst xmlns:a="http://schemas.openxmlformats.org/drawingml/2006/main">
              <a:ext uri="{FF2B5EF4-FFF2-40B4-BE49-F238E27FC236}">
                <a16:creationId xmlns:a16="http://schemas.microsoft.com/office/drawing/2014/main" id="{AD9E8E1D-CACD-4E73-894D-21656912C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1600200"/>
            <a:ext cx="16764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1F4E8"/>
          </a:solidFill>
          <a:ln xmlns:a="http://schemas.openxmlformats.org/drawingml/2006/main" w="14288">
            <a:solidFill>
              <a:srgbClr val="15803D"/>
            </a:solidFill>
            <a:prstDash val="solid"/>
          </a:ln>
        </p:spPr>
      </p:sp>
      <p:sp>
        <p:nvSpPr>
          <p:cNvPr id="77" name="矩形 76">
            <a:extLst xmlns:a="http://schemas.openxmlformats.org/drawingml/2006/main">
              <a:ext uri="{FF2B5EF4-FFF2-40B4-BE49-F238E27FC236}">
                <a16:creationId xmlns:a16="http://schemas.microsoft.com/office/drawing/2014/main" id="{756A35FF-0B82-4951-9FA9-B859AF436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16954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5803D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15803D"/>
                </a:solidFill>
                <a:latin typeface="Noto Sans TC"/>
                <a:ea typeface="Noto Sans TC"/>
                <a:cs typeface="Noto Sans TC"/>
              </a:rPr>
              <a:t>02</a:t>
            </a:r>
          </a:p>
        </p:txBody>
      </p:sp>
      <p:sp>
        <p:nvSpPr>
          <p:cNvPr id="78" name="橢圓 77">
            <a:extLst xmlns:a="http://schemas.openxmlformats.org/drawingml/2006/main">
              <a:ext uri="{FF2B5EF4-FFF2-40B4-BE49-F238E27FC236}">
                <a16:creationId xmlns:a16="http://schemas.microsoft.com/office/drawing/2014/main" id="{F5F17EB4-57AC-4BEF-A3FD-B6E26B980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16954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F2E5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</p:sp>
      <p:sp>
        <p:nvSpPr>
          <p:cNvPr id="79" name="矩形 78">
            <a:extLst xmlns:a="http://schemas.openxmlformats.org/drawingml/2006/main">
              <a:ext uri="{FF2B5EF4-FFF2-40B4-BE49-F238E27FC236}">
                <a16:creationId xmlns:a16="http://schemas.microsoft.com/office/drawing/2014/main" id="{DFE6C176-7373-409C-9B70-F9F67B4CA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1685925"/>
            <a:ext cx="19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15803D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15803D"/>
                </a:solidFill>
                <a:latin typeface="Noto Sans TC"/>
                <a:ea typeface="Noto Sans TC"/>
                <a:cs typeface="Noto Sans TC"/>
              </a:rPr>
              <a:t>✓</a:t>
            </a:r>
          </a:p>
        </p:txBody>
      </p:sp>
      <p:sp>
        <p:nvSpPr>
          <p:cNvPr id="80" name="矩形 79">
            <a:extLst xmlns:a="http://schemas.openxmlformats.org/drawingml/2006/main">
              <a:ext uri="{FF2B5EF4-FFF2-40B4-BE49-F238E27FC236}">
                <a16:creationId xmlns:a16="http://schemas.microsoft.com/office/drawing/2014/main" id="{D624023D-32C0-434D-A8B1-EA8D36825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1924050"/>
            <a:ext cx="1409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4532D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1">
                <a:solidFill>
                  <a:srgbClr val="14532D"/>
                </a:solidFill>
                <a:latin typeface="Noto Sans TC"/>
                <a:ea typeface="Noto Sans TC"/>
                <a:cs typeface="Noto Sans TC"/>
              </a:rPr>
              <a:t>RTL Insertion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B50ED4ED-9E93-424D-ADE3-AD69B1AC6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2190750"/>
            <a:ext cx="1409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3F6650"/>
                </a:solidFill>
                <a:latin typeface="Noto Sans TC"/>
                <a:ea typeface="Noto Sans TC"/>
                <a:cs typeface="Noto Sans TC"/>
              </a:defRPr>
            </a:pPr>
            <a:r>
              <a:rPr sz="825" b="0">
                <a:solidFill>
                  <a:srgbClr val="3F6650"/>
                </a:solidFill>
                <a:latin typeface="Noto Sans TC"/>
                <a:ea typeface="Noto Sans TC"/>
                <a:cs typeface="Noto Sans TC"/>
              </a:rPr>
              <a:t>network inserted</a:t>
            </a:r>
          </a:p>
        </p:txBody>
      </p:sp>
      <p:sp>
        <p:nvSpPr>
          <p:cNvPr id="82" name="矩形: 圓角 81">
            <a:extLst xmlns:a="http://schemas.openxmlformats.org/drawingml/2006/main">
              <a:ext uri="{FF2B5EF4-FFF2-40B4-BE49-F238E27FC236}">
                <a16:creationId xmlns:a16="http://schemas.microsoft.com/office/drawing/2014/main" id="{3A7DC4A5-7B1C-40DB-B0E1-5FB1869F7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600200"/>
            <a:ext cx="16764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1F4E8"/>
          </a:solidFill>
          <a:ln xmlns:a="http://schemas.openxmlformats.org/drawingml/2006/main" w="14288">
            <a:solidFill>
              <a:srgbClr val="15803D"/>
            </a:solidFill>
            <a:prstDash val="solid"/>
          </a:ln>
        </p:spPr>
      </p:sp>
      <p:sp>
        <p:nvSpPr>
          <p:cNvPr id="83" name="矩形 82">
            <a:extLst xmlns:a="http://schemas.openxmlformats.org/drawingml/2006/main">
              <a:ext uri="{FF2B5EF4-FFF2-40B4-BE49-F238E27FC236}">
                <a16:creationId xmlns:a16="http://schemas.microsoft.com/office/drawing/2014/main" id="{CB3D56E4-7134-4FD0-8347-57BA60799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6954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5803D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15803D"/>
                </a:solidFill>
                <a:latin typeface="Noto Sans TC"/>
                <a:ea typeface="Noto Sans TC"/>
                <a:cs typeface="Noto Sans TC"/>
              </a:rPr>
              <a:t>03</a:t>
            </a:r>
          </a:p>
        </p:txBody>
      </p:sp>
      <p:sp>
        <p:nvSpPr>
          <p:cNvPr id="84" name="橢圓 83">
            <a:extLst xmlns:a="http://schemas.openxmlformats.org/drawingml/2006/main">
              <a:ext uri="{FF2B5EF4-FFF2-40B4-BE49-F238E27FC236}">
                <a16:creationId xmlns:a16="http://schemas.microsoft.com/office/drawing/2014/main" id="{A247E3F7-50EF-4FDF-805A-0B0AF5A2B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16954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F2E5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</p:sp>
      <p:sp>
        <p:nvSpPr>
          <p:cNvPr id="85" name="矩形 84">
            <a:extLst xmlns:a="http://schemas.openxmlformats.org/drawingml/2006/main">
              <a:ext uri="{FF2B5EF4-FFF2-40B4-BE49-F238E27FC236}">
                <a16:creationId xmlns:a16="http://schemas.microsoft.com/office/drawing/2014/main" id="{A92756D4-3BEB-40DC-A916-2FBFEA31C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1685925"/>
            <a:ext cx="19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15803D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15803D"/>
                </a:solidFill>
                <a:latin typeface="Noto Sans TC"/>
                <a:ea typeface="Noto Sans TC"/>
                <a:cs typeface="Noto Sans TC"/>
              </a:rPr>
              <a:t>✓</a:t>
            </a:r>
          </a:p>
        </p:txBody>
      </p:sp>
      <p:sp>
        <p:nvSpPr>
          <p:cNvPr id="86" name="矩形 85">
            <a:extLst xmlns:a="http://schemas.openxmlformats.org/drawingml/2006/main">
              <a:ext uri="{FF2B5EF4-FFF2-40B4-BE49-F238E27FC236}">
                <a16:creationId xmlns:a16="http://schemas.microsoft.com/office/drawing/2014/main" id="{D34F6A24-9F16-4E96-B70B-1F3ECAE57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924050"/>
            <a:ext cx="1409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4532D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1">
                <a:solidFill>
                  <a:srgbClr val="14532D"/>
                </a:solidFill>
                <a:latin typeface="Noto Sans TC"/>
                <a:ea typeface="Noto Sans TC"/>
                <a:cs typeface="Noto Sans TC"/>
              </a:rPr>
              <a:t>ICL / PDL</a:t>
            </a:r>
          </a:p>
        </p:txBody>
      </p:sp>
      <p:sp>
        <p:nvSpPr>
          <p:cNvPr id="87" name="矩形 86">
            <a:extLst xmlns:a="http://schemas.openxmlformats.org/drawingml/2006/main">
              <a:ext uri="{FF2B5EF4-FFF2-40B4-BE49-F238E27FC236}">
                <a16:creationId xmlns:a16="http://schemas.microsoft.com/office/drawing/2014/main" id="{6239BD7D-27E2-4856-B6F7-BD7BB4F10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190750"/>
            <a:ext cx="1409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3F6650"/>
                </a:solidFill>
                <a:latin typeface="Noto Sans TC"/>
                <a:ea typeface="Noto Sans TC"/>
                <a:cs typeface="Noto Sans TC"/>
              </a:defRPr>
            </a:pPr>
            <a:r>
              <a:rPr sz="825" b="0">
                <a:solidFill>
                  <a:srgbClr val="3F6650"/>
                </a:solidFill>
                <a:latin typeface="Noto Sans TC"/>
                <a:ea typeface="Noto Sans TC"/>
                <a:cs typeface="Noto Sans TC"/>
              </a:rPr>
              <a:t>paths retargeted</a:t>
            </a:r>
          </a:p>
        </p:txBody>
      </p:sp>
      <p:sp>
        <p:nvSpPr>
          <p:cNvPr id="88" name="矩形: 圓角 87">
            <a:extLst xmlns:a="http://schemas.openxmlformats.org/drawingml/2006/main">
              <a:ext uri="{FF2B5EF4-FFF2-40B4-BE49-F238E27FC236}">
                <a16:creationId xmlns:a16="http://schemas.microsoft.com/office/drawing/2014/main" id="{31C67081-8138-4F15-AD77-864AD9996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1600200"/>
            <a:ext cx="16764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1F4E8"/>
          </a:solidFill>
          <a:ln xmlns:a="http://schemas.openxmlformats.org/drawingml/2006/main" w="14288">
            <a:solidFill>
              <a:srgbClr val="15803D"/>
            </a:solidFill>
            <a:prstDash val="solid"/>
          </a:ln>
        </p:spPr>
      </p:sp>
      <p:sp>
        <p:nvSpPr>
          <p:cNvPr id="89" name="矩形 88">
            <a:extLst xmlns:a="http://schemas.openxmlformats.org/drawingml/2006/main">
              <a:ext uri="{FF2B5EF4-FFF2-40B4-BE49-F238E27FC236}">
                <a16:creationId xmlns:a16="http://schemas.microsoft.com/office/drawing/2014/main" id="{3A87FB28-2C24-4786-A9A9-77BD0355C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16954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5803D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15803D"/>
                </a:solidFill>
                <a:latin typeface="Noto Sans TC"/>
                <a:ea typeface="Noto Sans TC"/>
                <a:cs typeface="Noto Sans TC"/>
              </a:rPr>
              <a:t>04</a:t>
            </a:r>
          </a:p>
        </p:txBody>
      </p:sp>
      <p:sp>
        <p:nvSpPr>
          <p:cNvPr id="90" name="橢圓 89">
            <a:extLst xmlns:a="http://schemas.openxmlformats.org/drawingml/2006/main">
              <a:ext uri="{FF2B5EF4-FFF2-40B4-BE49-F238E27FC236}">
                <a16:creationId xmlns:a16="http://schemas.microsoft.com/office/drawing/2014/main" id="{AFF29621-7A17-4ECC-9136-00E8E3DF6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16954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F2E5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</p:sp>
      <p:sp>
        <p:nvSpPr>
          <p:cNvPr id="91" name="矩形 90">
            <a:extLst xmlns:a="http://schemas.openxmlformats.org/drawingml/2006/main">
              <a:ext uri="{FF2B5EF4-FFF2-40B4-BE49-F238E27FC236}">
                <a16:creationId xmlns:a16="http://schemas.microsoft.com/office/drawing/2014/main" id="{082EA367-4C87-4E65-A968-F13D7E695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1685925"/>
            <a:ext cx="19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15803D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15803D"/>
                </a:solidFill>
                <a:latin typeface="Noto Sans TC"/>
                <a:ea typeface="Noto Sans TC"/>
                <a:cs typeface="Noto Sans TC"/>
              </a:rPr>
              <a:t>✓</a:t>
            </a:r>
          </a:p>
        </p:txBody>
      </p:sp>
      <p:sp>
        <p:nvSpPr>
          <p:cNvPr id="92" name="矩形 91">
            <a:extLst xmlns:a="http://schemas.openxmlformats.org/drawingml/2006/main">
              <a:ext uri="{FF2B5EF4-FFF2-40B4-BE49-F238E27FC236}">
                <a16:creationId xmlns:a16="http://schemas.microsoft.com/office/drawing/2014/main" id="{2495F8E8-5FA3-41DA-AB35-D5C4C2BCB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1924050"/>
            <a:ext cx="1409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4532D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1">
                <a:solidFill>
                  <a:srgbClr val="14532D"/>
                </a:solidFill>
                <a:latin typeface="Noto Sans TC"/>
                <a:ea typeface="Noto Sans TC"/>
                <a:cs typeface="Noto Sans TC"/>
              </a:rPr>
              <a:t>RTL Verify</a:t>
            </a:r>
          </a:p>
        </p:txBody>
      </p:sp>
      <p:sp>
        <p:nvSpPr>
          <p:cNvPr id="93" name="矩形 92">
            <a:extLst xmlns:a="http://schemas.openxmlformats.org/drawingml/2006/main">
              <a:ext uri="{FF2B5EF4-FFF2-40B4-BE49-F238E27FC236}">
                <a16:creationId xmlns:a16="http://schemas.microsoft.com/office/drawing/2014/main" id="{D4B53348-3DAF-4F1E-A71C-68DAC6563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2190750"/>
            <a:ext cx="1409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3F6650"/>
                </a:solidFill>
                <a:latin typeface="Noto Sans TC"/>
                <a:ea typeface="Noto Sans TC"/>
                <a:cs typeface="Noto Sans TC"/>
              </a:defRPr>
            </a:pPr>
            <a:r>
              <a:rPr sz="825" b="0">
                <a:solidFill>
                  <a:srgbClr val="3F6650"/>
                </a:solidFill>
                <a:latin typeface="Noto Sans TC"/>
                <a:ea typeface="Noto Sans TC"/>
                <a:cs typeface="Noto Sans TC"/>
              </a:rPr>
              <a:t>mismatch = 0</a:t>
            </a:r>
          </a:p>
        </p:txBody>
      </p:sp>
      <p:sp>
        <p:nvSpPr>
          <p:cNvPr id="94" name="矩形: 圓角 93">
            <a:extLst xmlns:a="http://schemas.openxmlformats.org/drawingml/2006/main">
              <a:ext uri="{FF2B5EF4-FFF2-40B4-BE49-F238E27FC236}">
                <a16:creationId xmlns:a16="http://schemas.microsoft.com/office/drawing/2014/main" id="{BBEC004F-3567-400A-8006-6831C8B87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600200"/>
            <a:ext cx="16764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1F4E8"/>
          </a:solidFill>
          <a:ln xmlns:a="http://schemas.openxmlformats.org/drawingml/2006/main" w="14288">
            <a:solidFill>
              <a:srgbClr val="15803D"/>
            </a:solidFill>
            <a:prstDash val="solid"/>
          </a:ln>
        </p:spPr>
      </p:sp>
      <p:sp>
        <p:nvSpPr>
          <p:cNvPr id="95" name="矩形 94">
            <a:extLst xmlns:a="http://schemas.openxmlformats.org/drawingml/2006/main">
              <a:ext uri="{FF2B5EF4-FFF2-40B4-BE49-F238E27FC236}">
                <a16:creationId xmlns:a16="http://schemas.microsoft.com/office/drawing/2014/main" id="{74303D1A-771A-4DBE-AE96-4F8010E90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6954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5803D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15803D"/>
                </a:solidFill>
                <a:latin typeface="Noto Sans TC"/>
                <a:ea typeface="Noto Sans TC"/>
                <a:cs typeface="Noto Sans TC"/>
              </a:rPr>
              <a:t>05</a:t>
            </a:r>
          </a:p>
        </p:txBody>
      </p:sp>
      <p:sp>
        <p:nvSpPr>
          <p:cNvPr id="96" name="橢圓 95">
            <a:extLst xmlns:a="http://schemas.openxmlformats.org/drawingml/2006/main">
              <a:ext uri="{FF2B5EF4-FFF2-40B4-BE49-F238E27FC236}">
                <a16:creationId xmlns:a16="http://schemas.microsoft.com/office/drawing/2014/main" id="{AF78893A-9B4F-470E-9382-6A105BD7D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16954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F2E5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</p:sp>
      <p:sp>
        <p:nvSpPr>
          <p:cNvPr id="97" name="矩形 96">
            <a:extLst xmlns:a="http://schemas.openxmlformats.org/drawingml/2006/main">
              <a:ext uri="{FF2B5EF4-FFF2-40B4-BE49-F238E27FC236}">
                <a16:creationId xmlns:a16="http://schemas.microsoft.com/office/drawing/2014/main" id="{3EF16CD6-C8FA-4627-983F-34631A1A3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1685925"/>
            <a:ext cx="19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15803D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15803D"/>
                </a:solidFill>
                <a:latin typeface="Noto Sans TC"/>
                <a:ea typeface="Noto Sans TC"/>
                <a:cs typeface="Noto Sans TC"/>
              </a:rPr>
              <a:t>✓</a:t>
            </a:r>
          </a:p>
        </p:txBody>
      </p:sp>
      <p:sp>
        <p:nvSpPr>
          <p:cNvPr id="98" name="矩形 97">
            <a:extLst xmlns:a="http://schemas.openxmlformats.org/drawingml/2006/main">
              <a:ext uri="{FF2B5EF4-FFF2-40B4-BE49-F238E27FC236}">
                <a16:creationId xmlns:a16="http://schemas.microsoft.com/office/drawing/2014/main" id="{CCF05A34-677B-4B55-8E7E-FCCA1FC66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924050"/>
            <a:ext cx="1409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4532D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1">
                <a:solidFill>
                  <a:srgbClr val="14532D"/>
                </a:solidFill>
                <a:latin typeface="Noto Sans TC"/>
                <a:ea typeface="Noto Sans TC"/>
                <a:cs typeface="Noto Sans TC"/>
              </a:rPr>
              <a:t>Synthesis</a:t>
            </a:r>
          </a:p>
        </p:txBody>
      </p:sp>
      <p:sp>
        <p:nvSpPr>
          <p:cNvPr id="99" name="矩形 98">
            <a:extLst xmlns:a="http://schemas.openxmlformats.org/drawingml/2006/main">
              <a:ext uri="{FF2B5EF4-FFF2-40B4-BE49-F238E27FC236}">
                <a16:creationId xmlns:a16="http://schemas.microsoft.com/office/drawing/2014/main" id="{5E7B74B5-ADA2-42DF-BD32-316119FF5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190750"/>
            <a:ext cx="1409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3F6650"/>
                </a:solidFill>
                <a:latin typeface="Noto Sans TC"/>
                <a:ea typeface="Noto Sans TC"/>
                <a:cs typeface="Noto Sans TC"/>
              </a:defRPr>
            </a:pPr>
            <a:r>
              <a:rPr sz="825" b="0">
                <a:solidFill>
                  <a:srgbClr val="3F6650"/>
                </a:solidFill>
                <a:latin typeface="Noto Sans TC"/>
                <a:ea typeface="Noto Sans TC"/>
                <a:cs typeface="Noto Sans TC"/>
              </a:rPr>
              <a:t>network preserved</a:t>
            </a:r>
          </a:p>
        </p:txBody>
      </p:sp>
      <p:sp>
        <p:nvSpPr>
          <p:cNvPr id="100" name="矩形: 圓角 99">
            <a:extLst xmlns:a="http://schemas.openxmlformats.org/drawingml/2006/main">
              <a:ext uri="{FF2B5EF4-FFF2-40B4-BE49-F238E27FC236}">
                <a16:creationId xmlns:a16="http://schemas.microsoft.com/office/drawing/2014/main" id="{A3264283-8F6B-43D0-8FB7-7A382C330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3675" y="1600200"/>
            <a:ext cx="16764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1F4E8"/>
          </a:solidFill>
          <a:ln xmlns:a="http://schemas.openxmlformats.org/drawingml/2006/main" w="14288">
            <a:solidFill>
              <a:srgbClr val="15803D"/>
            </a:solidFill>
            <a:prstDash val="solid"/>
          </a:ln>
        </p:spPr>
      </p:sp>
      <p:sp>
        <p:nvSpPr>
          <p:cNvPr id="101" name="矩形 100">
            <a:extLst xmlns:a="http://schemas.openxmlformats.org/drawingml/2006/main">
              <a:ext uri="{FF2B5EF4-FFF2-40B4-BE49-F238E27FC236}">
                <a16:creationId xmlns:a16="http://schemas.microsoft.com/office/drawing/2014/main" id="{8A4877AB-7CCD-49D0-BCA6-D7D1A04D3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7025" y="16954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5803D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15803D"/>
                </a:solidFill>
                <a:latin typeface="Noto Sans TC"/>
                <a:ea typeface="Noto Sans TC"/>
                <a:cs typeface="Noto Sans TC"/>
              </a:rPr>
              <a:t>06</a:t>
            </a:r>
          </a:p>
        </p:txBody>
      </p:sp>
      <p:sp>
        <p:nvSpPr>
          <p:cNvPr id="102" name="橢圓 101">
            <a:extLst xmlns:a="http://schemas.openxmlformats.org/drawingml/2006/main">
              <a:ext uri="{FF2B5EF4-FFF2-40B4-BE49-F238E27FC236}">
                <a16:creationId xmlns:a16="http://schemas.microsoft.com/office/drawing/2014/main" id="{EA02D0B3-8AB9-486F-9A43-96B0DAAB5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6225" y="16954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F2E5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</p:sp>
      <p:sp>
        <p:nvSpPr>
          <p:cNvPr id="103" name="矩形 102">
            <a:extLst xmlns:a="http://schemas.openxmlformats.org/drawingml/2006/main">
              <a:ext uri="{FF2B5EF4-FFF2-40B4-BE49-F238E27FC236}">
                <a16:creationId xmlns:a16="http://schemas.microsoft.com/office/drawing/2014/main" id="{6E5AE58C-2365-488F-B9AB-34100BCB6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6225" y="1685925"/>
            <a:ext cx="19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15803D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15803D"/>
                </a:solidFill>
                <a:latin typeface="Noto Sans TC"/>
                <a:ea typeface="Noto Sans TC"/>
                <a:cs typeface="Noto Sans TC"/>
              </a:rPr>
              <a:t>✓</a:t>
            </a:r>
          </a:p>
        </p:txBody>
      </p:sp>
      <p:sp>
        <p:nvSpPr>
          <p:cNvPr id="104" name="矩形 103">
            <a:extLst xmlns:a="http://schemas.openxmlformats.org/drawingml/2006/main">
              <a:ext uri="{FF2B5EF4-FFF2-40B4-BE49-F238E27FC236}">
                <a16:creationId xmlns:a16="http://schemas.microsoft.com/office/drawing/2014/main" id="{28EF9F03-06EE-4C67-96B7-D98B14A39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7025" y="1924050"/>
            <a:ext cx="1409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4532D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1">
                <a:solidFill>
                  <a:srgbClr val="14532D"/>
                </a:solidFill>
                <a:latin typeface="Noto Sans TC"/>
                <a:ea typeface="Noto Sans TC"/>
                <a:cs typeface="Noto Sans TC"/>
              </a:rPr>
              <a:t>Gate Verify</a:t>
            </a:r>
          </a:p>
        </p:txBody>
      </p:sp>
      <p:sp>
        <p:nvSpPr>
          <p:cNvPr id="105" name="矩形 104">
            <a:extLst xmlns:a="http://schemas.openxmlformats.org/drawingml/2006/main">
              <a:ext uri="{FF2B5EF4-FFF2-40B4-BE49-F238E27FC236}">
                <a16:creationId xmlns:a16="http://schemas.microsoft.com/office/drawing/2014/main" id="{9FD1E6FA-0C16-4E8F-86F8-DA25DC707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7025" y="2190750"/>
            <a:ext cx="1409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3F6650"/>
                </a:solidFill>
                <a:latin typeface="Noto Sans TC"/>
                <a:ea typeface="Noto Sans TC"/>
                <a:cs typeface="Noto Sans TC"/>
              </a:defRPr>
            </a:pPr>
            <a:r>
              <a:rPr sz="825" b="0">
                <a:solidFill>
                  <a:srgbClr val="3F6650"/>
                </a:solidFill>
                <a:latin typeface="Noto Sans TC"/>
                <a:ea typeface="Noto Sans TC"/>
                <a:cs typeface="Noto Sans TC"/>
              </a:rPr>
              <a:t>RTL = gate</a:t>
            </a:r>
          </a:p>
        </p:txBody>
      </p:sp>
      <p:sp>
        <p:nvSpPr>
          <p:cNvPr id="106" name="矩形: 圓角 105">
            <a:extLst xmlns:a="http://schemas.openxmlformats.org/drawingml/2006/main">
              <a:ext uri="{FF2B5EF4-FFF2-40B4-BE49-F238E27FC236}">
                <a16:creationId xmlns:a16="http://schemas.microsoft.com/office/drawing/2014/main" id="{37E592D2-775B-40D2-B052-DB95DD1B9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371850"/>
            <a:ext cx="16764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7F0FF"/>
          </a:solidFill>
          <a:ln xmlns:a="http://schemas.openxmlformats.org/drawingml/2006/main" w="14288">
            <a:solidFill>
              <a:srgbClr val="2563EB"/>
            </a:solidFill>
            <a:prstDash val="solid"/>
          </a:ln>
        </p:spPr>
      </p:sp>
      <p:sp>
        <p:nvSpPr>
          <p:cNvPr id="107" name="矩形 106">
            <a:extLst xmlns:a="http://schemas.openxmlformats.org/drawingml/2006/main">
              <a:ext uri="{FF2B5EF4-FFF2-40B4-BE49-F238E27FC236}">
                <a16:creationId xmlns:a16="http://schemas.microsoft.com/office/drawing/2014/main" id="{4F3C3ACA-1FAE-492D-A0A7-B4D5B5126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671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563EB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2563EB"/>
                </a:solidFill>
                <a:latin typeface="Noto Sans TC"/>
                <a:ea typeface="Noto Sans TC"/>
                <a:cs typeface="Noto Sans TC"/>
              </a:rPr>
              <a:t>12</a:t>
            </a:r>
          </a:p>
        </p:txBody>
      </p:sp>
      <p:sp>
        <p:nvSpPr>
          <p:cNvPr id="108" name="矩形 107">
            <a:extLst xmlns:a="http://schemas.openxmlformats.org/drawingml/2006/main">
              <a:ext uri="{FF2B5EF4-FFF2-40B4-BE49-F238E27FC236}">
                <a16:creationId xmlns:a16="http://schemas.microsoft.com/office/drawing/2014/main" id="{1F4C72FC-B395-49C8-B4C9-472CEE2C2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95700"/>
            <a:ext cx="1409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D4ED8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1">
                <a:solidFill>
                  <a:srgbClr val="1D4ED8"/>
                </a:solidFill>
                <a:latin typeface="Noto Sans TC"/>
                <a:ea typeface="Noto Sans TC"/>
                <a:cs typeface="Noto Sans TC"/>
              </a:rPr>
              <a:t>Flow Cleanup</a:t>
            </a:r>
          </a:p>
        </p:txBody>
      </p:sp>
      <p:sp>
        <p:nvSpPr>
          <p:cNvPr id="109" name="矩形 108">
            <a:extLst xmlns:a="http://schemas.openxmlformats.org/drawingml/2006/main">
              <a:ext uri="{FF2B5EF4-FFF2-40B4-BE49-F238E27FC236}">
                <a16:creationId xmlns:a16="http://schemas.microsoft.com/office/drawing/2014/main" id="{D0179B0D-728F-4EBC-A5D1-960FA18D4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962400"/>
            <a:ext cx="1409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4B6481"/>
                </a:solidFill>
                <a:latin typeface="Noto Sans TC"/>
                <a:ea typeface="Noto Sans TC"/>
                <a:cs typeface="Noto Sans TC"/>
              </a:defRPr>
            </a:pPr>
            <a:r>
              <a:rPr sz="825" b="0">
                <a:solidFill>
                  <a:srgbClr val="4B6481"/>
                </a:solidFill>
                <a:latin typeface="Noto Sans TC"/>
                <a:ea typeface="Noto Sans TC"/>
                <a:cs typeface="Noto Sans TC"/>
              </a:rPr>
              <a:t>Tcl + folders</a:t>
            </a:r>
          </a:p>
        </p:txBody>
      </p:sp>
      <p:sp>
        <p:nvSpPr>
          <p:cNvPr id="110" name="矩形: 圓角 109">
            <a:extLst xmlns:a="http://schemas.openxmlformats.org/drawingml/2006/main">
              <a:ext uri="{FF2B5EF4-FFF2-40B4-BE49-F238E27FC236}">
                <a16:creationId xmlns:a16="http://schemas.microsoft.com/office/drawing/2014/main" id="{F6DCE00E-D3AA-4550-B58A-7B32CF7A5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3371850"/>
            <a:ext cx="16764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1E8FF"/>
          </a:solidFill>
          <a:ln xmlns:a="http://schemas.openxmlformats.org/drawingml/2006/main" w="14288">
            <a:solidFill>
              <a:srgbClr val="7E22CE"/>
            </a:solidFill>
            <a:prstDash val="solid"/>
          </a:ln>
        </p:spPr>
      </p:sp>
      <p:sp>
        <p:nvSpPr>
          <p:cNvPr id="111" name="矩形 110">
            <a:extLst xmlns:a="http://schemas.openxmlformats.org/drawingml/2006/main">
              <a:ext uri="{FF2B5EF4-FFF2-40B4-BE49-F238E27FC236}">
                <a16:creationId xmlns:a16="http://schemas.microsoft.com/office/drawing/2014/main" id="{A450F0FB-8EA9-4008-A6DA-7640ADFF2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34671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7E22CE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7E22CE"/>
                </a:solidFill>
                <a:latin typeface="Noto Sans TC"/>
                <a:ea typeface="Noto Sans TC"/>
                <a:cs typeface="Noto Sans TC"/>
              </a:rPr>
              <a:t>11</a:t>
            </a:r>
          </a:p>
        </p:txBody>
      </p:sp>
      <p:sp>
        <p:nvSpPr>
          <p:cNvPr id="112" name="矩形 111">
            <a:extLst xmlns:a="http://schemas.openxmlformats.org/drawingml/2006/main">
              <a:ext uri="{FF2B5EF4-FFF2-40B4-BE49-F238E27FC236}">
                <a16:creationId xmlns:a16="http://schemas.microsoft.com/office/drawing/2014/main" id="{3D1C2047-700D-42BD-974A-105FA7F58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3695700"/>
            <a:ext cx="1409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5B21B6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1">
                <a:solidFill>
                  <a:srgbClr val="5B21B6"/>
                </a:solidFill>
                <a:latin typeface="Noto Sans TC"/>
                <a:ea typeface="Noto Sans TC"/>
                <a:cs typeface="Noto Sans TC"/>
              </a:rPr>
              <a:t>DWR Test</a:t>
            </a:r>
          </a:p>
        </p:txBody>
      </p:sp>
      <p:sp>
        <p:nvSpPr>
          <p:cNvPr id="113" name="矩形 112">
            <a:extLst xmlns:a="http://schemas.openxmlformats.org/drawingml/2006/main">
              <a:ext uri="{FF2B5EF4-FFF2-40B4-BE49-F238E27FC236}">
                <a16:creationId xmlns:a16="http://schemas.microsoft.com/office/drawing/2014/main" id="{E68821F2-AA64-4810-A8F4-AED14B1C7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3962400"/>
            <a:ext cx="1409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B4E8E"/>
                </a:solidFill>
                <a:latin typeface="Noto Sans TC"/>
                <a:ea typeface="Noto Sans TC"/>
                <a:cs typeface="Noto Sans TC"/>
              </a:defRPr>
            </a:pPr>
            <a:r>
              <a:rPr sz="825" b="0">
                <a:solidFill>
                  <a:srgbClr val="6B4E8E"/>
                </a:solidFill>
                <a:latin typeface="Noto Sans TC"/>
                <a:ea typeface="Noto Sans TC"/>
                <a:cs typeface="Noto Sans TC"/>
              </a:rPr>
              <a:t>additional bonus</a:t>
            </a:r>
          </a:p>
        </p:txBody>
      </p:sp>
      <p:sp>
        <p:nvSpPr>
          <p:cNvPr id="114" name="矩形: 圓角 113">
            <a:extLst xmlns:a="http://schemas.openxmlformats.org/drawingml/2006/main">
              <a:ext uri="{FF2B5EF4-FFF2-40B4-BE49-F238E27FC236}">
                <a16:creationId xmlns:a16="http://schemas.microsoft.com/office/drawing/2014/main" id="{67866C65-452D-44C2-9278-8B6A9A67A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371850"/>
            <a:ext cx="16764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1E8FF"/>
          </a:solidFill>
          <a:ln xmlns:a="http://schemas.openxmlformats.org/drawingml/2006/main" w="14288">
            <a:solidFill>
              <a:srgbClr val="7E22CE"/>
            </a:solidFill>
            <a:prstDash val="solid"/>
          </a:ln>
        </p:spPr>
      </p:sp>
      <p:sp>
        <p:nvSpPr>
          <p:cNvPr id="115" name="矩形 114">
            <a:extLst xmlns:a="http://schemas.openxmlformats.org/drawingml/2006/main">
              <a:ext uri="{FF2B5EF4-FFF2-40B4-BE49-F238E27FC236}">
                <a16:creationId xmlns:a16="http://schemas.microsoft.com/office/drawing/2014/main" id="{0F3C5144-25E8-4C3E-9E79-71CD2B7B9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4671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7E22CE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7E22CE"/>
                </a:solidFill>
                <a:latin typeface="Noto Sans TC"/>
                <a:ea typeface="Noto Sans TC"/>
                <a:cs typeface="Noto Sans TC"/>
              </a:rPr>
              <a:t>10</a:t>
            </a:r>
          </a:p>
        </p:txBody>
      </p:sp>
      <p:sp>
        <p:nvSpPr>
          <p:cNvPr id="116" name="矩形 115">
            <a:extLst xmlns:a="http://schemas.openxmlformats.org/drawingml/2006/main">
              <a:ext uri="{FF2B5EF4-FFF2-40B4-BE49-F238E27FC236}">
                <a16:creationId xmlns:a16="http://schemas.microsoft.com/office/drawing/2014/main" id="{5479CBDA-8192-4C46-AA48-A1CB9FB62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695700"/>
            <a:ext cx="1409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5B21B6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1">
                <a:solidFill>
                  <a:srgbClr val="5B21B6"/>
                </a:solidFill>
                <a:latin typeface="Noto Sans TC"/>
                <a:ea typeface="Noto Sans TC"/>
                <a:cs typeface="Noto Sans TC"/>
              </a:rPr>
              <a:t>Sensor Scan</a:t>
            </a:r>
          </a:p>
        </p:txBody>
      </p:sp>
      <p:sp>
        <p:nvSpPr>
          <p:cNvPr id="117" name="矩形 116">
            <a:extLst xmlns:a="http://schemas.openxmlformats.org/drawingml/2006/main">
              <a:ext uri="{FF2B5EF4-FFF2-40B4-BE49-F238E27FC236}">
                <a16:creationId xmlns:a16="http://schemas.microsoft.com/office/drawing/2014/main" id="{EAD494B5-4CF3-4016-9274-4B9EA07C2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962400"/>
            <a:ext cx="1409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B4E8E"/>
                </a:solidFill>
                <a:latin typeface="Noto Sans TC"/>
                <a:ea typeface="Noto Sans TC"/>
                <a:cs typeface="Noto Sans TC"/>
              </a:defRPr>
            </a:pPr>
            <a:r>
              <a:rPr sz="825" b="0">
                <a:solidFill>
                  <a:srgbClr val="6B4E8E"/>
                </a:solidFill>
                <a:latin typeface="Noto Sans TC"/>
                <a:ea typeface="Noto Sans TC"/>
                <a:cs typeface="Noto Sans TC"/>
              </a:rPr>
              <a:t>additional bonus</a:t>
            </a:r>
          </a:p>
        </p:txBody>
      </p:sp>
      <p:sp>
        <p:nvSpPr>
          <p:cNvPr id="118" name="矩形: 圓角 117">
            <a:extLst xmlns:a="http://schemas.openxmlformats.org/drawingml/2006/main">
              <a:ext uri="{FF2B5EF4-FFF2-40B4-BE49-F238E27FC236}">
                <a16:creationId xmlns:a16="http://schemas.microsoft.com/office/drawing/2014/main" id="{5C6031F7-FE61-4529-A176-05EB38BBC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3371850"/>
            <a:ext cx="16764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0E1"/>
          </a:solidFill>
          <a:ln xmlns:a="http://schemas.openxmlformats.org/drawingml/2006/main" w="14288">
            <a:solidFill>
              <a:srgbClr val="D97706"/>
            </a:solidFill>
            <a:prstDash val="solid"/>
          </a:ln>
        </p:spPr>
      </p:sp>
      <p:sp>
        <p:nvSpPr>
          <p:cNvPr id="119" name="矩形 118">
            <a:extLst xmlns:a="http://schemas.openxmlformats.org/drawingml/2006/main">
              <a:ext uri="{FF2B5EF4-FFF2-40B4-BE49-F238E27FC236}">
                <a16:creationId xmlns:a16="http://schemas.microsoft.com/office/drawing/2014/main" id="{C3D25948-55CA-42D7-8760-281A1C87C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34671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D97706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D97706"/>
                </a:solidFill>
                <a:latin typeface="Noto Sans TC"/>
                <a:ea typeface="Noto Sans TC"/>
                <a:cs typeface="Noto Sans TC"/>
              </a:rPr>
              <a:t>09</a:t>
            </a:r>
          </a:p>
        </p:txBody>
      </p:sp>
      <p:sp>
        <p:nvSpPr>
          <p:cNvPr id="120" name="矩形 119">
            <a:extLst xmlns:a="http://schemas.openxmlformats.org/drawingml/2006/main">
              <a:ext uri="{FF2B5EF4-FFF2-40B4-BE49-F238E27FC236}">
                <a16:creationId xmlns:a16="http://schemas.microsoft.com/office/drawing/2014/main" id="{39B1C189-1E5B-40A2-9329-54FFAA4CE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3695700"/>
            <a:ext cx="1409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9A3412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1">
                <a:solidFill>
                  <a:srgbClr val="9A3412"/>
                </a:solidFill>
                <a:latin typeface="Noto Sans TC"/>
                <a:ea typeface="Noto Sans TC"/>
                <a:cs typeface="Noto Sans TC"/>
              </a:rPr>
              <a:t>Regression</a:t>
            </a:r>
          </a:p>
        </p:txBody>
      </p:sp>
      <p:sp>
        <p:nvSpPr>
          <p:cNvPr id="121" name="矩形 120">
            <a:extLst xmlns:a="http://schemas.openxmlformats.org/drawingml/2006/main">
              <a:ext uri="{FF2B5EF4-FFF2-40B4-BE49-F238E27FC236}">
                <a16:creationId xmlns:a16="http://schemas.microsoft.com/office/drawing/2014/main" id="{E17FBE2F-3860-44AA-A57C-EF1B0FDC0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3962400"/>
            <a:ext cx="1409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7C4A2D"/>
                </a:solidFill>
                <a:latin typeface="Noto Sans TC"/>
                <a:ea typeface="Noto Sans TC"/>
                <a:cs typeface="Noto Sans TC"/>
              </a:defRPr>
            </a:pPr>
            <a:r>
              <a:rPr sz="825" b="0">
                <a:solidFill>
                  <a:srgbClr val="7C4A2D"/>
                </a:solidFill>
                <a:latin typeface="Noto Sans TC"/>
                <a:ea typeface="Noto Sans TC"/>
                <a:cs typeface="Noto Sans TC"/>
              </a:rPr>
              <a:t>coverage + PASS/FAIL</a:t>
            </a:r>
          </a:p>
        </p:txBody>
      </p:sp>
      <p:sp>
        <p:nvSpPr>
          <p:cNvPr id="122" name="矩形: 圓角 121">
            <a:extLst xmlns:a="http://schemas.openxmlformats.org/drawingml/2006/main">
              <a:ext uri="{FF2B5EF4-FFF2-40B4-BE49-F238E27FC236}">
                <a16:creationId xmlns:a16="http://schemas.microsoft.com/office/drawing/2014/main" id="{0200F915-ACC5-4EEB-913A-6A9981C4C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371850"/>
            <a:ext cx="16764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0E1"/>
          </a:solidFill>
          <a:ln xmlns:a="http://schemas.openxmlformats.org/drawingml/2006/main" w="14288">
            <a:solidFill>
              <a:srgbClr val="D97706"/>
            </a:solidFill>
            <a:prstDash val="solid"/>
          </a:ln>
        </p:spPr>
      </p:sp>
      <p:sp>
        <p:nvSpPr>
          <p:cNvPr id="123" name="矩形 122">
            <a:extLst xmlns:a="http://schemas.openxmlformats.org/drawingml/2006/main">
              <a:ext uri="{FF2B5EF4-FFF2-40B4-BE49-F238E27FC236}">
                <a16:creationId xmlns:a16="http://schemas.microsoft.com/office/drawing/2014/main" id="{95A03800-686E-44D3-862D-687E3F75F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4671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D97706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D97706"/>
                </a:solidFill>
                <a:latin typeface="Noto Sans TC"/>
                <a:ea typeface="Noto Sans TC"/>
                <a:cs typeface="Noto Sans TC"/>
              </a:rPr>
              <a:t>08</a:t>
            </a:r>
          </a:p>
        </p:txBody>
      </p:sp>
      <p:sp>
        <p:nvSpPr>
          <p:cNvPr id="124" name="矩形 123">
            <a:extLst xmlns:a="http://schemas.openxmlformats.org/drawingml/2006/main">
              <a:ext uri="{FF2B5EF4-FFF2-40B4-BE49-F238E27FC236}">
                <a16:creationId xmlns:a16="http://schemas.microsoft.com/office/drawing/2014/main" id="{A1430C12-9168-407C-A831-3835959E0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695700"/>
            <a:ext cx="1409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9A3412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1">
                <a:solidFill>
                  <a:srgbClr val="9A3412"/>
                </a:solidFill>
                <a:latin typeface="Noto Sans TC"/>
                <a:ea typeface="Noto Sans TC"/>
                <a:cs typeface="Noto Sans TC"/>
              </a:rPr>
              <a:t>ATPG Flow</a:t>
            </a:r>
          </a:p>
        </p:txBody>
      </p:sp>
      <p:sp>
        <p:nvSpPr>
          <p:cNvPr id="125" name="矩形 124">
            <a:extLst xmlns:a="http://schemas.openxmlformats.org/drawingml/2006/main">
              <a:ext uri="{FF2B5EF4-FFF2-40B4-BE49-F238E27FC236}">
                <a16:creationId xmlns:a16="http://schemas.microsoft.com/office/drawing/2014/main" id="{7EC50C2D-F81F-4D2B-A40A-0D60ECA14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962400"/>
            <a:ext cx="1409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7C4A2D"/>
                </a:solidFill>
                <a:latin typeface="Noto Sans TC"/>
                <a:ea typeface="Noto Sans TC"/>
                <a:cs typeface="Noto Sans TC"/>
              </a:defRPr>
            </a:pPr>
            <a:r>
              <a:rPr sz="825" b="0">
                <a:solidFill>
                  <a:srgbClr val="7C4A2D"/>
                </a:solidFill>
                <a:latin typeface="Noto Sans TC"/>
                <a:ea typeface="Noto Sans TC"/>
                <a:cs typeface="Noto Sans TC"/>
              </a:rPr>
              <a:t>generate + grade</a:t>
            </a:r>
          </a:p>
        </p:txBody>
      </p:sp>
      <p:sp>
        <p:nvSpPr>
          <p:cNvPr id="126" name="矩形: 圓角 125">
            <a:extLst xmlns:a="http://schemas.openxmlformats.org/drawingml/2006/main">
              <a:ext uri="{FF2B5EF4-FFF2-40B4-BE49-F238E27FC236}">
                <a16:creationId xmlns:a16="http://schemas.microsoft.com/office/drawing/2014/main" id="{B49964EE-3DD4-4834-9AF3-76B553D9B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3675" y="3371850"/>
            <a:ext cx="16764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1F4E8"/>
          </a:solidFill>
          <a:ln xmlns:a="http://schemas.openxmlformats.org/drawingml/2006/main" w="14288">
            <a:solidFill>
              <a:srgbClr val="15803D"/>
            </a:solidFill>
            <a:prstDash val="solid"/>
          </a:ln>
        </p:spPr>
      </p:sp>
      <p:sp>
        <p:nvSpPr>
          <p:cNvPr id="127" name="矩形 126">
            <a:extLst xmlns:a="http://schemas.openxmlformats.org/drawingml/2006/main">
              <a:ext uri="{FF2B5EF4-FFF2-40B4-BE49-F238E27FC236}">
                <a16:creationId xmlns:a16="http://schemas.microsoft.com/office/drawing/2014/main" id="{F73FDD62-5897-4D36-A511-A009A2149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7025" y="34671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5803D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15803D"/>
                </a:solidFill>
                <a:latin typeface="Noto Sans TC"/>
                <a:ea typeface="Noto Sans TC"/>
                <a:cs typeface="Noto Sans TC"/>
              </a:rPr>
              <a:t>07</a:t>
            </a:r>
          </a:p>
        </p:txBody>
      </p:sp>
      <p:sp>
        <p:nvSpPr>
          <p:cNvPr id="128" name="矩形 127">
            <a:extLst xmlns:a="http://schemas.openxmlformats.org/drawingml/2006/main">
              <a:ext uri="{FF2B5EF4-FFF2-40B4-BE49-F238E27FC236}">
                <a16:creationId xmlns:a16="http://schemas.microsoft.com/office/drawing/2014/main" id="{9667D7DA-466B-4327-9F2E-E65199BC1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7025" y="3695700"/>
            <a:ext cx="1409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4532D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1">
                <a:solidFill>
                  <a:srgbClr val="14532D"/>
                </a:solidFill>
                <a:latin typeface="Noto Sans TC"/>
                <a:ea typeface="Noto Sans TC"/>
                <a:cs typeface="Noto Sans TC"/>
              </a:rPr>
              <a:t>Pattern Verify</a:t>
            </a:r>
          </a:p>
        </p:txBody>
      </p:sp>
      <p:sp>
        <p:nvSpPr>
          <p:cNvPr id="129" name="矩形 128">
            <a:extLst xmlns:a="http://schemas.openxmlformats.org/drawingml/2006/main">
              <a:ext uri="{FF2B5EF4-FFF2-40B4-BE49-F238E27FC236}">
                <a16:creationId xmlns:a16="http://schemas.microsoft.com/office/drawing/2014/main" id="{679A8943-C0C6-4BF8-BF41-2C28D1350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7025" y="3962400"/>
            <a:ext cx="1409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3F6650"/>
                </a:solidFill>
                <a:latin typeface="Noto Sans TC"/>
                <a:ea typeface="Noto Sans TC"/>
                <a:cs typeface="Noto Sans TC"/>
              </a:defRPr>
            </a:pPr>
            <a:r>
              <a:rPr sz="825" b="0">
                <a:solidFill>
                  <a:srgbClr val="3F6650"/>
                </a:solidFill>
                <a:latin typeface="Noto Sans TC"/>
                <a:ea typeface="Noto Sans TC"/>
                <a:cs typeface="Noto Sans TC"/>
              </a:rPr>
              <a:t>generated · verified</a:t>
            </a:r>
          </a:p>
        </p:txBody>
      </p:sp>
      <p:sp>
        <p:nvSpPr>
          <p:cNvPr id="130" name="矩形: 圓角 129">
            <a:extLst xmlns:a="http://schemas.openxmlformats.org/drawingml/2006/main">
              <a:ext uri="{FF2B5EF4-FFF2-40B4-BE49-F238E27FC236}">
                <a16:creationId xmlns:a16="http://schemas.microsoft.com/office/drawing/2014/main" id="{0326051F-79D1-47BE-8719-FA17350F4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838700"/>
            <a:ext cx="11534775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14288">
            <a:solidFill>
              <a:srgbClr val="64748B"/>
            </a:solidFill>
            <a:prstDash val="solid"/>
          </a:ln>
        </p:spPr>
      </p:sp>
      <p:sp>
        <p:nvSpPr>
          <p:cNvPr id="131" name="矩形 130">
            <a:extLst xmlns:a="http://schemas.openxmlformats.org/drawingml/2006/main">
              <a:ext uri="{FF2B5EF4-FFF2-40B4-BE49-F238E27FC236}">
                <a16:creationId xmlns:a16="http://schemas.microsoft.com/office/drawing/2014/main" id="{38DCFEF4-F63E-478D-AD3D-763B0D2F4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101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64748B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64748B"/>
                </a:solidFill>
                <a:latin typeface="Noto Sans TC"/>
                <a:ea typeface="Noto Sans TC"/>
                <a:cs typeface="Noto Sans TC"/>
              </a:rPr>
              <a:t>13</a:t>
            </a:r>
          </a:p>
        </p:txBody>
      </p:sp>
      <p:sp>
        <p:nvSpPr>
          <p:cNvPr id="132" name="矩形 131">
            <a:extLst xmlns:a="http://schemas.openxmlformats.org/drawingml/2006/main">
              <a:ext uri="{FF2B5EF4-FFF2-40B4-BE49-F238E27FC236}">
                <a16:creationId xmlns:a16="http://schemas.microsoft.com/office/drawing/2014/main" id="{C1D01266-34F2-4C77-A29F-1DB96CB13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9720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334155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1">
                <a:solidFill>
                  <a:srgbClr val="334155"/>
                </a:solidFill>
                <a:latin typeface="Noto Sans TC"/>
                <a:ea typeface="Noto Sans TC"/>
                <a:cs typeface="Noto Sans TC"/>
              </a:rPr>
              <a:t>GUI / VISUAL REPORT</a:t>
            </a:r>
          </a:p>
        </p:txBody>
      </p:sp>
      <p:sp>
        <p:nvSpPr>
          <p:cNvPr id="133" name="矩形 132">
            <a:extLst xmlns:a="http://schemas.openxmlformats.org/drawingml/2006/main">
              <a:ext uri="{FF2B5EF4-FFF2-40B4-BE49-F238E27FC236}">
                <a16:creationId xmlns:a16="http://schemas.microsoft.com/office/drawing/2014/main" id="{5A73864D-8E97-449F-A8C7-3576D8EA6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305425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4748B"/>
                </a:solidFill>
                <a:latin typeface="Noto Sans TC"/>
                <a:ea typeface="Noto Sans TC"/>
                <a:cs typeface="Noto Sans TC"/>
              </a:defRPr>
            </a:pPr>
            <a:r>
              <a:rPr sz="825" b="0">
                <a:solidFill>
                  <a:srgbClr val="64748B"/>
                </a:solidFill>
                <a:latin typeface="Noto Sans TC"/>
                <a:ea typeface="Noto Sans TC"/>
                <a:cs typeface="Noto Sans TC"/>
              </a:rPr>
              <a:t>Run Tcl · track status · export PASS/FAIL, coverage, mismatch, and runtime</a:t>
            </a:r>
          </a:p>
        </p:txBody>
      </p:sp>
    </p:spTree>
    <p:extLst>
      <p:ext uri="{BB962C8B-B14F-4D97-AF65-F5344CB8AC3E}">
        <p14:creationId xmlns:p14="http://schemas.microsoft.com/office/powerpoint/2010/main" val="122739679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矩形 50">
            <a:extLst xmlns:a="http://schemas.openxmlformats.org/drawingml/2006/main">
              <a:ext uri="{FF2B5EF4-FFF2-40B4-BE49-F238E27FC236}">
                <a16:creationId xmlns:a16="http://schemas.microsoft.com/office/drawing/2014/main" id="{E21F2E43-388C-4F06-8FEA-E40F7EA6F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38D6C5"/>
                </a:solidFill>
                <a:latin typeface="Noto Sans TC"/>
                <a:ea typeface="Noto Sans TC"/>
                <a:cs typeface="Noto Sans TC"/>
              </a:defRPr>
            </a:pPr>
            <a:r>
              <a:rPr sz="1050" b="1">
                <a:solidFill>
                  <a:srgbClr val="0F766E"/>
                </a:solidFill>
                <a:latin typeface="Noto Sans TC"/>
                <a:ea typeface="Noto Sans TC"/>
                <a:cs typeface="Noto Sans TC"/>
              </a:rPr>
              <a:t>NEXT TARGET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07F98702-465C-4E00-BF4B-BBF81F627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F3F8FB"/>
                </a:solidFill>
                <a:latin typeface="Noto Sans TC"/>
                <a:ea typeface="Noto Sans TC"/>
                <a:cs typeface="Noto Sans TC"/>
              </a:defRPr>
            </a:pPr>
            <a:r>
              <a:rPr sz="2850" b="1">
                <a:solidFill>
                  <a:srgbClr val="0B1F33"/>
                </a:solidFill>
                <a:latin typeface="Noto Sans TC"/>
                <a:ea typeface="Noto Sans TC"/>
                <a:cs typeface="Noto Sans TC"/>
              </a:rPr>
              <a:t>Next Milestone: Build a Verifiable ATPG Environment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BC2B32D2-3B34-4B91-A9FC-7050B733B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227607E8-1852-4D1D-823B-3DBC847D3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38275"/>
            <a:ext cx="8477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D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橢圓 4">
            <a:extLst xmlns:a="http://schemas.openxmlformats.org/drawingml/2006/main">
              <a:ext uri="{FF2B5EF4-FFF2-40B4-BE49-F238E27FC236}">
                <a16:creationId xmlns:a16="http://schemas.microsoft.com/office/drawing/2014/main" id="{A24EBCB0-2416-4EEE-9FC7-D0AB71F1D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F2EF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B9110697-A1B2-45D0-BC58-C6B8F8A6B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352550"/>
            <a:ext cx="1352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0B1F33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0B1F33"/>
                </a:solidFill>
                <a:latin typeface="Noto Sans TC"/>
                <a:ea typeface="Noto Sans TC"/>
                <a:cs typeface="Noto Sans TC"/>
              </a:rPr>
              <a:t>7  PATTERN VERIFY</a:t>
            </a:r>
          </a:p>
        </p:txBody>
      </p:sp>
      <p:sp>
        <p:nvSpPr>
          <p:cNvPr id="7" name="橢圓 6">
            <a:extLst xmlns:a="http://schemas.openxmlformats.org/drawingml/2006/main">
              <a:ext uri="{FF2B5EF4-FFF2-40B4-BE49-F238E27FC236}">
                <a16:creationId xmlns:a16="http://schemas.microsoft.com/office/drawing/2014/main" id="{DF6FCF68-754F-470C-870D-4DA9FC924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13620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F2EF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8A643842-F371-4DF4-80BF-746502BCB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1352550"/>
            <a:ext cx="1352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0B1F33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0B1F33"/>
                </a:solidFill>
                <a:latin typeface="Noto Sans TC"/>
                <a:ea typeface="Noto Sans TC"/>
                <a:cs typeface="Noto Sans TC"/>
              </a:rPr>
              <a:t>8  ATPG FLOW</a:t>
            </a:r>
          </a:p>
        </p:txBody>
      </p:sp>
      <p:sp>
        <p:nvSpPr>
          <p:cNvPr id="9" name="橢圓 8">
            <a:extLst xmlns:a="http://schemas.openxmlformats.org/drawingml/2006/main">
              <a:ext uri="{FF2B5EF4-FFF2-40B4-BE49-F238E27FC236}">
                <a16:creationId xmlns:a16="http://schemas.microsoft.com/office/drawing/2014/main" id="{CBF45D2A-4252-415A-85EC-466696200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3620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F2EF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EC7C181D-1A4E-4BA9-8EFF-26CFAC51C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352550"/>
            <a:ext cx="1352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0B1F33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0B1F33"/>
                </a:solidFill>
                <a:latin typeface="Noto Sans TC"/>
                <a:ea typeface="Noto Sans TC"/>
                <a:cs typeface="Noto Sans TC"/>
              </a:rPr>
              <a:t>9  REGRESSION</a:t>
            </a:r>
          </a:p>
        </p:txBody>
      </p:sp>
      <p:sp>
        <p:nvSpPr>
          <p:cNvPr id="11" name="橢圓 10">
            <a:extLst xmlns:a="http://schemas.openxmlformats.org/drawingml/2006/main">
              <a:ext uri="{FF2B5EF4-FFF2-40B4-BE49-F238E27FC236}">
                <a16:creationId xmlns:a16="http://schemas.microsoft.com/office/drawing/2014/main" id="{09BBEDE9-D98E-43EF-BACE-14D22ACA0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13620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EFF4"/>
          </a:solidFill>
          <a:ln xmlns:a="http://schemas.openxmlformats.org/drawingml/2006/main" w="0">
            <a:solidFill>
              <a:srgbClr val="94A3B8"/>
            </a:solidFill>
            <a:prstDash val="solid"/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B9A337EE-309B-4DC0-8485-559A421BF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352550"/>
            <a:ext cx="1352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66788A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0">
                <a:solidFill>
                  <a:srgbClr val="66788A"/>
                </a:solidFill>
                <a:latin typeface="Noto Sans TC"/>
                <a:ea typeface="Noto Sans TC"/>
                <a:cs typeface="Noto Sans TC"/>
              </a:rPr>
              <a:t>10  SENSOR SCAN</a:t>
            </a:r>
          </a:p>
        </p:txBody>
      </p:sp>
      <p:sp>
        <p:nvSpPr>
          <p:cNvPr id="13" name="橢圓 12">
            <a:extLst xmlns:a="http://schemas.openxmlformats.org/drawingml/2006/main">
              <a:ext uri="{FF2B5EF4-FFF2-40B4-BE49-F238E27FC236}">
                <a16:creationId xmlns:a16="http://schemas.microsoft.com/office/drawing/2014/main" id="{2999B3B4-2169-4D33-B9FB-BB427402E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13620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EFF4"/>
          </a:solidFill>
          <a:ln xmlns:a="http://schemas.openxmlformats.org/drawingml/2006/main" w="0">
            <a:solidFill>
              <a:srgbClr val="94A3B8"/>
            </a:solidFill>
            <a:prstDash val="solid"/>
          </a:ln>
        </p:spPr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418FFDB3-6D57-4BBF-89CD-810497B7E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352550"/>
            <a:ext cx="1352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66788A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0">
                <a:solidFill>
                  <a:srgbClr val="66788A"/>
                </a:solidFill>
                <a:latin typeface="Noto Sans TC"/>
                <a:ea typeface="Noto Sans TC"/>
                <a:cs typeface="Noto Sans TC"/>
              </a:rPr>
              <a:t>11  DWR TEST</a:t>
            </a:r>
          </a:p>
        </p:txBody>
      </p:sp>
      <p:sp>
        <p:nvSpPr>
          <p:cNvPr id="15" name="橢圓 14">
            <a:extLst xmlns:a="http://schemas.openxmlformats.org/drawingml/2006/main">
              <a:ext uri="{FF2B5EF4-FFF2-40B4-BE49-F238E27FC236}">
                <a16:creationId xmlns:a16="http://schemas.microsoft.com/office/drawing/2014/main" id="{C18FCCF4-4345-446D-BE03-DC8B0324B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13620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EFF4"/>
          </a:solidFill>
          <a:ln xmlns:a="http://schemas.openxmlformats.org/drawingml/2006/main" w="0">
            <a:solidFill>
              <a:srgbClr val="94A3B8"/>
            </a:solidFill>
            <a:prstDash val="solid"/>
          </a:ln>
        </p:spPr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A3CA2603-1FC6-46DD-8279-3A6846DDC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352550"/>
            <a:ext cx="1352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66788A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0">
                <a:solidFill>
                  <a:srgbClr val="66788A"/>
                </a:solidFill>
                <a:latin typeface="Noto Sans TC"/>
                <a:ea typeface="Noto Sans TC"/>
                <a:cs typeface="Noto Sans TC"/>
              </a:rPr>
              <a:t>12  ENV CLEANUP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8EF847D3-EACE-4E7A-8B03-6472CDE46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D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1268BCCB-B87D-428D-AF13-8A3E9932E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81775"/>
            <a:ext cx="904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6F8B9D"/>
                </a:solidFill>
                <a:latin typeface="Noto Sans TC"/>
                <a:ea typeface="Noto Sans TC"/>
                <a:cs typeface="Noto Sans TC"/>
              </a:defRPr>
            </a:pPr>
            <a:r>
              <a:rPr sz="825" b="0">
                <a:solidFill>
                  <a:srgbClr val="64748B"/>
                </a:solidFill>
                <a:latin typeface="Noto Sans TC"/>
                <a:ea typeface="Noto Sans TC"/>
                <a:cs typeface="Noto Sans TC"/>
              </a:rPr>
              <a:t>Scope: die-level ATPG generation and grading; stack-level hierarchical pattern delivery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23C16FE4-C9B6-41FA-85F9-51D5BA608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6F8B9D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64748B"/>
                </a:solidFill>
                <a:latin typeface="Noto Sans TC"/>
                <a:ea typeface="Noto Sans TC"/>
                <a:cs typeface="Noto Sans TC"/>
              </a:rPr>
              <a:t>17</a:t>
            </a:r>
          </a:p>
        </p:txBody>
      </p:sp>
      <p:sp>
        <p:nvSpPr>
          <p:cNvPr id="20" name="矩形: 圓角 19">
            <a:extLst xmlns:a="http://schemas.openxmlformats.org/drawingml/2006/main">
              <a:ext uri="{FF2B5EF4-FFF2-40B4-BE49-F238E27FC236}">
                <a16:creationId xmlns:a16="http://schemas.microsoft.com/office/drawing/2014/main" id="{F3F39B07-BD02-4077-A8D6-53D269D38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13716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DDF2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CE3529EC-71CD-4703-950B-F33E9C16A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62125"/>
            <a:ext cx="68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2672" lnSpcReduction="1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071521"/>
                </a:solidFill>
                <a:latin typeface="Noto Sans TC"/>
                <a:ea typeface="Noto Sans TC"/>
                <a:cs typeface="Noto Sans TC"/>
              </a:defRPr>
            </a:pPr>
            <a:r>
              <a:rPr sz="1050" b="1">
                <a:solidFill>
                  <a:srgbClr val="0B1F33"/>
                </a:solidFill>
                <a:latin typeface="Noto Sans TC"/>
                <a:ea typeface="Noto Sans TC"/>
                <a:cs typeface="Noto Sans TC"/>
              </a:rPr>
              <a:t>NEXT TARGET</a:t>
            </a: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E5C64DFD-85D6-4594-B892-E2E5629DD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1743075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2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38D6C5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0F766E"/>
                </a:solidFill>
                <a:latin typeface="Noto Sans TC"/>
                <a:ea typeface="Noto Sans TC"/>
                <a:cs typeface="Noto Sans TC"/>
              </a:rPr>
              <a:t>ATPG Generation, Fault Grading &amp; Regression</a:t>
            </a:r>
          </a:p>
        </p:txBody>
      </p:sp>
      <p:sp>
        <p:nvSpPr>
          <p:cNvPr id="23" name="箭號: 向右 22">
            <a:extLst xmlns:a="http://schemas.openxmlformats.org/drawingml/2006/main">
              <a:ext uri="{FF2B5EF4-FFF2-40B4-BE49-F238E27FC236}">
                <a16:creationId xmlns:a16="http://schemas.microsoft.com/office/drawing/2014/main" id="{4B4FB9F4-2000-401C-BA82-DE16E3621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971800"/>
            <a:ext cx="590550" cy="3429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3DD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箭號: 向右 23">
            <a:extLst xmlns:a="http://schemas.openxmlformats.org/drawingml/2006/main">
              <a:ext uri="{FF2B5EF4-FFF2-40B4-BE49-F238E27FC236}">
                <a16:creationId xmlns:a16="http://schemas.microsoft.com/office/drawing/2014/main" id="{F3103CCA-4B2D-4463-814A-2DF001EA6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971800"/>
            <a:ext cx="590550" cy="3429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3DD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箭號: 向右 24">
            <a:extLst xmlns:a="http://schemas.openxmlformats.org/drawingml/2006/main">
              <a:ext uri="{FF2B5EF4-FFF2-40B4-BE49-F238E27FC236}">
                <a16:creationId xmlns:a16="http://schemas.microsoft.com/office/drawing/2014/main" id="{216DBD61-5A34-4BA3-8866-4E430BED1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971800"/>
            <a:ext cx="590550" cy="3429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3DD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矩形: 圓角 25">
            <a:extLst xmlns:a="http://schemas.openxmlformats.org/drawingml/2006/main">
              <a:ext uri="{FF2B5EF4-FFF2-40B4-BE49-F238E27FC236}">
                <a16:creationId xmlns:a16="http://schemas.microsoft.com/office/drawing/2014/main" id="{61199774-9010-4EF6-BA3D-306FDF447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09850"/>
            <a:ext cx="21336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4F7F9"/>
          </a:solidFill>
          <a:ln xmlns:a="http://schemas.openxmlformats.org/drawingml/2006/main" w="19050">
            <a:solidFill>
              <a:srgbClr val="1F5A85"/>
            </a:solidFill>
            <a:prstDash val="solid"/>
          </a:ln>
        </p:spPr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8F48A1FB-3D0E-4A41-909C-848267599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19400"/>
            <a:ext cx="1828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3AA7FF"/>
                </a:solidFill>
                <a:latin typeface="Noto Sans TC"/>
                <a:ea typeface="Noto Sans TC"/>
                <a:cs typeface="Noto Sans TC"/>
              </a:defRPr>
            </a:pPr>
            <a:r>
              <a:rPr sz="1575" b="1">
                <a:solidFill>
                  <a:srgbClr val="1F5A85"/>
                </a:solidFill>
                <a:latin typeface="Noto Sans TC"/>
                <a:ea typeface="Noto Sans TC"/>
                <a:cs typeface="Noto Sans TC"/>
              </a:rPr>
              <a:t>Auto Patterns</a:t>
            </a:r>
          </a:p>
        </p:txBody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DD443336-3472-411E-9F08-4BFA4F5FE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38500"/>
            <a:ext cx="1828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0">
                <a:solidFill>
                  <a:srgbClr val="A7BDCA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0">
                <a:solidFill>
                  <a:srgbClr val="526678"/>
                </a:solidFill>
                <a:latin typeface="Noto Sans TC"/>
                <a:ea typeface="Noto Sans TC"/>
                <a:cs typeface="Noto Sans TC"/>
              </a:rPr>
              <a:t>generated + verified</a:t>
            </a:r>
          </a:p>
        </p:txBody>
      </p:sp>
      <p:sp>
        <p:nvSpPr>
          <p:cNvPr id="29" name="矩形: 圓角 28">
            <a:extLst xmlns:a="http://schemas.openxmlformats.org/drawingml/2006/main">
              <a:ext uri="{FF2B5EF4-FFF2-40B4-BE49-F238E27FC236}">
                <a16:creationId xmlns:a16="http://schemas.microsoft.com/office/drawing/2014/main" id="{AF439899-4855-4AE2-9D61-362D20E0F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609850"/>
            <a:ext cx="21336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4F7F9"/>
          </a:solidFill>
          <a:ln xmlns:a="http://schemas.openxmlformats.org/drawingml/2006/main" w="19050">
            <a:solidFill>
              <a:srgbClr val="1F5A85"/>
            </a:solidFill>
            <a:prstDash val="solid"/>
          </a:ln>
        </p:spPr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337098D0-98C8-40C5-8609-A28ED6875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819400"/>
            <a:ext cx="1828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F5B94C"/>
                </a:solidFill>
                <a:latin typeface="Noto Sans TC"/>
                <a:ea typeface="Noto Sans TC"/>
                <a:cs typeface="Noto Sans TC"/>
              </a:defRPr>
            </a:pPr>
            <a:r>
              <a:rPr sz="1575" b="1">
                <a:solidFill>
                  <a:srgbClr val="1F5A85"/>
                </a:solidFill>
                <a:latin typeface="Noto Sans TC"/>
                <a:ea typeface="Noto Sans TC"/>
                <a:cs typeface="Noto Sans TC"/>
              </a:rPr>
              <a:t>ATPG Generation</a:t>
            </a:r>
          </a:p>
        </p:txBody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336D1E25-B0DB-46AB-9E9D-28767A8C1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238500"/>
            <a:ext cx="1828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0">
                <a:solidFill>
                  <a:srgbClr val="A7BDCA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0">
                <a:solidFill>
                  <a:srgbClr val="526678"/>
                </a:solidFill>
                <a:latin typeface="Noto Sans TC"/>
                <a:ea typeface="Noto Sans TC"/>
                <a:cs typeface="Noto Sans TC"/>
              </a:rPr>
              <a:t>representative faults</a:t>
            </a:r>
          </a:p>
        </p:txBody>
      </p:sp>
      <p:sp>
        <p:nvSpPr>
          <p:cNvPr id="32" name="矩形: 圓角 31">
            <a:extLst xmlns:a="http://schemas.openxmlformats.org/drawingml/2006/main">
              <a:ext uri="{FF2B5EF4-FFF2-40B4-BE49-F238E27FC236}">
                <a16:creationId xmlns:a16="http://schemas.microsoft.com/office/drawing/2014/main" id="{A3E93DDA-1039-4AA6-B62C-334189EDB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609850"/>
            <a:ext cx="21336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4F7F9"/>
          </a:solidFill>
          <a:ln xmlns:a="http://schemas.openxmlformats.org/drawingml/2006/main" w="19050">
            <a:solidFill>
              <a:srgbClr val="0F766E"/>
            </a:solidFill>
            <a:prstDash val="solid"/>
          </a:ln>
        </p:spPr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B086B3BD-ABDF-45CF-828D-A480CF80E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819400"/>
            <a:ext cx="1828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38D6C5"/>
                </a:solidFill>
                <a:latin typeface="Noto Sans TC"/>
                <a:ea typeface="Noto Sans TC"/>
                <a:cs typeface="Noto Sans TC"/>
              </a:defRPr>
            </a:pPr>
            <a:r>
              <a:rPr sz="1575" b="1">
                <a:solidFill>
                  <a:srgbClr val="0F766E"/>
                </a:solidFill>
                <a:latin typeface="Noto Sans TC"/>
                <a:ea typeface="Noto Sans TC"/>
                <a:cs typeface="Noto Sans TC"/>
              </a:rPr>
              <a:t>Fault Grading</a:t>
            </a:r>
          </a:p>
        </p:txBody>
      </p:sp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85B69017-851F-45B3-8825-792EA33DA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238500"/>
            <a:ext cx="1828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0">
                <a:solidFill>
                  <a:srgbClr val="A7BDCA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0">
                <a:solidFill>
                  <a:srgbClr val="526678"/>
                </a:solidFill>
                <a:latin typeface="Noto Sans TC"/>
                <a:ea typeface="Noto Sans TC"/>
                <a:cs typeface="Noto Sans TC"/>
              </a:rPr>
              <a:t>fault simulation + coverage</a:t>
            </a:r>
          </a:p>
        </p:txBody>
      </p:sp>
      <p:sp>
        <p:nvSpPr>
          <p:cNvPr id="35" name="矩形: 圓角 34">
            <a:extLst xmlns:a="http://schemas.openxmlformats.org/drawingml/2006/main">
              <a:ext uri="{FF2B5EF4-FFF2-40B4-BE49-F238E27FC236}">
                <a16:creationId xmlns:a16="http://schemas.microsoft.com/office/drawing/2014/main" id="{6E6EB44D-91B3-4C56-BC71-E0949ED13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609850"/>
            <a:ext cx="21336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4F7F9"/>
          </a:solidFill>
          <a:ln xmlns:a="http://schemas.openxmlformats.org/drawingml/2006/main" w="19050">
            <a:solidFill>
              <a:srgbClr val="15803D"/>
            </a:solidFill>
            <a:prstDash val="solid"/>
          </a:ln>
        </p:spPr>
      </p:sp>
      <p:sp>
        <p:nvSpPr>
          <p:cNvPr id="36" name="矩形 35">
            <a:extLst xmlns:a="http://schemas.openxmlformats.org/drawingml/2006/main">
              <a:ext uri="{FF2B5EF4-FFF2-40B4-BE49-F238E27FC236}">
                <a16:creationId xmlns:a16="http://schemas.microsoft.com/office/drawing/2014/main" id="{065E583C-D437-4E2D-A0EF-CE81A8392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819400"/>
            <a:ext cx="1828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44D17B"/>
                </a:solidFill>
                <a:latin typeface="Noto Sans TC"/>
                <a:ea typeface="Noto Sans TC"/>
                <a:cs typeface="Noto Sans TC"/>
              </a:defRPr>
            </a:pPr>
            <a:r>
              <a:rPr sz="1575" b="1">
                <a:solidFill>
                  <a:srgbClr val="15803D"/>
                </a:solidFill>
                <a:latin typeface="Noto Sans TC"/>
                <a:ea typeface="Noto Sans TC"/>
                <a:cs typeface="Noto Sans TC"/>
              </a:rPr>
              <a:t>Regression</a:t>
            </a:r>
          </a:p>
        </p:txBody>
      </p:sp>
      <p:sp>
        <p:nvSpPr>
          <p:cNvPr id="37" name="矩形 36">
            <a:extLst xmlns:a="http://schemas.openxmlformats.org/drawingml/2006/main">
              <a:ext uri="{FF2B5EF4-FFF2-40B4-BE49-F238E27FC236}">
                <a16:creationId xmlns:a16="http://schemas.microsoft.com/office/drawing/2014/main" id="{3E676692-31F2-4228-8808-92801470F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238500"/>
            <a:ext cx="1828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0">
                <a:solidFill>
                  <a:srgbClr val="A7BDCA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0">
                <a:solidFill>
                  <a:srgbClr val="526678"/>
                </a:solidFill>
                <a:latin typeface="Noto Sans TC"/>
                <a:ea typeface="Noto Sans TC"/>
                <a:cs typeface="Noto Sans TC"/>
              </a:rPr>
              <a:t>coverage + PASS / FAIL</a:t>
            </a:r>
          </a:p>
        </p:txBody>
      </p:sp>
      <p:sp>
        <p:nvSpPr>
          <p:cNvPr id="38" name="矩形 37">
            <a:extLst xmlns:a="http://schemas.openxmlformats.org/drawingml/2006/main">
              <a:ext uri="{FF2B5EF4-FFF2-40B4-BE49-F238E27FC236}">
                <a16:creationId xmlns:a16="http://schemas.microsoft.com/office/drawing/2014/main" id="{25407233-7D2D-4AF7-A493-72F1E0185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481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F5B94C"/>
                </a:solidFill>
                <a:latin typeface="Noto Sans TC"/>
                <a:ea typeface="Noto Sans TC"/>
                <a:cs typeface="Noto Sans TC"/>
              </a:defRPr>
            </a:pPr>
            <a:r>
              <a:rPr sz="1650" b="1">
                <a:solidFill>
                  <a:srgbClr val="1F5A85"/>
                </a:solidFill>
                <a:latin typeface="Noto Sans TC"/>
                <a:ea typeface="Noto Sans TC"/>
                <a:cs typeface="Noto Sans TC"/>
              </a:rPr>
              <a:t>Checkpoint</a:t>
            </a:r>
          </a:p>
        </p:txBody>
      </p:sp>
      <p:sp>
        <p:nvSpPr>
          <p:cNvPr id="39" name="橢圓 38">
            <a:extLst xmlns:a="http://schemas.openxmlformats.org/drawingml/2006/main">
              <a:ext uri="{FF2B5EF4-FFF2-40B4-BE49-F238E27FC236}">
                <a16:creationId xmlns:a16="http://schemas.microsoft.com/office/drawing/2014/main" id="{2AF94E5D-0EC8-42FC-B26D-FED048D3A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863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F2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矩形 39">
            <a:extLst xmlns:a="http://schemas.openxmlformats.org/drawingml/2006/main">
              <a:ext uri="{FF2B5EF4-FFF2-40B4-BE49-F238E27FC236}">
                <a16:creationId xmlns:a16="http://schemas.microsoft.com/office/drawing/2014/main" id="{E6B04B98-2854-4417-8E8E-C628BB522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6725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071521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0B1F33"/>
                </a:solidFill>
                <a:latin typeface="Noto Sans TC"/>
                <a:ea typeface="Noto Sans TC"/>
                <a:cs typeface="Noto Sans TC"/>
              </a:rPr>
              <a:t>✓</a:t>
            </a:r>
          </a:p>
        </p:txBody>
      </p:sp>
      <p:sp>
        <p:nvSpPr>
          <p:cNvPr id="41" name="矩形 40">
            <a:extLst xmlns:a="http://schemas.openxmlformats.org/drawingml/2006/main">
              <a:ext uri="{FF2B5EF4-FFF2-40B4-BE49-F238E27FC236}">
                <a16:creationId xmlns:a16="http://schemas.microsoft.com/office/drawing/2014/main" id="{3FAD2DCF-CA19-4D99-97E9-F4F1C0F58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67250"/>
            <a:ext cx="44005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D8E6EE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334155"/>
                </a:solidFill>
                <a:latin typeface="Noto Sans TC"/>
                <a:ea typeface="Noto Sans TC"/>
                <a:cs typeface="Noto Sans TC"/>
              </a:rPr>
              <a:t>Auto-generated patterns pass access and compare</a:t>
            </a:r>
          </a:p>
        </p:txBody>
      </p:sp>
      <p:sp>
        <p:nvSpPr>
          <p:cNvPr id="42" name="橢圓 41">
            <a:extLst xmlns:a="http://schemas.openxmlformats.org/drawingml/2006/main">
              <a:ext uri="{FF2B5EF4-FFF2-40B4-BE49-F238E27FC236}">
                <a16:creationId xmlns:a16="http://schemas.microsoft.com/office/drawing/2014/main" id="{BEBA9A44-C87F-48E2-B208-97321FCDD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625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F2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矩形 42">
            <a:extLst xmlns:a="http://schemas.openxmlformats.org/drawingml/2006/main">
              <a:ext uri="{FF2B5EF4-FFF2-40B4-BE49-F238E27FC236}">
                <a16:creationId xmlns:a16="http://schemas.microsoft.com/office/drawing/2014/main" id="{988FFA9E-3E2C-49C4-B8C9-91629EA4C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64748B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64748B"/>
                </a:solidFill>
                <a:latin typeface="Noto Sans TC"/>
                <a:ea typeface="Noto Sans TC"/>
                <a:cs typeface="Noto Sans TC"/>
              </a:rPr>
              <a:t>○</a:t>
            </a:r>
          </a:p>
        </p:txBody>
      </p:sp>
      <p:sp>
        <p:nvSpPr>
          <p:cNvPr id="44" name="矩形 43">
            <a:extLst xmlns:a="http://schemas.openxmlformats.org/drawingml/2006/main">
              <a:ext uri="{FF2B5EF4-FFF2-40B4-BE49-F238E27FC236}">
                <a16:creationId xmlns:a16="http://schemas.microsoft.com/office/drawing/2014/main" id="{A68A13C8-44AE-4CBD-8594-23987364A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143500"/>
            <a:ext cx="44005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D8E6EE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334155"/>
                </a:solidFill>
                <a:latin typeface="Noto Sans TC"/>
                <a:ea typeface="Noto Sans TC"/>
                <a:cs typeface="Noto Sans TC"/>
              </a:rPr>
              <a:t>ATPG patterns and fault coverage reported</a:t>
            </a:r>
          </a:p>
        </p:txBody>
      </p:sp>
      <p:sp>
        <p:nvSpPr>
          <p:cNvPr id="45" name="橢圓 44">
            <a:extLst xmlns:a="http://schemas.openxmlformats.org/drawingml/2006/main">
              <a:ext uri="{FF2B5EF4-FFF2-40B4-BE49-F238E27FC236}">
                <a16:creationId xmlns:a16="http://schemas.microsoft.com/office/drawing/2014/main" id="{80769182-CACD-4A75-A826-15F62BBF8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388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F2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矩形 45">
            <a:extLst xmlns:a="http://schemas.openxmlformats.org/drawingml/2006/main">
              <a:ext uri="{FF2B5EF4-FFF2-40B4-BE49-F238E27FC236}">
                <a16:creationId xmlns:a16="http://schemas.microsoft.com/office/drawing/2014/main" id="{2C2D3738-7220-4D29-808F-85F6AB441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1975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64748B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64748B"/>
                </a:solidFill>
                <a:latin typeface="Noto Sans TC"/>
                <a:ea typeface="Noto Sans TC"/>
                <a:cs typeface="Noto Sans TC"/>
              </a:rPr>
              <a:t>○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0A97F9D1-6C12-4E35-A569-67469E666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619750"/>
            <a:ext cx="44005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D8E6EE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334155"/>
                </a:solidFill>
                <a:latin typeface="Noto Sans TC"/>
                <a:ea typeface="Noto Sans TC"/>
                <a:cs typeface="Noto Sans TC"/>
              </a:rPr>
              <a:t>Fault grading and regression return PASS / FAIL</a:t>
            </a:r>
          </a:p>
        </p:txBody>
      </p:sp>
      <p:sp>
        <p:nvSpPr>
          <p:cNvPr id="48" name="矩形 47">
            <a:extLst xmlns:a="http://schemas.openxmlformats.org/drawingml/2006/main">
              <a:ext uri="{FF2B5EF4-FFF2-40B4-BE49-F238E27FC236}">
                <a16:creationId xmlns:a16="http://schemas.microsoft.com/office/drawing/2014/main" id="{A7558D5E-8827-41B3-9D12-A6CF5FA13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2481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38D6C5"/>
                </a:solidFill>
                <a:latin typeface="Noto Sans TC"/>
                <a:ea typeface="Noto Sans TC"/>
                <a:cs typeface="Noto Sans TC"/>
              </a:defRPr>
            </a:pPr>
            <a:r>
              <a:rPr sz="1650" b="1">
                <a:solidFill>
                  <a:srgbClr val="0F766E"/>
                </a:solidFill>
                <a:latin typeface="Noto Sans TC"/>
                <a:ea typeface="Noto Sans TC"/>
                <a:cs typeface="Noto Sans TC"/>
              </a:rPr>
              <a:t>Why it matters</a:t>
            </a:r>
          </a:p>
        </p:txBody>
      </p:sp>
      <p:sp>
        <p:nvSpPr>
          <p:cNvPr id="49" name="矩形: 圓角 48">
            <a:extLst xmlns:a="http://schemas.openxmlformats.org/drawingml/2006/main">
              <a:ext uri="{FF2B5EF4-FFF2-40B4-BE49-F238E27FC236}">
                <a16:creationId xmlns:a16="http://schemas.microsoft.com/office/drawing/2014/main" id="{0304C44C-F3FF-4546-828A-C393DAEDA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629150"/>
            <a:ext cx="46863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E8EFF4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50" name="矩形 49">
            <a:extLst xmlns:a="http://schemas.openxmlformats.org/drawingml/2006/main">
              <a:ext uri="{FF2B5EF4-FFF2-40B4-BE49-F238E27FC236}">
                <a16:creationId xmlns:a16="http://schemas.microsoft.com/office/drawing/2014/main" id="{6ABC8E3B-641C-45FD-A5EB-C8C4EAE8C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876800"/>
            <a:ext cx="4114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661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500" b="1">
                <a:solidFill>
                  <a:srgbClr val="F3F8FB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1">
                <a:solidFill>
                  <a:srgbClr val="0B1F33"/>
                </a:solidFill>
                <a:latin typeface="Noto Sans TC"/>
                <a:ea typeface="Noto Sans TC"/>
                <a:cs typeface="Noto Sans TC"/>
              </a:rPr>
              <a:t>The next milestone connects ATPG generation, fault grading, coverage, and regression in one environment.</a:t>
            </a:r>
          </a:p>
        </p:txBody>
      </p:sp>
    </p:spTree>
    <p:extLst>
      <p:ext uri="{BB962C8B-B14F-4D97-AF65-F5344CB8AC3E}">
        <p14:creationId xmlns:p14="http://schemas.microsoft.com/office/powerpoint/2010/main" val="113369303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6" name="矩形 55">
            <a:extLst xmlns:a="http://schemas.openxmlformats.org/drawingml/2006/main">
              <a:ext uri="{FF2B5EF4-FFF2-40B4-BE49-F238E27FC236}">
                <a16:creationId xmlns:a16="http://schemas.microsoft.com/office/drawing/2014/main" id="{5CA40315-261D-48C8-8DF7-3051D8DCA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38D6C5"/>
                </a:solidFill>
                <a:latin typeface="Noto Sans TC"/>
                <a:ea typeface="Noto Sans TC"/>
                <a:cs typeface="Noto Sans TC"/>
              </a:defRPr>
            </a:pPr>
            <a:r>
              <a:rPr sz="1050" b="1">
                <a:solidFill>
                  <a:srgbClr val="0F766E"/>
                </a:solidFill>
                <a:latin typeface="Noto Sans TC"/>
                <a:ea typeface="Noto Sans TC"/>
                <a:cs typeface="Noto Sans TC"/>
              </a:rPr>
              <a:t>ADDITIONAL BONUS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6450DFBE-9CAC-414C-ABA5-950258B86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71500"/>
            <a:ext cx="10363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F3F8FB"/>
                </a:solidFill>
                <a:latin typeface="Noto Sans TC"/>
                <a:ea typeface="Noto Sans TC"/>
                <a:cs typeface="Noto Sans TC"/>
              </a:defRPr>
            </a:pPr>
            <a:r>
              <a:rPr sz="2850" b="1">
                <a:solidFill>
                  <a:srgbClr val="0B1F33"/>
                </a:solidFill>
                <a:latin typeface="Noto Sans TC"/>
                <a:ea typeface="Noto Sans TC"/>
                <a:cs typeface="Noto Sans TC"/>
              </a:rPr>
              <a:t>Steps 10–11 Extend Sensor and Die-Link Testing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717B45F9-54B8-4BAD-A71C-AB06A5B06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787775C2-AB5A-4B37-8F50-36D374883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38275"/>
            <a:ext cx="8477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D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橢圓 4">
            <a:extLst xmlns:a="http://schemas.openxmlformats.org/drawingml/2006/main">
              <a:ext uri="{FF2B5EF4-FFF2-40B4-BE49-F238E27FC236}">
                <a16:creationId xmlns:a16="http://schemas.microsoft.com/office/drawing/2014/main" id="{B9AB8863-67B4-42A6-857A-C456EB81A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EFF4"/>
          </a:solidFill>
          <a:ln xmlns:a="http://schemas.openxmlformats.org/drawingml/2006/main" w="0">
            <a:solidFill>
              <a:srgbClr val="94A3B8"/>
            </a:solidFill>
            <a:prstDash val="solid"/>
          </a:ln>
        </p:spPr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3AADAE80-E3F5-4889-B09E-45A905A9E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352550"/>
            <a:ext cx="1352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66788A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0">
                <a:solidFill>
                  <a:srgbClr val="66788A"/>
                </a:solidFill>
                <a:latin typeface="Noto Sans TC"/>
                <a:ea typeface="Noto Sans TC"/>
                <a:cs typeface="Noto Sans TC"/>
              </a:rPr>
              <a:t>7  PATTERN VERIFY</a:t>
            </a:r>
          </a:p>
        </p:txBody>
      </p:sp>
      <p:sp>
        <p:nvSpPr>
          <p:cNvPr id="7" name="橢圓 6">
            <a:extLst xmlns:a="http://schemas.openxmlformats.org/drawingml/2006/main">
              <a:ext uri="{FF2B5EF4-FFF2-40B4-BE49-F238E27FC236}">
                <a16:creationId xmlns:a16="http://schemas.microsoft.com/office/drawing/2014/main" id="{43D97B7A-F222-4433-AADC-1E86AE4E0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13620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EFF4"/>
          </a:solidFill>
          <a:ln xmlns:a="http://schemas.openxmlformats.org/drawingml/2006/main" w="0">
            <a:solidFill>
              <a:srgbClr val="94A3B8"/>
            </a:solidFill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D054297C-8102-40AF-A27C-FF4BD360E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1352550"/>
            <a:ext cx="1352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66788A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0">
                <a:solidFill>
                  <a:srgbClr val="66788A"/>
                </a:solidFill>
                <a:latin typeface="Noto Sans TC"/>
                <a:ea typeface="Noto Sans TC"/>
                <a:cs typeface="Noto Sans TC"/>
              </a:rPr>
              <a:t>8  ATPG FLOW</a:t>
            </a:r>
          </a:p>
        </p:txBody>
      </p:sp>
      <p:sp>
        <p:nvSpPr>
          <p:cNvPr id="9" name="橢圓 8">
            <a:extLst xmlns:a="http://schemas.openxmlformats.org/drawingml/2006/main">
              <a:ext uri="{FF2B5EF4-FFF2-40B4-BE49-F238E27FC236}">
                <a16:creationId xmlns:a16="http://schemas.microsoft.com/office/drawing/2014/main" id="{43AD51A1-8FB0-42C1-9856-328E01658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3620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EFF4"/>
          </a:solidFill>
          <a:ln xmlns:a="http://schemas.openxmlformats.org/drawingml/2006/main" w="0">
            <a:solidFill>
              <a:srgbClr val="94A3B8"/>
            </a:solidFill>
            <a:prstDash val="solid"/>
          </a:ln>
        </p:spPr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F21581C8-CE16-421A-8F45-547357EEC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352550"/>
            <a:ext cx="1352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66788A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0">
                <a:solidFill>
                  <a:srgbClr val="66788A"/>
                </a:solidFill>
                <a:latin typeface="Noto Sans TC"/>
                <a:ea typeface="Noto Sans TC"/>
                <a:cs typeface="Noto Sans TC"/>
              </a:rPr>
              <a:t>9  REGRESSION</a:t>
            </a:r>
          </a:p>
        </p:txBody>
      </p:sp>
      <p:sp>
        <p:nvSpPr>
          <p:cNvPr id="11" name="橢圓 10">
            <a:extLst xmlns:a="http://schemas.openxmlformats.org/drawingml/2006/main">
              <a:ext uri="{FF2B5EF4-FFF2-40B4-BE49-F238E27FC236}">
                <a16:creationId xmlns:a16="http://schemas.microsoft.com/office/drawing/2014/main" id="{E2F319D7-6B4F-4172-9A7C-A3F6AC939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13620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F2EF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06A451FB-60C6-45FF-B0D2-3B4C2A493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352550"/>
            <a:ext cx="1352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0B1F33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0B1F33"/>
                </a:solidFill>
                <a:latin typeface="Noto Sans TC"/>
                <a:ea typeface="Noto Sans TC"/>
                <a:cs typeface="Noto Sans TC"/>
              </a:rPr>
              <a:t>10  SENSOR SCAN</a:t>
            </a:r>
          </a:p>
        </p:txBody>
      </p:sp>
      <p:sp>
        <p:nvSpPr>
          <p:cNvPr id="13" name="橢圓 12">
            <a:extLst xmlns:a="http://schemas.openxmlformats.org/drawingml/2006/main">
              <a:ext uri="{FF2B5EF4-FFF2-40B4-BE49-F238E27FC236}">
                <a16:creationId xmlns:a16="http://schemas.microsoft.com/office/drawing/2014/main" id="{A9108F2F-B02E-441C-A8E8-4FF4D5A13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13620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F2EF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391CF678-20D9-4B71-AE6F-BD5153225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352550"/>
            <a:ext cx="1352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0B1F33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0B1F33"/>
                </a:solidFill>
                <a:latin typeface="Noto Sans TC"/>
                <a:ea typeface="Noto Sans TC"/>
                <a:cs typeface="Noto Sans TC"/>
              </a:rPr>
              <a:t>11  DWR TEST</a:t>
            </a:r>
          </a:p>
        </p:txBody>
      </p:sp>
      <p:sp>
        <p:nvSpPr>
          <p:cNvPr id="15" name="橢圓 14">
            <a:extLst xmlns:a="http://schemas.openxmlformats.org/drawingml/2006/main">
              <a:ext uri="{FF2B5EF4-FFF2-40B4-BE49-F238E27FC236}">
                <a16:creationId xmlns:a16="http://schemas.microsoft.com/office/drawing/2014/main" id="{4951195A-91F2-4F67-98A6-D09F788EE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13620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F2EF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3DE33A19-AC5C-47D6-BB34-85A768FEF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352550"/>
            <a:ext cx="1352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0B1F33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0B1F33"/>
                </a:solidFill>
                <a:latin typeface="Noto Sans TC"/>
                <a:ea typeface="Noto Sans TC"/>
                <a:cs typeface="Noto Sans TC"/>
              </a:rPr>
              <a:t>12  ENV CLEANUP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4045AFEB-29F8-4C77-BB81-983DCE830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D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09FC2976-2CED-4D32-855B-B51E5B47D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81775"/>
            <a:ext cx="904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6F8B9D"/>
                </a:solidFill>
                <a:latin typeface="Noto Sans TC"/>
                <a:ea typeface="Noto Sans TC"/>
                <a:cs typeface="Noto Sans TC"/>
              </a:defRPr>
            </a:pPr>
            <a:r>
              <a:rPr sz="825" b="0">
                <a:solidFill>
                  <a:srgbClr val="64748B"/>
                </a:solidFill>
                <a:latin typeface="Noto Sans TC"/>
                <a:ea typeface="Noto Sans TC"/>
                <a:cs typeface="Noto Sans TC"/>
              </a:rPr>
              <a:t>Additional bonus: sensor structural ATPG and DWR interconnect testing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7C82186E-9620-43AF-A14F-3BBCE6D5C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6F8B9D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64748B"/>
                </a:solidFill>
                <a:latin typeface="Noto Sans TC"/>
                <a:ea typeface="Noto Sans TC"/>
                <a:cs typeface="Noto Sans TC"/>
              </a:rPr>
              <a:t>18</a:t>
            </a:r>
          </a:p>
        </p:txBody>
      </p:sp>
      <p:sp>
        <p:nvSpPr>
          <p:cNvPr id="20" name="矩形: 圓角 19">
            <a:extLst xmlns:a="http://schemas.openxmlformats.org/drawingml/2006/main">
              <a:ext uri="{FF2B5EF4-FFF2-40B4-BE49-F238E27FC236}">
                <a16:creationId xmlns:a16="http://schemas.microsoft.com/office/drawing/2014/main" id="{30852FAE-F900-4D25-9C99-731B72126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13716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1EC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A23079CD-2DFF-4E12-B092-F72CFCD6B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62125"/>
            <a:ext cx="68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2672" lnSpcReduction="1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071521"/>
                </a:solidFill>
                <a:latin typeface="Noto Sans TC"/>
                <a:ea typeface="Noto Sans TC"/>
                <a:cs typeface="Noto Sans TC"/>
              </a:defRPr>
            </a:pPr>
            <a:r>
              <a:rPr sz="1050" b="1">
                <a:solidFill>
                  <a:srgbClr val="0B1F33"/>
                </a:solidFill>
                <a:latin typeface="Noto Sans TC"/>
                <a:ea typeface="Noto Sans TC"/>
                <a:cs typeface="Noto Sans TC"/>
              </a:rPr>
              <a:t>ADDITIONAL BONUS</a:t>
            </a: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AD249E86-98A7-4E5B-8FAF-E76C90854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1743075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4D8DFF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1F5A85"/>
                </a:solidFill>
                <a:latin typeface="Noto Sans TC"/>
                <a:ea typeface="Noto Sans TC"/>
                <a:cs typeface="Noto Sans TC"/>
              </a:rPr>
              <a:t>Sensor Scan &amp; DWR Interconnect Test</a:t>
            </a:r>
          </a:p>
        </p:txBody>
      </p:sp>
      <p:sp>
        <p:nvSpPr>
          <p:cNvPr id="23" name="箭號: 向右 22">
            <a:extLst xmlns:a="http://schemas.openxmlformats.org/drawingml/2006/main">
              <a:ext uri="{FF2B5EF4-FFF2-40B4-BE49-F238E27FC236}">
                <a16:creationId xmlns:a16="http://schemas.microsoft.com/office/drawing/2014/main" id="{A0269A0B-6295-497E-B41A-29C20D367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943225"/>
            <a:ext cx="647700" cy="3429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3DD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矩形: 圓角 23">
            <a:extLst xmlns:a="http://schemas.openxmlformats.org/drawingml/2006/main">
              <a:ext uri="{FF2B5EF4-FFF2-40B4-BE49-F238E27FC236}">
                <a16:creationId xmlns:a16="http://schemas.microsoft.com/office/drawing/2014/main" id="{86F96D7E-E77A-40BA-A7CE-BE8EC87D5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19350"/>
            <a:ext cx="2286000" cy="1447800"/>
          </a:xfrm>
          <a:prstGeom xmlns:a="http://schemas.openxmlformats.org/drawingml/2006/main" prst="roundRect">
            <a:avLst>
              <a:gd name="adj" fmla="val 7895"/>
            </a:avLst>
          </a:prstGeom>
          <a:solidFill xmlns:a="http://schemas.openxmlformats.org/drawingml/2006/main">
            <a:srgbClr val="F4F7F9"/>
          </a:solidFill>
          <a:ln xmlns:a="http://schemas.openxmlformats.org/drawingml/2006/main" w="9525">
            <a:solidFill>
              <a:srgbClr val="94A3B8"/>
            </a:solidFill>
            <a:prstDash val="solid"/>
          </a:ln>
        </p:spPr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E44684AB-1FCB-4B15-A2D7-D0AEA4DAD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38425"/>
            <a:ext cx="1790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3598" lnSpcReduction="1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25" b="1">
                <a:solidFill>
                  <a:srgbClr val="F3F8FB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1">
                <a:solidFill>
                  <a:srgbClr val="0B1F33"/>
                </a:solidFill>
                <a:latin typeface="Noto Sans TC"/>
                <a:ea typeface="Noto Sans TC"/>
                <a:cs typeface="Noto Sans TC"/>
              </a:rPr>
              <a:t>Sensor + Die Links</a:t>
            </a:r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6BB5894E-A284-49C7-BBF6-A6613348E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95625"/>
            <a:ext cx="1790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0">
                <a:solidFill>
                  <a:srgbClr val="A7BDCA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526678"/>
                </a:solidFill>
                <a:latin typeface="Noto Sans TC"/>
                <a:ea typeface="Noto Sans TC"/>
                <a:cs typeface="Noto Sans TC"/>
              </a:rPr>
              <a:t>sensor logic + die links</a:t>
            </a:r>
          </a:p>
        </p:txBody>
      </p:sp>
      <p:sp>
        <p:nvSpPr>
          <p:cNvPr id="27" name="矩形: 圓角 26">
            <a:extLst xmlns:a="http://schemas.openxmlformats.org/drawingml/2006/main">
              <a:ext uri="{FF2B5EF4-FFF2-40B4-BE49-F238E27FC236}">
                <a16:creationId xmlns:a16="http://schemas.microsoft.com/office/drawing/2014/main" id="{F67899C0-80FC-4110-ABEE-CD848F8D1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190750"/>
            <a:ext cx="4114800" cy="1924050"/>
          </a:xfrm>
          <a:prstGeom xmlns:a="http://schemas.openxmlformats.org/drawingml/2006/main" prst="roundRect">
            <a:avLst>
              <a:gd name="adj" fmla="val 5941"/>
            </a:avLst>
          </a:prstGeom>
          <a:solidFill xmlns:a="http://schemas.openxmlformats.org/drawingml/2006/main">
            <a:srgbClr val="E8EFF4"/>
          </a:solidFill>
          <a:ln xmlns:a="http://schemas.openxmlformats.org/drawingml/2006/main" w="19050">
            <a:solidFill>
              <a:srgbClr val="1F5A85"/>
            </a:solidFill>
            <a:prstDash val="solid"/>
          </a:ln>
        </p:spPr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AF0EC2E9-95E0-4ABA-8731-940490E0D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400300"/>
            <a:ext cx="3581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75" b="1">
                <a:solidFill>
                  <a:srgbClr val="4D8DFF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1F5A85"/>
                </a:solidFill>
                <a:latin typeface="Noto Sans TC"/>
                <a:ea typeface="Noto Sans TC"/>
                <a:cs typeface="Noto Sans TC"/>
              </a:rPr>
              <a:t>DFT Extensions</a:t>
            </a:r>
          </a:p>
        </p:txBody>
      </p:sp>
      <p:sp>
        <p:nvSpPr>
          <p:cNvPr id="29" name="矩形: 圓角 28">
            <a:extLst xmlns:a="http://schemas.openxmlformats.org/drawingml/2006/main">
              <a:ext uri="{FF2B5EF4-FFF2-40B4-BE49-F238E27FC236}">
                <a16:creationId xmlns:a16="http://schemas.microsoft.com/office/drawing/2014/main" id="{45CAF5A2-444C-43B7-A036-90119D49F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971800"/>
            <a:ext cx="9906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8C7D1"/>
            </a:solidFill>
            <a:prstDash val="solid"/>
          </a:ln>
        </p:spPr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8D822B35-D1DB-4BC4-8794-E4AD72AC8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019425"/>
            <a:ext cx="990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3AA7FF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1F5A85"/>
                </a:solidFill>
                <a:latin typeface="Noto Sans TC"/>
                <a:ea typeface="Noto Sans TC"/>
                <a:cs typeface="Noto Sans TC"/>
              </a:rPr>
              <a:t>Sensor Scan</a:t>
            </a:r>
          </a:p>
        </p:txBody>
      </p:sp>
      <p:sp>
        <p:nvSpPr>
          <p:cNvPr id="31" name="矩形: 圓角 30">
            <a:extLst xmlns:a="http://schemas.openxmlformats.org/drawingml/2006/main">
              <a:ext uri="{FF2B5EF4-FFF2-40B4-BE49-F238E27FC236}">
                <a16:creationId xmlns:a16="http://schemas.microsoft.com/office/drawing/2014/main" id="{7DAAF571-BFC5-4785-B3F4-E0ADC9FBE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971800"/>
            <a:ext cx="9906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8C7D1"/>
            </a:solidFill>
            <a:prstDash val="solid"/>
          </a:ln>
        </p:spPr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E8ECC017-4E6E-447A-BF0C-772E2F126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019425"/>
            <a:ext cx="990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3AA7FF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1F5A85"/>
                </a:solidFill>
                <a:latin typeface="Noto Sans TC"/>
                <a:ea typeface="Noto Sans TC"/>
                <a:cs typeface="Noto Sans TC"/>
              </a:rPr>
              <a:t>DWR</a:t>
            </a:r>
          </a:p>
        </p:txBody>
      </p:sp>
      <p:sp>
        <p:nvSpPr>
          <p:cNvPr id="33" name="矩形: 圓角 32">
            <a:extLst xmlns:a="http://schemas.openxmlformats.org/drawingml/2006/main">
              <a:ext uri="{FF2B5EF4-FFF2-40B4-BE49-F238E27FC236}">
                <a16:creationId xmlns:a16="http://schemas.microsoft.com/office/drawing/2014/main" id="{A2D8C354-70B6-403C-916D-692FD8FBF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971800"/>
            <a:ext cx="9906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8C7D1"/>
            </a:solidFill>
            <a:prstDash val="solid"/>
          </a:ln>
        </p:spPr>
      </p:sp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F9485B92-A6FC-4320-A933-6B85E1CB9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019425"/>
            <a:ext cx="990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3AA7FF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1F5A85"/>
                </a:solidFill>
                <a:latin typeface="Noto Sans TC"/>
                <a:ea typeface="Noto Sans TC"/>
                <a:cs typeface="Noto Sans TC"/>
              </a:rPr>
              <a:t>Stuck-at</a:t>
            </a:r>
          </a:p>
        </p:txBody>
      </p:sp>
      <p:sp>
        <p:nvSpPr>
          <p:cNvPr id="35" name="矩形: 圓角 34">
            <a:extLst xmlns:a="http://schemas.openxmlformats.org/drawingml/2006/main">
              <a:ext uri="{FF2B5EF4-FFF2-40B4-BE49-F238E27FC236}">
                <a16:creationId xmlns:a16="http://schemas.microsoft.com/office/drawing/2014/main" id="{66769BB9-5DF8-4B04-8A7D-AE7B0719D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467100"/>
            <a:ext cx="9906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8C7D1"/>
            </a:solidFill>
            <a:prstDash val="solid"/>
          </a:ln>
        </p:spPr>
      </p:sp>
      <p:sp>
        <p:nvSpPr>
          <p:cNvPr id="36" name="矩形 35">
            <a:extLst xmlns:a="http://schemas.openxmlformats.org/drawingml/2006/main">
              <a:ext uri="{FF2B5EF4-FFF2-40B4-BE49-F238E27FC236}">
                <a16:creationId xmlns:a16="http://schemas.microsoft.com/office/drawing/2014/main" id="{6B1D69CC-48A6-4D9F-A335-E97ACE370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514725"/>
            <a:ext cx="990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F5B94C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1F5A85"/>
                </a:solidFill>
                <a:latin typeface="Noto Sans TC"/>
                <a:ea typeface="Noto Sans TC"/>
                <a:cs typeface="Noto Sans TC"/>
              </a:rPr>
              <a:t>Transition</a:t>
            </a:r>
          </a:p>
        </p:txBody>
      </p:sp>
      <p:sp>
        <p:nvSpPr>
          <p:cNvPr id="37" name="矩形: 圓角 36">
            <a:extLst xmlns:a="http://schemas.openxmlformats.org/drawingml/2006/main">
              <a:ext uri="{FF2B5EF4-FFF2-40B4-BE49-F238E27FC236}">
                <a16:creationId xmlns:a16="http://schemas.microsoft.com/office/drawing/2014/main" id="{EA90727F-64A1-4BC4-BD73-6AC8F6387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467100"/>
            <a:ext cx="9906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8C7D1"/>
            </a:solidFill>
            <a:prstDash val="solid"/>
          </a:ln>
        </p:spPr>
      </p:sp>
      <p:sp>
        <p:nvSpPr>
          <p:cNvPr id="38" name="矩形 37">
            <a:extLst xmlns:a="http://schemas.openxmlformats.org/drawingml/2006/main">
              <a:ext uri="{FF2B5EF4-FFF2-40B4-BE49-F238E27FC236}">
                <a16:creationId xmlns:a16="http://schemas.microsoft.com/office/drawing/2014/main" id="{CCEF74BA-E1AA-49A9-9591-B1D757954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514725"/>
            <a:ext cx="990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F5B94C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1F5A85"/>
                </a:solidFill>
                <a:latin typeface="Noto Sans TC"/>
                <a:ea typeface="Noto Sans TC"/>
                <a:cs typeface="Noto Sans TC"/>
              </a:rPr>
              <a:t>Die-link Test</a:t>
            </a:r>
          </a:p>
        </p:txBody>
      </p:sp>
      <p:sp>
        <p:nvSpPr>
          <p:cNvPr id="39" name="矩形 38">
            <a:extLst xmlns:a="http://schemas.openxmlformats.org/drawingml/2006/main">
              <a:ext uri="{FF2B5EF4-FFF2-40B4-BE49-F238E27FC236}">
                <a16:creationId xmlns:a16="http://schemas.microsoft.com/office/drawing/2014/main" id="{6ECD6520-2DB0-4AAF-8457-C7A99882B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28600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F5B94C"/>
                </a:solidFill>
                <a:latin typeface="Noto Sans TC"/>
                <a:ea typeface="Noto Sans TC"/>
                <a:cs typeface="Noto Sans TC"/>
              </a:defRPr>
            </a:pPr>
            <a:r>
              <a:rPr sz="1650" b="1">
                <a:solidFill>
                  <a:srgbClr val="1F5A85"/>
                </a:solidFill>
                <a:latin typeface="Noto Sans TC"/>
                <a:ea typeface="Noto Sans TC"/>
                <a:cs typeface="Noto Sans TC"/>
              </a:rPr>
              <a:t>Checkpoint</a:t>
            </a:r>
          </a:p>
        </p:txBody>
      </p:sp>
      <p:sp>
        <p:nvSpPr>
          <p:cNvPr id="40" name="橢圓 39">
            <a:extLst xmlns:a="http://schemas.openxmlformats.org/drawingml/2006/main">
              <a:ext uri="{FF2B5EF4-FFF2-40B4-BE49-F238E27FC236}">
                <a16:creationId xmlns:a16="http://schemas.microsoft.com/office/drawing/2014/main" id="{7BDBEFE7-B775-472C-9265-313CA60B3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7432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F2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矩形 40">
            <a:extLst xmlns:a="http://schemas.openxmlformats.org/drawingml/2006/main">
              <a:ext uri="{FF2B5EF4-FFF2-40B4-BE49-F238E27FC236}">
                <a16:creationId xmlns:a16="http://schemas.microsoft.com/office/drawing/2014/main" id="{BF40E2EE-A1F1-4035-AA1B-9BD1BE289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72415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071521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0B1F33"/>
                </a:solidFill>
                <a:latin typeface="Noto Sans TC"/>
                <a:ea typeface="Noto Sans TC"/>
                <a:cs typeface="Noto Sans TC"/>
              </a:rPr>
              <a:t>✓</a:t>
            </a:r>
          </a:p>
        </p:txBody>
      </p:sp>
      <p:sp>
        <p:nvSpPr>
          <p:cNvPr id="42" name="矩形 41">
            <a:extLst xmlns:a="http://schemas.openxmlformats.org/drawingml/2006/main">
              <a:ext uri="{FF2B5EF4-FFF2-40B4-BE49-F238E27FC236}">
                <a16:creationId xmlns:a16="http://schemas.microsoft.com/office/drawing/2014/main" id="{59249B3E-29D5-4B1A-BEE9-9FA4F50ED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724150"/>
            <a:ext cx="27241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D8E6EE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334155"/>
                </a:solidFill>
                <a:latin typeface="Noto Sans TC"/>
                <a:ea typeface="Noto Sans TC"/>
                <a:cs typeface="Noto Sans TC"/>
              </a:rPr>
              <a:t>Sensor structural coverage reported</a:t>
            </a:r>
          </a:p>
        </p:txBody>
      </p:sp>
      <p:sp>
        <p:nvSpPr>
          <p:cNvPr id="43" name="橢圓 42">
            <a:extLst xmlns:a="http://schemas.openxmlformats.org/drawingml/2006/main">
              <a:ext uri="{FF2B5EF4-FFF2-40B4-BE49-F238E27FC236}">
                <a16:creationId xmlns:a16="http://schemas.microsoft.com/office/drawing/2014/main" id="{0C607188-0CF7-4215-9901-DC5DA17B6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2575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F2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矩形 43">
            <a:extLst xmlns:a="http://schemas.openxmlformats.org/drawingml/2006/main">
              <a:ext uri="{FF2B5EF4-FFF2-40B4-BE49-F238E27FC236}">
                <a16:creationId xmlns:a16="http://schemas.microsoft.com/office/drawing/2014/main" id="{0811E19E-9FB9-41EE-9F44-F72BC7DCF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23850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071521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0B1F33"/>
                </a:solidFill>
                <a:latin typeface="Noto Sans TC"/>
                <a:ea typeface="Noto Sans TC"/>
                <a:cs typeface="Noto Sans TC"/>
              </a:rPr>
              <a:t>✓</a:t>
            </a:r>
          </a:p>
        </p:txBody>
      </p:sp>
      <p:sp>
        <p:nvSpPr>
          <p:cNvPr id="45" name="矩形 44">
            <a:extLst xmlns:a="http://schemas.openxmlformats.org/drawingml/2006/main">
              <a:ext uri="{FF2B5EF4-FFF2-40B4-BE49-F238E27FC236}">
                <a16:creationId xmlns:a16="http://schemas.microsoft.com/office/drawing/2014/main" id="{F48EF8B7-42D5-4BC0-9195-C004E8B58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238500"/>
            <a:ext cx="27241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D8E6EE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334155"/>
                </a:solidFill>
                <a:latin typeface="Noto Sans TC"/>
                <a:ea typeface="Noto Sans TC"/>
                <a:cs typeface="Noto Sans TC"/>
              </a:rPr>
              <a:t>DWR tests die-to-die faults</a:t>
            </a:r>
          </a:p>
        </p:txBody>
      </p:sp>
      <p:sp>
        <p:nvSpPr>
          <p:cNvPr id="46" name="橢圓 45">
            <a:extLst xmlns:a="http://schemas.openxmlformats.org/drawingml/2006/main">
              <a:ext uri="{FF2B5EF4-FFF2-40B4-BE49-F238E27FC236}">
                <a16:creationId xmlns:a16="http://schemas.microsoft.com/office/drawing/2014/main" id="{FD9603D3-46DD-40B6-9FD0-5F06C67E7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7719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F2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D8F06701-46C3-4A63-93FC-E1D2DCE36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75285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071521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0B1F33"/>
                </a:solidFill>
                <a:latin typeface="Noto Sans TC"/>
                <a:ea typeface="Noto Sans TC"/>
                <a:cs typeface="Noto Sans TC"/>
              </a:rPr>
              <a:t>✓</a:t>
            </a:r>
          </a:p>
        </p:txBody>
      </p:sp>
      <p:sp>
        <p:nvSpPr>
          <p:cNvPr id="48" name="矩形 47">
            <a:extLst xmlns:a="http://schemas.openxmlformats.org/drawingml/2006/main">
              <a:ext uri="{FF2B5EF4-FFF2-40B4-BE49-F238E27FC236}">
                <a16:creationId xmlns:a16="http://schemas.microsoft.com/office/drawing/2014/main" id="{9BC72189-011E-4A25-9C5B-A858775EB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752850"/>
            <a:ext cx="27241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D8E6EE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334155"/>
                </a:solidFill>
                <a:latin typeface="Noto Sans TC"/>
                <a:ea typeface="Noto Sans TC"/>
                <a:cs typeface="Noto Sans TC"/>
              </a:rPr>
              <a:t>Run only if schedule and die-link ports permit</a:t>
            </a:r>
          </a:p>
        </p:txBody>
      </p:sp>
      <p:sp>
        <p:nvSpPr>
          <p:cNvPr id="49" name="矩形: 圓角 48">
            <a:extLst xmlns:a="http://schemas.openxmlformats.org/drawingml/2006/main">
              <a:ext uri="{FF2B5EF4-FFF2-40B4-BE49-F238E27FC236}">
                <a16:creationId xmlns:a16="http://schemas.microsoft.com/office/drawing/2014/main" id="{5A31F29E-FF3D-465A-B8E2-6708EB705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29150"/>
            <a:ext cx="1061085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4F7F9"/>
          </a:solidFill>
          <a:ln xmlns:a="http://schemas.openxmlformats.org/drawingml/2006/main" w="9525">
            <a:solidFill>
              <a:srgbClr val="B8C7D1"/>
            </a:solidFill>
            <a:prstDash val="solid"/>
          </a:ln>
        </p:spPr>
      </p:sp>
      <p:sp>
        <p:nvSpPr>
          <p:cNvPr id="50" name="矩形 49">
            <a:extLst xmlns:a="http://schemas.openxmlformats.org/drawingml/2006/main">
              <a:ext uri="{FF2B5EF4-FFF2-40B4-BE49-F238E27FC236}">
                <a16:creationId xmlns:a16="http://schemas.microsoft.com/office/drawing/2014/main" id="{5207822E-B0E7-43F8-8F1F-C7D14806C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48225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44D17B"/>
                </a:solidFill>
                <a:latin typeface="Noto Sans TC"/>
                <a:ea typeface="Noto Sans TC"/>
                <a:cs typeface="Noto Sans TC"/>
              </a:defRPr>
            </a:pPr>
            <a:r>
              <a:rPr sz="1575" b="1">
                <a:solidFill>
                  <a:srgbClr val="15803D"/>
                </a:solidFill>
                <a:latin typeface="Noto Sans TC"/>
                <a:ea typeface="Noto Sans TC"/>
                <a:cs typeface="Noto Sans TC"/>
              </a:rPr>
              <a:t>Evidence</a:t>
            </a:r>
          </a:p>
        </p:txBody>
      </p:sp>
      <p:sp>
        <p:nvSpPr>
          <p:cNvPr id="51" name="矩形 50">
            <a:extLst xmlns:a="http://schemas.openxmlformats.org/drawingml/2006/main">
              <a:ext uri="{FF2B5EF4-FFF2-40B4-BE49-F238E27FC236}">
                <a16:creationId xmlns:a16="http://schemas.microsoft.com/office/drawing/2014/main" id="{1B11617B-D7D8-48A5-AF11-25111C56B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84822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D8E6EE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334155"/>
                </a:solidFill>
                <a:latin typeface="Noto Sans TC"/>
                <a:ea typeface="Noto Sans TC"/>
                <a:cs typeface="Noto Sans TC"/>
              </a:rPr>
              <a:t>Scan + ATPG report</a:t>
            </a:r>
          </a:p>
        </p:txBody>
      </p:sp>
      <p:sp>
        <p:nvSpPr>
          <p:cNvPr id="52" name="矩形 51">
            <a:extLst xmlns:a="http://schemas.openxmlformats.org/drawingml/2006/main">
              <a:ext uri="{FF2B5EF4-FFF2-40B4-BE49-F238E27FC236}">
                <a16:creationId xmlns:a16="http://schemas.microsoft.com/office/drawing/2014/main" id="{C218DF38-7DE6-4986-B82B-EBCD739AD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4822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D8E6EE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334155"/>
                </a:solidFill>
                <a:latin typeface="Noto Sans TC"/>
                <a:ea typeface="Noto Sans TC"/>
                <a:cs typeface="Noto Sans TC"/>
              </a:rPr>
              <a:t>DWR coverage</a:t>
            </a:r>
          </a:p>
        </p:txBody>
      </p:sp>
      <p:sp>
        <p:nvSpPr>
          <p:cNvPr id="53" name="矩形 52">
            <a:extLst xmlns:a="http://schemas.openxmlformats.org/drawingml/2006/main">
              <a:ext uri="{FF2B5EF4-FFF2-40B4-BE49-F238E27FC236}">
                <a16:creationId xmlns:a16="http://schemas.microsoft.com/office/drawing/2014/main" id="{0C7A60DC-696B-44FA-A839-52B57F5E3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848225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D8E6EE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334155"/>
                </a:solidFill>
                <a:latin typeface="Noto Sans TC"/>
                <a:ea typeface="Noto Sans TC"/>
                <a:cs typeface="Noto Sans TC"/>
              </a:rPr>
              <a:t>Die-link simulation</a:t>
            </a:r>
          </a:p>
        </p:txBody>
      </p:sp>
      <p:sp>
        <p:nvSpPr>
          <p:cNvPr id="54" name="矩形 53">
            <a:extLst xmlns:a="http://schemas.openxmlformats.org/drawingml/2006/main">
              <a:ext uri="{FF2B5EF4-FFF2-40B4-BE49-F238E27FC236}">
                <a16:creationId xmlns:a16="http://schemas.microsoft.com/office/drawing/2014/main" id="{CFF8335D-3F77-4AA9-A3EC-16B046EFA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5248275"/>
            <a:ext cx="8248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D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矩形 54">
            <a:extLst xmlns:a="http://schemas.openxmlformats.org/drawingml/2006/main">
              <a:ext uri="{FF2B5EF4-FFF2-40B4-BE49-F238E27FC236}">
                <a16:creationId xmlns:a16="http://schemas.microsoft.com/office/drawing/2014/main" id="{DB89AD59-1385-46F3-BCF7-ACB9C7AA9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81625"/>
            <a:ext cx="9677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3F8FB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0B1F33"/>
                </a:solidFill>
                <a:latin typeface="Noto Sans TC"/>
                <a:ea typeface="Noto Sans TC"/>
                <a:cs typeface="Noto Sans TC"/>
              </a:rPr>
              <a:t>Additional bonus does not block the main ATPG environment deliverable.</a:t>
            </a:r>
          </a:p>
        </p:txBody>
      </p:sp>
    </p:spTree>
    <p:extLst>
      <p:ext uri="{BB962C8B-B14F-4D97-AF65-F5344CB8AC3E}">
        <p14:creationId xmlns:p14="http://schemas.microsoft.com/office/powerpoint/2010/main" val="1041703326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6" name="矩形 55">
            <a:extLst xmlns:a="http://schemas.openxmlformats.org/drawingml/2006/main">
              <a:ext uri="{FF2B5EF4-FFF2-40B4-BE49-F238E27FC236}">
                <a16:creationId xmlns:a16="http://schemas.microsoft.com/office/drawing/2014/main" id="{5CA40315-261D-48C8-8DF7-3051D8DCA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38D6C5"/>
                </a:solidFill>
                <a:latin typeface="Noto Sans TC"/>
                <a:ea typeface="Noto Sans TC"/>
                <a:cs typeface="Noto Sans TC"/>
              </a:defRPr>
            </a:pPr>
            <a:r>
              <a:rPr sz="1050" b="1">
                <a:solidFill>
                  <a:srgbClr val="0F766E"/>
                </a:solidFill>
                <a:latin typeface="Noto Sans TC"/>
                <a:ea typeface="Noto Sans TC"/>
                <a:cs typeface="Noto Sans TC"/>
              </a:rPr>
              <a:t>FLOW CONSOLIDATION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6450DFBE-9CAC-414C-ABA5-950258B86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F3F8FB"/>
                </a:solidFill>
                <a:latin typeface="Noto Sans TC"/>
                <a:ea typeface="Noto Sans TC"/>
                <a:cs typeface="Noto Sans TC"/>
              </a:defRPr>
            </a:pPr>
            <a:r>
              <a:rPr sz="2850" b="1">
                <a:solidFill>
                  <a:srgbClr val="0B1F33"/>
                </a:solidFill>
                <a:latin typeface="Noto Sans TC"/>
                <a:ea typeface="Noto Sans TC"/>
                <a:cs typeface="Noto Sans TC"/>
              </a:rPr>
              <a:t>Step 12 Consolidates the Tcl and Run Environment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717B45F9-54B8-4BAD-A71C-AB06A5B06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787775C2-AB5A-4B37-8F50-36D374883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38275"/>
            <a:ext cx="8477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D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橢圓 4">
            <a:extLst xmlns:a="http://schemas.openxmlformats.org/drawingml/2006/main">
              <a:ext uri="{FF2B5EF4-FFF2-40B4-BE49-F238E27FC236}">
                <a16:creationId xmlns:a16="http://schemas.microsoft.com/office/drawing/2014/main" id="{B9AB8863-67B4-42A6-857A-C456EB81A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F2EF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3AADAE80-E3F5-4889-B09E-45A905A9E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352550"/>
            <a:ext cx="1352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0B1F33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0B1F33"/>
                </a:solidFill>
                <a:latin typeface="Noto Sans TC"/>
                <a:ea typeface="Noto Sans TC"/>
                <a:cs typeface="Noto Sans TC"/>
              </a:rPr>
              <a:t>1  INVENTORY</a:t>
            </a:r>
          </a:p>
        </p:txBody>
      </p:sp>
      <p:sp>
        <p:nvSpPr>
          <p:cNvPr id="7" name="橢圓 6">
            <a:extLst xmlns:a="http://schemas.openxmlformats.org/drawingml/2006/main">
              <a:ext uri="{FF2B5EF4-FFF2-40B4-BE49-F238E27FC236}">
                <a16:creationId xmlns:a16="http://schemas.microsoft.com/office/drawing/2014/main" id="{43D97B7A-F222-4433-AADC-1E86AE4E0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13620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F2EF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D054297C-8102-40AF-A27C-FF4BD360E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1352550"/>
            <a:ext cx="1352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0B1F33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0B1F33"/>
                </a:solidFill>
                <a:latin typeface="Noto Sans TC"/>
                <a:ea typeface="Noto Sans TC"/>
                <a:cs typeface="Noto Sans TC"/>
              </a:rPr>
              <a:t>2  COMMON FLOW</a:t>
            </a:r>
          </a:p>
        </p:txBody>
      </p:sp>
      <p:sp>
        <p:nvSpPr>
          <p:cNvPr id="9" name="橢圓 8">
            <a:extLst xmlns:a="http://schemas.openxmlformats.org/drawingml/2006/main">
              <a:ext uri="{FF2B5EF4-FFF2-40B4-BE49-F238E27FC236}">
                <a16:creationId xmlns:a16="http://schemas.microsoft.com/office/drawing/2014/main" id="{43AD51A1-8FB0-42C1-9856-328E01658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3620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F2EF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F21581C8-CE16-421A-8F45-547357EEC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352550"/>
            <a:ext cx="1352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0B1F33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0B1F33"/>
                </a:solidFill>
                <a:latin typeface="Noto Sans TC"/>
                <a:ea typeface="Noto Sans TC"/>
                <a:cs typeface="Noto Sans TC"/>
              </a:rPr>
              <a:t>3  DESIGN CONFIG</a:t>
            </a:r>
          </a:p>
        </p:txBody>
      </p:sp>
      <p:sp>
        <p:nvSpPr>
          <p:cNvPr id="11" name="橢圓 10">
            <a:extLst xmlns:a="http://schemas.openxmlformats.org/drawingml/2006/main">
              <a:ext uri="{FF2B5EF4-FFF2-40B4-BE49-F238E27FC236}">
                <a16:creationId xmlns:a16="http://schemas.microsoft.com/office/drawing/2014/main" id="{E2F319D7-6B4F-4172-9A7C-A3F6AC939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13620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F2EF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06A451FB-60C6-45FF-B0D2-3B4C2A493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352550"/>
            <a:ext cx="1352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0B1F33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0B1F33"/>
                </a:solidFill>
                <a:latin typeface="Noto Sans TC"/>
                <a:ea typeface="Noto Sans TC"/>
                <a:cs typeface="Noto Sans TC"/>
              </a:rPr>
              <a:t>4  RUN FOLDERS</a:t>
            </a:r>
          </a:p>
        </p:txBody>
      </p:sp>
      <p:sp>
        <p:nvSpPr>
          <p:cNvPr id="13" name="橢圓 12">
            <a:extLst xmlns:a="http://schemas.openxmlformats.org/drawingml/2006/main">
              <a:ext uri="{FF2B5EF4-FFF2-40B4-BE49-F238E27FC236}">
                <a16:creationId xmlns:a16="http://schemas.microsoft.com/office/drawing/2014/main" id="{A9108F2F-B02E-441C-A8E8-4FF4D5A13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13620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F2EF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391CF678-20D9-4B71-AE6F-BD5153225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352550"/>
            <a:ext cx="1352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0B1F33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0B1F33"/>
                </a:solidFill>
                <a:latin typeface="Noto Sans TC"/>
                <a:ea typeface="Noto Sans TC"/>
                <a:cs typeface="Noto Sans TC"/>
              </a:rPr>
              <a:t>5  CHECKS</a:t>
            </a:r>
          </a:p>
        </p:txBody>
      </p:sp>
      <p:sp>
        <p:nvSpPr>
          <p:cNvPr id="15" name="橢圓 14">
            <a:extLst xmlns:a="http://schemas.openxmlformats.org/drawingml/2006/main">
              <a:ext uri="{FF2B5EF4-FFF2-40B4-BE49-F238E27FC236}">
                <a16:creationId xmlns:a16="http://schemas.microsoft.com/office/drawing/2014/main" id="{4951195A-91F2-4F67-98A6-D09F788EE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13620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F2EF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3DE33A19-AC5C-47D6-BB34-85A768FEF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352550"/>
            <a:ext cx="1352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0B1F33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0B1F33"/>
                </a:solidFill>
                <a:latin typeface="Noto Sans TC"/>
                <a:ea typeface="Noto Sans TC"/>
                <a:cs typeface="Noto Sans TC"/>
              </a:rPr>
              <a:t>6  HANDOFF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4045AFEB-29F8-4C77-BB81-983DCE830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D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09FC2976-2CED-4D32-855B-B51E5B47D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81775"/>
            <a:ext cx="904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6F8B9D"/>
                </a:solidFill>
                <a:latin typeface="Noto Sans TC"/>
                <a:ea typeface="Noto Sans TC"/>
                <a:cs typeface="Noto Sans TC"/>
              </a:defRPr>
            </a:pPr>
            <a:r>
              <a:rPr sz="825" b="0">
                <a:solidFill>
                  <a:srgbClr val="64748B"/>
                </a:solidFill>
                <a:latin typeface="Noto Sans TC"/>
                <a:ea typeface="Noto Sans TC"/>
                <a:cs typeface="Noto Sans TC"/>
              </a:rPr>
              <a:t>GUI can follow after outputs, folders, and PASS / FAIL rules stabilize.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7C82186E-9620-43AF-A14F-3BBCE6D5C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6F8B9D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64748B"/>
                </a:solidFill>
                <a:latin typeface="Noto Sans TC"/>
                <a:ea typeface="Noto Sans TC"/>
                <a:cs typeface="Noto Sans TC"/>
              </a:rPr>
              <a:t>19</a:t>
            </a:r>
          </a:p>
        </p:txBody>
      </p:sp>
      <p:sp>
        <p:nvSpPr>
          <p:cNvPr id="20" name="矩形: 圓角 19">
            <a:extLst xmlns:a="http://schemas.openxmlformats.org/drawingml/2006/main">
              <a:ext uri="{FF2B5EF4-FFF2-40B4-BE49-F238E27FC236}">
                <a16:creationId xmlns:a16="http://schemas.microsoft.com/office/drawing/2014/main" id="{30852FAE-F900-4D25-9C99-731B72126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13716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1EC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A23079CD-2DFF-4E12-B092-F72CFCD6B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62125"/>
            <a:ext cx="68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 lnSpcReduction="1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071521"/>
                </a:solidFill>
                <a:latin typeface="Noto Sans TC"/>
                <a:ea typeface="Noto Sans TC"/>
                <a:cs typeface="Noto Sans TC"/>
              </a:defRPr>
            </a:pPr>
            <a:r>
              <a:rPr sz="1050" b="1">
                <a:solidFill>
                  <a:srgbClr val="0B1F33"/>
                </a:solidFill>
                <a:latin typeface="Noto Sans TC"/>
                <a:ea typeface="Noto Sans TC"/>
                <a:cs typeface="Noto Sans TC"/>
              </a:rPr>
              <a:t>STEP 12</a:t>
            </a: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AD249E86-98A7-4E5B-8FAF-E76C90854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1743075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4D8DFF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1F5A85"/>
                </a:solidFill>
                <a:latin typeface="Noto Sans TC"/>
                <a:ea typeface="Noto Sans TC"/>
                <a:cs typeface="Noto Sans TC"/>
              </a:rPr>
              <a:t>Environment Consolidation</a:t>
            </a:r>
          </a:p>
        </p:txBody>
      </p:sp>
      <p:sp>
        <p:nvSpPr>
          <p:cNvPr id="23" name="箭號: 向右 22">
            <a:extLst xmlns:a="http://schemas.openxmlformats.org/drawingml/2006/main">
              <a:ext uri="{FF2B5EF4-FFF2-40B4-BE49-F238E27FC236}">
                <a16:creationId xmlns:a16="http://schemas.microsoft.com/office/drawing/2014/main" id="{A0269A0B-6295-497E-B41A-29C20D367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943225"/>
            <a:ext cx="647700" cy="3429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3DD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矩形: 圓角 23">
            <a:extLst xmlns:a="http://schemas.openxmlformats.org/drawingml/2006/main">
              <a:ext uri="{FF2B5EF4-FFF2-40B4-BE49-F238E27FC236}">
                <a16:creationId xmlns:a16="http://schemas.microsoft.com/office/drawing/2014/main" id="{86F96D7E-E77A-40BA-A7CE-BE8EC87D5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19350"/>
            <a:ext cx="2286000" cy="1447800"/>
          </a:xfrm>
          <a:prstGeom xmlns:a="http://schemas.openxmlformats.org/drawingml/2006/main" prst="roundRect">
            <a:avLst>
              <a:gd name="adj" fmla="val 7895"/>
            </a:avLst>
          </a:prstGeom>
          <a:solidFill xmlns:a="http://schemas.openxmlformats.org/drawingml/2006/main">
            <a:srgbClr val="F4F7F9"/>
          </a:solidFill>
          <a:ln xmlns:a="http://schemas.openxmlformats.org/drawingml/2006/main" w="9525">
            <a:solidFill>
              <a:srgbClr val="94A3B8"/>
            </a:solidFill>
            <a:prstDash val="solid"/>
          </a:ln>
        </p:spPr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E44684AB-1FCB-4B15-A2D7-D0AEA4DAD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38425"/>
            <a:ext cx="1790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25" b="1">
                <a:solidFill>
                  <a:srgbClr val="F3F8FB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1">
                <a:solidFill>
                  <a:srgbClr val="0B1F33"/>
                </a:solidFill>
                <a:latin typeface="Noto Sans TC"/>
                <a:ea typeface="Noto Sans TC"/>
                <a:cs typeface="Noto Sans TC"/>
              </a:rPr>
              <a:t>Current State</a:t>
            </a:r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6BB5894E-A284-49C7-BBF6-A6613348E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95625"/>
            <a:ext cx="1790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0">
                <a:solidFill>
                  <a:srgbClr val="A7BDCA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526678"/>
                </a:solidFill>
                <a:latin typeface="Noto Sans TC"/>
                <a:ea typeface="Noto Sans TC"/>
                <a:cs typeface="Noto Sans TC"/>
              </a:rPr>
              <a:t>all Tcl scripts in one working folder</a:t>
            </a:r>
          </a:p>
        </p:txBody>
      </p:sp>
      <p:sp>
        <p:nvSpPr>
          <p:cNvPr id="27" name="矩形: 圓角 26">
            <a:extLst xmlns:a="http://schemas.openxmlformats.org/drawingml/2006/main">
              <a:ext uri="{FF2B5EF4-FFF2-40B4-BE49-F238E27FC236}">
                <a16:creationId xmlns:a16="http://schemas.microsoft.com/office/drawing/2014/main" id="{F67899C0-80FC-4110-ABEE-CD848F8D1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190750"/>
            <a:ext cx="4114800" cy="1924050"/>
          </a:xfrm>
          <a:prstGeom xmlns:a="http://schemas.openxmlformats.org/drawingml/2006/main" prst="roundRect">
            <a:avLst>
              <a:gd name="adj" fmla="val 5941"/>
            </a:avLst>
          </a:prstGeom>
          <a:solidFill xmlns:a="http://schemas.openxmlformats.org/drawingml/2006/main">
            <a:srgbClr val="E8EFF4"/>
          </a:solidFill>
          <a:ln xmlns:a="http://schemas.openxmlformats.org/drawingml/2006/main" w="19050">
            <a:solidFill>
              <a:srgbClr val="1F5A85"/>
            </a:solidFill>
            <a:prstDash val="solid"/>
          </a:ln>
        </p:spPr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AF0EC2E9-95E0-4ABA-8731-940490E0D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400300"/>
            <a:ext cx="3581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75" b="1">
                <a:solidFill>
                  <a:srgbClr val="4D8DFF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1F5A85"/>
                </a:solidFill>
                <a:latin typeface="Noto Sans TC"/>
                <a:ea typeface="Noto Sans TC"/>
                <a:cs typeface="Noto Sans TC"/>
              </a:rPr>
              <a:t>Target Structure</a:t>
            </a:r>
          </a:p>
        </p:txBody>
      </p:sp>
      <p:sp>
        <p:nvSpPr>
          <p:cNvPr id="29" name="矩形: 圓角 28">
            <a:extLst xmlns:a="http://schemas.openxmlformats.org/drawingml/2006/main">
              <a:ext uri="{FF2B5EF4-FFF2-40B4-BE49-F238E27FC236}">
                <a16:creationId xmlns:a16="http://schemas.microsoft.com/office/drawing/2014/main" id="{45CAF5A2-444C-43B7-A036-90119D49F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971800"/>
            <a:ext cx="9906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8C7D1"/>
            </a:solidFill>
            <a:prstDash val="solid"/>
          </a:ln>
        </p:spPr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8D822B35-D1DB-4BC4-8794-E4AD72AC8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019425"/>
            <a:ext cx="990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3AA7FF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1F5A85"/>
                </a:solidFill>
                <a:latin typeface="Noto Sans TC"/>
                <a:ea typeface="Noto Sans TC"/>
                <a:cs typeface="Noto Sans TC"/>
              </a:rPr>
              <a:t>common/</a:t>
            </a:r>
          </a:p>
        </p:txBody>
      </p:sp>
      <p:sp>
        <p:nvSpPr>
          <p:cNvPr id="31" name="矩形: 圓角 30">
            <a:extLst xmlns:a="http://schemas.openxmlformats.org/drawingml/2006/main">
              <a:ext uri="{FF2B5EF4-FFF2-40B4-BE49-F238E27FC236}">
                <a16:creationId xmlns:a16="http://schemas.microsoft.com/office/drawing/2014/main" id="{7DAAF571-BFC5-4785-B3F4-E0ADC9FBE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971800"/>
            <a:ext cx="9906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8C7D1"/>
            </a:solidFill>
            <a:prstDash val="solid"/>
          </a:ln>
        </p:spPr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E8ECC017-4E6E-447A-BF0C-772E2F126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019425"/>
            <a:ext cx="990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3AA7FF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1F5A85"/>
                </a:solidFill>
                <a:latin typeface="Noto Sans TC"/>
                <a:ea typeface="Noto Sans TC"/>
                <a:cs typeface="Noto Sans TC"/>
              </a:rPr>
              <a:t>designs/</a:t>
            </a:r>
          </a:p>
        </p:txBody>
      </p:sp>
      <p:sp>
        <p:nvSpPr>
          <p:cNvPr id="33" name="矩形: 圓角 32">
            <a:extLst xmlns:a="http://schemas.openxmlformats.org/drawingml/2006/main">
              <a:ext uri="{FF2B5EF4-FFF2-40B4-BE49-F238E27FC236}">
                <a16:creationId xmlns:a16="http://schemas.microsoft.com/office/drawing/2014/main" id="{A2D8C354-70B6-403C-916D-692FD8FBF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971800"/>
            <a:ext cx="9906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8C7D1"/>
            </a:solidFill>
            <a:prstDash val="solid"/>
          </a:ln>
        </p:spPr>
      </p:sp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F9485B92-A6FC-4320-A933-6B85E1CB9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019425"/>
            <a:ext cx="990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3AA7FF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1F5A85"/>
                </a:solidFill>
                <a:latin typeface="Noto Sans TC"/>
                <a:ea typeface="Noto Sans TC"/>
                <a:cs typeface="Noto Sans TC"/>
              </a:rPr>
              <a:t>runs/</a:t>
            </a:r>
          </a:p>
        </p:txBody>
      </p:sp>
      <p:sp>
        <p:nvSpPr>
          <p:cNvPr id="35" name="矩形: 圓角 34">
            <a:extLst xmlns:a="http://schemas.openxmlformats.org/drawingml/2006/main">
              <a:ext uri="{FF2B5EF4-FFF2-40B4-BE49-F238E27FC236}">
                <a16:creationId xmlns:a16="http://schemas.microsoft.com/office/drawing/2014/main" id="{66769BB9-5DF8-4B04-8A7D-AE7B0719D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467100"/>
            <a:ext cx="9906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8C7D1"/>
            </a:solidFill>
            <a:prstDash val="solid"/>
          </a:ln>
        </p:spPr>
      </p:sp>
      <p:sp>
        <p:nvSpPr>
          <p:cNvPr id="36" name="矩形 35">
            <a:extLst xmlns:a="http://schemas.openxmlformats.org/drawingml/2006/main">
              <a:ext uri="{FF2B5EF4-FFF2-40B4-BE49-F238E27FC236}">
                <a16:creationId xmlns:a16="http://schemas.microsoft.com/office/drawing/2014/main" id="{6B1D69CC-48A6-4D9F-A335-E97ACE370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514725"/>
            <a:ext cx="990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F5B94C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1F5A85"/>
                </a:solidFill>
                <a:latin typeface="Noto Sans TC"/>
                <a:ea typeface="Noto Sans TC"/>
                <a:cs typeface="Noto Sans TC"/>
              </a:rPr>
              <a:t>docs/</a:t>
            </a:r>
          </a:p>
        </p:txBody>
      </p:sp>
      <p:sp>
        <p:nvSpPr>
          <p:cNvPr id="37" name="矩形: 圓角 36">
            <a:extLst xmlns:a="http://schemas.openxmlformats.org/drawingml/2006/main">
              <a:ext uri="{FF2B5EF4-FFF2-40B4-BE49-F238E27FC236}">
                <a16:creationId xmlns:a16="http://schemas.microsoft.com/office/drawing/2014/main" id="{EA90727F-64A1-4BC4-BD73-6AC8F6387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467100"/>
            <a:ext cx="9906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8C7D1"/>
            </a:solidFill>
            <a:prstDash val="solid"/>
          </a:ln>
        </p:spPr>
      </p:sp>
      <p:sp>
        <p:nvSpPr>
          <p:cNvPr id="38" name="矩形 37">
            <a:extLst xmlns:a="http://schemas.openxmlformats.org/drawingml/2006/main">
              <a:ext uri="{FF2B5EF4-FFF2-40B4-BE49-F238E27FC236}">
                <a16:creationId xmlns:a16="http://schemas.microsoft.com/office/drawing/2014/main" id="{CCEF74BA-E1AA-49A9-9591-B1D757954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514725"/>
            <a:ext cx="990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F5B94C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1F5A85"/>
                </a:solidFill>
                <a:latin typeface="Noto Sans TC"/>
                <a:ea typeface="Noto Sans TC"/>
                <a:cs typeface="Noto Sans TC"/>
              </a:rPr>
              <a:t>reports/</a:t>
            </a:r>
          </a:p>
        </p:txBody>
      </p:sp>
      <p:sp>
        <p:nvSpPr>
          <p:cNvPr id="39" name="矩形 38">
            <a:extLst xmlns:a="http://schemas.openxmlformats.org/drawingml/2006/main">
              <a:ext uri="{FF2B5EF4-FFF2-40B4-BE49-F238E27FC236}">
                <a16:creationId xmlns:a16="http://schemas.microsoft.com/office/drawing/2014/main" id="{6ECD6520-2DB0-4AAF-8457-C7A99882B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28600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F5B94C"/>
                </a:solidFill>
                <a:latin typeface="Noto Sans TC"/>
                <a:ea typeface="Noto Sans TC"/>
                <a:cs typeface="Noto Sans TC"/>
              </a:defRPr>
            </a:pPr>
            <a:r>
              <a:rPr sz="1650" b="1">
                <a:solidFill>
                  <a:srgbClr val="1F5A85"/>
                </a:solidFill>
                <a:latin typeface="Noto Sans TC"/>
                <a:ea typeface="Noto Sans TC"/>
                <a:cs typeface="Noto Sans TC"/>
              </a:rPr>
              <a:t>Checkpoint</a:t>
            </a:r>
          </a:p>
        </p:txBody>
      </p:sp>
      <p:sp>
        <p:nvSpPr>
          <p:cNvPr id="40" name="橢圓 39">
            <a:extLst xmlns:a="http://schemas.openxmlformats.org/drawingml/2006/main">
              <a:ext uri="{FF2B5EF4-FFF2-40B4-BE49-F238E27FC236}">
                <a16:creationId xmlns:a16="http://schemas.microsoft.com/office/drawing/2014/main" id="{7BDBEFE7-B775-472C-9265-313CA60B3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7432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F2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矩形 40">
            <a:extLst xmlns:a="http://schemas.openxmlformats.org/drawingml/2006/main">
              <a:ext uri="{FF2B5EF4-FFF2-40B4-BE49-F238E27FC236}">
                <a16:creationId xmlns:a16="http://schemas.microsoft.com/office/drawing/2014/main" id="{BF40E2EE-A1F1-4035-AA1B-9BD1BE289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72415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071521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0B1F33"/>
                </a:solidFill>
                <a:latin typeface="Noto Sans TC"/>
                <a:ea typeface="Noto Sans TC"/>
                <a:cs typeface="Noto Sans TC"/>
              </a:rPr>
              <a:t>✓</a:t>
            </a:r>
          </a:p>
        </p:txBody>
      </p:sp>
      <p:sp>
        <p:nvSpPr>
          <p:cNvPr id="42" name="矩形 41">
            <a:extLst xmlns:a="http://schemas.openxmlformats.org/drawingml/2006/main">
              <a:ext uri="{FF2B5EF4-FFF2-40B4-BE49-F238E27FC236}">
                <a16:creationId xmlns:a16="http://schemas.microsoft.com/office/drawing/2014/main" id="{59249B3E-29D5-4B1A-BEE9-9FA4F50ED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724150"/>
            <a:ext cx="27241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D8E6EE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334155"/>
                </a:solidFill>
                <a:latin typeface="Noto Sans TC"/>
                <a:ea typeface="Noto Sans TC"/>
                <a:cs typeface="Noto Sans TC"/>
              </a:rPr>
              <a:t>Separate common flow from design-specific settings</a:t>
            </a:r>
          </a:p>
        </p:txBody>
      </p:sp>
      <p:sp>
        <p:nvSpPr>
          <p:cNvPr id="43" name="橢圓 42">
            <a:extLst xmlns:a="http://schemas.openxmlformats.org/drawingml/2006/main">
              <a:ext uri="{FF2B5EF4-FFF2-40B4-BE49-F238E27FC236}">
                <a16:creationId xmlns:a16="http://schemas.microsoft.com/office/drawing/2014/main" id="{0C607188-0CF7-4215-9901-DC5DA17B6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2575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F2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矩形 43">
            <a:extLst xmlns:a="http://schemas.openxmlformats.org/drawingml/2006/main">
              <a:ext uri="{FF2B5EF4-FFF2-40B4-BE49-F238E27FC236}">
                <a16:creationId xmlns:a16="http://schemas.microsoft.com/office/drawing/2014/main" id="{0811E19E-9FB9-41EE-9F44-F72BC7DCF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23850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071521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0B1F33"/>
                </a:solidFill>
                <a:latin typeface="Noto Sans TC"/>
                <a:ea typeface="Noto Sans TC"/>
                <a:cs typeface="Noto Sans TC"/>
              </a:rPr>
              <a:t>✓</a:t>
            </a:r>
          </a:p>
        </p:txBody>
      </p:sp>
      <p:sp>
        <p:nvSpPr>
          <p:cNvPr id="45" name="矩形 44">
            <a:extLst xmlns:a="http://schemas.openxmlformats.org/drawingml/2006/main">
              <a:ext uri="{FF2B5EF4-FFF2-40B4-BE49-F238E27FC236}">
                <a16:creationId xmlns:a16="http://schemas.microsoft.com/office/drawing/2014/main" id="{F48EF8B7-42D5-4BC0-9195-C004E8B58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238500"/>
            <a:ext cx="27241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D8E6EE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334155"/>
                </a:solidFill>
                <a:latin typeface="Noto Sans TC"/>
                <a:ea typeface="Noto Sans TC"/>
                <a:cs typeface="Noto Sans TC"/>
              </a:rPr>
              <a:t>Define one documented run order and entry point</a:t>
            </a:r>
          </a:p>
        </p:txBody>
      </p:sp>
      <p:sp>
        <p:nvSpPr>
          <p:cNvPr id="46" name="橢圓 45">
            <a:extLst xmlns:a="http://schemas.openxmlformats.org/drawingml/2006/main">
              <a:ext uri="{FF2B5EF4-FFF2-40B4-BE49-F238E27FC236}">
                <a16:creationId xmlns:a16="http://schemas.microsoft.com/office/drawing/2014/main" id="{FD9603D3-46DD-40B6-9FD0-5F06C67E7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7719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F2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D8F06701-46C3-4A63-93FC-E1D2DCE36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75285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071521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0B1F33"/>
                </a:solidFill>
                <a:latin typeface="Noto Sans TC"/>
                <a:ea typeface="Noto Sans TC"/>
                <a:cs typeface="Noto Sans TC"/>
              </a:rPr>
              <a:t>✓</a:t>
            </a:r>
          </a:p>
        </p:txBody>
      </p:sp>
      <p:sp>
        <p:nvSpPr>
          <p:cNvPr id="48" name="矩形 47">
            <a:extLst xmlns:a="http://schemas.openxmlformats.org/drawingml/2006/main">
              <a:ext uri="{FF2B5EF4-FFF2-40B4-BE49-F238E27FC236}">
                <a16:creationId xmlns:a16="http://schemas.microsoft.com/office/drawing/2014/main" id="{9BC72189-011E-4A25-9C5B-A858775EB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752850"/>
            <a:ext cx="27241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D8E6EE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334155"/>
                </a:solidFill>
                <a:latin typeface="Noto Sans TC"/>
                <a:ea typeface="Noto Sans TC"/>
                <a:cs typeface="Noto Sans TC"/>
              </a:rPr>
              <a:t>Reproduce key results from a clean output folder</a:t>
            </a:r>
          </a:p>
        </p:txBody>
      </p:sp>
      <p:sp>
        <p:nvSpPr>
          <p:cNvPr id="49" name="矩形: 圓角 48">
            <a:extLst xmlns:a="http://schemas.openxmlformats.org/drawingml/2006/main">
              <a:ext uri="{FF2B5EF4-FFF2-40B4-BE49-F238E27FC236}">
                <a16:creationId xmlns:a16="http://schemas.microsoft.com/office/drawing/2014/main" id="{5A31F29E-FF3D-465A-B8E2-6708EB705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29150"/>
            <a:ext cx="1061085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4F7F9"/>
          </a:solidFill>
          <a:ln xmlns:a="http://schemas.openxmlformats.org/drawingml/2006/main" w="9525">
            <a:solidFill>
              <a:srgbClr val="B8C7D1"/>
            </a:solidFill>
            <a:prstDash val="solid"/>
          </a:ln>
        </p:spPr>
      </p:sp>
      <p:sp>
        <p:nvSpPr>
          <p:cNvPr id="50" name="矩形 49">
            <a:extLst xmlns:a="http://schemas.openxmlformats.org/drawingml/2006/main">
              <a:ext uri="{FF2B5EF4-FFF2-40B4-BE49-F238E27FC236}">
                <a16:creationId xmlns:a16="http://schemas.microsoft.com/office/drawing/2014/main" id="{5207822E-B0E7-43F8-8F1F-C7D14806C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48225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44D17B"/>
                </a:solidFill>
                <a:latin typeface="Noto Sans TC"/>
                <a:ea typeface="Noto Sans TC"/>
                <a:cs typeface="Noto Sans TC"/>
              </a:defRPr>
            </a:pPr>
            <a:r>
              <a:rPr sz="1575" b="1">
                <a:solidFill>
                  <a:srgbClr val="15803D"/>
                </a:solidFill>
                <a:latin typeface="Noto Sans TC"/>
                <a:ea typeface="Noto Sans TC"/>
                <a:cs typeface="Noto Sans TC"/>
              </a:rPr>
              <a:t>Evidence</a:t>
            </a:r>
          </a:p>
        </p:txBody>
      </p:sp>
      <p:sp>
        <p:nvSpPr>
          <p:cNvPr id="51" name="矩形 50">
            <a:extLst xmlns:a="http://schemas.openxmlformats.org/drawingml/2006/main">
              <a:ext uri="{FF2B5EF4-FFF2-40B4-BE49-F238E27FC236}">
                <a16:creationId xmlns:a16="http://schemas.microsoft.com/office/drawing/2014/main" id="{1B11617B-D7D8-48A5-AF11-25111C56B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84822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D8E6EE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334155"/>
                </a:solidFill>
                <a:latin typeface="Noto Sans TC"/>
                <a:ea typeface="Noto Sans TC"/>
                <a:cs typeface="Noto Sans TC"/>
              </a:rPr>
              <a:t>Folder tree</a:t>
            </a:r>
          </a:p>
        </p:txBody>
      </p:sp>
      <p:sp>
        <p:nvSpPr>
          <p:cNvPr id="52" name="矩形 51">
            <a:extLst xmlns:a="http://schemas.openxmlformats.org/drawingml/2006/main">
              <a:ext uri="{FF2B5EF4-FFF2-40B4-BE49-F238E27FC236}">
                <a16:creationId xmlns:a16="http://schemas.microsoft.com/office/drawing/2014/main" id="{C218DF38-7DE6-4986-B82B-EBCD739AD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4822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D8E6EE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334155"/>
                </a:solidFill>
                <a:latin typeface="Noto Sans TC"/>
                <a:ea typeface="Noto Sans TC"/>
                <a:cs typeface="Noto Sans TC"/>
              </a:rPr>
              <a:t>Config + entry script</a:t>
            </a:r>
          </a:p>
        </p:txBody>
      </p:sp>
      <p:sp>
        <p:nvSpPr>
          <p:cNvPr id="53" name="矩形 52">
            <a:extLst xmlns:a="http://schemas.openxmlformats.org/drawingml/2006/main">
              <a:ext uri="{FF2B5EF4-FFF2-40B4-BE49-F238E27FC236}">
                <a16:creationId xmlns:a16="http://schemas.microsoft.com/office/drawing/2014/main" id="{0C7A60DC-696B-44FA-A839-52B57F5E3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848225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D8E6EE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334155"/>
                </a:solidFill>
                <a:latin typeface="Noto Sans TC"/>
                <a:ea typeface="Noto Sans TC"/>
                <a:cs typeface="Noto Sans TC"/>
              </a:rPr>
              <a:t>Clean-run checklist</a:t>
            </a:r>
          </a:p>
        </p:txBody>
      </p:sp>
      <p:sp>
        <p:nvSpPr>
          <p:cNvPr id="54" name="矩形 53">
            <a:extLst xmlns:a="http://schemas.openxmlformats.org/drawingml/2006/main">
              <a:ext uri="{FF2B5EF4-FFF2-40B4-BE49-F238E27FC236}">
                <a16:creationId xmlns:a16="http://schemas.microsoft.com/office/drawing/2014/main" id="{CFF8335D-3F77-4AA9-A3EC-16B046EFA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5248275"/>
            <a:ext cx="8248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D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矩形 54">
            <a:extLst xmlns:a="http://schemas.openxmlformats.org/drawingml/2006/main">
              <a:ext uri="{FF2B5EF4-FFF2-40B4-BE49-F238E27FC236}">
                <a16:creationId xmlns:a16="http://schemas.microsoft.com/office/drawing/2014/main" id="{DB89AD59-1385-46F3-BCF7-ACB9C7AA9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81625"/>
            <a:ext cx="9677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3F8FB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0B1F33"/>
                </a:solidFill>
                <a:latin typeface="Noto Sans TC"/>
                <a:ea typeface="Noto Sans TC"/>
                <a:cs typeface="Noto Sans TC"/>
              </a:rPr>
              <a:t>Step 12 turns working scripts into a maintainable, transferable environment.</a:t>
            </a:r>
          </a:p>
        </p:txBody>
      </p:sp>
    </p:spTree>
    <p:extLst>
      <p:ext uri="{BB962C8B-B14F-4D97-AF65-F5344CB8AC3E}">
        <p14:creationId xmlns:p14="http://schemas.microsoft.com/office/powerpoint/2010/main" val="1041703326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矩形 44">
            <a:extLst xmlns:a="http://schemas.openxmlformats.org/drawingml/2006/main">
              <a:ext uri="{FF2B5EF4-FFF2-40B4-BE49-F238E27FC236}">
                <a16:creationId xmlns:a16="http://schemas.microsoft.com/office/drawing/2014/main" id="{B19586FE-0F8C-43C6-AFCB-E8A82A43E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323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38D6C5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0F766E"/>
                </a:solidFill>
                <a:latin typeface="Noto Sans TC"/>
                <a:ea typeface="Noto Sans TC"/>
                <a:cs typeface="Noto Sans TC"/>
              </a:rPr>
              <a:t>CURRENT STATUS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7C948B2C-644A-4BDB-94EB-3048C7093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150" b="1">
                <a:solidFill>
                  <a:srgbClr val="F3F8FB"/>
                </a:solidFill>
                <a:latin typeface="Noto Sans TC"/>
                <a:ea typeface="Noto Sans TC"/>
                <a:cs typeface="Noto Sans TC"/>
              </a:defRPr>
            </a:pPr>
            <a:r>
              <a:rPr sz="3150" b="1">
                <a:solidFill>
                  <a:srgbClr val="0B1F33"/>
                </a:solidFill>
                <a:latin typeface="Noto Sans TC"/>
                <a:ea typeface="Noto Sans TC"/>
                <a:cs typeface="Noto Sans TC"/>
              </a:rPr>
              <a:t>Next Milestone: A Verifiable ATPG Environment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1BC9D62B-BE5C-400C-85B4-9B9D07A6F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66950"/>
            <a:ext cx="96678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D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橢圓 3">
            <a:extLst xmlns:a="http://schemas.openxmlformats.org/drawingml/2006/main">
              <a:ext uri="{FF2B5EF4-FFF2-40B4-BE49-F238E27FC236}">
                <a16:creationId xmlns:a16="http://schemas.microsoft.com/office/drawing/2014/main" id="{53D4E7FC-51B4-4E8C-85A6-D93FA35BF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336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EC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70EBF86C-BF68-4AED-9E6A-A1133C090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5265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071521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0B1F33"/>
                </a:solidFill>
                <a:latin typeface="Noto Sans TC"/>
                <a:ea typeface="Noto Sans TC"/>
                <a:cs typeface="Noto Sans TC"/>
              </a:rPr>
              <a:t>✓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B568808F-70B7-4953-820F-0C3811E30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571750"/>
            <a:ext cx="1276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D8E6EE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334155"/>
                </a:solidFill>
                <a:latin typeface="Noto Sans TC"/>
                <a:ea typeface="Noto Sans TC"/>
                <a:cs typeface="Noto Sans TC"/>
              </a:rPr>
              <a:t>ENV</a:t>
            </a:r>
          </a:p>
        </p:txBody>
      </p:sp>
      <p:sp>
        <p:nvSpPr>
          <p:cNvPr id="7" name="橢圓 6">
            <a:extLst xmlns:a="http://schemas.openxmlformats.org/drawingml/2006/main">
              <a:ext uri="{FF2B5EF4-FFF2-40B4-BE49-F238E27FC236}">
                <a16:creationId xmlns:a16="http://schemas.microsoft.com/office/drawing/2014/main" id="{D67C60F6-3032-49FE-939C-5764557DA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1336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EC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3692B8E1-8AD8-445C-BEDD-4F998BFB2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15265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071521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0B1F33"/>
                </a:solidFill>
                <a:latin typeface="Noto Sans TC"/>
                <a:ea typeface="Noto Sans TC"/>
                <a:cs typeface="Noto Sans TC"/>
              </a:rPr>
              <a:t>✓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8FA0B271-6084-4BC5-92AB-DC8851848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571750"/>
            <a:ext cx="1276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D8E6EE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334155"/>
                </a:solidFill>
                <a:latin typeface="Noto Sans TC"/>
                <a:ea typeface="Noto Sans TC"/>
                <a:cs typeface="Noto Sans TC"/>
              </a:rPr>
              <a:t>INSERT</a:t>
            </a:r>
          </a:p>
        </p:txBody>
      </p:sp>
      <p:sp>
        <p:nvSpPr>
          <p:cNvPr id="10" name="橢圓 9">
            <a:extLst xmlns:a="http://schemas.openxmlformats.org/drawingml/2006/main">
              <a:ext uri="{FF2B5EF4-FFF2-40B4-BE49-F238E27FC236}">
                <a16:creationId xmlns:a16="http://schemas.microsoft.com/office/drawing/2014/main" id="{DB6AEA21-570C-4EB1-A7F6-5E3DCC8A3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1336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F2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8D67A109-FBDD-48C6-A7B4-A8D066138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15265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071521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0B1F33"/>
                </a:solidFill>
                <a:latin typeface="Noto Sans TC"/>
                <a:ea typeface="Noto Sans TC"/>
                <a:cs typeface="Noto Sans TC"/>
              </a:rPr>
              <a:t>✓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255B4899-005B-41AD-8AD5-7E8051A3C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571750"/>
            <a:ext cx="1276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D8E6EE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334155"/>
                </a:solidFill>
                <a:latin typeface="Noto Sans TC"/>
                <a:ea typeface="Noto Sans TC"/>
                <a:cs typeface="Noto Sans TC"/>
              </a:rPr>
              <a:t>RETARGET</a:t>
            </a:r>
          </a:p>
        </p:txBody>
      </p:sp>
      <p:sp>
        <p:nvSpPr>
          <p:cNvPr id="13" name="橢圓 12">
            <a:extLst xmlns:a="http://schemas.openxmlformats.org/drawingml/2006/main">
              <a:ext uri="{FF2B5EF4-FFF2-40B4-BE49-F238E27FC236}">
                <a16:creationId xmlns:a16="http://schemas.microsoft.com/office/drawing/2014/main" id="{4E031360-5031-4920-B8DD-C6D223C6C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1336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F4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C072E26D-CA07-4C89-9831-8D11F556D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15265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071521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0B1F33"/>
                </a:solidFill>
                <a:latin typeface="Noto Sans TC"/>
                <a:ea typeface="Noto Sans TC"/>
                <a:cs typeface="Noto Sans TC"/>
              </a:rPr>
              <a:t>✓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94681B33-0E1C-4A79-9CC9-B02AAEB03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571750"/>
            <a:ext cx="1276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D8E6EE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334155"/>
                </a:solidFill>
                <a:latin typeface="Noto Sans TC"/>
                <a:ea typeface="Noto Sans TC"/>
                <a:cs typeface="Noto Sans TC"/>
              </a:rPr>
              <a:t>RTL VERIFY</a:t>
            </a:r>
          </a:p>
        </p:txBody>
      </p:sp>
      <p:sp>
        <p:nvSpPr>
          <p:cNvPr id="16" name="橢圓 15">
            <a:extLst xmlns:a="http://schemas.openxmlformats.org/drawingml/2006/main">
              <a:ext uri="{FF2B5EF4-FFF2-40B4-BE49-F238E27FC236}">
                <a16:creationId xmlns:a16="http://schemas.microsoft.com/office/drawing/2014/main" id="{540A4591-71E3-4E4A-8848-580437D6B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1336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EC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B128DB4E-0CBC-4DC5-81EA-5A8A7BF13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15265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071521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0B1F33"/>
                </a:solidFill>
                <a:latin typeface="Noto Sans TC"/>
                <a:ea typeface="Noto Sans TC"/>
                <a:cs typeface="Noto Sans TC"/>
              </a:rPr>
              <a:t>✓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5F1A0179-7B9E-4573-AC56-912FE19CD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571750"/>
            <a:ext cx="1276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D8E6EE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334155"/>
                </a:solidFill>
                <a:latin typeface="Noto Sans TC"/>
                <a:ea typeface="Noto Sans TC"/>
                <a:cs typeface="Noto Sans TC"/>
              </a:rPr>
              <a:t>SYNTHESIS</a:t>
            </a:r>
          </a:p>
        </p:txBody>
      </p:sp>
      <p:sp>
        <p:nvSpPr>
          <p:cNvPr id="19" name="橢圓 18">
            <a:extLst xmlns:a="http://schemas.openxmlformats.org/drawingml/2006/main">
              <a:ext uri="{FF2B5EF4-FFF2-40B4-BE49-F238E27FC236}">
                <a16:creationId xmlns:a16="http://schemas.microsoft.com/office/drawing/2014/main" id="{A227F0AA-6FD7-43D4-8C7E-08A6FA250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21336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F2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53C2874B-A282-4674-9D03-979B7EFA3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215265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071521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0B1F33"/>
                </a:solidFill>
                <a:latin typeface="Noto Sans TC"/>
                <a:ea typeface="Noto Sans TC"/>
                <a:cs typeface="Noto Sans TC"/>
              </a:rPr>
              <a:t>✓</a:t>
            </a: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455B8758-3907-44F3-B392-3AD0168B8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2571750"/>
            <a:ext cx="1276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D8E6EE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334155"/>
                </a:solidFill>
                <a:latin typeface="Noto Sans TC"/>
                <a:ea typeface="Noto Sans TC"/>
                <a:cs typeface="Noto Sans TC"/>
              </a:rPr>
              <a:t>GATE VERIFY</a:t>
            </a:r>
          </a:p>
        </p:txBody>
      </p:sp>
      <p:sp>
        <p:nvSpPr>
          <p:cNvPr id="22" name="矩形: 圓角 21">
            <a:extLst xmlns:a="http://schemas.openxmlformats.org/drawingml/2006/main">
              <a:ext uri="{FF2B5EF4-FFF2-40B4-BE49-F238E27FC236}">
                <a16:creationId xmlns:a16="http://schemas.microsoft.com/office/drawing/2014/main" id="{2AAF7989-D8FA-4630-ABD2-11B28A339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0400"/>
            <a:ext cx="5086350" cy="22098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4F7F9"/>
          </a:solidFill>
          <a:ln xmlns:a="http://schemas.openxmlformats.org/drawingml/2006/main" w="19050">
            <a:solidFill>
              <a:srgbClr val="15803D"/>
            </a:solidFill>
            <a:prstDash val="solid"/>
          </a:ln>
        </p:spPr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4E1FB1BB-748D-49E9-A07D-857AB1BFF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480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44D17B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15803D"/>
                </a:solidFill>
                <a:latin typeface="Noto Sans TC"/>
                <a:ea typeface="Noto Sans TC"/>
                <a:cs typeface="Noto Sans TC"/>
              </a:rPr>
              <a:t>VERIFIED BASELINE</a:t>
            </a:r>
          </a:p>
        </p:txBody>
      </p:sp>
      <p:sp>
        <p:nvSpPr>
          <p:cNvPr id="24" name="橢圓 23">
            <a:extLst xmlns:a="http://schemas.openxmlformats.org/drawingml/2006/main">
              <a:ext uri="{FF2B5EF4-FFF2-40B4-BE49-F238E27FC236}">
                <a16:creationId xmlns:a16="http://schemas.microsoft.com/office/drawing/2014/main" id="{163BAC12-78D2-4CF7-ACA9-0C6104825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433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F2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1AAE19F5-1DFD-4393-82C7-3B24AB5D6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2430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071521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0B1F33"/>
                </a:solidFill>
                <a:latin typeface="Noto Sans TC"/>
                <a:ea typeface="Noto Sans TC"/>
                <a:cs typeface="Noto Sans TC"/>
              </a:rPr>
              <a:t>✓</a:t>
            </a:r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80D5AF65-5383-4356-80C1-4069C9D3C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924300"/>
            <a:ext cx="4000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D8E6EE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334155"/>
                </a:solidFill>
                <a:latin typeface="Noto Sans TC"/>
                <a:ea typeface="Noto Sans TC"/>
                <a:cs typeface="Noto Sans TC"/>
              </a:rPr>
              <a:t>Tessent integrated into the existing design environment</a:t>
            </a:r>
          </a:p>
        </p:txBody>
      </p:sp>
      <p:sp>
        <p:nvSpPr>
          <p:cNvPr id="27" name="橢圓 26">
            <a:extLst xmlns:a="http://schemas.openxmlformats.org/drawingml/2006/main">
              <a:ext uri="{FF2B5EF4-FFF2-40B4-BE49-F238E27FC236}">
                <a16:creationId xmlns:a16="http://schemas.microsoft.com/office/drawing/2014/main" id="{05D9D0A8-EB19-494F-A03C-045081A86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386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F2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95E6B48C-6933-45B2-AA70-DC02ECACE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373" y="4519179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071521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0B1F33"/>
                </a:solidFill>
                <a:latin typeface="Noto Sans TC"/>
                <a:ea typeface="Noto Sans TC"/>
                <a:cs typeface="Noto Sans TC"/>
              </a:rPr>
              <a:t>✓</a:t>
            </a:r>
          </a:p>
        </p:txBody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C09EA0CF-F0DB-4EC8-8D9D-DF9CEACB9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519179"/>
            <a:ext cx="4000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D8E6EE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334155"/>
                </a:solidFill>
                <a:latin typeface="Noto Sans TC"/>
                <a:ea typeface="Noto Sans TC"/>
                <a:cs typeface="Noto Sans TC"/>
              </a:rPr>
              <a:t>Six-step access baseline verified at three levels</a:t>
            </a:r>
          </a:p>
        </p:txBody>
      </p:sp>
      <p:sp>
        <p:nvSpPr>
          <p:cNvPr id="30" name="橢圓 29">
            <a:extLst xmlns:a="http://schemas.openxmlformats.org/drawingml/2006/main">
              <a:ext uri="{FF2B5EF4-FFF2-40B4-BE49-F238E27FC236}">
                <a16:creationId xmlns:a16="http://schemas.microsoft.com/office/drawing/2014/main" id="{00DAB284-5D35-4683-AB35-C316BBBC9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339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F2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B4C0F789-E3E7-40FD-8A12-CD2E7F17E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1490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071521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0B1F33"/>
                </a:solidFill>
                <a:latin typeface="Noto Sans TC"/>
                <a:ea typeface="Noto Sans TC"/>
                <a:cs typeface="Noto Sans TC"/>
              </a:rPr>
              <a:t>✓</a:t>
            </a:r>
          </a:p>
        </p:txBody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4CBD9BD5-DE69-4236-99BF-264A38501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914900"/>
            <a:ext cx="4000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D8E6EE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334155"/>
                </a:solidFill>
                <a:latin typeface="Noto Sans TC"/>
                <a:ea typeface="Noto Sans TC"/>
                <a:cs typeface="Noto Sans TC"/>
              </a:rPr>
              <a:t>Auto-generated patterns verified through the current access flow</a:t>
            </a:r>
          </a:p>
        </p:txBody>
      </p:sp>
      <p:sp>
        <p:nvSpPr>
          <p:cNvPr id="33" name="矩形: 圓角 32">
            <a:extLst xmlns:a="http://schemas.openxmlformats.org/drawingml/2006/main">
              <a:ext uri="{FF2B5EF4-FFF2-40B4-BE49-F238E27FC236}">
                <a16:creationId xmlns:a16="http://schemas.microsoft.com/office/drawing/2014/main" id="{1B530CD5-8333-400F-B2D6-DC1E740AB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200400"/>
            <a:ext cx="5562600" cy="22098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4F7F9"/>
          </a:solidFill>
          <a:ln xmlns:a="http://schemas.openxmlformats.org/drawingml/2006/main" w="19050">
            <a:solidFill>
              <a:srgbClr val="0F766E"/>
            </a:solidFill>
            <a:prstDash val="solid"/>
          </a:ln>
        </p:spPr>
      </p:sp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C4CA8FE0-600C-4F42-87DD-D063163F0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4480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38D6C5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0F766E"/>
                </a:solidFill>
                <a:latin typeface="Noto Sans TC"/>
                <a:ea typeface="Noto Sans TC"/>
                <a:cs typeface="Noto Sans TC"/>
              </a:rPr>
              <a:t>NEXT TARGET</a:t>
            </a:r>
          </a:p>
        </p:txBody>
      </p:sp>
      <p:sp>
        <p:nvSpPr>
          <p:cNvPr id="35" name="橢圓 34">
            <a:extLst xmlns:a="http://schemas.openxmlformats.org/drawingml/2006/main">
              <a:ext uri="{FF2B5EF4-FFF2-40B4-BE49-F238E27FC236}">
                <a16:creationId xmlns:a16="http://schemas.microsoft.com/office/drawing/2014/main" id="{716D452C-AF96-47A4-BE56-F7A1296C5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9909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F2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矩形 35">
            <a:extLst xmlns:a="http://schemas.openxmlformats.org/drawingml/2006/main">
              <a:ext uri="{FF2B5EF4-FFF2-40B4-BE49-F238E27FC236}">
                <a16:creationId xmlns:a16="http://schemas.microsoft.com/office/drawing/2014/main" id="{EDA6A89D-4A79-42D2-8910-604A2BE45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924300"/>
            <a:ext cx="45529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D8E6EE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334155"/>
                </a:solidFill>
                <a:latin typeface="Noto Sans TC"/>
                <a:ea typeface="Noto Sans TC"/>
                <a:cs typeface="Noto Sans TC"/>
              </a:rPr>
              <a:t>Generate ATPG patterns and perform fault grading</a:t>
            </a:r>
          </a:p>
        </p:txBody>
      </p:sp>
      <p:sp>
        <p:nvSpPr>
          <p:cNvPr id="37" name="橢圓 36">
            <a:extLst xmlns:a="http://schemas.openxmlformats.org/drawingml/2006/main">
              <a:ext uri="{FF2B5EF4-FFF2-40B4-BE49-F238E27FC236}">
                <a16:creationId xmlns:a16="http://schemas.microsoft.com/office/drawing/2014/main" id="{240626BE-B35E-4A17-BFFC-9B1F702C4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4862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F2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矩形 37">
            <a:extLst xmlns:a="http://schemas.openxmlformats.org/drawingml/2006/main">
              <a:ext uri="{FF2B5EF4-FFF2-40B4-BE49-F238E27FC236}">
                <a16:creationId xmlns:a16="http://schemas.microsoft.com/office/drawing/2014/main" id="{3007A908-F964-4A68-BB53-62E926924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419600"/>
            <a:ext cx="45529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D8E6EE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334155"/>
                </a:solidFill>
                <a:latin typeface="Noto Sans TC"/>
                <a:ea typeface="Noto Sans TC"/>
                <a:cs typeface="Noto Sans TC"/>
              </a:rPr>
              <a:t>Report fault simulation, coverage, and regression</a:t>
            </a:r>
          </a:p>
        </p:txBody>
      </p:sp>
      <p:sp>
        <p:nvSpPr>
          <p:cNvPr id="39" name="橢圓 38">
            <a:extLst xmlns:a="http://schemas.openxmlformats.org/drawingml/2006/main">
              <a:ext uri="{FF2B5EF4-FFF2-40B4-BE49-F238E27FC236}">
                <a16:creationId xmlns:a16="http://schemas.microsoft.com/office/drawing/2014/main" id="{C6C56AE6-4C79-4B57-B1B9-E5B792C1F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9815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F2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矩形 39">
            <a:extLst xmlns:a="http://schemas.openxmlformats.org/drawingml/2006/main">
              <a:ext uri="{FF2B5EF4-FFF2-40B4-BE49-F238E27FC236}">
                <a16:creationId xmlns:a16="http://schemas.microsoft.com/office/drawing/2014/main" id="{05A9E249-DFA5-48D7-A6B4-9CA0F353D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914900"/>
            <a:ext cx="45529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D8E6EE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334155"/>
                </a:solidFill>
                <a:latin typeface="Noto Sans TC"/>
                <a:ea typeface="Noto Sans TC"/>
                <a:cs typeface="Noto Sans TC"/>
              </a:rPr>
              <a:t>Step 12: consolidate Tcl, configs, folders, and rerun rules</a:t>
            </a:r>
          </a:p>
        </p:txBody>
      </p:sp>
      <p:sp>
        <p:nvSpPr>
          <p:cNvPr id="41" name="矩形 40">
            <a:extLst xmlns:a="http://schemas.openxmlformats.org/drawingml/2006/main">
              <a:ext uri="{FF2B5EF4-FFF2-40B4-BE49-F238E27FC236}">
                <a16:creationId xmlns:a16="http://schemas.microsoft.com/office/drawing/2014/main" id="{5059A93B-3D21-4E63-968E-D00B12A16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905500"/>
            <a:ext cx="9867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91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25" b="1">
                <a:solidFill>
                  <a:srgbClr val="F3F8FB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1">
                <a:solidFill>
                  <a:srgbClr val="0B1F33"/>
                </a:solidFill>
                <a:latin typeface="Noto Sans TC"/>
                <a:ea typeface="Noto Sans TC"/>
                <a:cs typeface="Noto Sans TC"/>
              </a:rPr>
              <a:t>Next: ATPG generation, grading, coverage, and regression. Bonus: Steps 10–11 sensor scan and DWR.</a:t>
            </a:r>
          </a:p>
        </p:txBody>
      </p:sp>
      <p:sp>
        <p:nvSpPr>
          <p:cNvPr id="42" name="矩形 41">
            <a:extLst xmlns:a="http://schemas.openxmlformats.org/drawingml/2006/main">
              <a:ext uri="{FF2B5EF4-FFF2-40B4-BE49-F238E27FC236}">
                <a16:creationId xmlns:a16="http://schemas.microsoft.com/office/drawing/2014/main" id="{31D72828-18A1-4A5C-873B-EB2996AFB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D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矩形 42">
            <a:extLst xmlns:a="http://schemas.openxmlformats.org/drawingml/2006/main">
              <a:ext uri="{FF2B5EF4-FFF2-40B4-BE49-F238E27FC236}">
                <a16:creationId xmlns:a16="http://schemas.microsoft.com/office/drawing/2014/main" id="{6609F005-A3D1-487C-8DFB-6723CDD94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81775"/>
            <a:ext cx="904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6F8B9D"/>
                </a:solidFill>
                <a:latin typeface="Noto Sans TC"/>
                <a:ea typeface="Noto Sans TC"/>
                <a:cs typeface="Noto Sans TC"/>
              </a:defRPr>
            </a:pPr>
            <a:r>
              <a:rPr sz="825" b="0">
                <a:solidFill>
                  <a:srgbClr val="64748B"/>
                </a:solidFill>
                <a:latin typeface="Noto Sans TC"/>
                <a:ea typeface="Noto Sans TC"/>
                <a:cs typeface="Noto Sans TC"/>
              </a:rPr>
              <a:t>Scope: die-level fault detection and stack-level pattern delivery within one ATPG environment.</a:t>
            </a:r>
          </a:p>
        </p:txBody>
      </p:sp>
      <p:sp>
        <p:nvSpPr>
          <p:cNvPr id="44" name="矩形 43">
            <a:extLst xmlns:a="http://schemas.openxmlformats.org/drawingml/2006/main">
              <a:ext uri="{FF2B5EF4-FFF2-40B4-BE49-F238E27FC236}">
                <a16:creationId xmlns:a16="http://schemas.microsoft.com/office/drawing/2014/main" id="{032C4BBA-9F96-4563-A35E-8444DA7B6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6F8B9D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64748B"/>
                </a:solidFill>
                <a:latin typeface="Noto Sans TC"/>
                <a:ea typeface="Noto Sans TC"/>
                <a:cs typeface="Noto Sans TC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46592869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2026-07-26T16:27:07.8360000Z</dcterms:created>
  <dcterms:modified xsi:type="dcterms:W3CDTF">2026-07-26T16:27:07.8360000Z</dcterms:modified>
</coreProperties>
</file>