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4e6f4297174468" /><Relationship Type="http://schemas.openxmlformats.org/officeDocument/2006/relationships/extended-properties" Target="/docProps/app.xml" Id="Rf3272562cd87418a" /><Relationship Type="http://schemas.openxmlformats.org/officeDocument/2006/relationships/officeDocument" Target="/ppt/presentation.xml" Id="R156c174472e148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2731bdb66048b3"/>
  </p:sldMasterIdLst>
  <p:notesMasterIdLst>
    <p:notesMasterId xmlns:r="http://schemas.openxmlformats.org/officeDocument/2006/relationships" r:id="R28aaa862d1e14d6f"/>
  </p:notesMasterIdLst>
  <p:sldIdLst>
    <p:sldId xmlns:r="http://schemas.openxmlformats.org/officeDocument/2006/relationships" id="256" r:id="R967ac4420b0c4266"/>
    <p:sldId xmlns:r="http://schemas.openxmlformats.org/officeDocument/2006/relationships" id="257" r:id="R2bee758a442e4552"/>
    <p:sldId xmlns:r="http://schemas.openxmlformats.org/officeDocument/2006/relationships" id="258" r:id="R43be73923e444b97"/>
    <p:sldId xmlns:r="http://schemas.openxmlformats.org/officeDocument/2006/relationships" id="259" r:id="Rc9af4e6a36d14c18"/>
    <p:sldId xmlns:r="http://schemas.openxmlformats.org/officeDocument/2006/relationships" id="260" r:id="R6a191a07dab946d5"/>
    <p:sldId xmlns:r="http://schemas.openxmlformats.org/officeDocument/2006/relationships" id="261" r:id="R3f6cd33ed6f144bd"/>
    <p:sldId xmlns:r="http://schemas.openxmlformats.org/officeDocument/2006/relationships" id="262" r:id="R5c94996ccf904079"/>
    <p:sldId xmlns:r="http://schemas.openxmlformats.org/officeDocument/2006/relationships" id="263" r:id="R09fd9374a9424ebe"/>
    <p:sldId xmlns:r="http://schemas.openxmlformats.org/officeDocument/2006/relationships" id="264" r:id="Rbde259811a274e08"/>
    <p:sldId xmlns:r="http://schemas.openxmlformats.org/officeDocument/2006/relationships" id="265" r:id="Rb23ee57fc2f4432b"/>
    <p:sldId xmlns:r="http://schemas.openxmlformats.org/officeDocument/2006/relationships" id="266" r:id="R9040ac1b694f4ceb"/>
    <p:sldId xmlns:r="http://schemas.openxmlformats.org/officeDocument/2006/relationships" id="267" r:id="R2655c88023b54a98"/>
    <p:sldId xmlns:r="http://schemas.openxmlformats.org/officeDocument/2006/relationships" id="268" r:id="R6cbdb9fef8144771"/>
    <p:sldId xmlns:r="http://schemas.openxmlformats.org/officeDocument/2006/relationships" id="269" r:id="R24cb6f6676e84620"/>
    <p:sldId xmlns:r="http://schemas.openxmlformats.org/officeDocument/2006/relationships" id="270" r:id="R5009964be0b342b6"/>
    <p:sldId xmlns:r="http://schemas.openxmlformats.org/officeDocument/2006/relationships" id="271" r:id="R012b9a576fdc4a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26ba012f940b7" /><Relationship Type="http://schemas.openxmlformats.org/officeDocument/2006/relationships/slideMaster" Target="/ppt/slideMasters/slideMaster1.xml" Id="Ree2731bdb66048b3" /><Relationship Type="http://schemas.openxmlformats.org/officeDocument/2006/relationships/notesMaster" Target="/ppt/notesMasters/notesMaster1.xml" Id="R28aaa862d1e14d6f" /><Relationship Type="http://schemas.openxmlformats.org/officeDocument/2006/relationships/presProps" Target="/ppt/presProps.xml" Id="R6dcc6bbe9fb04c40" /><Relationship Type="http://schemas.openxmlformats.org/officeDocument/2006/relationships/tableStyles" Target="/ppt/tableStyles.xml" Id="R41d439540c2e400d" /><Relationship Type="http://schemas.openxmlformats.org/officeDocument/2006/relationships/slide" Target="/ppt/slides/slide1.xml" Id="R967ac4420b0c4266" /><Relationship Type="http://schemas.openxmlformats.org/officeDocument/2006/relationships/slide" Target="/ppt/slides/slide2.xml" Id="R2bee758a442e4552" /><Relationship Type="http://schemas.openxmlformats.org/officeDocument/2006/relationships/slide" Target="/ppt/slides/slide3.xml" Id="R43be73923e444b97" /><Relationship Type="http://schemas.openxmlformats.org/officeDocument/2006/relationships/slide" Target="/ppt/slides/slide4.xml" Id="Rc9af4e6a36d14c18" /><Relationship Type="http://schemas.openxmlformats.org/officeDocument/2006/relationships/slide" Target="/ppt/slides/slide5.xml" Id="R6a191a07dab946d5" /><Relationship Type="http://schemas.openxmlformats.org/officeDocument/2006/relationships/slide" Target="/ppt/slides/slide6.xml" Id="R3f6cd33ed6f144bd" /><Relationship Type="http://schemas.openxmlformats.org/officeDocument/2006/relationships/slide" Target="/ppt/slides/slide7.xml" Id="R5c94996ccf904079" /><Relationship Type="http://schemas.openxmlformats.org/officeDocument/2006/relationships/slide" Target="/ppt/slides/slide8.xml" Id="R09fd9374a9424ebe" /><Relationship Type="http://schemas.openxmlformats.org/officeDocument/2006/relationships/slide" Target="/ppt/slides/slide9.xml" Id="Rbde259811a274e08" /><Relationship Type="http://schemas.openxmlformats.org/officeDocument/2006/relationships/slide" Target="/ppt/slides/slide10.xml" Id="Rb23ee57fc2f4432b" /><Relationship Type="http://schemas.openxmlformats.org/officeDocument/2006/relationships/slide" Target="/ppt/slides/slide11.xml" Id="R9040ac1b694f4ceb" /><Relationship Type="http://schemas.openxmlformats.org/officeDocument/2006/relationships/slide" Target="/ppt/slides/slide12.xml" Id="R2655c88023b54a98" /><Relationship Type="http://schemas.openxmlformats.org/officeDocument/2006/relationships/slide" Target="/ppt/slides/slide13.xml" Id="R6cbdb9fef8144771" /><Relationship Type="http://schemas.openxmlformats.org/officeDocument/2006/relationships/slide" Target="/ppt/slides/slide14.xml" Id="R24cb6f6676e84620" /><Relationship Type="http://schemas.openxmlformats.org/officeDocument/2006/relationships/slide" Target="/ppt/slides/slide15.xml" Id="R5009964be0b342b6" /><Relationship Type="http://schemas.openxmlformats.org/officeDocument/2006/relationships/slide" Target="/ppt/slides/slide16.xml" Id="R012b9a576fdc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3adae211e641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da5c609da34e4a" /><Relationship Type="http://schemas.openxmlformats.org/officeDocument/2006/relationships/notesMaster" Target="/ppt/notesMasters/notesMaster1.xml" Id="Rf930596ede3943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9e04341e354325" /><Relationship Type="http://schemas.openxmlformats.org/officeDocument/2006/relationships/notesMaster" Target="/ppt/notesMasters/notesMaster1.xml" Id="R63869fa2f2f94e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920f098fa04676" /><Relationship Type="http://schemas.openxmlformats.org/officeDocument/2006/relationships/notesMaster" Target="/ppt/notesMasters/notesMaster1.xml" Id="R23046e2628374c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e59958b99a4eba" /><Relationship Type="http://schemas.openxmlformats.org/officeDocument/2006/relationships/notesMaster" Target="/ppt/notesMasters/notesMaster1.xml" Id="Rca98e8d647874c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50109c0e874ce0" /><Relationship Type="http://schemas.openxmlformats.org/officeDocument/2006/relationships/notesMaster" Target="/ppt/notesMasters/notesMaster1.xml" Id="Re2f0511a32bc4d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c5f12123074a5a" /><Relationship Type="http://schemas.openxmlformats.org/officeDocument/2006/relationships/notesMaster" Target="/ppt/notesMasters/notesMaster1.xml" Id="R19371fd5c4b547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b6f15ae27a49b9" /><Relationship Type="http://schemas.openxmlformats.org/officeDocument/2006/relationships/notesMaster" Target="/ppt/notesMasters/notesMaster1.xml" Id="R0f0bcb08c91d43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97a13b310a4a13" /><Relationship Type="http://schemas.openxmlformats.org/officeDocument/2006/relationships/notesMaster" Target="/ppt/notesMasters/notesMaster1.xml" Id="Rd9609a82ff3243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8415b2c8bb49b7" /><Relationship Type="http://schemas.openxmlformats.org/officeDocument/2006/relationships/notesMaster" Target="/ppt/notesMasters/notesMaster1.xml" Id="Rd137aad521ba4b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4e0c657a6e424d" /><Relationship Type="http://schemas.openxmlformats.org/officeDocument/2006/relationships/notesMaster" Target="/ppt/notesMasters/notesMaster1.xml" Id="Re153c33c138b45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1a4a6b77da405a" /><Relationship Type="http://schemas.openxmlformats.org/officeDocument/2006/relationships/notesMaster" Target="/ppt/notesMasters/notesMaster1.xml" Id="R02840512674d47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68c3016e054f68" /><Relationship Type="http://schemas.openxmlformats.org/officeDocument/2006/relationships/notesMaster" Target="/ppt/notesMasters/notesMaster1.xml" Id="Ra1756dadc18549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39880ea898452d" /><Relationship Type="http://schemas.openxmlformats.org/officeDocument/2006/relationships/notesMaster" Target="/ppt/notesMasters/notesMaster1.xml" Id="Ra8fdad5015b348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2752444059409d" /><Relationship Type="http://schemas.openxmlformats.org/officeDocument/2006/relationships/notesMaster" Target="/ppt/notesMasters/notesMaster1.xml" Id="R74cd2c050c2240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0b273a3d194b54" /><Relationship Type="http://schemas.openxmlformats.org/officeDocument/2006/relationships/notesMaster" Target="/ppt/notesMasters/notesMaster1.xml" Id="Rfe5d63cf117d4a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dd22aa5ae04f60" /><Relationship Type="http://schemas.openxmlformats.org/officeDocument/2006/relationships/notesMaster" Target="/ppt/notesMasters/notesMaster1.xml" Id="Rd2aba9d68d4e41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ff3bd5d8940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7f2bd83c424dc1" /><Relationship Type="http://schemas.openxmlformats.org/officeDocument/2006/relationships/slideLayout" Target="/ppt/slideLayouts/slideLayout1.xml" Id="Rfe055485f258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055485f258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6abad33094e21" /><Relationship Type="http://schemas.openxmlformats.org/officeDocument/2006/relationships/notesSlide" Target="/ppt/notesSlides/notesSlide1.xml" Id="Rbfeef73f776f44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e924fde97490b" /><Relationship Type="http://schemas.openxmlformats.org/officeDocument/2006/relationships/image" Target="/ppt/media/image.png" Id="R1b059e0dd2dc41dc" /><Relationship Type="http://schemas.openxmlformats.org/officeDocument/2006/relationships/notesSlide" Target="/ppt/notesSlides/notesSlide2.xml" Id="R59ac7aa6d6b64f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066a823e24971" /><Relationship Type="http://schemas.openxmlformats.org/officeDocument/2006/relationships/notesSlide" Target="/ppt/notesSlides/notesSlide3.xml" Id="Rb009d3cf945846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0a26d677147cf" /><Relationship Type="http://schemas.openxmlformats.org/officeDocument/2006/relationships/notesSlide" Target="/ppt/notesSlides/notesSlide4.xml" Id="Re681a153f27f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792e3a8cc4d35" /><Relationship Type="http://schemas.openxmlformats.org/officeDocument/2006/relationships/notesSlide" Target="/ppt/notesSlides/notesSlide5.xml" Id="R593ab4e63cf54a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ef7b648ff41fe" /><Relationship Type="http://schemas.openxmlformats.org/officeDocument/2006/relationships/notesSlide" Target="/ppt/notesSlides/notesSlide6.xml" Id="R462c86521a4a48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7815bdf754b0e" /><Relationship Type="http://schemas.openxmlformats.org/officeDocument/2006/relationships/notesSlide" Target="/ppt/notesSlides/notesSlide7.xml" Id="R279434396cf541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42444a5c944c5" /><Relationship Type="http://schemas.openxmlformats.org/officeDocument/2006/relationships/notesSlide" Target="/ppt/notesSlides/notesSlide8.xml" Id="Rce43bdbe30c844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8403542b649a0" /><Relationship Type="http://schemas.openxmlformats.org/officeDocument/2006/relationships/notesSlide" Target="/ppt/notesSlides/notesSlide9.xml" Id="R094ed81d25074e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a23ca7a904ec1" /><Relationship Type="http://schemas.openxmlformats.org/officeDocument/2006/relationships/notesSlide" Target="/ppt/notesSlides/notesSlide10.xml" Id="Re6910a98fc7d44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d7cbccdb745e2" /><Relationship Type="http://schemas.openxmlformats.org/officeDocument/2006/relationships/notesSlide" Target="/ppt/notesSlides/notesSlide11.xml" Id="R11c529d98fe046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4eb12c9b34187" /><Relationship Type="http://schemas.openxmlformats.org/officeDocument/2006/relationships/notesSlide" Target="/ppt/notesSlides/notesSlide12.xml" Id="Raec7c579629d40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e112bd9a8491d" /><Relationship Type="http://schemas.openxmlformats.org/officeDocument/2006/relationships/notesSlide" Target="/ppt/notesSlides/notesSlide13.xml" Id="Rc2c36298579f41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35b607de34dd9" /><Relationship Type="http://schemas.openxmlformats.org/officeDocument/2006/relationships/notesSlide" Target="/ppt/notesSlides/notesSlide14.xml" Id="R46d9b4bef26840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685315dfd4bf3" /><Relationship Type="http://schemas.openxmlformats.org/officeDocument/2006/relationships/notesSlide" Target="/ppt/notesSlides/notesSlide15.xml" Id="Rf7da950e3686467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ee87b6f26436c" /><Relationship Type="http://schemas.openxmlformats.org/officeDocument/2006/relationships/notesSlide" Target="/ppt/notesSlides/notesSlide16.xml" Id="R1cf3ec2395224b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3CEE2-F526-439C-89FA-8E70598E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PROGRESS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FFB57-4325-47F2-A6CC-65B1A6E0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3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IEEE 1687 / 1838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3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Automated Insertion &amp;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46C16-A141-4042-933B-2F1BEDC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752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A repeatable flow linking Tessent RTL insertion, ICL/PDL retargeting, synthesis, and gate-level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D699B-10AE-44BA-9332-90881C76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810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7118C-A31E-4448-848A-6E57FFA9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87630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58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58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37D45-794C-4736-ADB7-4F2816CC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STAGES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2463A-01AA-4D42-B3F9-85F47323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3 validation levels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4BAC4-28BD-4907-A0EB-CF7B2E7B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1034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433239-96C0-45AC-AE80-F09EC7F4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EFE74-0A90-46D2-9B74-70811B55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3F050-4C52-425A-A8AA-D00D5B96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ENV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CBB0F-7A03-4E01-94B8-A8CC8346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F7173-1461-42CD-A10B-10C88F01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AE0BD-D8B6-49ED-BDDC-E6D28F4B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INSERT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95673-2141-4B59-9402-0EA902CE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0221DC-423C-4782-87DD-4E267BD0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270B90-1B83-4A2B-97A0-8B325688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RETARGET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CA2E4-2183-481D-8A82-227A54DB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6806F-D6E4-4A5A-AFFD-6518A06B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D618B-8A78-4B66-B592-41F162EB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RTL 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8C940-3A84-480B-8431-29CE6226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57349B-8C38-4BE5-984E-9A71A6A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5A4CE4-B5BE-46A9-AF29-F6913D16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SYNTHESIS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D74B53-F917-435A-A192-26CD9E47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339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CE2AEA-D694-459F-BBB2-F21C2704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529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0C73D-7916-427A-B703-61EAF26BA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0101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GATE 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29862-4047-4D9B-AA0A-A890DD9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Scope: 1687 only → 1687 + 1838 → stack_top   |   DWR excluded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2FC25-1BAD-4D17-AC80-7F5E7F75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09024-D28B-4414-952B-ED9F608D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IEEE 1687 / 1838 Automation Progress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BBC943-BDF7-49B3-94DF-EC785CC6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9469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F069E9-97D7-44E7-8B88-01FF6D4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CORE MESSAGE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7E650-CB6A-46DD-9890-FDB43DFB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One Reusable Engineering Flow, Not Three Isolated Cases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112A7-D3F0-48F3-A897-B40DD843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AC3A8-ED2A-4821-8A96-6CC6BBBF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2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The same insertion, retargeting, simulation, and synthesis methods scale across deeper access hierarchies.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86812-264E-46FF-9031-423564DB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75A958-4C0D-48B8-AD7F-A440029A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LEVEL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020D0-EB95-4480-A543-5B0182D1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IEEE 1687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DB52E-2906-4BEF-AF8B-D549B9F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38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Local instrument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F7F39-64D9-4553-AC1D-AD57D81F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230A6-3AB8-4649-9E5D-E1B0AB0A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LEVEL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608FC-D9F6-4206-B7AE-0EEED3B6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1687 + IEEE 1838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9F138-4576-4333-930F-CCBC61E6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14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Die-level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2FD96-89F8-4339-B945-9721F241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EA2DB-6CA7-4D13-82E8-350F9074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LEVEL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68DEF-52B0-49F4-A517-D64F7198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stack_top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E37DE-893C-414A-B6B8-9D44C4C8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591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87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Multi-die hierarchical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A4D07-7FCC-4E0E-B67A-0BB7697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04950"/>
            <a:ext cx="5962650" cy="4171950"/>
          </a:xfrm>
          <a:prstGeom xmlns:a="http://schemas.openxmlformats.org/drawingml/2006/main" prst="roundRect">
            <a:avLst>
              <a:gd name="adj" fmla="val 36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59e0dd2dc41dc"/>
          <a:srcRect xmlns:a="http://schemas.openxmlformats.org/drawingml/2006/main" l="4280" t="0" r="42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72150" y="1657350"/>
            <a:ext cx="5657850" cy="3867150"/>
          </a:xfrm>
          <a:prstGeom xmlns:a="http://schemas.openxmlformats.org/drawingml/2006/main" prst="round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58C560-4FE2-4F03-9C44-64B108A9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KEY TAKEAWAY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CDE69-6C2C-4994-8036-07B0FE6E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6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The flow is repeatable, extensible, and backed by clear acceptance evidence at every stage.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FAA8B1-E7AA-464C-AE5E-1B49D1CC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F74AE-1CCB-4019-8866-D27FF3F5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Architecture based on the current prototype and IEEE 1687-2014 / IEEE 1838-2019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35BF3-0A34-4DA4-B8E3-D07956AE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80449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4BC9D-1646-470E-9DCB-9C073B94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PRESENTATION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B3C42-84AD-40C4-999A-7B5CAC77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Task and Checkpoint Can Share a Slide—Evidence Must Close the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F8CD4-087E-4B81-A8DB-1208736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3AD45-7146-407D-B37C-0B6096FC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67025"/>
            <a:ext cx="6858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4362D-A157-4FB4-8919-40AB07C7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67025"/>
            <a:ext cx="685800" cy="4191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3D72A-C94B-4572-90A3-FE977085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90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26438-09FA-4F4F-A5C8-00C2C200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669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A5346-44DE-45D0-8A88-98F4675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0480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3AA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B9D72-02B0-477A-A652-563D84C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40B96-7436-447A-8DDD-500C827B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Action Taken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C866A-0C11-497B-B21E-462CB4D7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Example: insert SIB/TDR, generate ICL, and run retargeting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8C1F9-3FFC-4909-83AA-59B845EB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790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24246-5B98-4EB9-8FDA-A1AF86A2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669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D0D75-BB28-4C3F-825F-02ABF4FF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43150"/>
            <a:ext cx="30480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F5B9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BE44A-6DBF-43F4-9352-5B7A313F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D9090-1D42-43C9-85F6-18795336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Acceptance Criteria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1EBDC-3A8D-4396-A381-60669D80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623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Example: DRC passes, path is reachable, and care-bit mismatches =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EAB50A-7215-4431-980C-1B4BA783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9CC27-39D5-45F2-B87C-3AA71DF7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99923-26F5-4249-94F1-2B99E9F2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04800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44D17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3EB89-3343-41B7-8EDE-6917C6C8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47950"/>
            <a:ext cx="2590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981EC0-1F85-4735-AC2D-9140CFA1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670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Proof to Show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3435E-010A-4A45-BB9A-6E691ED4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400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log summary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hierarchy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waveform / compare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C39F6A-A26A-422C-A5F0-544D4CBA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95875"/>
            <a:ext cx="9296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38D6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18D6AB-3769-4498-A5AF-2D9F29F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76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Definition of Done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48F9B-FBDD-48A3-BA7A-79B25CD0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387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6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Task completed  +  Checkpoint met  +  Evidence reproducible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CEEA9-76FA-45F9-B6ED-E94A9A32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436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Every stage uses this structure, so acceptance criteria never have to be hunted across slides.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8D38E-E489-4229-B8DC-E5DBD330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FC8552-66A9-4B7D-A0E0-F325DB05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08BD8-B7F4-418E-9115-FB057F19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35309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49FFB9-66E6-49ED-9AD8-BCF188BB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MASTER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4018-9715-47AF-AEF3-B9AEE09F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Six Stages Form a Repeatable End-to-End Automation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103D4-7C31-4F32-AFF1-5B3C6445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93D49-3C57-4508-8272-94FC77C3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09825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70E8D-E2E7-42F2-AA60-2B1FD976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9825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DD686-3235-4071-BF85-9A74243E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09825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517D6-C176-4FB7-A8F4-04B3F692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40DBE2-F2C8-43BD-AE6B-287FA5F5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409825"/>
            <a:ext cx="2286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A40AE-4EFA-429D-BE04-47FA0242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3AA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B85AB-601B-42C6-A52F-CFD2631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3A551-88B6-493D-9777-47BD6A1F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8F801E-7138-4A5C-B30C-32330CFE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script / file 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C2995-1B00-46B6-A67E-B5C695DD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038350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4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C7429-CAD7-40FD-A5E6-948370D1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4D8D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2D90A-9C58-44D2-9DA0-5BE6643E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669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RTL Insertion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33DAFD-4F1E-490C-B47F-408045A5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194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1687 / 1838 structures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A0399-AF3B-454A-90C4-D2AD52E9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38D6C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2A60CA-C57D-442E-AC67-D40A3A1C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35375-8401-46B8-9A79-58285617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669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ICL / PDL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B4F14-42A2-4545-B881-5E3AE104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194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retargeted patterns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9F9F5C-E87D-42EE-A34B-16226FF1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38350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7CE0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9B346-EC24-42C9-989C-4B6EBD79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CE0D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7CE0D2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A54AF1-5DF0-491C-840E-156F3A8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RTL 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47A0E-325A-4D4B-9708-15DEB06F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194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causal waveform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F8082D-D9DE-49CD-A0E1-9440058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38350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F5B94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6DFDD5-7F6F-43AD-93FA-2C7FB2CD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C298B-80FB-4B25-A207-2ADF8571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669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Synthesis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EFCF04-3E78-44D6-839B-0E96F32B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dont_touch + SDC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60AB29-FB8C-44D2-8D8B-FA361D15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038350"/>
            <a:ext cx="1676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44D17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2BDE4A-D5CE-4C72-B7B9-ABEADEF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171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BC6D18-10B0-4DF1-B37A-4576988E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46697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Gate Verify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501967-37A4-4FF0-A74C-97FFA5D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8194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same-pattern compare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CA1B09-B5BD-43C1-A108-5815DF92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One Flow, Three Levels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37F78-CA51-41AA-9D7A-AAD8D379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IEEE 1687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F777B3-30D0-4F30-8AEB-6F9F0A05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14825"/>
            <a:ext cx="752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97A7B4-EEBF-426A-9EE2-4A8340BB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14825"/>
            <a:ext cx="752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681B55-10DF-42D7-A37A-26A52234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48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F2E154-EBC2-4FC9-BFA9-EAA0C8EA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481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17D2F5-E7A3-4BFB-ADBA-77CB6565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1910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Local instrument access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F31E2D-A58C-474D-A6BE-920F0168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1687 + IEEE 1838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09747E-EC91-4181-AEFB-28B50241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05375"/>
            <a:ext cx="752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50EA6B-3561-4B86-8704-20641441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905375"/>
            <a:ext cx="752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774A63-37EE-4E13-A4D0-9B2E775B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38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1CEB3D-F7FC-4782-8D26-78A286FC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3870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109410-08FF-4FC5-88F7-C11845CF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47815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Die wrapper + local IJTAG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096AE9-AB05-448F-A3DD-26A4CBD1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stack_top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906D20-8D49-4747-AC91-CC57C7C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95925"/>
            <a:ext cx="752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2FC4FE-A1EE-44E1-843C-5D638380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95925"/>
            <a:ext cx="752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7378AE-79C0-4F60-83F0-FDE37E5B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29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735474-0854-4175-B9CE-4F1DC3BF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29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C7E3F4-A057-429A-8F14-4AD54EDA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3721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Package-to-die hierarchical access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AA3FB1-77CD-4AC8-950F-7AE3CB93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B6382B-352F-45FF-96B2-AAE7CE94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44FB2E7-B626-459E-9EA2-DBCDE4C8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73967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E5F098-4516-40DC-B22E-742B9B34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VALIDATION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308E3-A30F-401B-B4D8-249F1A62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Validation Depth Increases While the Core Flow Stays the Same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EA534-68D3-4109-B12B-A2AF3E73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423CF4-5D1B-4C45-8CA6-24D17AD5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3AA7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93F4B-A0F5-4FD9-A428-E4F84982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LEVEL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649B2-4F8E-474D-B169-F1EDFDD5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815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IEEE 1687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84B63-A0AD-4BF8-B2A2-4FC80B06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TAP → SIB → TDR → Instrument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1B78B-0843-4DF1-8B67-4A7FEB1B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62300"/>
            <a:ext cx="3714750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F5B94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17A1C-8E44-4028-85B2-587B9DB9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3257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LEVEL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5B3BE-F9BA-4777-9DAC-57BA5CE7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57600"/>
            <a:ext cx="3257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1687 + IEEE 1838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F699E-8320-4BFC-8D6C-6D1A28A4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95750"/>
            <a:ext cx="3257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PTAP / 3DCR / STAP + local IJTAG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ECA9F-A574-4A9A-9384-8349D245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4114800" cy="3562350"/>
          </a:xfrm>
          <a:prstGeom xmlns:a="http://schemas.openxmlformats.org/drawingml/2006/main" prst="roundRect">
            <a:avLst>
              <a:gd name="adj" fmla="val 3209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44D17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5B886-4220-4C48-A80B-6421F77B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47900"/>
            <a:ext cx="3657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LEVEL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72486-E1FA-4F20-AB7D-4C8FD18D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3365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stack_top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DB108-1F70-4E25-937A-FB90E0AA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71800"/>
            <a:ext cx="36576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Multiple STAPs + hierarchical retargeting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94C70-98ED-43CC-9933-D616596D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57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+ wrapper 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90EFD-E236-4408-B35D-AECEAFF8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73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+ multi-die access depth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94306-5C87-46B7-A63B-B35457E5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48350"/>
            <a:ext cx="10401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4CCD0-C4A6-4E45-8D13-C7821686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15025"/>
            <a:ext cx="986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Shared core: one Tcl / ICL / PDL / simulation / synthesis 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F2D6F-1EEA-434A-AFE1-98C97633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EB0EF-0BD6-4B76-923C-BD19E88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109A4-E2A5-4A7F-9B39-992FC6DF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5531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A2EBC4-0568-4FD3-9F1D-67D469E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2A3C5-FE3E-4DC0-BB22-A1037FE1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Convert One-Off Commands into a Repeatable 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7895B-2F41-4B0F-AEA6-4CC1161E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958D9-3CF1-44EC-87F7-CD943C1D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EE0420-F99A-4F47-93B7-FAFA2E6A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2AFE8-8F1A-4645-8DE6-ECC04431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A9B38-0D0F-44E9-BF15-618D299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30C10-52E0-49FC-B92C-C3F30B44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D1CBD-6331-449C-A836-EBB86E1A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9E881-E36F-4E39-8AD2-BA7B2D9C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FB34D0-5650-4990-AA54-8E006B5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533BE-68F6-47E6-92F8-5C6DF64A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19447-763C-49CC-97CD-5DF1DEE0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A9B0F-8C5B-4DF9-B8FC-28E8FA2E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E5023-25AE-450F-8A60-58B86EFC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E63B4-B761-4B85-B046-361CC9B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FE5D8-C0A1-4183-A502-49B0206B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25E86D-5AA3-4564-AD39-951E823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C34C51-8433-45DA-B260-45269AB7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BB351-98E7-432C-96D7-D67311AC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52BB7-BEA2-4B1C-BD8B-08514203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STAGE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602E9-5C1A-4AD1-9878-38E6C302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Environment &amp; Script Setup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48107-3896-48BB-8797-85B9D844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TASK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47C31B-0E64-421F-9A3A-035E9247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Actions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5A0D38-B8C0-4415-8B6F-7A87EEC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907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8243D-B697-4938-8E3F-59AF2544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907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7F2B91-4990-43BD-9EA3-FA6D0421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14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Pass Conditions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6542E-7716-4EAA-9093-131F41F4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95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35DAF3-FE45-439C-9A35-61E1EF82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9EA065-8960-4713-9A5D-2A3560ED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Artifacts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22C9C6-3D8B-4CBB-9B98-9E997A19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F9F040-DCCD-4762-A50A-7641925F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2695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Organize RTL, libraries, and file lists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CC8CE1-9BD4-4FE9-B9EB-499CC15A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359F21-0B2B-487A-9ACE-876E195D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695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Create one entry point for insertion, pattern generation, simulation, and synthesis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1A9FB8-E984-432C-AC01-26C4FD89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806286-F450-45BE-A73A-BAD19499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26955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Switch among 1687, 1838, and stack_top through configuration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F29494-FEEF-446D-933A-1D46F6D4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029C96-EA80-4482-B725-2AD174D8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718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6145F-C534-4894-A198-AFE2967B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293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All RTL reads and elaborates successfully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0ADEDA-396D-4CB6-AA7C-6CC5C778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139EE4-2276-4CE5-96D2-1DBC45CB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16683D-702E-4F42-B5D9-BE92275B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93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A clean directory reproduces the full run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56E540-EA3A-447E-B457-A7DEC808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17C2EB-5D6A-4044-B1D2-6B35A02D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298EEB-F761-4AB3-A9FB-6C31B11B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91000"/>
            <a:ext cx="293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Changing configurations requires no major manual script edits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2F5CC29-36CD-43E9-9358-F9F2B476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3543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9F6B56-2042-436B-A24A-E297719C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337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925CEA-BCBA-49B8-8C17-42AF1EB0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28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Clean-run log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2B0029-6639-4999-BC8D-4E1FDCAC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956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Fixed entry point and output structure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35DA9A-B29F-4040-9670-8307DE5C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3543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D9A3A9-6BF6-423B-86D1-1138FDFF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F7B0E6-43D1-4B03-8E14-E6097D8A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Config diff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84C963-83E0-450B-9EFE-65CF9C16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5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Only parameters change across the three architectures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B99AB9-E9B0-4FE7-B240-AD680E5C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3543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FF4CCD-F099-445A-878A-44D8F3A4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86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60F870-7B31-4C33-B893-FA25CADD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81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Generated artifacts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7F4BEE-D29B-4571-AED4-BC4E9106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48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RTL / ICL / pattern / reports</a:t>
            </a:r>
          </a:p>
        </p:txBody>
      </p:sp>
    </p:spTree>
    <p:extLst>
      <p:ext uri="{BB962C8B-B14F-4D97-AF65-F5344CB8AC3E}">
        <p14:creationId xmlns:p14="http://schemas.microsoft.com/office/powerpoint/2010/main" val="1261714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A40315-261D-48C8-8DF7-3051D8DC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0DFBE-9CAC-414C-ABA5-950258B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Automated Insertion Must First Prove Reachability and RTL Integrity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B45F9-54B8-4BAD-A71C-AB06A5B0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775C2-AB5A-4B37-8F50-36D37488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AB8863-67B4-42A6-857A-C456EB81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DAE80-E3F5-4889-B09E-45A905A9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97B7A-F222-4433-AADC-1E86AE4E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4297C-8102-40AF-A27C-FF4BD360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D51A1-8FB0-42C1-9856-328E0165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581C8-CE16-421A-8F45-547357EE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319D7-6B4F-4172-9A7C-A3F6AC93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A451FB-60C6-45FF-B0D2-3B4C2A4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08F2F-B02E-441C-A8E8-4FF4D5A1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CF678-20D9-4B71-AE6F-BD51532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51195A-91F2-4F67-98A6-D09F788E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33A19-AC5C-47D6-BB34-85A768FE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5AFEB-29F8-4C77-BB81-983DCE8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C2976-2CED-4D32-855B-B51E5B47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2186E-9620-43AF-A14F-3BBCE6D5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52FAE-F900-4D25-9C99-731B7212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079CD-2DFF-4E12-B092-F72CFCD6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STAGE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249E86-98A7-4E5B-8FAF-E76C908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D8DFF"/>
                </a:solidFill>
                <a:latin typeface="Noto Sans TC"/>
                <a:ea typeface="Noto Sans TC"/>
                <a:cs typeface="Noto Sans TC"/>
              </a:rPr>
              <a:t>Automated RTL Insertion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269A0B-6295-497E-B41A-29C20D36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43225"/>
            <a:ext cx="6477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96D7E-E77A-40BA-A7CE-BE8EC87D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228600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6F8B9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684AB-1FCB-4B15-A2D7-D0AEA4D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Functional RTL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5894E-A284-49C7-BBF6-A6613348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790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original design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+ instrument 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7899C0-80FC-4110-ABEE-CD848F8D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411480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19050">
            <a:solidFill>
              <a:srgbClr val="4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0EC2E9-95E0-4ABA-8731-940490E0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003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4D8DF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4D8DFF"/>
                </a:solidFill>
                <a:latin typeface="Noto Sans TC"/>
                <a:ea typeface="Noto Sans TC"/>
                <a:cs typeface="Noto Sans TC"/>
              </a:rPr>
              <a:t>Tessent-inserted RTL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AF5A2-444C-43B7-A036-90119D49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A1D2B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22B35-D1DB-4BC4-8794-E4AD72A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TAP / PTAP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AAF571-BFC5-4785-B3F4-E0ADC9F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A1D2B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CC017-4E6E-447A-BF0C-772E2F12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SIB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D8C354-70B6-403C-916D-692FD8FB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A1D2B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485B92-A6FC-4320-A933-6B85E1C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194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TDR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769BB9-5DF8-4B04-8A7D-AE7B0719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671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A1D2B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1D69CC-48A6-4D9F-A335-E97ACE3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147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3DCR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90727F-64A1-4BC4-BD73-6AC8F63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467100"/>
            <a:ext cx="990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A1D2B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EF74BA-E1AA-49A9-9591-B1D75795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14725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STAP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CD6520-2DB0-4AAF-8457-C7A99882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DBEFE7-B775-472C-9265-313CA60B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F40E2EE-A1F1-4035-AA1B-9BD1BE28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49B3E-29D5-4B1A-BEE9-9FA4F50E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Insertion DRC passes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607188-0CF7-4215-9901-DC5DA17B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11E19E-9FB9-41EE-9F44-F72BC7DC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8EF8B7-42D5-4BC0-9195-C004E8B5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Every instrument is reachable through the network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9603D3-46DD-40B6-9FD0-5F06C67E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71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F06701-46C3-4A63-93FC-E1D2DCE3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C72189-011E-4A25-9C5B-A858775E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272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Generated hierarchy and connectivity match the intended architecture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31F29E-FF3D-465A-B8E2-6708EB70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6108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07822E-B0E7-43F8-8F1F-C7D14806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48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11617B-D7D8-48A5-AF11-25111C56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482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successful insertion summary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218DF38-7DE6-4986-B82B-EBCD739A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482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generated hierarchy / instance count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7A60DC-696B-44FA-A839-52B57F5E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48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compile / connectivity report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F8335D-3F77-4AA9-A3EC-16B046EF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248275"/>
            <a:ext cx="824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B89AD59-1385-46F3-BCF7-ACB9C7AA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967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This stage proves correct insertion; the next stage proves correct operation.</a:t>
            </a:r>
          </a:p>
        </p:txBody>
      </p:sp>
    </p:spTree>
    <p:extLst>
      <p:ext uri="{BB962C8B-B14F-4D97-AF65-F5344CB8AC3E}">
        <p14:creationId xmlns:p14="http://schemas.microsoft.com/office/powerpoint/2010/main" val="10417033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1F2E43-388C-4F06-8FEA-E40F7EA6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F98702-465C-4E00-BF4B-BBF81F6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ICL/PDL Retargets Instrument Operations to Top-Level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B32D2-3B34-4B91-A9FC-7050B733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607E8-1852-4D1D-823B-3DBC847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EBCB0-2416-4EEE-9FC7-D0AB71F1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10697-A1B2-45D0-BC58-C6B8F8A6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6FCF68-754F-470C-870D-4DA9FC92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643842-F371-4DF4-80BF-746502BC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45D2A-4252-415A-85EC-46669620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C181D-1A4E-4BA9-8EFF-26CFAC51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BEDE9-D98E-43EF-BACE-14D22ACA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337EE-309B-4DC0-8485-559A421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99B3B4-2169-4D33-B9FB-BB427402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FFDB3-6D57-4BBF-89CD-810497B7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8FCCF4-4345-446D-BE03-DC8B0324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A2603-1FC6-46DD-8279-3A6846DD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847D3-EACE-4E7A-8B03-6472CDE4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8BCCB-B87D-428D-AF13-8A3E9932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C16FE4-C9B6-41FA-85F9-51D5BA6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F39B07-BD02-4077-A8D6-53D269D38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529EC-71CD-4703-950B-F33E9C16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STAGE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64DFD-85D6-4594-B892-E2E5629D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ICL / PDL &amp; Pattern Retargeting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4FB9F4-2000-401C-BA82-DE16E362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03CCA-4B2D-4463-814A-2DF001EA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DBD61-5A34-4BA3-8866-4E430BED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590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99774-9010-4EF6-BA3D-306FDF44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3AA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48A1FB-3D0E-4A41-909C-84826759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Instrument PDL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443336-3472-411E-9F08-4BFA4F5F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write / run / read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439899-4855-4AE2-9D61-362D20E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F5B94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098D0-98C8-40C5-8609-A28ED687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Post-insertion ICL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6D1E25-B0DB-46AB-9E9D-28767A8C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SIB + die hierarchy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E93DDA-1039-4AA6-B62C-334189ED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38D6C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86B3BD-ABDF-45CF-828D-A480CF80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Retargeting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B69017-851F-45B3-8825-792EA33D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resolve access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6EB44D-91B3-4C56-BC71-E0949ED1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44D1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5E583C-D437-4E2D-A0EF-CE81A83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94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Top-level Pattern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676692-31F2-4228-8808-92801470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3850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package TDI/TDO sequence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407233-7D2D-4AF7-A493-72F1E01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F94E5D-0EC8-42FC-B26D-FED048D3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B04B98-2854-4417-8E8E-C628BB52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AD2DCF-CA19-4D99-97E9-F4F1C0F5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ICL rule and syntax checks pass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A9A44-C87F-48E2-B208-97321FC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8FFA9E-3E2C-49C4-B8C9-91629EA4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68A13C8-44AE-4CBD-8594-2398736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Retargeting completes with no unresolved paths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769182-CACD-4A75-A826-15F62BBF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2D3738-7220-4D29-808F-85F6AB44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97F9D1-6C12-4E35-A569-67469E66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4400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Scan length matches the active network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558D5E-8827-41B3-9D12-A6CF5FA1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Why it matters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304C44C-F3FF-4546-828A-C393DAED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29150"/>
            <a:ext cx="46863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38D6C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BC8E3B-641C-45FD-A5EB-C8C4EAE8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76800"/>
            <a:ext cx="4114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Users describe only instrument-level operations; the tool handles SIBs, STAPs, and multi-die paths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1336930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7C0C54-79A7-48B1-950D-8B5A2332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EEC5E-80D1-4910-ACA3-FD3E0B99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RTL Verification Traces the Full Causal Chain—not Just Simulation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EDA6A-B519-4CF1-997B-74F1BE81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0EE81-0E7F-4C55-933B-6986633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067A24-9F43-4608-89E3-62F96897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F7224-C18C-4CE3-B81C-9A3A69EC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417B3-B043-41E1-843F-49BB7039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5ADE9-48F0-4B09-A96E-206BA67B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730BE-B363-4C55-A2F3-AFC3B1C7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57128-65B8-4FA4-BA80-BD97D45E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0A764-EF07-4BD5-A17F-C7528507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CBCA3-0D64-4715-B32D-3B320173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BD54C-5D2C-4963-8C20-214A586C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97B2D-F6EA-41F8-AD1D-AD989DA8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52A2A-FEC8-4816-94D0-8E45BAE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FC3BB-85A2-40C2-ACBD-4E99BE9B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FA4E4-F9F3-4CB5-8C64-D8222790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8A705-25B1-4566-8239-C16CB69A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2B958-98B8-4F6F-8747-D0B885B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09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4784C-3075-48D1-A191-52046DB9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7C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D0B66-5C6A-4B56-9DBF-8B5B10A9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STAGE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604580-525A-48FA-9824-0FA5B8AF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7CE0D2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7CE0D2"/>
                </a:solidFill>
                <a:latin typeface="Noto Sans TC"/>
                <a:ea typeface="Noto Sans TC"/>
                <a:cs typeface="Noto Sans TC"/>
              </a:rPr>
              <a:t>RTL Pattern 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2DFBCF-5959-4F71-BA78-43C03ABE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527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15680-7B50-4BF0-B662-4C7EBF21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9527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FAB1C-F5D5-486C-9B47-3E05EE77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9527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8EC8F-27F1-48C1-9BF2-E4ECE29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527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E399CF-D384-4850-AF5D-E1A44D08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9527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3E71BF-AAA4-4046-B660-48F86D5C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28900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6FD8F-EFBB-4ED0-ABEB-8ECD0A52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TMS / TCK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0425D0-C422-4630-A25A-8835C61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drive state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B3240C-B6EC-46ED-A16E-D8056DE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8E2DCB-825C-4AB2-B596-27AC4B98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19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TAP / PTAP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85B08F-3C67-4F0C-A0E1-A4C5768D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FSM transition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073275-748A-4ABA-BD99-FAF6068E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28900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9F22FA-D5FC-4BC9-9958-8618C68A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IR decode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9FD76E-7528-46D7-BC40-BD4194DE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select network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E652BC-8619-4017-9A61-BE705C7D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7363F3-38AE-431A-8D28-8A38DF0E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5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Capture / Shift / Update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41F3AF-4F7C-4817-A1DD-8606908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enable registers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CCDD65-EE55-4F90-AA1B-BFFAFEF9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25578E-A6F1-4694-BF74-2825EC91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19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SIB / 3DCR / STAP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D53DF1-42FF-431A-9016-0CAE6465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open path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58CB92-EF15-4332-A963-64FBEE8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28900"/>
            <a:ext cx="16764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44D17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A2966C-0322-4E6B-B62B-CAA7D6E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194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TDR / shadow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8549FC-F173-47D2-92F3-355134F5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write &amp; read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46DA07-DBEC-4876-9559-A4650F89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18478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476931-0075-48D8-9256-633B8B19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PASS criteria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AF903E-A533-417B-BC5D-1E54BE05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08D770-B59D-4537-8DA0-E60AFA63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4BBBEB-2C29-4025-AABA-9661F743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All care-bit comparisons pass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8E97F4-F742-4244-BF07-0C2B329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841F48-F524-4500-B275-ECCCB697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E30724-E6E5-48C8-93C4-4687DD38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Instrument response matches expectations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0C3F81B-CDC8-42F8-B156-C635B19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2E75CD0-FBA1-4B06-9A16-CE6A6C8A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F8BFF7-FD7A-4E0C-ACFE-E2E84939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19750"/>
            <a:ext cx="44386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Unselected instruments remain unchanged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05FFBC-C9E7-4559-AFDE-4AB96716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598BF9-7138-4F8A-90C9-27A6522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86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AB9132-FE5F-48C6-B783-26843BD8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Representative waveform with markers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BBBC44-1A4F-4301-BA3C-2FF37635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86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1B5FBF-08B1-49BB-81F4-1B9BB723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pattern pass summary / mismatch = 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BA55A0B-49F7-48EE-B288-7470DBD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86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D2E2DE-5F8E-4C47-AF2D-480F1D5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426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reset、SIB / STAP close behavior</a:t>
            </a:r>
          </a:p>
        </p:txBody>
      </p:sp>
    </p:spTree>
    <p:extLst>
      <p:ext uri="{BB962C8B-B14F-4D97-AF65-F5344CB8AC3E}">
        <p14:creationId xmlns:p14="http://schemas.microsoft.com/office/powerpoint/2010/main" val="1441302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0DB55-D4BA-4980-BE27-0740EB7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RTL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8F934-06DF-4219-9956-7A57478C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One Pattern Flow Now Covers Three Access Depths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384A2-8D64-4197-83B5-45BECC64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CEB97-48BE-4D84-93CF-03343433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B3899-DCCB-4DB0-85F1-16425621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D3835-7CD0-4C23-861C-808E1BAC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21C7E-7972-4407-A853-6F3CA418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44B34-ADAE-4E6B-90B9-B181B1F6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724A2-EB13-4999-B014-ACC7F000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A2D86-F36C-4163-AA09-3A0C56B3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41688-1A86-4807-8D2D-4EB1D023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02A39-02C0-4B6F-987F-55F0E7F3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E6075-3A3F-4DA3-AB08-4409E4F9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59115-D243-4131-949C-30838765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75EDC3-7422-421B-B498-AA8D1531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BE34A-5FA4-40D6-B38D-37DA8281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223C2B-9E8F-442F-AE4A-DF59938F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F45ED-30A9-4843-9EC1-4265632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FE18E7-00DA-4815-9F9D-58B52698E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51714-6FC4-41E2-A19A-9D03895B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E0720-2361-479E-821C-78663F53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717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87275-45D5-461E-9AD9-7604CE9C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71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IEEE 1687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E4592-E3D9-4721-B14E-10651AAC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TAP → SIB → TDR → Instrument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5A3DB3-DEC4-43FF-8437-7271C800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62175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89969C-1448-40DE-9F9C-6605E446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050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Proves local instrument access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85CF01-31EE-4602-9D66-F3A7C758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38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3C7C27-7CD9-457C-93DB-3D7142E0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38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613F14-B2A7-41E5-9DD3-698012F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2FCC05-80AB-4134-87A7-5EEE4A77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242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4DFB82-EC24-45A7-9390-8FFB15C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24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1687 + IEEE 1838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64F1DB-D144-4403-84F1-2BF7EEA1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PTAP → local SIB → TDR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04E9BE-E428-4002-BA10-A0881109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35EB13-D65D-4C51-8D54-70CE36D0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576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Proves wrapper, 3DCR, and STAP 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705399-FCDA-4FC4-8898-8BA7C409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87C396-AB2C-4DCB-8D6A-A25A6E76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790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C1E503-CA21-46A8-AC1F-C26CC94B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26D603-98F3-4EFE-BB43-7CA95656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F8B451-AB9B-4A8D-88DC-90534161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76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stack_top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A63F8A-A6DA-4C1F-B941-DB7C72DD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959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Package → Basic STAP → Sensor STAP → SIB → TDR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5CCC79-6CC4-4EBF-8025-B3BBA693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67275"/>
            <a:ext cx="3143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44D17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49331D-B0CD-4B46-9E8E-953FC05D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0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Proves multi-die retargeting and return path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72E03F-B8A7-4C78-9D40-9E41C52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4E62CB-BF62-4398-A471-8945D542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143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919FAE-607D-4B8C-BD51-96B1347F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48375"/>
            <a:ext cx="769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Access hierarchy grows; manual pattern complexity does not.</a:t>
            </a:r>
          </a:p>
        </p:txBody>
      </p:sp>
    </p:spTree>
    <p:extLst>
      <p:ext uri="{BB962C8B-B14F-4D97-AF65-F5344CB8AC3E}">
        <p14:creationId xmlns:p14="http://schemas.microsoft.com/office/powerpoint/2010/main" val="596987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41C4BF-6606-432C-86BC-E55D261C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RTL VERIFICATION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C0DF8-75B3-4196-B282-7586800E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Event Markers Make Complex Stack Traces Verifiable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0E224-B9CD-4679-91F0-B4E45F5D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29B38-6F43-460E-A074-AA47B9A3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F55EF-D7BD-437A-8AAE-30CF1839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5F1DB-E99B-4533-8555-30C0584B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E6135-26E0-434C-A645-2996F04E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58555-E9D9-4E83-BB96-886DDA56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80D72-DF8D-4F92-AE3D-44C11A12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37FB6-4445-42F0-B18A-32F0B3D2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D95AE-CBAF-4E63-B9C5-E8BEF86B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24B3A-FF8E-48CA-A707-88908700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D0836-ECFA-41E9-A46C-A7DE0F62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92C09-E89C-45C1-9AFF-6509113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45F44-3224-41C8-B579-89D8B755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C34D82-DEED-4134-AA86-6DC54768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01162-0E26-46A3-A8EA-F629A205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1472E-B074-414F-928C-3D645C52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3F2D1E-092C-46E5-B19C-66217A5B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BA5DE1-54D2-4403-9D35-B5EDC43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1066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F6E7DF-D99F-4D14-A8E1-4B57E3F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278BC-47BF-4C95-91B9-1E7AAE70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M0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0D5C3-21C8-48EE-A231-3303D4E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Reset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417A5-52CE-47B9-B06B-555B47C7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933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CAD63-8200-4BC6-BBA9-073FCA6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4908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M1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F322F-0994-4682-8102-AB2C4C9E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933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Basic 3DCR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245D6-BDD6-4548-81A3-405568DF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267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4D6516-4434-4717-80D7-9CE96922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242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M2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9544EE-9095-46CF-88BB-75B4EB4A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267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Sensor0 3DCR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95E3E-4E33-4840-AD56-7917609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02D34E-F0D5-4195-97D1-0741C536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57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M3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BF74D7-F05C-4626-9761-180662CF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4600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Sensor1 SIB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B0E4D8-DA43-4AA1-91F5-CD4B63E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933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F481AA-BFA0-4304-8E42-E5C7D040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908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M4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466C10-B375-4227-BF66-25CCBF7E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9933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TDR Update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089903-D297-4EB5-8AA1-355A2FD3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6267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A0C7FF-481F-4B1C-B1A9-EAA61E76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242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M5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CE322C-B2CC-457D-97E8-16CBB03D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5267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Start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ADE33D-774B-4086-A2AC-6F523B8D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6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FC2158-041E-4684-9C46-6078F035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1575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M7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AA5A0E-F9FC-494B-B565-2954EE40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600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Valid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6B71DF8-5739-4DBB-B312-DBE75E0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6933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FA6088-01A7-412E-8621-21CF3985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908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M8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1DB43A-A53F-4DBB-BA56-02B594A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933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Capture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94417A-42C2-4C65-93EC-F13D2281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2267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2DA5E3-34CA-400B-B417-8B3C9B1F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2242" y="2933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M9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93313C-69D8-4002-8C50-1C4B84A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267" y="31813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Compare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34BB96-02E1-41BD-A021-F4C6DFBC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4DAAE6-51B8-4F7C-9953-8B9A7F81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114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M10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F69779-3D69-4455-9555-CC5BE4B1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3624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Pass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721D93-090C-4D97-AEFA-069B2A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95900"/>
            <a:ext cx="9829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FF0226-E390-4179-865A-701FD8E0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38775"/>
            <a:ext cx="925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7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Each marker binds the expected state, control, and data signals, localizing errors to IEEE 1838 access, IEEE 1687 selection, or instrument behavior.</a:t>
            </a:r>
          </a:p>
        </p:txBody>
      </p:sp>
    </p:spTree>
    <p:extLst>
      <p:ext uri="{BB962C8B-B14F-4D97-AF65-F5344CB8AC3E}">
        <p14:creationId xmlns:p14="http://schemas.microsoft.com/office/powerpoint/2010/main" val="690952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5B329-89D0-49A6-A5B6-7247827E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54853-E2D2-4C50-80A9-310896CA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Synthesis Must Preserve the Test Network—not Merely Produce a Netlist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A54AF-FF5E-4863-ADB6-923765D4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F8C7D-10D0-47B7-8B01-E725ED47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EC1DD-2AC6-44B3-9587-FD859A47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32B81-A8E6-47C2-825D-CF0DA739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3822F-8FBE-4B28-BCB2-4A2BA62D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0E0C9-7A86-4B6B-946D-DB8B67A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742F4-A576-4982-92A5-B46A4776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3A78C-F6E7-4ACD-A040-8F2D4F04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16DB8-7D19-45E5-8BC2-CB5F5C2B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29C4E-78A6-490B-9876-D37E660F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FE661-0690-4BE4-87E8-1B5161C9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1D232-7DA8-49E6-9002-BAA3A27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DDE1D4-70D2-4650-8B39-5EEDF1D7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CB49A-34FF-4229-B2C6-FF6E1BAF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6C79D-1C60-462C-9C61-D03DC28F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8E502F-2D59-4C6F-BE19-E265D892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1482E-2231-4860-91AE-EB7FDD38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A4CFE-DAF3-47DA-95AE-5445E1B2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7FD64-161A-495F-A378-D1BFE9A7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STAGE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1AAEC-D0F8-43E0-A897-3B6F7A54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Synthesis 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D345A-38A7-482D-A3E2-6D084188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43225"/>
            <a:ext cx="333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F9DBAC-E286-4A08-8314-72C53B48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943225"/>
            <a:ext cx="333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7BF3DE-089C-4D5E-A8C2-D1FFB741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43225"/>
            <a:ext cx="333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920AF8-F813-4D33-BEF6-ED6355B09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43225"/>
            <a:ext cx="3333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CB81E0-9B61-4F7A-A3B7-F56001E0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C34FF0-49BD-4380-AFEE-1DBD66F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Tessent RTL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3D15B0-CB04-4E41-80BA-CBCDA502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generated test logic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44A68F-85B1-4561-B699-3056DDB1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513E47-17B4-4935-82E0-77F31CA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Compile test block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752F95-490C-46E1-9D73-B3137BF9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independent 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3DA401-34C9-43FA-94CC-14C76A82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F5B9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3716B0-29FF-4795-A692-99CEDB2C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dont_touch + SDC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089457-2E31-49CB-9BB3-69071458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preserve structure / timing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56F9AD-E2D0-4E86-8DF4-DCAD464B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FC6272-2AD5-4C7A-99B5-EB1BD4B0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Top synthesis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DD39CC-0482-4A4E-B5A8-28A1CF72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functional + test logic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BEC557-A010-432A-A011-C81E8B87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571750"/>
            <a:ext cx="1809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F53CF3-584B-41E3-BC84-55815EDC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62250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Gate netlist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E9BF35-C64E-4789-8FC5-F6DB5E1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200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ready for GLS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A6043F-E516-42B2-9A09-10444E0C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9C2982-BD24-497B-B7D2-F96D805C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Checkpoint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07C1DF-A987-45AF-A161-3D80D096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21BFBB-FB8A-46BB-95DF-AFAB6492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F8C5F2-4F41-4D3D-8151-72641B02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453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Tessent network survives optimization intact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D0E90E-34AF-414B-906C-5D72C9D6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CD1D40-E866-44C6-85CC-1E43E4BA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6C25244-1272-42BE-A34C-9DF4F81D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4533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Test clocks, resets, and generated constraints are applied correctly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C367D5-5D4F-4E98-8A8F-F6B071FF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Evidence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E640A9C-0579-4969-A107-A7F7F730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81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F194A31-3571-4408-849E-19E3D02B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pre/post-synthesis hierarchy &amp; instance comparison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BD6E53-8560-4115-A0F2-6FF75E54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38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668AEB-D33A-4097-9920-1B1932BC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72100"/>
            <a:ext cx="426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synthesis log / constraint report / gate netlist</a:t>
            </a:r>
          </a:p>
        </p:txBody>
      </p:sp>
    </p:spTree>
    <p:extLst>
      <p:ext uri="{BB962C8B-B14F-4D97-AF65-F5344CB8AC3E}">
        <p14:creationId xmlns:p14="http://schemas.microsoft.com/office/powerpoint/2010/main" val="13202769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248554-7E18-491F-B1FD-054BDBB2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STAGE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4FCF9-B953-4BB3-840D-88578D1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Gate-Level Reuse Proves Synthesis Preserved the Access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B403F-BD38-4DBD-BE6B-B9690A6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39636-425D-4DBF-B668-AC18BE91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847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620F4-2487-43C3-80D6-288B8C7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43E2F-D2EA-4444-A778-B6125354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  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1EF1B-9643-423E-A11A-5514EC72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C7D3D-0706-4381-B810-F2ACFDA8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2  INSERT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12D2D-38C5-469A-B993-5404B12E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0CCC9-50F9-4036-A06A-27A46B0D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3  RETARGET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03B90-295C-45C4-82F2-A0DE7448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FBDC5-1F30-403F-A13D-1712B9BA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4  RTL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B109-3405-49D1-BE3D-9B7F4D7B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10EAA-C8DF-4370-86FE-48837BB7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5 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12A86-5E67-4362-8706-66C14C8E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3620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C296E-2F22-4305-B261-5C35E225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525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6  GATE 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5E273-33CC-4915-8E99-6F3E3C45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85CC5-3639-4CEE-9391-F1F5914B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C0818-CA26-4BA5-8341-260FA08F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1CC702-064D-4AA5-953B-2F5FDA8F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371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759812-ADAC-4C2D-B6B4-281F7D65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STAGE 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0FDF5-832E-4189-A50D-57628F76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430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Gate-Level 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9DF3D-7B5B-4997-B668-2BE910BC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RTL lane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5975F2-852B-4857-9960-9AA04CE7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Gate lane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1D135-C859-4ADE-8033-C7486A5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A2FD9-EA81-4989-BF7B-6EE83ED5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69625-50C1-451D-A9DD-2E5112EC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4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02C17E-6BAE-4B59-9654-019272A2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337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Inserted RTL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BDB5DD-933B-4221-8FBA-DDD92C76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8D6C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413362-40B3-4D9A-91F0-8661B43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337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9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Same retargeted pattern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22236-8C89-441A-AE62-0EF9999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AA7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8B886-8408-4BFD-B5E2-DBC9AC09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337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Expected response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DDCD03-42C1-41A4-AD27-140369C5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ACD901-0C81-46E2-B6D6-F455B676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8625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8C2BF8-3FBD-46BD-B48B-37BC068F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576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44D17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EC3C50-1BB9-4EB0-8140-3BB36CEE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2672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Gate netlist + libs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B5522E-834E-4C3D-BD31-649358AD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576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38D6C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BD2B23-3A26-4D93-951B-1DEBE501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672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9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Same retargeted pattern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D12E0E-83A0-4219-8203-D24CD4A9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9525">
            <a:solidFill>
              <a:srgbClr val="44D17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7D71E4-2663-4BA4-810A-051C5575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67200"/>
            <a:ext cx="1847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Observed response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330F48-8FE8-43F6-A94F-79106FBD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81375"/>
            <a:ext cx="5143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E417A5-C122-41C5-9A6D-885AB2EF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09900"/>
            <a:ext cx="146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19050">
            <a:solidFill>
              <a:srgbClr val="44D17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E6BAC2-C005-408A-909A-ED2624F3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385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COMPARE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577B45-2959-4B4C-8595-0CA299C1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195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care bits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mismatch = 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44A985-E7A7-4F35-9023-2436A04F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9639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12B796-B97C-4CBB-8E2B-29E8F8B2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48300"/>
            <a:ext cx="910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Gate netlist compiles  •  pattern completes  •  RTL/gate readback matches  •  no unexpected X affects comparison</a:t>
            </a:r>
          </a:p>
        </p:txBody>
      </p:sp>
    </p:spTree>
    <p:extLst>
      <p:ext uri="{BB962C8B-B14F-4D97-AF65-F5344CB8AC3E}">
        <p14:creationId xmlns:p14="http://schemas.microsoft.com/office/powerpoint/2010/main" val="4471024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6E12A-EC6D-4393-8445-E12FFDB7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COVERAGE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1689C-4757-4E28-956D-8E43CBFE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Regression Matrix Shows Completed Coverage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FB93F-971F-4DCB-9C16-B3D9D4AA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F9C8B-DCCC-4871-B941-D480B425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Each column represents an access depth; each row is an accepted end-to-end deliverable.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6ED85-A593-4754-BF91-B90FC761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33500"/>
            <a:ext cx="1866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F5B94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563C5-1EBD-4EF8-8FAE-E510B13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39065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DWR excluded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809750"/>
                <a:gridCol w="2247900"/>
                <a:gridCol w="2247900"/>
              </a:tblGrid>
              <a:tr h="488156"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Verification item</a:t>
                      </a:r>
                    </a:p>
                  </a:txBody>
                  <a:tcPr marL="91440" marR="91440" marT="45720" marB="45720">
                    <a:solidFill>
                      <a:srgbClr val="12324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1687</a:t>
                      </a:r>
                    </a:p>
                  </a:txBody>
                  <a:tcPr marL="91440" marR="91440" marT="45720" marB="45720">
                    <a:solidFill>
                      <a:srgbClr val="12324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1687 + 1838</a:t>
                      </a:r>
                    </a:p>
                  </a:txBody>
                  <a:tcPr marL="91440" marR="91440" marT="45720" marB="45720">
                    <a:solidFill>
                      <a:srgbClr val="12324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stack_top</a:t>
                      </a:r>
                    </a:p>
                  </a:txBody>
                  <a:tcPr marL="91440" marR="91440" marT="45720" marB="45720">
                    <a:solidFill>
                      <a:srgbClr val="123247"/>
                    </a:solidFill>
                  </a:tcPr>
                </a:tc>
              </a:tr>
              <a:tr h="488156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Automated RTL insertion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</a:tr>
              <a:tr h="488156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ICL generation / check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</a:tr>
              <a:tr h="488156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PDL retargeting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</a:tr>
              <a:tr h="488156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RTL pattern simulation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</a:tr>
              <a:tr h="488156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Synthesis integration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</a:tr>
              <a:tr h="488156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Gate-level pattern simulation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650" b="1">
                          <a:solidFill>
                            <a:srgbClr val="44D17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✓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</a:tr>
              <a:tr h="488156">
                <a:tc>
                  <a:txBody>
                    <a:bodyPr anchor="ctr"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F3F8FB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Hierarchical access</a:t>
                      </a:r>
                    </a:p>
                  </a:txBody>
                  <a:tcPr marL="91440" marR="91440" marT="45720" marB="45720">
                    <a:solidFill>
                      <a:srgbClr val="0F273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8D6C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N/A</a:t>
                      </a:r>
                    </a:p>
                  </a:txBody>
                  <a:tcPr marL="91440" marR="91440" marT="45720" marB="45720">
                    <a:solidFill>
                      <a:srgbClr val="0A1D2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8D6C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Local die</a:t>
                      </a:r>
                    </a:p>
                  </a:txBody>
                  <a:tcPr marL="91440" marR="91440" marT="45720" marB="45720">
                    <a:solidFill>
                      <a:srgbClr val="0A1D2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38D6C5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Multi-die</a:t>
                      </a:r>
                    </a:p>
                  </a:txBody>
                  <a:tcPr marL="91440" marR="91440" marT="45720" marB="45720">
                    <a:solidFill>
                      <a:srgbClr val="0A1D2B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47D12-F986-464C-8329-BBB8D25E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43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Conclusion: the complete flow now spans local to multi-die access, with closed-loop verification at both RTL and gate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D125D-1260-4BF0-A3A4-9CAD9BC8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72639B-09B3-4C56-B9FF-6F959B6A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F1DE3-FE21-49BD-BBCF-7C34FC63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526689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08814C-91E4-4BD3-8B0C-20A2D83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WHAT WAS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81347-0922-49BD-B41D-43672C4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The Engineering Value Is Repeatability, Scalability, and Traceability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A1924-B9B5-4B55-A85C-B3BE230F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5D27D-CCA3-47CD-9500-C02AD610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3AA7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D53EE-D6E1-42F0-91B4-CC6A1C58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REPEATABLE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14CBA-F238-4AC4-83CB-E615D550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04163-C5E5-48F2-A0D4-A0BED6FC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Rerun insertion, retargeting, simulation, and synthesis from a clean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5DA2A-A988-4FC0-8275-B69469F3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907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4E7298-2136-4747-954D-D6A67F5E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SCALABLE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4F722-B346-44E6-8BC8-09FDA722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3FE26-D4CE-49C2-A8FD-461D2537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385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Scale the same flow from 1687 to 1838 and then to a multi-die stack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193F6-9AF9-4346-ACD9-A438ACD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0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40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02205-2A7D-4C65-9D24-52A57505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146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TRACEABLE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BD2B4-0787-48B1-A265-0E27B842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976E7-477D-4821-8CC5-EF3AC4DC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A7BDCA"/>
                </a:solidFill>
                <a:latin typeface="Noto Sans TC"/>
                <a:ea typeface="Noto Sans TC"/>
                <a:cs typeface="Noto Sans TC"/>
              </a:rPr>
              <a:t>Attach a checkpoint plus a log, waveform, or compare result to every stage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62D30C-9379-4F30-BF16-A687E129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10972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23247"/>
          </a:solidFill>
          <a:ln xmlns:a="http://schemas.openxmlformats.org/drawingml/2006/main" w="9525">
            <a:solidFill>
              <a:srgbClr val="2948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40B19-1C1C-4044-9D87-0EF8B7A8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5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Integration Issues Resolved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09D51-1567-460B-8573-4BD18AA9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95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5B94C"/>
                </a:solidFill>
                <a:latin typeface="Noto Sans TC"/>
                <a:ea typeface="Noto Sans TC"/>
                <a:cs typeface="Noto Sans TC"/>
              </a:rPr>
              <a:t>Test logic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35D968-2DD8-4C01-9C08-5C5CF312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1911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independent compile + dont_touch + Tessent SDC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9DC94-2C60-418E-9F19-1696577E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958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Retargeting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C0A11-70CE-47F3-A647-1297AFDB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91125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instrument-level PDL → package-level pattern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35270-0878-41B1-AD0F-A65D688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992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The result is not a one-time PASS, but a reusable baseline for future designs.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1A603-E876-46D8-9805-41F4EB23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8E4DB6-DA75-4485-BE32-090DF37C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Current scope: IEEE 1687 + IEEE 1838; DWR excluded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E8239-9073-4583-9343-A6306EA9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196068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5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586FE-0F8C-43C6-AFCB-E8A82A43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48B2C-644A-4BDB-94EB-3048C709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End-to-End Baseline Complete; Regression Hardening Is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9D62B-BE5C-400C-85B4-9B9D07A6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9667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4E7FC-51B4-4E8C-85A6-D93FA35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BF86C-BF68-4AED-9E6A-A1133C09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8808F-70B7-4953-820F-0C3811E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ENV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C60F6-3032-49FE-939C-5764557D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2B8E1-8AD8-445C-BEDD-4F998BFB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A0B271-6084-4BC5-92AB-DC885184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INSERT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AEA21-570C-4EB1-A7F6-5E3DCC8A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7A109-FBDD-48C6-A7B4-A8D06613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B4899-005B-41AD-8AD5-7E8051A3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RETARGET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31360-5031-4920-B8DD-C6D223C6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E0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72E26D-CA07-4C89-9831-8D11F556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81B33-0E1C-4A79-9CC9-B02AAEB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RTL VERIFY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A4591-71E3-4E4A-8848-580437D6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8DB4E-0CBC-4DC5-81EA-5A8A7BF1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A0179-7B9E-4573-AC56-912FE19C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SYNTHESIS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7F0AA-6FD7-43D4-8C7E-08A6FA25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33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C2874B-A282-4674-9D03-979B7EFA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1526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B8758-3907-44F3-B392-3AD0168B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571750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GATE 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F7989-D8FA-4630-ABD2-11B28A33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0863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44D17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FB1BB-748D-49E9-A07D-857AB1BF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44D17B"/>
                </a:solidFill>
                <a:latin typeface="Noto Sans TC"/>
                <a:ea typeface="Noto Sans TC"/>
                <a:cs typeface="Noto Sans TC"/>
              </a:rPr>
              <a:t>COMPLETED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BAC12-78D2-4CF7-ACA9-0C610482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AE19F5-1DFD-4393-82C7-3B24AB5D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D5AF65-5383-4356-80C1-4069C9D3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243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1687 / 1838 automated insertion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9D0A8-EB19-494F-A03C-045081A8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E6B48C-6933-45B2-AA70-DC02ECAC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9EA0CF-F0DB-4EC8-8D9D-DF9CEACB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ICL / PDL retargeting + RTL verification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AB284-5D35-4683-AB35-C316BBBC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1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C0F789-E3E7-40FD-8A12-CD2E7F17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71521"/>
                </a:solidFill>
                <a:latin typeface="Noto Sans TC"/>
                <a:ea typeface="Noto Sans TC"/>
                <a:cs typeface="Noto Sans TC"/>
              </a:rPr>
              <a:t>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BD9BD5-DE69-4236-99BF-264A3850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149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synthesis integration + gate-level verification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530CD5-8333-400F-B2D6-DC1E740A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00400"/>
            <a:ext cx="556260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0F2738"/>
          </a:solidFill>
          <a:ln xmlns:a="http://schemas.openxmlformats.org/drawingml/2006/main" w="19050">
            <a:solidFill>
              <a:srgbClr val="38D6C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CA8FE0-600C-4F42-87DD-D063163F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48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38D6C5"/>
                </a:solidFill>
                <a:latin typeface="Noto Sans TC"/>
                <a:ea typeface="Noto Sans TC"/>
                <a:cs typeface="Noto Sans TC"/>
              </a:rPr>
              <a:t>NEXT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6D452C-AF96-47A4-BE56-F7A1296C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90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A6A89D-4A79-42D2-8910-604A2BE4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Curate representative logs, waveforms, and compare reports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0626BE-B35E-4A17-BFFC-9B1F702C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86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07A908-F964-4A68-BB53-62E92692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Build one-command regression with assertion-based checks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C56AE6-4C79-4B57-B1B9-E5B792C1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81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D6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A9E249-DFA5-48D7-A6B4-9CA0F353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14900"/>
            <a:ext cx="45529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D8E6EE"/>
                </a:solidFill>
                <a:latin typeface="Noto Sans TC"/>
                <a:ea typeface="Noto Sans TC"/>
                <a:cs typeface="Noto Sans TC"/>
              </a:rPr>
              <a:t>Confirm project integration order; evaluate DWR in a later phase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59A93B-3D21-4E63-968E-D00B12A1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05500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6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3F8FB"/>
                </a:solidFill>
                <a:latin typeface="Noto Sans TC"/>
                <a:ea typeface="Noto Sans TC"/>
                <a:cs typeface="Noto Sans TC"/>
              </a:rPr>
              <a:t>Core message: the flow works end to end; next, improve automation maturity and evidence reproducibility.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D72828-18A1-4A5C-873B-EB2996AF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8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09F005-A3D1-487C-8DFB-6723CDD9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904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825" b="0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Decision point: regression hardening first; DWR remains out of current scope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2C4BBA-9F96-4563-A35E-8444DA7B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6F8B9D"/>
                </a:solidFill>
                <a:latin typeface="Noto Sans TC"/>
                <a:ea typeface="Noto Sans TC"/>
                <a:cs typeface="Noto Sans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65928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2026-07-22T16:32:07.8430000Z</dcterms:created>
  <dcterms:modified xsi:type="dcterms:W3CDTF">2026-07-22T16:32:07.8430000Z</dcterms:modified>
</coreProperties>
</file>