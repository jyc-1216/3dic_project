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3D17C4C8-09C6-42A0-AE6E-AD24E1C400A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90550"/>
          </a:xfrm>
          <a:prstGeom prst="rect">
            <a:avLst/>
          </a:prstGeom>
          <a:solidFill>
            <a:srgbClr val="24364B"/>
          </a:solidFill>
          <a:ln w="0">
            <a:solidFill>
              <a:srgbClr val="2436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4B78A95-88D0-474F-B322-A0ED0385EE19}"/>
              </a:ext>
            </a:extLst>
          </p:cNvPr>
          <p:cNvSpPr>
            <a:spLocks noGrp="1"/>
          </p:cNvSpPr>
          <p:nvPr/>
        </p:nvSpPr>
        <p:spPr>
          <a:xfrm>
            <a:off x="266700" y="47625"/>
            <a:ext cx="9144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28575" rIns="57150" bIns="28575" anchor="ctr">
            <a:normAutofit fontScale="83333"/>
          </a:bodyPr>
          <a:lstStyle/>
          <a:p>
            <a:pPr algn="l">
              <a:buNone/>
              <a:defRPr sz="3300" b="1">
                <a:solidFill>
                  <a:srgbClr val="FFFFFF"/>
                </a:solidFill>
                <a:latin typeface="Segoe UI Black"/>
                <a:ea typeface="Segoe UI Black"/>
                <a:cs typeface="Segoe UI Black"/>
              </a:defRPr>
            </a:pPr>
            <a:r>
              <a:rPr sz="3300" b="1">
                <a:solidFill>
                  <a:srgbClr val="FFFFFF"/>
                </a:solidFill>
                <a:latin typeface="Segoe UI Black"/>
                <a:ea typeface="Segoe UI Black"/>
                <a:cs typeface="Segoe UI Black"/>
              </a:rPr>
              <a:t>PROJECT SUMMARY — KEY RESULTS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A2E982E-6CB4-48D9-A0DE-617FE1C1BDED}"/>
              </a:ext>
            </a:extLst>
          </p:cNvPr>
          <p:cNvSpPr>
            <a:spLocks noGrp="1"/>
          </p:cNvSpPr>
          <p:nvPr/>
        </p:nvSpPr>
        <p:spPr>
          <a:xfrm>
            <a:off x="9525000" y="66675"/>
            <a:ext cx="2362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28575" rIns="57150" bIns="28575" anchor="ctr">
            <a:normAutofit fontScale="95238"/>
          </a:bodyPr>
          <a:lstStyle/>
          <a:p>
            <a:pPr algn="r">
              <a:buNone/>
              <a:defRPr sz="1050" b="1">
                <a:solidFill>
                  <a:srgbClr val="C9D7E5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C9D7E5"/>
                </a:solidFill>
                <a:latin typeface="Segoe UI"/>
                <a:ea typeface="Segoe UI"/>
                <a:cs typeface="Segoe UI"/>
              </a:rPr>
              <a:t>PROJECT RESULT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D07F084-200A-43B3-9C34-99FBD909EFCE}"/>
              </a:ext>
            </a:extLst>
          </p:cNvPr>
          <p:cNvSpPr>
            <a:spLocks noGrp="1"/>
          </p:cNvSpPr>
          <p:nvPr/>
        </p:nvSpPr>
        <p:spPr>
          <a:xfrm>
            <a:off x="9525000" y="285750"/>
            <a:ext cx="2362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28575" rIns="57150" bIns="28575" anchor="ctr">
            <a:normAutofit/>
          </a:bodyPr>
          <a:lstStyle/>
          <a:p>
            <a:pPr algn="r">
              <a:buNone/>
              <a:defRPr sz="9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MAIN 1 OF 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2BDAD7D-59A8-4387-BE1A-F8EE72C1877E}"/>
              </a:ext>
            </a:extLst>
          </p:cNvPr>
          <p:cNvSpPr>
            <a:spLocks noGrp="1"/>
          </p:cNvSpPr>
          <p:nvPr/>
        </p:nvSpPr>
        <p:spPr>
          <a:xfrm>
            <a:off x="0" y="590550"/>
            <a:ext cx="12192000" cy="323850"/>
          </a:xfrm>
          <a:prstGeom prst="rect">
            <a:avLst/>
          </a:prstGeom>
          <a:solidFill>
            <a:srgbClr val="DCEAF7"/>
          </a:solidFill>
          <a:ln w="9525">
            <a:solidFill>
              <a:srgbClr val="AEB8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CDAC348-6E11-480C-A6C7-2AFE547F0468}"/>
              </a:ext>
            </a:extLst>
          </p:cNvPr>
          <p:cNvSpPr>
            <a:spLocks noGrp="1"/>
          </p:cNvSpPr>
          <p:nvPr/>
        </p:nvSpPr>
        <p:spPr>
          <a:xfrm>
            <a:off x="266700" y="609600"/>
            <a:ext cx="116586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28575" rIns="57150" bIns="28575" anchor="ctr">
            <a:normAutofit/>
          </a:bodyPr>
          <a:lstStyle/>
          <a:p>
            <a:pPr algn="l">
              <a:buNone/>
              <a:defRPr sz="1200" b="1">
                <a:solidFill>
                  <a:srgbClr val="24364B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24364B"/>
                </a:solidFill>
                <a:latin typeface="Segoe UI"/>
                <a:ea typeface="Segoe UI"/>
                <a:cs typeface="Segoe UI"/>
              </a:rPr>
              <a:t>The project verifies the Tessent/circuit flow, signal behavior, and reusable automation with traceable evidence.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8C8C0CE-0455-4DAA-9DA0-7563C3B227F6}"/>
              </a:ext>
            </a:extLst>
          </p:cNvPr>
          <p:cNvSpPr>
            <a:spLocks noGrp="1"/>
          </p:cNvSpPr>
          <p:nvPr/>
        </p:nvSpPr>
        <p:spPr>
          <a:xfrm>
            <a:off x="266700" y="1009650"/>
            <a:ext cx="5524500" cy="304800"/>
          </a:xfrm>
          <a:prstGeom prst="rect">
            <a:avLst/>
          </a:prstGeom>
          <a:solidFill>
            <a:srgbClr val="314A67"/>
          </a:solidFill>
          <a:ln w="9525">
            <a:solidFill>
              <a:srgbClr val="6B778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5C382A9-70A5-4F4D-BA6A-97B8C35099F8}"/>
              </a:ext>
            </a:extLst>
          </p:cNvPr>
          <p:cNvSpPr>
            <a:spLocks noGrp="1"/>
          </p:cNvSpPr>
          <p:nvPr/>
        </p:nvSpPr>
        <p:spPr>
          <a:xfrm>
            <a:off x="352425" y="1019175"/>
            <a:ext cx="53530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KEY RESULTS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3BB34F6-92A9-4C1D-BF46-4660020788C1}"/>
              </a:ext>
            </a:extLst>
          </p:cNvPr>
          <p:cNvSpPr>
            <a:spLocks noGrp="1"/>
          </p:cNvSpPr>
          <p:nvPr/>
        </p:nvSpPr>
        <p:spPr>
          <a:xfrm>
            <a:off x="5905500" y="1009650"/>
            <a:ext cx="6019800" cy="304800"/>
          </a:xfrm>
          <a:prstGeom prst="rect">
            <a:avLst/>
          </a:prstGeom>
          <a:solidFill>
            <a:srgbClr val="314A67"/>
          </a:solidFill>
          <a:ln w="9525">
            <a:solidFill>
              <a:srgbClr val="6B778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39832D3-C9EF-4873-8725-17C429BF129E}"/>
              </a:ext>
            </a:extLst>
          </p:cNvPr>
          <p:cNvSpPr>
            <a:spLocks noGrp="1"/>
          </p:cNvSpPr>
          <p:nvPr/>
        </p:nvSpPr>
        <p:spPr>
          <a:xfrm>
            <a:off x="5991225" y="1019175"/>
            <a:ext cx="58483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28575" rIns="57150" bIns="28575" anchor="ctr">
            <a:normAutofit/>
          </a:bodyPr>
          <a:lstStyle/>
          <a:p>
            <a:pPr algn="l">
              <a:buNone/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THREE VERIFIED RESULTS</a:t>
            </a:r>
          </a:p>
        </p:txBody>
      </p:sp>
      <p:graphicFrame>
        <p:nvGraphicFramePr>
          <p:cNvPr id="41" name="表格 40"/>
          <p:cNvGraphicFramePr/>
          <p:nvPr/>
        </p:nvGraphicFramePr>
        <p:xfrm>
          <a:off x="5905500" y="1314450"/>
          <a:ext cx="6019800" cy="4857750"/>
        </p:xfrm>
        <a:graphic>
          <a:graphicData uri="http://schemas.openxmlformats.org/drawingml/2006/table">
            <a:tbl>
              <a:tblPr/>
              <a:tblGrid>
                <a:gridCol w="41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0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9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90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47625" marR="47625" marT="28575" marB="28575" anchor="ctr">
                    <a:solidFill>
                      <a:srgbClr val="314A6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</a:t>
                      </a:r>
                    </a:p>
                  </a:txBody>
                  <a:tcPr marL="47625" marR="47625" marT="28575" marB="28575" anchor="ctr">
                    <a:solidFill>
                      <a:srgbClr val="314A6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Verified scope</a:t>
                      </a:r>
                    </a:p>
                  </a:txBody>
                  <a:tcPr marL="47625" marR="47625" marT="28575" marB="28575" anchor="ctr">
                    <a:solidFill>
                      <a:srgbClr val="314A6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47625" marR="47625" marT="28575" marB="28575" anchor="ctr">
                    <a:solidFill>
                      <a:srgbClr val="314A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57150" marR="57150" marT="28575" marB="28575" anchor="ctr">
                    <a:solidFill>
                      <a:srgbClr val="DDEFE3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Flow &amp; circuit</a:t>
                      </a:r>
                    </a:p>
                  </a:txBody>
                  <a:tcPr marL="57150" marR="57150" marT="28575" marB="28575" anchor="ctr"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• Inserted RTL, ICL, PDL, SDC, and import.tcl</a:t>
                      </a:r>
                    </a:p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• Correct PDL vectors and simulation patterns</a:t>
                      </a:r>
                    </a:p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• Preserved netlist.vg, clean timing reports, and RTL/GLS consistency</a:t>
                      </a:r>
                    </a:p>
                  </a:txBody>
                  <a:tcPr marL="57150" marR="57150" marT="28575" marB="28575" anchor="ctr"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• Insertion / ICL reports</a:t>
                      </a:r>
                    </a:p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• Pattern and waveform evidence</a:t>
                      </a:r>
                    </a:p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• Synthesis / timing / GLS reports</a:t>
                      </a:r>
                    </a:p>
                  </a:txBody>
                  <a:tcPr marL="57150" marR="57150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57150" marR="57150" marT="28575" marB="28575" anchor="ctr">
                    <a:solidFill>
                      <a:srgbClr val="F3F5F7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Config input</a:t>
                      </a:r>
                    </a:p>
                  </a:txBody>
                  <a:tcPr marL="57150" marR="57150" marT="28575" marB="28575" anchor="ctr">
                    <a:solidFill>
                      <a:srgbClr val="F3F5F7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Basic and team-scale configs prepared</a:t>
                      </a:r>
                    </a:p>
                  </a:txBody>
                  <a:tcPr marL="57150" marR="57150" marT="28575" marB="28575" anchor="ctr">
                    <a:solidFill>
                      <a:srgbClr val="F3F5F7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CSV / Tcl config</a:t>
                      </a:r>
                    </a:p>
                  </a:txBody>
                  <a:tcPr marL="57150" marR="57150" marT="28575" marB="28575" anchor="ctr"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57150" marR="57150" marT="28575" marB="28575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IJTAG insertion</a:t>
                      </a:r>
                    </a:p>
                  </a:txBody>
                  <a:tcPr marL="57150" marR="57150" marT="28575" marB="28575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Host IJTAG, SIB, and TDR inserted</a:t>
                      </a:r>
                    </a:p>
                  </a:txBody>
                  <a:tcPr marL="57150" marR="57150" marT="28575" marB="28575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Insertion log / RTL</a:t>
                      </a:r>
                    </a:p>
                  </a:txBody>
                  <a:tcPr marL="57150" marR="57150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57150" marR="57150" marT="28575" marB="28575" anchor="ctr">
                    <a:solidFill>
                      <a:srgbClr val="DDEFE3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Signal behavior</a:t>
                      </a:r>
                    </a:p>
                  </a:txBody>
                  <a:tcPr marL="57150" marR="57150" marT="28575" marB="28575" anchor="ctr">
                    <a:solidFill>
                      <a:srgbClr val="F3F5F7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• Single-die HostIJTAG path and PDL I/O</a:t>
                      </a:r>
                    </a:p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• Single-die PTAP-to-HostSTAP control signals</a:t>
                      </a:r>
                    </a:p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• Stack-level selected-die path and retargeted PDL I/O</a:t>
                      </a:r>
                    </a:p>
                  </a:txBody>
                  <a:tcPr marL="57150" marR="57150" marT="28575" marB="28575" anchor="ctr">
                    <a:solidFill>
                      <a:srgbClr val="F3F5F7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• Local waveform</a:t>
                      </a:r>
                    </a:p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• STAP waveform</a:t>
                      </a:r>
                    </a:p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• Retargeted PDL and stack waveform</a:t>
                      </a:r>
                    </a:p>
                  </a:txBody>
                  <a:tcPr marL="57150" marR="57150" marT="28575" marB="28575" anchor="ctr"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5300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57150" marR="57150" marT="28575" marB="28575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ICL / PDL generation</a:t>
                      </a:r>
                    </a:p>
                  </a:txBody>
                  <a:tcPr marL="57150" marR="57150" marT="28575" marB="28575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Models and procedures generated</a:t>
                      </a:r>
                    </a:p>
                  </a:txBody>
                  <a:tcPr marL="57150" marR="57150" marT="28575" marB="28575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ICL / PDL files</a:t>
                      </a:r>
                    </a:p>
                  </a:txBody>
                  <a:tcPr marL="57150" marR="57150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5300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57150" marR="57150" marT="28575" marB="28575" anchor="ctr">
                    <a:solidFill>
                      <a:srgbClr val="F3F5F7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Pattern retargeting</a:t>
                      </a:r>
                    </a:p>
                  </a:txBody>
                  <a:tcPr marL="57150" marR="57150" marT="28575" marB="28575" anchor="ctr">
                    <a:solidFill>
                      <a:srgbClr val="F3F5F7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Target-specific patterns generated</a:t>
                      </a:r>
                    </a:p>
                  </a:txBody>
                  <a:tcPr marL="57150" marR="57150" marT="28575" marB="28575" anchor="ctr">
                    <a:solidFill>
                      <a:srgbClr val="F3F5F7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Retarget report</a:t>
                      </a:r>
                    </a:p>
                  </a:txBody>
                  <a:tcPr marL="57150" marR="57150" marT="28575" marB="28575" anchor="ctr"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5300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57150" marR="57150" marT="28575" marB="28575" anchor="ctr">
                    <a:solidFill>
                      <a:srgbClr val="DDEFE3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Automation</a:t>
                      </a:r>
                    </a:p>
                  </a:txBody>
                  <a:tcPr marL="57150" marR="57150" marT="28575" marB="28575" anchor="ctr"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• Basic-die and team-scale-die execution</a:t>
                      </a:r>
                    </a:p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• Configuration response and repeatability</a:t>
                      </a:r>
                    </a:p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• Consolidated reports and handoff artifacts</a:t>
                      </a:r>
                    </a:p>
                  </a:txBody>
                  <a:tcPr marL="57150" marR="57150" marT="28575" marB="28575" anchor="ctr"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• Run log and config diff</a:t>
                      </a:r>
                    </a:p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• Output / report comparison</a:t>
                      </a:r>
                    </a:p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• HTML report and artifact inventory</a:t>
                      </a:r>
                    </a:p>
                  </a:txBody>
                  <a:tcPr marL="57150" marR="57150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5300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57150" marR="57150" marT="28575" marB="28575" anchor="ctr">
                    <a:solidFill>
                      <a:srgbClr val="F3F5F7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Synthesis / GLS</a:t>
                      </a:r>
                    </a:p>
                  </a:txBody>
                  <a:tcPr marL="57150" marR="57150" marT="28575" marB="28575" anchor="ctr">
                    <a:solidFill>
                      <a:srgbClr val="F3F5F7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Inserted access path preserved</a:t>
                      </a:r>
                    </a:p>
                  </a:txBody>
                  <a:tcPr marL="57150" marR="57150" marT="28575" marB="28575" anchor="ctr">
                    <a:solidFill>
                      <a:srgbClr val="F3F5F7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Netlist / GLS log</a:t>
                      </a:r>
                    </a:p>
                  </a:txBody>
                  <a:tcPr marL="57150" marR="57150" marT="28575" marB="28575" anchor="ctr"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5300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57150" marR="57150" marT="28575" marB="28575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Automation report</a:t>
                      </a:r>
                    </a:p>
                  </a:txBody>
                  <a:tcPr marL="57150" marR="57150" marT="28575" marB="28575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Execution summary and inventory generated</a:t>
                      </a:r>
                    </a:p>
                  </a:txBody>
                  <a:tcPr marL="57150" marR="57150" marT="28575" marB="28575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HTML / report diff</a:t>
                      </a:r>
                    </a:p>
                  </a:txBody>
                  <a:tcPr marL="57150" marR="57150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778E3C05-312E-4060-AB68-598A35960710}"/>
              </a:ext>
            </a:extLst>
          </p:cNvPr>
          <p:cNvSpPr>
            <a:spLocks noGrp="1"/>
          </p:cNvSpPr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24364B"/>
          </a:solidFill>
          <a:ln w="0">
            <a:solidFill>
              <a:srgbClr val="2436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E007759-11D8-4E78-A622-68CD68724EA0}"/>
              </a:ext>
            </a:extLst>
          </p:cNvPr>
          <p:cNvSpPr>
            <a:spLocks noGrp="1"/>
          </p:cNvSpPr>
          <p:nvPr/>
        </p:nvSpPr>
        <p:spPr>
          <a:xfrm>
            <a:off x="266700" y="6591300"/>
            <a:ext cx="99060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28575" rIns="57150" bIns="28575" anchor="ctr">
            <a:normAutofit fontScale="88542"/>
          </a:bodyPr>
          <a:lstStyle/>
          <a:p>
            <a:pPr algn="l">
              <a:buNone/>
              <a:defRPr sz="12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Project value is summarized on the left; the three result categories are verified on the right.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E116673-AF9C-4F7A-B88E-BBDE68DF0009}"/>
              </a:ext>
            </a:extLst>
          </p:cNvPr>
          <p:cNvSpPr>
            <a:spLocks noGrp="1"/>
          </p:cNvSpPr>
          <p:nvPr/>
        </p:nvSpPr>
        <p:spPr>
          <a:xfrm>
            <a:off x="11334750" y="6591300"/>
            <a:ext cx="5524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28575" rIns="57150" bIns="28575" anchor="ctr">
            <a:normAutofit fontScale="88542"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20" name="Project purpose heading">
            <a:extLst>
              <a:ext uri="{FF2B5EF4-FFF2-40B4-BE49-F238E27FC236}">
                <a16:creationId xmlns:a16="http://schemas.microsoft.com/office/drawing/2014/main" id="{BED12493-E130-4F69-B5CA-717DF319C6D8}"/>
              </a:ext>
            </a:extLst>
          </p:cNvPr>
          <p:cNvSpPr>
            <a:spLocks noGrp="1"/>
          </p:cNvSpPr>
          <p:nvPr/>
        </p:nvSpPr>
        <p:spPr>
          <a:xfrm>
            <a:off x="323850" y="14287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28575" rIns="57150" bIns="28575" anchor="ctr">
            <a:normAutofit fontScale="96491"/>
          </a:bodyPr>
          <a:lstStyle/>
          <a:p>
            <a:pPr algn="l">
              <a:buNone/>
              <a:defRPr sz="1425" b="1">
                <a:solidFill>
                  <a:srgbClr val="1E6AA8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E6AA8"/>
                </a:solidFill>
                <a:latin typeface="Segoe UI"/>
                <a:ea typeface="Segoe UI"/>
                <a:cs typeface="Segoe UI"/>
              </a:rPr>
              <a:t>PROJECT PURPOSE</a:t>
            </a:r>
          </a:p>
        </p:txBody>
      </p:sp>
      <p:sp>
        <p:nvSpPr>
          <p:cNvPr id="21" name="Project purpose narrative">
            <a:extLst>
              <a:ext uri="{FF2B5EF4-FFF2-40B4-BE49-F238E27FC236}">
                <a16:creationId xmlns:a16="http://schemas.microsoft.com/office/drawing/2014/main" id="{47A1280E-2095-4936-A7B0-C5FBDD28CFD2}"/>
              </a:ext>
            </a:extLst>
          </p:cNvPr>
          <p:cNvSpPr>
            <a:spLocks noGrp="1"/>
          </p:cNvSpPr>
          <p:nvPr/>
        </p:nvSpPr>
        <p:spPr>
          <a:xfrm>
            <a:off x="323850" y="1695450"/>
            <a:ext cx="53149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28575" rIns="57150" bIns="28575" anchor="t">
            <a:normAutofit fontScale="87719"/>
          </a:bodyPr>
          <a:lstStyle/>
          <a:p>
            <a:pPr algn="l">
              <a:buNone/>
              <a:defRPr sz="1425" b="0">
                <a:solidFill>
                  <a:srgbClr val="17212B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7212B"/>
                </a:solidFill>
                <a:latin typeface="Segoe UI"/>
                <a:ea typeface="Segoe UI"/>
                <a:cs typeface="Segoe UI"/>
              </a:rPr>
              <a:t>Build one reusable frontend flow that connects IEEE 1687 instrument access through an IEEE 1838 die hierarchy—from Tessent insertion to synthesis, GLS, and automated reporting.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83EE2F7-02B4-4AC4-B955-2E69C4509342}"/>
              </a:ext>
            </a:extLst>
          </p:cNvPr>
          <p:cNvSpPr>
            <a:spLocks noGrp="1"/>
          </p:cNvSpPr>
          <p:nvPr/>
        </p:nvSpPr>
        <p:spPr>
          <a:xfrm>
            <a:off x="323850" y="2400300"/>
            <a:ext cx="5314950" cy="9525"/>
          </a:xfrm>
          <a:prstGeom prst="rect">
            <a:avLst/>
          </a:prstGeom>
          <a:solidFill>
            <a:srgbClr val="AEB8C2"/>
          </a:solidFill>
          <a:ln w="0">
            <a:solidFill>
              <a:srgbClr val="AEB8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Key result heading">
            <a:extLst>
              <a:ext uri="{FF2B5EF4-FFF2-40B4-BE49-F238E27FC236}">
                <a16:creationId xmlns:a16="http://schemas.microsoft.com/office/drawing/2014/main" id="{01CD3103-98B0-42C6-BC09-4F1955094CBF}"/>
              </a:ext>
            </a:extLst>
          </p:cNvPr>
          <p:cNvSpPr>
            <a:spLocks noGrp="1"/>
          </p:cNvSpPr>
          <p:nvPr/>
        </p:nvSpPr>
        <p:spPr>
          <a:xfrm>
            <a:off x="323850" y="25146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28575" rIns="57150" bIns="28575" anchor="ctr">
            <a:normAutofit fontScale="96491"/>
          </a:bodyPr>
          <a:lstStyle/>
          <a:p>
            <a:pPr algn="l">
              <a:buNone/>
              <a:defRPr sz="1425" b="1">
                <a:solidFill>
                  <a:srgbClr val="1E6AA8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E6AA8"/>
                </a:solidFill>
                <a:latin typeface="Segoe UI"/>
                <a:ea typeface="Segoe UI"/>
                <a:cs typeface="Segoe UI"/>
              </a:rPr>
              <a:t>KEY RESULTS</a:t>
            </a:r>
          </a:p>
        </p:txBody>
      </p:sp>
      <p:sp>
        <p:nvSpPr>
          <p:cNvPr id="24" name="Key result narrative">
            <a:extLst>
              <a:ext uri="{FF2B5EF4-FFF2-40B4-BE49-F238E27FC236}">
                <a16:creationId xmlns:a16="http://schemas.microsoft.com/office/drawing/2014/main" id="{8EA7AAE1-E8B2-45EA-B48F-B23D1D33CA33}"/>
              </a:ext>
            </a:extLst>
          </p:cNvPr>
          <p:cNvSpPr>
            <a:spLocks noGrp="1"/>
          </p:cNvSpPr>
          <p:nvPr/>
        </p:nvSpPr>
        <p:spPr>
          <a:xfrm>
            <a:off x="323850" y="2819400"/>
            <a:ext cx="53149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76200" bIns="38100" anchor="t">
            <a:normAutofit/>
          </a:bodyPr>
          <a:lstStyle/>
          <a:p>
            <a:pPr marL="20" indent="-12">
              <a:spcAft>
                <a:spcPts val="10"/>
              </a:spcAft>
              <a:buChar char="•"/>
              <a:defRPr sz="1275">
                <a:solidFill>
                  <a:srgbClr val="17212B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7212B"/>
                </a:solidFill>
                <a:latin typeface="Segoe UI"/>
                <a:ea typeface="Segoe UI"/>
                <a:cs typeface="Segoe UI"/>
              </a:rPr>
              <a:t>FLOW &amp; CIRCUIT VERIFIED</a:t>
            </a:r>
            <a:r>
              <a:rPr sz="1275">
                <a:solidFill>
                  <a:srgbClr val="17212B"/>
                </a:solidFill>
                <a:latin typeface="Segoe UI"/>
                <a:ea typeface="Segoe UI"/>
                <a:cs typeface="Segoe UI"/>
              </a:rPr>
              <a:t> — complete Tessent outputs, PDL patterns, synthesized netlist, timing reports, and RTL/GLS behavior were verified.</a:t>
            </a:r>
          </a:p>
          <a:p>
            <a:pPr marL="20" indent="-12">
              <a:spcAft>
                <a:spcPts val="10"/>
              </a:spcAft>
              <a:buChar char="•"/>
              <a:defRPr sz="1275">
                <a:solidFill>
                  <a:srgbClr val="17212B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7212B"/>
                </a:solidFill>
                <a:latin typeface="Segoe UI"/>
                <a:ea typeface="Segoe UI"/>
                <a:cs typeface="Segoe UI"/>
              </a:rPr>
              <a:t>SIGNAL BEHAVIOR VERIFIED</a:t>
            </a:r>
            <a:r>
              <a:rPr sz="1275">
                <a:solidFill>
                  <a:srgbClr val="17212B"/>
                </a:solidFill>
                <a:latin typeface="Segoe UI"/>
                <a:ea typeface="Segoe UI"/>
                <a:cs typeface="Segoe UI"/>
              </a:rPr>
              <a:t> — two parallel single-die tests and one stack-level test confirmed the intended paths and control behavior.</a:t>
            </a:r>
          </a:p>
          <a:p>
            <a:pPr marL="20" indent="-12">
              <a:buChar char="•"/>
              <a:defRPr sz="1275">
                <a:solidFill>
                  <a:srgbClr val="17212B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7212B"/>
                </a:solidFill>
                <a:latin typeface="Segoe UI"/>
                <a:ea typeface="Segoe UI"/>
                <a:cs typeface="Segoe UI"/>
              </a:rPr>
              <a:t>AUTOMATION VERIFIED</a:t>
            </a:r>
            <a:r>
              <a:rPr sz="1275">
                <a:solidFill>
                  <a:srgbClr val="17212B"/>
                </a:solidFill>
                <a:latin typeface="Segoe UI"/>
                <a:ea typeface="Segoe UI"/>
                <a:cs typeface="Segoe UI"/>
              </a:rPr>
              <a:t> — the configuration-driven procedure supports design changes, repeatable runs, consolidated reports, and project handoff.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23A84CB-F388-46C3-B7A2-89CAADEB4068}"/>
              </a:ext>
            </a:extLst>
          </p:cNvPr>
          <p:cNvSpPr>
            <a:spLocks noGrp="1"/>
          </p:cNvSpPr>
          <p:nvPr/>
        </p:nvSpPr>
        <p:spPr>
          <a:xfrm>
            <a:off x="323850" y="4905375"/>
            <a:ext cx="5314950" cy="9525"/>
          </a:xfrm>
          <a:prstGeom prst="rect">
            <a:avLst/>
          </a:prstGeom>
          <a:solidFill>
            <a:srgbClr val="AEB8C2"/>
          </a:solidFill>
          <a:ln w="0">
            <a:solidFill>
              <a:srgbClr val="AEB8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Engineering value heading">
            <a:extLst>
              <a:ext uri="{FF2B5EF4-FFF2-40B4-BE49-F238E27FC236}">
                <a16:creationId xmlns:a16="http://schemas.microsoft.com/office/drawing/2014/main" id="{5D3DD6D6-BC9A-4CFA-803D-1F682ADAC7FC}"/>
              </a:ext>
            </a:extLst>
          </p:cNvPr>
          <p:cNvSpPr>
            <a:spLocks noGrp="1"/>
          </p:cNvSpPr>
          <p:nvPr/>
        </p:nvSpPr>
        <p:spPr>
          <a:xfrm>
            <a:off x="323850" y="5019675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28575" rIns="57150" bIns="28575" anchor="ctr">
            <a:normAutofit fontScale="96491"/>
          </a:bodyPr>
          <a:lstStyle/>
          <a:p>
            <a:pPr algn="l">
              <a:buNone/>
              <a:defRPr sz="1425" b="1">
                <a:solidFill>
                  <a:srgbClr val="1E6AA8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E6AA8"/>
                </a:solidFill>
                <a:latin typeface="Segoe UI"/>
                <a:ea typeface="Segoe UI"/>
                <a:cs typeface="Segoe UI"/>
              </a:rPr>
              <a:t>ENGINEERING VALUE</a:t>
            </a:r>
          </a:p>
        </p:txBody>
      </p:sp>
      <p:sp>
        <p:nvSpPr>
          <p:cNvPr id="27" name="Engineering value narrative">
            <a:extLst>
              <a:ext uri="{FF2B5EF4-FFF2-40B4-BE49-F238E27FC236}">
                <a16:creationId xmlns:a16="http://schemas.microsoft.com/office/drawing/2014/main" id="{0C2F5C2F-CAFC-4355-9B68-CDA2A85A1968}"/>
              </a:ext>
            </a:extLst>
          </p:cNvPr>
          <p:cNvSpPr>
            <a:spLocks noGrp="1"/>
          </p:cNvSpPr>
          <p:nvPr/>
        </p:nvSpPr>
        <p:spPr>
          <a:xfrm>
            <a:off x="323850" y="5295900"/>
            <a:ext cx="53149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28575" rIns="57150" bIns="28575" anchor="t">
            <a:normAutofit/>
          </a:bodyPr>
          <a:lstStyle/>
          <a:p>
            <a:pPr algn="l">
              <a:buNone/>
              <a:defRPr sz="1350" b="0">
                <a:solidFill>
                  <a:srgbClr val="17212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7212B"/>
                </a:solidFill>
                <a:latin typeface="Segoe UI"/>
                <a:ea typeface="Segoe UI"/>
                <a:cs typeface="Segoe UI"/>
              </a:rPr>
              <a:t>Less repeated setup, faster migration across design hierarchies, and evidence that is easier to review and hand off.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C35DBDD-4F95-4785-A246-1ED2AD00F14E}"/>
              </a:ext>
            </a:extLst>
          </p:cNvPr>
          <p:cNvSpPr>
            <a:spLocks noGrp="1"/>
          </p:cNvSpPr>
          <p:nvPr/>
        </p:nvSpPr>
        <p:spPr>
          <a:xfrm>
            <a:off x="323850" y="5905500"/>
            <a:ext cx="5314950" cy="285750"/>
          </a:xfrm>
          <a:prstGeom prst="rect">
            <a:avLst/>
          </a:prstGeom>
          <a:solidFill>
            <a:srgbClr val="FFF1A8"/>
          </a:solidFill>
          <a:ln w="9525">
            <a:solidFill>
              <a:srgbClr val="D3B54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Value summary">
            <a:extLst>
              <a:ext uri="{FF2B5EF4-FFF2-40B4-BE49-F238E27FC236}">
                <a16:creationId xmlns:a16="http://schemas.microsoft.com/office/drawing/2014/main" id="{B691FBD6-07FA-418A-AF0D-6B0C4E5A6F89}"/>
              </a:ext>
            </a:extLst>
          </p:cNvPr>
          <p:cNvSpPr>
            <a:spLocks noGrp="1"/>
          </p:cNvSpPr>
          <p:nvPr/>
        </p:nvSpPr>
        <p:spPr>
          <a:xfrm>
            <a:off x="381000" y="5915025"/>
            <a:ext cx="5200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28575" rIns="57150" bIns="28575" anchor="ctr">
            <a:normAutofit/>
          </a:bodyPr>
          <a:lstStyle/>
          <a:p>
            <a:pPr algn="ctr">
              <a:buNone/>
              <a:defRPr sz="1125" b="1">
                <a:solidFill>
                  <a:srgbClr val="24364B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24364B"/>
                </a:solidFill>
                <a:latin typeface="Segoe UI"/>
                <a:ea typeface="Segoe UI"/>
                <a:cs typeface="Segoe UI"/>
              </a:rPr>
              <a:t>REUSABLE FLOW  •  FASTER MIGRATION  •  TRACEABLE EVIDENCE</a:t>
            </a:r>
          </a:p>
        </p:txBody>
      </p:sp>
    </p:spTree>
    <p:extLst>
      <p:ext uri="{BB962C8B-B14F-4D97-AF65-F5344CB8AC3E}">
        <p14:creationId xmlns:p14="http://schemas.microsoft.com/office/powerpoint/2010/main" val="1682127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38650895-CA69-4C3A-8476-16DCD56DC8A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90550"/>
          </a:xfrm>
          <a:prstGeom prst="rect">
            <a:avLst/>
          </a:prstGeom>
          <a:solidFill>
            <a:srgbClr val="24364B"/>
          </a:solidFill>
          <a:ln w="0">
            <a:solidFill>
              <a:srgbClr val="2436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F5735B7-6716-49F3-95DD-2A8088DE4E26}"/>
              </a:ext>
            </a:extLst>
          </p:cNvPr>
          <p:cNvSpPr>
            <a:spLocks noGrp="1"/>
          </p:cNvSpPr>
          <p:nvPr/>
        </p:nvSpPr>
        <p:spPr>
          <a:xfrm>
            <a:off x="266700" y="47625"/>
            <a:ext cx="9144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28575" rIns="57150" bIns="28575" anchor="ctr">
            <a:normAutofit/>
          </a:bodyPr>
          <a:lstStyle/>
          <a:p>
            <a:pPr algn="l">
              <a:buNone/>
              <a:defRPr sz="2625" b="1">
                <a:solidFill>
                  <a:srgbClr val="FFFFFF"/>
                </a:solidFill>
                <a:latin typeface="Segoe UI Black"/>
                <a:ea typeface="Segoe UI Black"/>
                <a:cs typeface="Segoe UI Black"/>
              </a:defRPr>
            </a:pPr>
            <a:r>
              <a:rPr sz="2625" b="1">
                <a:solidFill>
                  <a:srgbClr val="FFFFFF"/>
                </a:solidFill>
                <a:latin typeface="Segoe UI Black"/>
                <a:ea typeface="Segoe UI Black"/>
                <a:cs typeface="Segoe UI Black"/>
              </a:rPr>
              <a:t>RESULT 1 — TESSENT FLOW &amp; CIRCUIT INTEGRITY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EA714AF-A5A5-43D7-9ECA-1A0AC0A903F7}"/>
              </a:ext>
            </a:extLst>
          </p:cNvPr>
          <p:cNvSpPr>
            <a:spLocks noGrp="1"/>
          </p:cNvSpPr>
          <p:nvPr/>
        </p:nvSpPr>
        <p:spPr>
          <a:xfrm>
            <a:off x="9525000" y="66675"/>
            <a:ext cx="2362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28575" rIns="57150" bIns="28575" anchor="ctr">
            <a:normAutofit fontScale="83333"/>
          </a:bodyPr>
          <a:lstStyle/>
          <a:p>
            <a:pPr algn="r">
              <a:buNone/>
              <a:defRPr sz="1200" b="1">
                <a:solidFill>
                  <a:srgbClr val="C9D7E5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C9D7E5"/>
                </a:solidFill>
                <a:latin typeface="Segoe UI"/>
                <a:ea typeface="Segoe UI"/>
                <a:cs typeface="Segoe UI"/>
              </a:rPr>
              <a:t>FLOW / STRUCTURE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4AA3722-A179-47F6-8334-19599387EEC0}"/>
              </a:ext>
            </a:extLst>
          </p:cNvPr>
          <p:cNvSpPr>
            <a:spLocks noGrp="1"/>
          </p:cNvSpPr>
          <p:nvPr/>
        </p:nvSpPr>
        <p:spPr>
          <a:xfrm>
            <a:off x="9525000" y="285750"/>
            <a:ext cx="2362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28575" rIns="57150" bIns="28575" anchor="ctr">
            <a:normAutofit/>
          </a:bodyPr>
          <a:lstStyle/>
          <a:p>
            <a:pPr algn="r">
              <a:buNone/>
              <a:defRPr sz="9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MAIN 2 OF 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B063AD3-71F3-431F-BD48-F30BB4992A0E}"/>
              </a:ext>
            </a:extLst>
          </p:cNvPr>
          <p:cNvSpPr>
            <a:spLocks noGrp="1"/>
          </p:cNvSpPr>
          <p:nvPr/>
        </p:nvSpPr>
        <p:spPr>
          <a:xfrm>
            <a:off x="0" y="590550"/>
            <a:ext cx="12192000" cy="323850"/>
          </a:xfrm>
          <a:prstGeom prst="rect">
            <a:avLst/>
          </a:prstGeom>
          <a:solidFill>
            <a:srgbClr val="DCEAF7"/>
          </a:solidFill>
          <a:ln w="9525">
            <a:solidFill>
              <a:srgbClr val="AEB8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18AA0C7-C274-453C-9FFA-B6C1D6A532EC}"/>
              </a:ext>
            </a:extLst>
          </p:cNvPr>
          <p:cNvSpPr>
            <a:spLocks noGrp="1"/>
          </p:cNvSpPr>
          <p:nvPr/>
        </p:nvSpPr>
        <p:spPr>
          <a:xfrm>
            <a:off x="266700" y="609600"/>
            <a:ext cx="116586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28575" rIns="57150" bIns="28575" anchor="ctr">
            <a:normAutofit/>
          </a:bodyPr>
          <a:lstStyle/>
          <a:p>
            <a:pPr algn="l">
              <a:buNone/>
              <a:defRPr sz="1200" b="1">
                <a:solidFill>
                  <a:srgbClr val="24364B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24364B"/>
                </a:solidFill>
                <a:latin typeface="Segoe UI"/>
                <a:ea typeface="Segoe UI"/>
                <a:cs typeface="Segoe UI"/>
              </a:rPr>
              <a:t>The Tessent access flow and inserted circuitry were verified from DFT insertion and synthesis handoff through gate-level simulation.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C59E84B-D652-496A-A98F-868E4623D468}"/>
              </a:ext>
            </a:extLst>
          </p:cNvPr>
          <p:cNvSpPr>
            <a:spLocks noGrp="1"/>
          </p:cNvSpPr>
          <p:nvPr/>
        </p:nvSpPr>
        <p:spPr>
          <a:xfrm>
            <a:off x="266700" y="4953000"/>
            <a:ext cx="11658600" cy="304800"/>
          </a:xfrm>
          <a:prstGeom prst="rect">
            <a:avLst/>
          </a:prstGeom>
          <a:solidFill>
            <a:srgbClr val="314A67"/>
          </a:solidFill>
          <a:ln w="9525">
            <a:solidFill>
              <a:srgbClr val="6B778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68EFF31-938F-4644-9C35-97922C8EE85C}"/>
              </a:ext>
            </a:extLst>
          </p:cNvPr>
          <p:cNvSpPr>
            <a:spLocks noGrp="1"/>
          </p:cNvSpPr>
          <p:nvPr/>
        </p:nvSpPr>
        <p:spPr>
          <a:xfrm>
            <a:off x="352425" y="4962525"/>
            <a:ext cx="114871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28575" rIns="57150" bIns="28575" anchor="ctr">
            <a:normAutofit/>
          </a:bodyPr>
          <a:lstStyle/>
          <a:p>
            <a:pPr algn="l">
              <a:buNone/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VERIFICATION RESULT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00728B7-6548-4B06-8EED-25FEC2174225}"/>
              </a:ext>
            </a:extLst>
          </p:cNvPr>
          <p:cNvSpPr>
            <a:spLocks noGrp="1"/>
          </p:cNvSpPr>
          <p:nvPr/>
        </p:nvSpPr>
        <p:spPr>
          <a:xfrm>
            <a:off x="266700" y="5257800"/>
            <a:ext cx="11658600" cy="819150"/>
          </a:xfrm>
          <a:prstGeom prst="rect">
            <a:avLst/>
          </a:prstGeom>
          <a:solidFill>
            <a:srgbClr val="E6E9ED"/>
          </a:solidFill>
          <a:ln w="9525">
            <a:solidFill>
              <a:srgbClr val="6B778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6B3DC5B-F106-42B0-81D4-A2E21D5A0CA8}"/>
              </a:ext>
            </a:extLst>
          </p:cNvPr>
          <p:cNvSpPr>
            <a:spLocks noGrp="1"/>
          </p:cNvSpPr>
          <p:nvPr/>
        </p:nvSpPr>
        <p:spPr>
          <a:xfrm>
            <a:off x="457200" y="5314950"/>
            <a:ext cx="112776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28575" rIns="57150" bIns="28575" anchor="ctr">
            <a:normAutofit/>
          </a:bodyPr>
          <a:lstStyle/>
          <a:p>
            <a:pPr algn="ctr">
              <a:buNone/>
              <a:defRPr sz="1425" b="1">
                <a:solidFill>
                  <a:srgbClr val="176338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76338"/>
                </a:solidFill>
                <a:latin typeface="Segoe UI"/>
                <a:ea typeface="Segoe UI"/>
                <a:cs typeface="Segoe UI"/>
              </a:rPr>
              <a:t>PASS — Complete evidence chain confirmed</a:t>
            </a:r>
          </a:p>
          <a:p>
            <a:pPr algn="ctr">
              <a:buNone/>
              <a:defRPr sz="1425" b="1">
                <a:solidFill>
                  <a:srgbClr val="176338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76338"/>
                </a:solidFill>
                <a:latin typeface="Segoe UI"/>
                <a:ea typeface="Segoe UI"/>
                <a:cs typeface="Segoe UI"/>
              </a:rPr>
              <a:t>Tessent deliverables, PDL/pattern execution, netlist/timing integrity, and RTL-to-gate consistency were verified.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F2323AC-8CC2-45F3-94EA-C22008AA5FB6}"/>
              </a:ext>
            </a:extLst>
          </p:cNvPr>
          <p:cNvSpPr>
            <a:spLocks noGrp="1"/>
          </p:cNvSpPr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24364B"/>
          </a:solidFill>
          <a:ln w="0">
            <a:solidFill>
              <a:srgbClr val="2436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8A4A56A-8D5A-4E85-A769-ECDCACDD942B}"/>
              </a:ext>
            </a:extLst>
          </p:cNvPr>
          <p:cNvSpPr>
            <a:spLocks noGrp="1"/>
          </p:cNvSpPr>
          <p:nvPr/>
        </p:nvSpPr>
        <p:spPr>
          <a:xfrm>
            <a:off x="266700" y="6591300"/>
            <a:ext cx="99060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28575" rIns="57150" bIns="28575" anchor="ctr">
            <a:normAutofit fontScale="88542"/>
          </a:bodyPr>
          <a:lstStyle/>
          <a:p>
            <a:pPr algn="l">
              <a:buNone/>
              <a:defRPr sz="12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The generated reports provide traceable evidence from insertion and synthesis handoff through GLS.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A9BAB19-82B7-4FF0-89D5-37F10A032770}"/>
              </a:ext>
            </a:extLst>
          </p:cNvPr>
          <p:cNvSpPr>
            <a:spLocks noGrp="1"/>
          </p:cNvSpPr>
          <p:nvPr/>
        </p:nvSpPr>
        <p:spPr>
          <a:xfrm>
            <a:off x="11334750" y="6591300"/>
            <a:ext cx="5524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28575" rIns="57150" bIns="28575" anchor="ctr">
            <a:normAutofit fontScale="88542"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graphicFrame>
        <p:nvGraphicFramePr>
          <p:cNvPr id="32" name="表格 31"/>
          <p:cNvGraphicFramePr/>
          <p:nvPr>
            <p:extLst>
              <p:ext uri="{D42A27DB-BD31-4B8C-83A1-F6EECF244321}">
                <p14:modId xmlns:p14="http://schemas.microsoft.com/office/powerpoint/2010/main" val="2754939728"/>
              </p:ext>
            </p:extLst>
          </p:nvPr>
        </p:nvGraphicFramePr>
        <p:xfrm>
          <a:off x="266700" y="1028700"/>
          <a:ext cx="11658600" cy="3834765"/>
        </p:xfrm>
        <a:graphic>
          <a:graphicData uri="http://schemas.openxmlformats.org/drawingml/2006/table">
            <a:tbl>
              <a:tblPr/>
              <a:tblGrid>
                <a:gridCol w="2076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1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86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Check item</a:t>
                      </a:r>
                    </a:p>
                  </a:txBody>
                  <a:tcPr marL="47625" marR="47625" marT="28575" marB="28575" anchor="ctr">
                    <a:solidFill>
                      <a:srgbClr val="314A6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was verified</a:t>
                      </a:r>
                    </a:p>
                  </a:txBody>
                  <a:tcPr marL="47625" marR="47625" marT="28575" marB="28575" anchor="ctr">
                    <a:solidFill>
                      <a:srgbClr val="314A6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Acceptance criterion</a:t>
                      </a:r>
                    </a:p>
                  </a:txBody>
                  <a:tcPr marL="47625" marR="47625" marT="28575" marB="28575" anchor="ctr">
                    <a:solidFill>
                      <a:srgbClr val="314A6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Primary evidence</a:t>
                      </a:r>
                    </a:p>
                  </a:txBody>
                  <a:tcPr marL="47625" marR="47625" marT="28575" marB="28575" anchor="ctr">
                    <a:solidFill>
                      <a:srgbClr val="314A6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Status</a:t>
                      </a:r>
                    </a:p>
                  </a:txBody>
                  <a:tcPr marL="47625" marR="47625" marT="28575" marB="28575" anchor="ctr">
                    <a:solidFill>
                      <a:srgbClr val="314A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 b="1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Tessent deliverables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PTAP/STAP/IJTAG circuitry plus ICL, PDL, SDC, and import.tcl are generated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The intended hierarchy and all downstream synthesis handoff files are complete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• Insertion / ICL reports</a:t>
                      </a:r>
                    </a:p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• Artifact inventory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76338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66675" marR="66675" marT="38100" marB="38100" anchor="ctr">
                    <a:solidFill>
                      <a:srgbClr val="DDE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 b="1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PDL &amp; pattern</a:t>
                      </a:r>
                    </a:p>
                  </a:txBody>
                  <a:tcPr marL="66675" marR="66675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Tessent-generated PDL vectors and simulation patterns execute correctly</a:t>
                      </a:r>
                    </a:p>
                  </a:txBody>
                  <a:tcPr marL="66675" marR="66675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Expected access operations and pattern compare checks pass</a:t>
                      </a:r>
                    </a:p>
                  </a:txBody>
                  <a:tcPr marL="66675" marR="66675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• PDL / vector files</a:t>
                      </a:r>
                    </a:p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• Pattern report</a:t>
                      </a:r>
                    </a:p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• RTL waveform</a:t>
                      </a:r>
                    </a:p>
                  </a:txBody>
                  <a:tcPr marL="66675" marR="66675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76338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66675" marR="66675" marT="38100" marB="38100" anchor="ctr">
                    <a:solidFill>
                      <a:srgbClr val="DDE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77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 b="1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Netlist &amp; timing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netlist.vg completely preserves the inserted test-access circuitry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 dirty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Hierarchy and access paths remain intact</a:t>
                      </a:r>
                      <a:endParaRPr lang="en-US" sz="1275" dirty="0">
                        <a:solidFill>
                          <a:srgbClr val="17212B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>
                        <a:buNone/>
                      </a:pPr>
                      <a:r>
                        <a:rPr lang="en-US" sz="1275" dirty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PPA </a:t>
                      </a:r>
                      <a:r>
                        <a:rPr sz="1275" dirty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analysis reports show no errors</a:t>
                      </a:r>
                      <a:r>
                        <a:rPr lang="en-US" sz="1275" dirty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 and output normally</a:t>
                      </a:r>
                      <a:endParaRPr sz="1275" dirty="0">
                        <a:solidFill>
                          <a:srgbClr val="17212B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• netlist.vg</a:t>
                      </a:r>
                    </a:p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• Synthesis report</a:t>
                      </a:r>
                    </a:p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• Timing analysis reports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76338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66675" marR="66675" marT="38100" marB="38100" anchor="ctr">
                    <a:solidFill>
                      <a:srgbClr val="DDE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77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 b="1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RTL-to-gate consistency</a:t>
                      </a:r>
                    </a:p>
                  </a:txBody>
                  <a:tcPr marL="66675" marR="66675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The same access sequence runs on the synthesized gate netlist</a:t>
                      </a:r>
                    </a:p>
                  </a:txBody>
                  <a:tcPr marL="66675" marR="66675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 dirty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RTL/GLS behavior and care bits match</a:t>
                      </a:r>
                    </a:p>
                  </a:txBody>
                  <a:tcPr marL="66675" marR="66675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• GLS waveform</a:t>
                      </a:r>
                    </a:p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• Compare log</a:t>
                      </a:r>
                    </a:p>
                  </a:txBody>
                  <a:tcPr marL="66675" marR="66675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 dirty="0">
                          <a:solidFill>
                            <a:srgbClr val="176338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66675" marR="66675" marT="38100" marB="38100" anchor="ctr">
                    <a:solidFill>
                      <a:srgbClr val="DDE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2143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E74C97D9-6C4C-4059-B6D6-C5DB7974D46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90550"/>
          </a:xfrm>
          <a:prstGeom prst="rect">
            <a:avLst/>
          </a:prstGeom>
          <a:solidFill>
            <a:srgbClr val="24364B"/>
          </a:solidFill>
          <a:ln w="0">
            <a:solidFill>
              <a:srgbClr val="2436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8491DDB-DB22-4CC3-A06D-2B9D3BFA263A}"/>
              </a:ext>
            </a:extLst>
          </p:cNvPr>
          <p:cNvSpPr>
            <a:spLocks noGrp="1"/>
          </p:cNvSpPr>
          <p:nvPr/>
        </p:nvSpPr>
        <p:spPr>
          <a:xfrm>
            <a:off x="266700" y="47625"/>
            <a:ext cx="9144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28575" rIns="57150" bIns="28575" anchor="ctr">
            <a:normAutofit/>
          </a:bodyPr>
          <a:lstStyle/>
          <a:p>
            <a:pPr algn="l">
              <a:buNone/>
              <a:defRPr sz="2625" b="1">
                <a:solidFill>
                  <a:srgbClr val="FFFFFF"/>
                </a:solidFill>
                <a:latin typeface="Segoe UI Black"/>
                <a:ea typeface="Segoe UI Black"/>
                <a:cs typeface="Segoe UI Black"/>
              </a:defRPr>
            </a:pPr>
            <a:r>
              <a:rPr sz="2625" b="1">
                <a:solidFill>
                  <a:srgbClr val="FFFFFF"/>
                </a:solidFill>
                <a:latin typeface="Segoe UI Black"/>
                <a:ea typeface="Segoe UI Black"/>
                <a:cs typeface="Segoe UI Black"/>
              </a:rPr>
              <a:t>RESULT 2 — SIGNAL VERIFICATION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CDB880F-DA5F-4BB7-A3FB-CCC7E380DA25}"/>
              </a:ext>
            </a:extLst>
          </p:cNvPr>
          <p:cNvSpPr>
            <a:spLocks noGrp="1"/>
          </p:cNvSpPr>
          <p:nvPr/>
        </p:nvSpPr>
        <p:spPr>
          <a:xfrm>
            <a:off x="9525000" y="66675"/>
            <a:ext cx="2362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28575" rIns="57150" bIns="28575" anchor="ctr">
            <a:normAutofit fontScale="83333"/>
          </a:bodyPr>
          <a:lstStyle/>
          <a:p>
            <a:pPr algn="r">
              <a:buNone/>
              <a:defRPr sz="1200" b="1">
                <a:solidFill>
                  <a:srgbClr val="C9D7E5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C9D7E5"/>
                </a:solidFill>
                <a:latin typeface="Segoe UI"/>
                <a:ea typeface="Segoe UI"/>
                <a:cs typeface="Segoe UI"/>
              </a:rPr>
              <a:t>FUNCTIONAL RESULT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9563232-0C3B-45B4-9AEA-9A9776B9C194}"/>
              </a:ext>
            </a:extLst>
          </p:cNvPr>
          <p:cNvSpPr>
            <a:spLocks noGrp="1"/>
          </p:cNvSpPr>
          <p:nvPr/>
        </p:nvSpPr>
        <p:spPr>
          <a:xfrm>
            <a:off x="9525000" y="285750"/>
            <a:ext cx="2362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28575" rIns="57150" bIns="28575" anchor="ctr">
            <a:normAutofit/>
          </a:bodyPr>
          <a:lstStyle/>
          <a:p>
            <a:pPr algn="r">
              <a:buNone/>
              <a:defRPr sz="9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MAIN 3 OF 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9FEDBC3-F5C9-4D9D-B78E-DAB6108890C3}"/>
              </a:ext>
            </a:extLst>
          </p:cNvPr>
          <p:cNvSpPr>
            <a:spLocks noGrp="1"/>
          </p:cNvSpPr>
          <p:nvPr/>
        </p:nvSpPr>
        <p:spPr>
          <a:xfrm>
            <a:off x="0" y="590550"/>
            <a:ext cx="12192000" cy="323850"/>
          </a:xfrm>
          <a:prstGeom prst="rect">
            <a:avLst/>
          </a:prstGeom>
          <a:solidFill>
            <a:srgbClr val="DCEAF7"/>
          </a:solidFill>
          <a:ln w="9525">
            <a:solidFill>
              <a:srgbClr val="AEB8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209A683-88DD-4141-9E7F-89214610E5C0}"/>
              </a:ext>
            </a:extLst>
          </p:cNvPr>
          <p:cNvSpPr>
            <a:spLocks noGrp="1"/>
          </p:cNvSpPr>
          <p:nvPr/>
        </p:nvSpPr>
        <p:spPr>
          <a:xfrm>
            <a:off x="266700" y="609600"/>
            <a:ext cx="116586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28575" rIns="57150" bIns="28575" anchor="ctr">
            <a:normAutofit/>
          </a:bodyPr>
          <a:lstStyle/>
          <a:p>
            <a:pPr algn="l">
              <a:buNone/>
              <a:defRPr sz="1200" b="1">
                <a:solidFill>
                  <a:srgbClr val="24364B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24364B"/>
                </a:solidFill>
                <a:latin typeface="Segoe UI"/>
                <a:ea typeface="Segoe UI"/>
                <a:cs typeface="Segoe UI"/>
              </a:rPr>
              <a:t>Each scenario verifies both the intended access path and the corresponding TDI/TDO or PTAP-controlled signal behavior.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ECE9F7E-85D3-44D0-9618-9BD20188513A}"/>
              </a:ext>
            </a:extLst>
          </p:cNvPr>
          <p:cNvSpPr>
            <a:spLocks noGrp="1"/>
          </p:cNvSpPr>
          <p:nvPr/>
        </p:nvSpPr>
        <p:spPr>
          <a:xfrm>
            <a:off x="266700" y="6191250"/>
            <a:ext cx="11658600" cy="304800"/>
          </a:xfrm>
          <a:prstGeom prst="rect">
            <a:avLst/>
          </a:prstGeom>
          <a:solidFill>
            <a:srgbClr val="E6E9ED"/>
          </a:solidFill>
          <a:ln w="9525">
            <a:solidFill>
              <a:srgbClr val="6B778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7577F2C-10C0-43DA-9632-F3457F4F8373}"/>
              </a:ext>
            </a:extLst>
          </p:cNvPr>
          <p:cNvSpPr>
            <a:spLocks noGrp="1"/>
          </p:cNvSpPr>
          <p:nvPr/>
        </p:nvSpPr>
        <p:spPr>
          <a:xfrm>
            <a:off x="361950" y="6210300"/>
            <a:ext cx="113728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28575" rIns="57150" bIns="28575" anchor="ctr">
            <a:normAutofit/>
          </a:bodyPr>
          <a:lstStyle/>
          <a:p>
            <a:pPr algn="l">
              <a:buNone/>
              <a:defRPr sz="1200" b="1">
                <a:solidFill>
                  <a:srgbClr val="176338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76338"/>
                </a:solidFill>
                <a:latin typeface="Segoe UI"/>
                <a:ea typeface="Segoe UI"/>
                <a:cs typeface="Segoe UI"/>
              </a:rPr>
              <a:t>RESULT: HostIJTAG and stack-level TDI/TDO behavior matched their PDL patterns, while HostSTAP produced the expected PTAP-controlled signals.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62A7931-CD71-4E9F-A6E2-3EF03889977D}"/>
              </a:ext>
            </a:extLst>
          </p:cNvPr>
          <p:cNvSpPr>
            <a:spLocks noGrp="1"/>
          </p:cNvSpPr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24364B"/>
          </a:solidFill>
          <a:ln w="0">
            <a:solidFill>
              <a:srgbClr val="2436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CA97034-D7B2-4023-BEA8-89B93331DE7E}"/>
              </a:ext>
            </a:extLst>
          </p:cNvPr>
          <p:cNvSpPr>
            <a:spLocks noGrp="1"/>
          </p:cNvSpPr>
          <p:nvPr/>
        </p:nvSpPr>
        <p:spPr>
          <a:xfrm>
            <a:off x="266700" y="6591300"/>
            <a:ext cx="99060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28575" rIns="57150" bIns="28575" anchor="ctr">
            <a:normAutofit fontScale="88542"/>
          </a:bodyPr>
          <a:lstStyle/>
          <a:p>
            <a:pPr algn="l">
              <a:buNone/>
              <a:defRPr sz="12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Two parallel single-die tests plus one end-to-end stack-level test.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2FE3CF5-8FEB-4583-A1D5-2C9CC3FCC3C6}"/>
              </a:ext>
            </a:extLst>
          </p:cNvPr>
          <p:cNvSpPr>
            <a:spLocks noGrp="1"/>
          </p:cNvSpPr>
          <p:nvPr/>
        </p:nvSpPr>
        <p:spPr>
          <a:xfrm>
            <a:off x="11334750" y="6591300"/>
            <a:ext cx="5524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28575" rIns="57150" bIns="28575" anchor="ctr">
            <a:normAutofit fontScale="88542"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graphicFrame>
        <p:nvGraphicFramePr>
          <p:cNvPr id="30" name="表格 29"/>
          <p:cNvGraphicFramePr/>
          <p:nvPr>
            <p:extLst>
              <p:ext uri="{D42A27DB-BD31-4B8C-83A1-F6EECF244321}">
                <p14:modId xmlns:p14="http://schemas.microsoft.com/office/powerpoint/2010/main" val="409967193"/>
              </p:ext>
            </p:extLst>
          </p:nvPr>
        </p:nvGraphicFramePr>
        <p:xfrm>
          <a:off x="266700" y="1028700"/>
          <a:ext cx="11658600" cy="3943350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86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Scenario</a:t>
                      </a:r>
                    </a:p>
                  </a:txBody>
                  <a:tcPr marL="47625" marR="47625" marT="28575" marB="28575" anchor="ctr">
                    <a:solidFill>
                      <a:srgbClr val="314A6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Access route</a:t>
                      </a:r>
                    </a:p>
                  </a:txBody>
                  <a:tcPr marL="47625" marR="47625" marT="28575" marB="28575" anchor="ctr">
                    <a:solidFill>
                      <a:srgbClr val="314A6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the waveform proves</a:t>
                      </a:r>
                    </a:p>
                  </a:txBody>
                  <a:tcPr marL="47625" marR="47625" marT="28575" marB="28575" anchor="ctr">
                    <a:solidFill>
                      <a:srgbClr val="314A6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47625" marR="47625" marT="28575" marB="28575" anchor="ctr">
                    <a:solidFill>
                      <a:srgbClr val="314A6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</a:t>
                      </a:r>
                    </a:p>
                  </a:txBody>
                  <a:tcPr marL="47625" marR="47625" marT="28575" marB="28575" anchor="ctr">
                    <a:solidFill>
                      <a:srgbClr val="314A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15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Single-Die HostIJTAG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PTAP → HostIJTAG → SIB/TDR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sz="1350" dirty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The correct path reaches target TD</a:t>
                      </a:r>
                      <a:r>
                        <a:rPr lang="en-US" altLang="zh-TW" sz="1350" dirty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sz="1350" dirty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TDI stimulus and TDO response follow the expected PDL pattern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dirty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• Generated PDL</a:t>
                      </a:r>
                    </a:p>
                    <a:p>
                      <a:pPr algn="l">
                        <a:buNone/>
                      </a:pPr>
                      <a:r>
                        <a:rPr sz="1350" dirty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• Local waveform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176338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66675" marR="66675" marT="38100" marB="38100" anchor="ctr">
                    <a:solidFill>
                      <a:srgbClr val="DDE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715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Single-Die HostSTAP</a:t>
                      </a:r>
                    </a:p>
                  </a:txBody>
                  <a:tcPr marL="66675" marR="66675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PTAP → HostSTAP</a:t>
                      </a:r>
                    </a:p>
                  </a:txBody>
                  <a:tcPr marL="66675" marR="66675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sz="1350" dirty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The correct STAP path is selected</a:t>
                      </a:r>
                      <a:endParaRPr lang="en-US" sz="1350" dirty="0">
                        <a:solidFill>
                          <a:srgbClr val="17212B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sz="1350" dirty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PTAP control produces the expected STAP signals</a:t>
                      </a:r>
                    </a:p>
                  </a:txBody>
                  <a:tcPr marL="66675" marR="66675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• STAP waveform</a:t>
                      </a:r>
                    </a:p>
                  </a:txBody>
                  <a:tcPr marL="66675" marR="66675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176338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66675" marR="66675" marT="38100" marB="38100" anchor="ctr">
                    <a:solidFill>
                      <a:srgbClr val="DDE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11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Stack-Level Access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stack_top → selected die → target TDR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sz="1350" dirty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The correct stack path reaches the selected die</a:t>
                      </a:r>
                      <a:r>
                        <a:rPr lang="zh-TW" altLang="en-US" sz="1350" dirty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lang="en-US" altLang="zh-TW" sz="1350" dirty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data</a:t>
                      </a:r>
                      <a:endParaRPr lang="en-US" sz="1350" dirty="0">
                        <a:solidFill>
                          <a:srgbClr val="17212B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sz="1350" dirty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TDI stimulus and TDO response follow the retargeted PDL pattern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• Retargeted PDL</a:t>
                      </a:r>
                    </a:p>
                    <a:p>
                      <a:pPr algn="l">
                        <a:buNone/>
                      </a:pPr>
                      <a:r>
                        <a:rPr sz="135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• Stack waveform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 dirty="0">
                          <a:solidFill>
                            <a:srgbClr val="176338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66675" marR="66675" marT="38100" marB="38100" anchor="ctr">
                    <a:solidFill>
                      <a:srgbClr val="DDE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7749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D97AA60C-6F39-48EF-AA09-E6443D6BB97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90550"/>
          </a:xfrm>
          <a:prstGeom prst="rect">
            <a:avLst/>
          </a:prstGeom>
          <a:solidFill>
            <a:srgbClr val="24364B"/>
          </a:solidFill>
          <a:ln w="0">
            <a:solidFill>
              <a:srgbClr val="2436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B763AD0-3947-4C7F-A311-64274947DC68}"/>
              </a:ext>
            </a:extLst>
          </p:cNvPr>
          <p:cNvSpPr>
            <a:spLocks noGrp="1"/>
          </p:cNvSpPr>
          <p:nvPr/>
        </p:nvSpPr>
        <p:spPr>
          <a:xfrm>
            <a:off x="266700" y="47625"/>
            <a:ext cx="9144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28575" rIns="57150" bIns="28575" anchor="ctr">
            <a:normAutofit/>
          </a:bodyPr>
          <a:lstStyle/>
          <a:p>
            <a:pPr algn="l">
              <a:buNone/>
              <a:defRPr sz="2625" b="1">
                <a:solidFill>
                  <a:srgbClr val="FFFFFF"/>
                </a:solidFill>
                <a:latin typeface="Segoe UI Black"/>
                <a:ea typeface="Segoe UI Black"/>
                <a:cs typeface="Segoe UI Black"/>
              </a:defRPr>
            </a:pPr>
            <a:r>
              <a:rPr sz="2625" b="1">
                <a:solidFill>
                  <a:srgbClr val="FFFFFF"/>
                </a:solidFill>
                <a:latin typeface="Segoe UI Black"/>
                <a:ea typeface="Segoe UI Black"/>
                <a:cs typeface="Segoe UI Black"/>
              </a:rPr>
              <a:t>RESULT 3: AUTOMATION FLOW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A211569-977D-4FD1-89E8-81A2852A4E6C}"/>
              </a:ext>
            </a:extLst>
          </p:cNvPr>
          <p:cNvSpPr>
            <a:spLocks noGrp="1"/>
          </p:cNvSpPr>
          <p:nvPr/>
        </p:nvSpPr>
        <p:spPr>
          <a:xfrm>
            <a:off x="9525000" y="66675"/>
            <a:ext cx="2362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28575" rIns="57150" bIns="28575" anchor="ctr">
            <a:normAutofit fontScale="83333"/>
          </a:bodyPr>
          <a:lstStyle/>
          <a:p>
            <a:pPr algn="r">
              <a:buNone/>
              <a:defRPr sz="1200" b="1">
                <a:solidFill>
                  <a:srgbClr val="C9D7E5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C9D7E5"/>
                </a:solidFill>
                <a:latin typeface="Segoe UI"/>
                <a:ea typeface="Segoe UI"/>
                <a:cs typeface="Segoe UI"/>
              </a:rPr>
              <a:t>FLOW VERIFICATION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F6989DC-E47B-42BD-BD53-4071399C5996}"/>
              </a:ext>
            </a:extLst>
          </p:cNvPr>
          <p:cNvSpPr>
            <a:spLocks noGrp="1"/>
          </p:cNvSpPr>
          <p:nvPr/>
        </p:nvSpPr>
        <p:spPr>
          <a:xfrm>
            <a:off x="9525000" y="285750"/>
            <a:ext cx="2362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28575" rIns="57150" bIns="28575" anchor="ctr">
            <a:normAutofit/>
          </a:bodyPr>
          <a:lstStyle/>
          <a:p>
            <a:pPr algn="r">
              <a:buNone/>
              <a:defRPr sz="9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MAIN 4 OF 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87A31DD-A129-4C72-9C24-17481B3AD264}"/>
              </a:ext>
            </a:extLst>
          </p:cNvPr>
          <p:cNvSpPr>
            <a:spLocks noGrp="1"/>
          </p:cNvSpPr>
          <p:nvPr/>
        </p:nvSpPr>
        <p:spPr>
          <a:xfrm>
            <a:off x="0" y="590550"/>
            <a:ext cx="12192000" cy="323850"/>
          </a:xfrm>
          <a:prstGeom prst="rect">
            <a:avLst/>
          </a:prstGeom>
          <a:solidFill>
            <a:srgbClr val="DCEAF7"/>
          </a:solidFill>
          <a:ln w="9525">
            <a:solidFill>
              <a:srgbClr val="AEB8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EF6347D-199D-46E9-BF0A-7BA638A37427}"/>
              </a:ext>
            </a:extLst>
          </p:cNvPr>
          <p:cNvSpPr>
            <a:spLocks noGrp="1"/>
          </p:cNvSpPr>
          <p:nvPr/>
        </p:nvSpPr>
        <p:spPr>
          <a:xfrm>
            <a:off x="266700" y="609600"/>
            <a:ext cx="116586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28575" rIns="57150" bIns="28575" anchor="ctr">
            <a:normAutofit fontScale="94628"/>
          </a:bodyPr>
          <a:lstStyle/>
          <a:p>
            <a:pPr algn="l">
              <a:buNone/>
              <a:defRPr sz="1200" b="1">
                <a:solidFill>
                  <a:srgbClr val="24364B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24364B"/>
                </a:solidFill>
                <a:latin typeface="Segoe UI"/>
                <a:ea typeface="Segoe UI"/>
                <a:cs typeface="Segoe UI"/>
              </a:rPr>
              <a:t>One configuration-driven procedure completed both basic-die and team-scale-die flows, responded to configuration changes, and generated traceable handoff artifacts.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44FC68E-C4BF-419B-BDD9-55F1EAAD7D0B}"/>
              </a:ext>
            </a:extLst>
          </p:cNvPr>
          <p:cNvSpPr>
            <a:spLocks noGrp="1"/>
          </p:cNvSpPr>
          <p:nvPr/>
        </p:nvSpPr>
        <p:spPr>
          <a:xfrm>
            <a:off x="266700" y="5848350"/>
            <a:ext cx="11658600" cy="304800"/>
          </a:xfrm>
          <a:prstGeom prst="rect">
            <a:avLst/>
          </a:prstGeom>
          <a:solidFill>
            <a:srgbClr val="314A67"/>
          </a:solidFill>
          <a:ln w="9525">
            <a:solidFill>
              <a:srgbClr val="6B778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B30D6A9-839B-4207-8CD8-4085F4CD023D}"/>
              </a:ext>
            </a:extLst>
          </p:cNvPr>
          <p:cNvSpPr>
            <a:spLocks noGrp="1"/>
          </p:cNvSpPr>
          <p:nvPr/>
        </p:nvSpPr>
        <p:spPr>
          <a:xfrm>
            <a:off x="352425" y="5857875"/>
            <a:ext cx="114871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HANDOFF PACKAGE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E1EEA2D-5EAA-4430-BF53-87473FE0EE41}"/>
              </a:ext>
            </a:extLst>
          </p:cNvPr>
          <p:cNvSpPr>
            <a:spLocks noGrp="1"/>
          </p:cNvSpPr>
          <p:nvPr/>
        </p:nvSpPr>
        <p:spPr>
          <a:xfrm>
            <a:off x="361950" y="6162675"/>
            <a:ext cx="114681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28575" rIns="57150" bIns="28575" anchor="ctr">
            <a:normAutofit/>
          </a:bodyPr>
          <a:lstStyle/>
          <a:p>
            <a:pPr algn="l">
              <a:buNone/>
              <a:defRPr sz="1275" b="1">
                <a:solidFill>
                  <a:srgbClr val="24364B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24364B"/>
                </a:solidFill>
                <a:latin typeface="Segoe UI"/>
                <a:ea typeface="Segoe UI"/>
                <a:cs typeface="Segoe UI"/>
              </a:rPr>
              <a:t>✓ Configs   ✓ Tcl procedures   ✓ Inserted RTL / TSDB   ✓ ICL / PDL   ✓ Retargeted patterns   ✓ RTL / GLS logs   ✓ HTML report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5884EE7-192E-456F-981A-AA73CC56F7EB}"/>
              </a:ext>
            </a:extLst>
          </p:cNvPr>
          <p:cNvSpPr>
            <a:spLocks noGrp="1"/>
          </p:cNvSpPr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24364B"/>
          </a:solidFill>
          <a:ln w="0">
            <a:solidFill>
              <a:srgbClr val="2436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4FF9BAA-9CF4-48E3-BB83-58C0626C7A36}"/>
              </a:ext>
            </a:extLst>
          </p:cNvPr>
          <p:cNvSpPr>
            <a:spLocks noGrp="1"/>
          </p:cNvSpPr>
          <p:nvPr/>
        </p:nvSpPr>
        <p:spPr>
          <a:xfrm>
            <a:off x="266700" y="6591300"/>
            <a:ext cx="99060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28575" rIns="57150" bIns="28575" anchor="ctr">
            <a:normAutofit fontScale="88542"/>
          </a:bodyPr>
          <a:lstStyle/>
          <a:p>
            <a:pPr algn="l">
              <a:buNone/>
              <a:defRPr sz="12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Automation is verified through cross-design portability, configuration response, repeatability, consolidated reporting, and a complete handoff package.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A84EFE2-3E92-4701-94F3-D2A4A08E4D49}"/>
              </a:ext>
            </a:extLst>
          </p:cNvPr>
          <p:cNvSpPr>
            <a:spLocks noGrp="1"/>
          </p:cNvSpPr>
          <p:nvPr/>
        </p:nvSpPr>
        <p:spPr>
          <a:xfrm>
            <a:off x="11334750" y="6591300"/>
            <a:ext cx="5524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28575" rIns="57150" bIns="28575" anchor="ctr">
            <a:normAutofit fontScale="88542"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graphicFrame>
        <p:nvGraphicFramePr>
          <p:cNvPr id="38" name="表格 37"/>
          <p:cNvGraphicFramePr/>
          <p:nvPr>
            <p:extLst>
              <p:ext uri="{D42A27DB-BD31-4B8C-83A1-F6EECF244321}">
                <p14:modId xmlns:p14="http://schemas.microsoft.com/office/powerpoint/2010/main" val="976410157"/>
              </p:ext>
            </p:extLst>
          </p:nvPr>
        </p:nvGraphicFramePr>
        <p:xfrm>
          <a:off x="266700" y="1333500"/>
          <a:ext cx="7239000" cy="4419600"/>
        </p:xfrm>
        <a:graphic>
          <a:graphicData uri="http://schemas.openxmlformats.org/drawingml/2006/table">
            <a:tbl>
              <a:tblPr/>
              <a:tblGrid>
                <a:gridCol w="161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9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Automation check</a:t>
                      </a:r>
                    </a:p>
                  </a:txBody>
                  <a:tcPr marL="47625" marR="47625" marT="28575" marB="28575" anchor="ctr">
                    <a:solidFill>
                      <a:srgbClr val="314A6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Verified outcome</a:t>
                      </a:r>
                    </a:p>
                  </a:txBody>
                  <a:tcPr marL="47625" marR="47625" marT="28575" marB="28575" anchor="ctr">
                    <a:solidFill>
                      <a:srgbClr val="314A6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47625" marR="47625" marT="28575" marB="28575" anchor="ctr">
                    <a:solidFill>
                      <a:srgbClr val="314A6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Status</a:t>
                      </a:r>
                    </a:p>
                  </a:txBody>
                  <a:tcPr marL="47625" marR="47625" marT="28575" marB="28575" anchor="ctr">
                    <a:solidFill>
                      <a:srgbClr val="314A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Clean end-to-end run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All enabled stages complete from one entry point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• Top run log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176338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66675" marR="66675" marT="38100" marB="38100" anchor="ctr">
                    <a:solidFill>
                      <a:srgbClr val="DDE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Example</a:t>
                      </a:r>
                      <a:r>
                        <a:rPr sz="1200" b="1" dirty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 die</a:t>
                      </a:r>
                    </a:p>
                  </a:txBody>
                  <a:tcPr marL="66675" marR="66675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The reference configuration completes the full flow</a:t>
                      </a:r>
                    </a:p>
                  </a:txBody>
                  <a:tcPr marL="66675" marR="66675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• Generated outputs</a:t>
                      </a:r>
                    </a:p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• Flow report</a:t>
                      </a:r>
                    </a:p>
                  </a:txBody>
                  <a:tcPr marL="66675" marR="66675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176338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66675" marR="66675" marT="38100" marB="38100" anchor="ctr">
                    <a:solidFill>
                      <a:srgbClr val="DDE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 dirty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Team</a:t>
                      </a:r>
                      <a:r>
                        <a:rPr lang="en-US" sz="1200" b="1" dirty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 complex</a:t>
                      </a:r>
                      <a:r>
                        <a:rPr sz="1200" b="1" dirty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 die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The same core procedure supports the larger hierarchy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• Configuration</a:t>
                      </a:r>
                    </a:p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• Inserted RTL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176338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66675" marR="66675" marT="38100" marB="38100" anchor="ctr">
                    <a:solidFill>
                      <a:srgbClr val="DDE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Configuration change</a:t>
                      </a:r>
                    </a:p>
                  </a:txBody>
                  <a:tcPr marL="66675" marR="66675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Generated hierarchy and outputs follow the revised configuration</a:t>
                      </a:r>
                    </a:p>
                  </a:txBody>
                  <a:tcPr marL="66675" marR="66675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• Config diff</a:t>
                      </a:r>
                    </a:p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• Output diff</a:t>
                      </a:r>
                    </a:p>
                  </a:txBody>
                  <a:tcPr marL="66675" marR="66675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176338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66675" marR="66675" marT="38100" marB="38100" anchor="ctr">
                    <a:solidFill>
                      <a:srgbClr val="DDE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Repeatability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Repeated input reproduces the same structure and summary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• Report comparison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176338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66675" marR="66675" marT="38100" marB="38100" anchor="ctr">
                    <a:solidFill>
                      <a:srgbClr val="DDE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Report generation</a:t>
                      </a:r>
                    </a:p>
                  </a:txBody>
                  <a:tcPr marL="66675" marR="66675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Logs, artifacts, and results are consolidated for review and handoff</a:t>
                      </a:r>
                    </a:p>
                  </a:txBody>
                  <a:tcPr marL="66675" marR="66675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• HTML report</a:t>
                      </a:r>
                    </a:p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• Artifact inventory</a:t>
                      </a:r>
                    </a:p>
                  </a:txBody>
                  <a:tcPr marL="66675" marR="66675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 dirty="0">
                          <a:solidFill>
                            <a:srgbClr val="176338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66675" marR="66675" marT="38100" marB="38100" anchor="ctr">
                    <a:solidFill>
                      <a:srgbClr val="DDE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429327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896</Words>
  <Application>Microsoft Office PowerPoint</Application>
  <DocSecurity>0</DocSecurity>
  <PresentationFormat>寬螢幕</PresentationFormat>
  <Paragraphs>158</Paragraphs>
  <Slides>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9" baseType="lpstr">
      <vt:lpstr>Arial</vt:lpstr>
      <vt:lpstr>Calibri</vt:lpstr>
      <vt:lpstr>Segoe UI</vt:lpstr>
      <vt:lpstr>Segoe UI Black</vt:lpstr>
      <vt:lpstr>ChatGPT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祐榛 張</cp:lastModifiedBy>
  <cp:revision>6</cp:revision>
  <dcterms:created xsi:type="dcterms:W3CDTF">2026-08-11T04:55:23Z</dcterms:created>
  <dcterms:modified xsi:type="dcterms:W3CDTF">2026-08-11T14:48:24Z</dcterms:modified>
</cp:coreProperties>
</file>